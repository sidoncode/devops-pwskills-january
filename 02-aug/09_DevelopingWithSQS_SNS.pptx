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5.xml" ContentType="application/vnd.openxmlformats-officedocument.presentationml.tags+xml"/>
  <Override PartName="/ppt/notesSlides/notesSlide1.xml" ContentType="application/vnd.openxmlformats-officedocument.presentationml.notesSlide+xml"/>
  <Override PartName="/ppt/tags/tag26.xml" ContentType="application/vnd.openxmlformats-officedocument.presentationml.tags+xml"/>
  <Override PartName="/ppt/notesSlides/notesSlide2.xml" ContentType="application/vnd.openxmlformats-officedocument.presentationml.notesSlide+xml"/>
  <Override PartName="/ppt/tags/tag27.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8.xml" ContentType="application/vnd.openxmlformats-officedocument.presentationml.tags+xml"/>
  <Override PartName="/ppt/notesSlides/notesSlide9.xml" ContentType="application/vnd.openxmlformats-officedocument.presentationml.notesSlide+xml"/>
  <Override PartName="/ppt/tags/tag29.xml" ContentType="application/vnd.openxmlformats-officedocument.presentationml.tags+xml"/>
  <Override PartName="/ppt/notesSlides/notesSlide10.xml" ContentType="application/vnd.openxmlformats-officedocument.presentationml.notesSlide+xml"/>
  <Override PartName="/ppt/tags/tag30.xml" ContentType="application/vnd.openxmlformats-officedocument.presentationml.tags+xml"/>
  <Override PartName="/ppt/notesSlides/notesSlide11.xml" ContentType="application/vnd.openxmlformats-officedocument.presentationml.notesSlide+xml"/>
  <Override PartName="/ppt/tags/tag31.xml" ContentType="application/vnd.openxmlformats-officedocument.presentationml.tags+xml"/>
  <Override PartName="/ppt/notesSlides/notesSlide12.xml" ContentType="application/vnd.openxmlformats-officedocument.presentationml.notesSlide+xml"/>
  <Override PartName="/ppt/tags/tag32.xml" ContentType="application/vnd.openxmlformats-officedocument.presentationml.tags+xml"/>
  <Override PartName="/ppt/notesSlides/notesSlide13.xml" ContentType="application/vnd.openxmlformats-officedocument.presentationml.notesSlide+xml"/>
  <Override PartName="/ppt/tags/tag33.xml" ContentType="application/vnd.openxmlformats-officedocument.presentationml.tags+xml"/>
  <Override PartName="/ppt/notesSlides/notesSlide14.xml" ContentType="application/vnd.openxmlformats-officedocument.presentationml.notesSlide+xml"/>
  <Override PartName="/ppt/tags/tag34.xml" ContentType="application/vnd.openxmlformats-officedocument.presentationml.tags+xml"/>
  <Override PartName="/ppt/notesSlides/notesSlide15.xml" ContentType="application/vnd.openxmlformats-officedocument.presentationml.notesSlide+xml"/>
  <Override PartName="/ppt/tags/tag35.xml" ContentType="application/vnd.openxmlformats-officedocument.presentationml.tags+xml"/>
  <Override PartName="/ppt/notesSlides/notesSlide16.xml" ContentType="application/vnd.openxmlformats-officedocument.presentationml.notesSlide+xml"/>
  <Override PartName="/ppt/tags/tag36.xml" ContentType="application/vnd.openxmlformats-officedocument.presentationml.tags+xml"/>
  <Override PartName="/ppt/notesSlides/notesSlide17.xml" ContentType="application/vnd.openxmlformats-officedocument.presentationml.notesSlide+xml"/>
  <Override PartName="/ppt/tags/tag37.xml" ContentType="application/vnd.openxmlformats-officedocument.presentationml.tags+xml"/>
  <Override PartName="/ppt/notesSlides/notesSlide18.xml" ContentType="application/vnd.openxmlformats-officedocument.presentationml.notesSlide+xml"/>
  <Override PartName="/ppt/tags/tag38.xml" ContentType="application/vnd.openxmlformats-officedocument.presentationml.tags+xml"/>
  <Override PartName="/ppt/notesSlides/notesSlide19.xml" ContentType="application/vnd.openxmlformats-officedocument.presentationml.notesSlide+xml"/>
  <Override PartName="/ppt/tags/tag39.xml" ContentType="application/vnd.openxmlformats-officedocument.presentationml.tags+xml"/>
  <Override PartName="/ppt/notesSlides/notesSlide20.xml" ContentType="application/vnd.openxmlformats-officedocument.presentationml.notesSlide+xml"/>
  <Override PartName="/ppt/tags/tag40.xml" ContentType="application/vnd.openxmlformats-officedocument.presentationml.tags+xml"/>
  <Override PartName="/ppt/notesSlides/notesSlide21.xml" ContentType="application/vnd.openxmlformats-officedocument.presentationml.notesSlide+xml"/>
  <Override PartName="/ppt/tags/tag41.xml" ContentType="application/vnd.openxmlformats-officedocument.presentationml.tags+xml"/>
  <Override PartName="/ppt/notesSlides/notesSlide22.xml" ContentType="application/vnd.openxmlformats-officedocument.presentationml.notesSlide+xml"/>
  <Override PartName="/ppt/tags/tag42.xml" ContentType="application/vnd.openxmlformats-officedocument.presentationml.tags+xml"/>
  <Override PartName="/ppt/notesSlides/notesSlide23.xml" ContentType="application/vnd.openxmlformats-officedocument.presentationml.notesSlide+xml"/>
  <Override PartName="/ppt/tags/tag43.xml" ContentType="application/vnd.openxmlformats-officedocument.presentationml.tags+xml"/>
  <Override PartName="/ppt/notesSlides/notesSlide24.xml" ContentType="application/vnd.openxmlformats-officedocument.presentationml.notesSlide+xml"/>
  <Override PartName="/ppt/tags/tag44.xml" ContentType="application/vnd.openxmlformats-officedocument.presentationml.tags+xml"/>
  <Override PartName="/ppt/notesSlides/notesSlide25.xml" ContentType="application/vnd.openxmlformats-officedocument.presentationml.notesSlide+xml"/>
  <Override PartName="/ppt/tags/tag45.xml" ContentType="application/vnd.openxmlformats-officedocument.presentationml.tags+xml"/>
  <Override PartName="/ppt/notesSlides/notesSlide26.xml" ContentType="application/vnd.openxmlformats-officedocument.presentationml.notesSlide+xml"/>
  <Override PartName="/ppt/tags/tag46.xml" ContentType="application/vnd.openxmlformats-officedocument.presentationml.tags+xml"/>
  <Override PartName="/ppt/notesSlides/notesSlide27.xml" ContentType="application/vnd.openxmlformats-officedocument.presentationml.notesSlide+xml"/>
  <Override PartName="/ppt/tags/tag47.xml" ContentType="application/vnd.openxmlformats-officedocument.presentationml.tags+xml"/>
  <Override PartName="/ppt/notesSlides/notesSlide28.xml" ContentType="application/vnd.openxmlformats-officedocument.presentationml.notesSlide+xml"/>
  <Override PartName="/ppt/tags/tag48.xml" ContentType="application/vnd.openxmlformats-officedocument.presentationml.tags+xml"/>
  <Override PartName="/ppt/notesSlides/notesSlide29.xml" ContentType="application/vnd.openxmlformats-officedocument.presentationml.notesSlide+xml"/>
  <Override PartName="/ppt/tags/tag49.xml" ContentType="application/vnd.openxmlformats-officedocument.presentationml.tags+xml"/>
  <Override PartName="/ppt/notesSlides/notesSlide30.xml" ContentType="application/vnd.openxmlformats-officedocument.presentationml.notesSlide+xml"/>
  <Override PartName="/ppt/tags/tag50.xml" ContentType="application/vnd.openxmlformats-officedocument.presentationml.tags+xml"/>
  <Override PartName="/ppt/notesSlides/notesSlide31.xml" ContentType="application/vnd.openxmlformats-officedocument.presentationml.notesSlide+xml"/>
  <Override PartName="/ppt/tags/tag51.xml" ContentType="application/vnd.openxmlformats-officedocument.presentationml.tags+xml"/>
  <Override PartName="/ppt/notesSlides/notesSlide32.xml" ContentType="application/vnd.openxmlformats-officedocument.presentationml.notesSlide+xml"/>
  <Override PartName="/ppt/tags/tag52.xml" ContentType="application/vnd.openxmlformats-officedocument.presentationml.tags+xml"/>
  <Override PartName="/ppt/notesSlides/notesSlide33.xml" ContentType="application/vnd.openxmlformats-officedocument.presentationml.notesSlide+xml"/>
  <Override PartName="/ppt/tags/tag53.xml" ContentType="application/vnd.openxmlformats-officedocument.presentationml.tags+xml"/>
  <Override PartName="/ppt/notesSlides/notesSlide34.xml" ContentType="application/vnd.openxmlformats-officedocument.presentationml.notesSlide+xml"/>
  <Override PartName="/ppt/tags/tag54.xml" ContentType="application/vnd.openxmlformats-officedocument.presentationml.tags+xml"/>
  <Override PartName="/ppt/notesSlides/notesSlide35.xml" ContentType="application/vnd.openxmlformats-officedocument.presentationml.notesSlide+xml"/>
  <Override PartName="/ppt/tags/tag55.xml" ContentType="application/vnd.openxmlformats-officedocument.presentationml.tags+xml"/>
  <Override PartName="/ppt/notesSlides/notesSlide36.xml" ContentType="application/vnd.openxmlformats-officedocument.presentationml.notesSlide+xml"/>
  <Override PartName="/ppt/tags/tag56.xml" ContentType="application/vnd.openxmlformats-officedocument.presentationml.tags+xml"/>
  <Override PartName="/ppt/notesSlides/notesSlide37.xml" ContentType="application/vnd.openxmlformats-officedocument.presentationml.notesSlide+xml"/>
  <Override PartName="/ppt/tags/tag57.xml" ContentType="application/vnd.openxmlformats-officedocument.presentationml.tags+xml"/>
  <Override PartName="/ppt/notesSlides/notesSlide38.xml" ContentType="application/vnd.openxmlformats-officedocument.presentationml.notesSlide+xml"/>
  <Override PartName="/ppt/comments/comment1.xml" ContentType="application/vnd.openxmlformats-officedocument.presentationml.comments+xml"/>
  <Override PartName="/ppt/tags/tag58.xml" ContentType="application/vnd.openxmlformats-officedocument.presentationml.tags+xml"/>
  <Override PartName="/ppt/notesSlides/notesSlide39.xml" ContentType="application/vnd.openxmlformats-officedocument.presentationml.notesSlide+xml"/>
  <Override PartName="/ppt/tags/tag59.xml" ContentType="application/vnd.openxmlformats-officedocument.presentationml.tags+xml"/>
  <Override PartName="/ppt/notesSlides/notesSlide40.xml" ContentType="application/vnd.openxmlformats-officedocument.presentationml.notesSlide+xml"/>
  <Override PartName="/ppt/tags/tag60.xml" ContentType="application/vnd.openxmlformats-officedocument.presentationml.tags+xml"/>
  <Override PartName="/ppt/notesSlides/notesSlide41.xml" ContentType="application/vnd.openxmlformats-officedocument.presentationml.notesSlide+xml"/>
  <Override PartName="/ppt/tags/tag61.xml" ContentType="application/vnd.openxmlformats-officedocument.presentationml.tags+xml"/>
  <Override PartName="/ppt/notesSlides/notesSlide42.xml" ContentType="application/vnd.openxmlformats-officedocument.presentationml.notesSlide+xml"/>
  <Override PartName="/ppt/tags/tag62.xml" ContentType="application/vnd.openxmlformats-officedocument.presentationml.tags+xml"/>
  <Override PartName="/ppt/notesSlides/notesSlide43.xml" ContentType="application/vnd.openxmlformats-officedocument.presentationml.notesSlide+xml"/>
  <Override PartName="/ppt/tags/tag63.xml" ContentType="application/vnd.openxmlformats-officedocument.presentationml.tags+xml"/>
  <Override PartName="/ppt/notesSlides/notesSlide44.xml" ContentType="application/vnd.openxmlformats-officedocument.presentationml.notesSlide+xml"/>
  <Override PartName="/ppt/tags/tag64.xml" ContentType="application/vnd.openxmlformats-officedocument.presentationml.tags+xml"/>
  <Override PartName="/ppt/notesSlides/notesSlide45.xml" ContentType="application/vnd.openxmlformats-officedocument.presentationml.notesSlide+xml"/>
  <Override PartName="/ppt/tags/tag65.xml" ContentType="application/vnd.openxmlformats-officedocument.presentationml.tags+xml"/>
  <Override PartName="/ppt/notesSlides/notesSlide46.xml" ContentType="application/vnd.openxmlformats-officedocument.presentationml.notesSlide+xml"/>
  <Override PartName="/ppt/tags/tag66.xml" ContentType="application/vnd.openxmlformats-officedocument.presentationml.tags+xml"/>
  <Override PartName="/ppt/notesSlides/notesSlide47.xml" ContentType="application/vnd.openxmlformats-officedocument.presentationml.notesSlide+xml"/>
  <Override PartName="/ppt/tags/tag67.xml" ContentType="application/vnd.openxmlformats-officedocument.presentationml.tags+xml"/>
  <Override PartName="/ppt/notesSlides/notesSlide48.xml" ContentType="application/vnd.openxmlformats-officedocument.presentationml.notesSlide+xml"/>
  <Override PartName="/ppt/tags/tag68.xml" ContentType="application/vnd.openxmlformats-officedocument.presentationml.tags+xml"/>
  <Override PartName="/ppt/notesSlides/notesSlide49.xml" ContentType="application/vnd.openxmlformats-officedocument.presentationml.notesSlide+xml"/>
  <Override PartName="/ppt/tags/tag69.xml" ContentType="application/vnd.openxmlformats-officedocument.presentationml.tags+xml"/>
  <Override PartName="/ppt/notesSlides/notesSlide50.xml" ContentType="application/vnd.openxmlformats-officedocument.presentationml.notesSlide+xml"/>
  <Override PartName="/ppt/tags/tag70.xml" ContentType="application/vnd.openxmlformats-officedocument.presentationml.tags+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1" r:id="rId1"/>
  </p:sldMasterIdLst>
  <p:notesMasterIdLst>
    <p:notesMasterId r:id="rId53"/>
  </p:notesMasterIdLst>
  <p:handoutMasterIdLst>
    <p:handoutMasterId r:id="rId54"/>
  </p:handoutMasterIdLst>
  <p:sldIdLst>
    <p:sldId id="397" r:id="rId2"/>
    <p:sldId id="388" r:id="rId3"/>
    <p:sldId id="400" r:id="rId4"/>
    <p:sldId id="411" r:id="rId5"/>
    <p:sldId id="414" r:id="rId6"/>
    <p:sldId id="412" r:id="rId7"/>
    <p:sldId id="415" r:id="rId8"/>
    <p:sldId id="413" r:id="rId9"/>
    <p:sldId id="401" r:id="rId10"/>
    <p:sldId id="408" r:id="rId11"/>
    <p:sldId id="399" r:id="rId12"/>
    <p:sldId id="365" r:id="rId13"/>
    <p:sldId id="309" r:id="rId14"/>
    <p:sldId id="378" r:id="rId15"/>
    <p:sldId id="310" r:id="rId16"/>
    <p:sldId id="366" r:id="rId17"/>
    <p:sldId id="315" r:id="rId18"/>
    <p:sldId id="307" r:id="rId19"/>
    <p:sldId id="308" r:id="rId20"/>
    <p:sldId id="368" r:id="rId21"/>
    <p:sldId id="311" r:id="rId22"/>
    <p:sldId id="314" r:id="rId23"/>
    <p:sldId id="317" r:id="rId24"/>
    <p:sldId id="406" r:id="rId25"/>
    <p:sldId id="379" r:id="rId26"/>
    <p:sldId id="410" r:id="rId27"/>
    <p:sldId id="402" r:id="rId28"/>
    <p:sldId id="320" r:id="rId29"/>
    <p:sldId id="322" r:id="rId30"/>
    <p:sldId id="323" r:id="rId31"/>
    <p:sldId id="347" r:id="rId32"/>
    <p:sldId id="326" r:id="rId33"/>
    <p:sldId id="370" r:id="rId34"/>
    <p:sldId id="373" r:id="rId35"/>
    <p:sldId id="374" r:id="rId36"/>
    <p:sldId id="325" r:id="rId37"/>
    <p:sldId id="391" r:id="rId38"/>
    <p:sldId id="385" r:id="rId39"/>
    <p:sldId id="403" r:id="rId40"/>
    <p:sldId id="353" r:id="rId41"/>
    <p:sldId id="409" r:id="rId42"/>
    <p:sldId id="359" r:id="rId43"/>
    <p:sldId id="386" r:id="rId44"/>
    <p:sldId id="404" r:id="rId45"/>
    <p:sldId id="398" r:id="rId46"/>
    <p:sldId id="405" r:id="rId47"/>
    <p:sldId id="334" r:id="rId48"/>
    <p:sldId id="389" r:id="rId49"/>
    <p:sldId id="260" r:id="rId50"/>
    <p:sldId id="375" r:id="rId51"/>
    <p:sldId id="376" r:id="rId52"/>
  </p:sldIdLst>
  <p:sldSz cx="12192000" cy="6858000"/>
  <p:notesSz cx="6858000" cy="9144000"/>
  <p:custDataLst>
    <p:tags r:id="rId5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bik, Gabriel" initials="KG" lastIdx="14" clrIdx="0">
    <p:extLst/>
  </p:cmAuthor>
  <p:cmAuthor id="2" name="Barefoot, Rob" initials="BR" lastIdx="86" clrIdx="1">
    <p:extLst>
      <p:ext uri="{19B8F6BF-5375-455C-9EA6-DF929625EA0E}">
        <p15:presenceInfo xmlns:p15="http://schemas.microsoft.com/office/powerpoint/2012/main" userId="S-1-5-21-1407069837-2091007605-538272213-30202807" providerId="AD"/>
      </p:ext>
    </p:extLst>
  </p:cmAuthor>
  <p:cmAuthor id="3" name="Barrera, Roland" initials="BR" lastIdx="75" clrIdx="2">
    <p:extLst>
      <p:ext uri="{19B8F6BF-5375-455C-9EA6-DF929625EA0E}">
        <p15:presenceInfo xmlns:p15="http://schemas.microsoft.com/office/powerpoint/2012/main" userId="S-1-5-21-1407069837-2091007605-538272213-316202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7EB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65"/>
    <p:restoredTop sz="46486" autoAdjust="0"/>
  </p:normalViewPr>
  <p:slideViewPr>
    <p:cSldViewPr snapToGrid="0" snapToObjects="1">
      <p:cViewPr varScale="1">
        <p:scale>
          <a:sx n="62" d="100"/>
          <a:sy n="62" d="100"/>
        </p:scale>
        <p:origin x="96" y="996"/>
      </p:cViewPr>
      <p:guideLst/>
    </p:cSldViewPr>
  </p:slideViewPr>
  <p:notesTextViewPr>
    <p:cViewPr>
      <p:scale>
        <a:sx n="3" d="2"/>
        <a:sy n="3" d="2"/>
      </p:scale>
      <p:origin x="0" y="0"/>
    </p:cViewPr>
  </p:notesTextViewPr>
  <p:notesViewPr>
    <p:cSldViewPr snapToGrid="0" snapToObjects="1">
      <p:cViewPr varScale="1">
        <p:scale>
          <a:sx n="142" d="100"/>
          <a:sy n="142" d="100"/>
        </p:scale>
        <p:origin x="132" y="93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0-04-13T11:44:37.464" idx="72">
    <p:pos x="6307" y="3622"/>
    <p:text>Need something in this availability box for SNS</p:text>
    <p:extLst mod="1">
      <p:ext uri="{C676402C-5697-4E1C-873F-D02D1690AC5C}">
        <p15:threadingInfo xmlns:p15="http://schemas.microsoft.com/office/powerpoint/2012/main" timeZoneBias="420"/>
      </p:ext>
    </p:extLst>
  </p:cm>
  <p:cm authorId="3" dt="2020-04-20T15:35:48.943" idx="61">
    <p:pos x="6307" y="3718"/>
    <p:text>Need to discuss</p:text>
    <p:extLst>
      <p:ext uri="{C676402C-5697-4E1C-873F-D02D1690AC5C}">
        <p15:threadingInfo xmlns:p15="http://schemas.microsoft.com/office/powerpoint/2012/main" timeZoneBias="300">
          <p15:parentCm authorId="2" idx="72"/>
        </p15:threadingInfo>
      </p:ext>
    </p:extLst>
  </p:cm>
  <p:cm authorId="2" dt="2020-04-13T11:44:53.482" idx="73">
    <p:pos x="1465" y="2623"/>
    <p:text>Availability seems like a poor wording choice. Initially I was wondering if it was talking about REgions/AZs that supported SNS/SQS</p:text>
    <p:extLst mod="1">
      <p:ext uri="{C676402C-5697-4E1C-873F-D02D1690AC5C}">
        <p15:threadingInfo xmlns:p15="http://schemas.microsoft.com/office/powerpoint/2012/main" timeZoneBias="420"/>
      </p:ext>
    </p:extLst>
  </p:cm>
  <p:cm authorId="3" dt="2020-04-20T15:35:49.781" idx="62">
    <p:pos x="1465" y="2719"/>
    <p:text>Need to discuss</p:text>
    <p:extLst>
      <p:ext uri="{C676402C-5697-4E1C-873F-D02D1690AC5C}">
        <p15:threadingInfo xmlns:p15="http://schemas.microsoft.com/office/powerpoint/2012/main" timeZoneBias="300">
          <p15:parentCm authorId="2" idx="73"/>
        </p15:threadingInfo>
      </p:ext>
    </p:extLst>
  </p:cm>
</p:cmLst>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0893DF8-D520-BB40-837C-91CE1787B0EB}" type="datetimeFigureOut">
              <a:rPr lang="en-US" smtClean="0"/>
              <a:t>5/21/2020</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98FB97-EEE8-A641-B9BA-ACE8418557CD}" type="slidenum">
              <a:rPr lang="en-US" smtClean="0"/>
              <a:t>‹#›</a:t>
            </a:fld>
            <a:endParaRPr lang="en-US" dirty="0"/>
          </a:p>
        </p:txBody>
      </p:sp>
    </p:spTree>
    <p:extLst>
      <p:ext uri="{BB962C8B-B14F-4D97-AF65-F5344CB8AC3E}">
        <p14:creationId xmlns:p14="http://schemas.microsoft.com/office/powerpoint/2010/main" val="148526969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EFA781-CA11-2141-A5F7-C7B0DDD8E00E}" type="datetimeFigureOut">
              <a:rPr lang="en-US" smtClean="0"/>
              <a:t>5/21/2020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092397-0699-5249-96BB-FDA4CA85BF35}" type="slidenum">
              <a:rPr lang="en-US" smtClean="0"/>
              <a:t>‹#›</a:t>
            </a:fld>
            <a:endParaRPr lang="en-US" dirty="0"/>
          </a:p>
        </p:txBody>
      </p:sp>
    </p:spTree>
    <p:extLst>
      <p:ext uri="{BB962C8B-B14F-4D97-AF65-F5344CB8AC3E}">
        <p14:creationId xmlns:p14="http://schemas.microsoft.com/office/powerpoint/2010/main" val="3569642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docs.aws.amazon.com/AWSSimpleQueueService/latest/SQSDeveloperGuide/standard-queues.html"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docs.aws.amazon.com/AWSSimpleQueueService/latest/SQSDeveloperGuide/FIFO-queues.html"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en.clouddesignpattern.org/index.php/CDP:Queuing_Chain_Pattern"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docs.aws.amazon.com/AWSSimpleQueueService/latest/SQSDeveloperGuide/SQSMessageAttributes.html#SQSMessageAttributes.DataTypes"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github.com/awslabs/amazon-sqs-java-extended-client-lib"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docs.aws.amazon.com/AWSSimpleQueueService/latest/APIReference/Welcome.html"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docs.aws.amazon.com/AWSSimpleQueueService/latest/SQSDeveloperGuide/AboutVT.html"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docs.aws.amazon.com/AWSSimpleQueueService/latest/APIReference/Welcome.html"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docs.aws.amazon.com/AWSSimpleQueueService/latest/SQSDeveloperGuide/SQSDeadLetterQueue.html"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docs.aws.amazon.com/AWSSimpleQueueService/latest/SQSDeveloperGuide/sqs-server-side-encryption.html#sqs-what-permissions-for-sse"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docs.aws.amazon.com/AWSSimpleQueueService/latest/SQSDeveloperGuide/throughput.html"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docs.aws.amazon.com/sns/latest/dg/SendMessageToSQS.html#SendMessageToSQS.test" TargetMode="External"/><Relationship Id="rId2" Type="http://schemas.openxmlformats.org/officeDocument/2006/relationships/slide" Target="../slides/slide30.xml"/><Relationship Id="rId1" Type="http://schemas.openxmlformats.org/officeDocument/2006/relationships/notesMaster" Target="../notesMasters/notesMaster1.xml"/><Relationship Id="rId4" Type="http://schemas.openxmlformats.org/officeDocument/2006/relationships/hyperlink" Target="http://docs.aws.amazon.com/sns/latest/dg/large-payload-raw-message.html" TargetMode="Externa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docs.aws.amazon.com/sns/latest/api/API_Operations.html"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aws.amazon.com/sns/faqs/"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aws.amazon.com/blogs/compute/running-activemq-in-a-hybrid-cloud-environment-with-amazon-mq/"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8" Type="http://schemas.openxmlformats.org/officeDocument/2006/relationships/hyperlink" Target="http://docs.aws.amazon.com/sdkfornet/v3/apidocs/items/MQ/TMQClient.html" TargetMode="External"/><Relationship Id="rId3" Type="http://schemas.openxmlformats.org/officeDocument/2006/relationships/hyperlink" Target="http://docs.aws.amazon.com/AWSJavaSDK/latest/javadoc/com/amazonaws/services/sns/AmazonSNSClient.html" TargetMode="External"/><Relationship Id="rId7" Type="http://schemas.openxmlformats.org/officeDocument/2006/relationships/hyperlink" Target="http://docs.aws.amazon.com/sdkfornet/v3/apidocs/items/SQS/TSQSClient.html" TargetMode="External"/><Relationship Id="rId2" Type="http://schemas.openxmlformats.org/officeDocument/2006/relationships/slide" Target="../slides/slide51.xml"/><Relationship Id="rId1" Type="http://schemas.openxmlformats.org/officeDocument/2006/relationships/notesMaster" Target="../notesMasters/notesMaster1.xml"/><Relationship Id="rId6" Type="http://schemas.openxmlformats.org/officeDocument/2006/relationships/hyperlink" Target="http://docs.aws.amazon.com/sdkfornet/v3/apidocs/items/SNS/TSNSClient.html" TargetMode="External"/><Relationship Id="rId11" Type="http://schemas.openxmlformats.org/officeDocument/2006/relationships/hyperlink" Target="http://boto3.readthedocs.org/en/latest/reference/services/mq.html" TargetMode="External"/><Relationship Id="rId5" Type="http://schemas.openxmlformats.org/officeDocument/2006/relationships/hyperlink" Target="http://docs.aws.amazon.com/AWSJavaSDK/latest/javadoc/com/amazonaws/services/mq/AmazonMQClient.html" TargetMode="External"/><Relationship Id="rId10" Type="http://schemas.openxmlformats.org/officeDocument/2006/relationships/hyperlink" Target="http://boto3.readthedocs.org/en/latest/reference/services/sqs.html" TargetMode="External"/><Relationship Id="rId4" Type="http://schemas.openxmlformats.org/officeDocument/2006/relationships/hyperlink" Target="http://docs.aws.amazon.com/AWSJavaSDK/latest/javadoc/com/amazonaws/services/sqs/AmazonSQSClient.html" TargetMode="External"/><Relationship Id="rId9" Type="http://schemas.openxmlformats.org/officeDocument/2006/relationships/hyperlink" Target="http://boto3.readthedocs.org/en/latest/reference/services/sns.html"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70188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25810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041680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600"/>
              </a:spcBef>
            </a:pPr>
            <a:r>
              <a:rPr lang="en-US" dirty="0"/>
              <a:t>Consider a scenario where</a:t>
            </a:r>
            <a:r>
              <a:rPr lang="en-US" baseline="0" dirty="0"/>
              <a:t> an </a:t>
            </a:r>
            <a:r>
              <a:rPr lang="en-US" baseline="0" dirty="0">
                <a:solidFill>
                  <a:srgbClr val="000000"/>
                </a:solidFill>
              </a:rPr>
              <a:t>application</a:t>
            </a:r>
            <a:r>
              <a:rPr lang="en-US" baseline="0" dirty="0"/>
              <a:t> produces messages that must be processed by a consumer downstream. The producer </a:t>
            </a:r>
            <a:r>
              <a:rPr lang="en-US" baseline="0" dirty="0">
                <a:solidFill>
                  <a:srgbClr val="000000"/>
                </a:solidFill>
              </a:rPr>
              <a:t>needs to</a:t>
            </a:r>
            <a:r>
              <a:rPr lang="en-US" baseline="0" dirty="0"/>
              <a:t> know how to connect to the consumer. If the consumer fails for some reason, then messages may be lost. </a:t>
            </a:r>
            <a:r>
              <a:rPr lang="en-US" baseline="0" dirty="0">
                <a:solidFill>
                  <a:srgbClr val="000000"/>
                </a:solidFill>
              </a:rPr>
              <a:t>If</a:t>
            </a:r>
            <a:r>
              <a:rPr lang="en-US" baseline="0" dirty="0"/>
              <a:t> new consumer instances are launched to recover from failure or to keep up with an increased workload, the producer </a:t>
            </a:r>
            <a:r>
              <a:rPr lang="en-US" baseline="0" dirty="0">
                <a:solidFill>
                  <a:srgbClr val="000000"/>
                </a:solidFill>
              </a:rPr>
              <a:t>needs to</a:t>
            </a:r>
            <a:r>
              <a:rPr lang="en-US" baseline="0" dirty="0"/>
              <a:t> be explicitly made aware of the new consumer </a:t>
            </a:r>
            <a:r>
              <a:rPr lang="en-US" baseline="0" dirty="0">
                <a:solidFill>
                  <a:srgbClr val="000000"/>
                </a:solidFill>
              </a:rPr>
              <a:t>instances</a:t>
            </a:r>
            <a:r>
              <a:rPr lang="en-US" baseline="0" dirty="0"/>
              <a:t>. In this scenario, the producer is tightly coupled with the consumers and the coupling </a:t>
            </a:r>
            <a:r>
              <a:rPr lang="en-US" baseline="0" dirty="0" smtClean="0"/>
              <a:t>fragile. </a:t>
            </a:r>
            <a:endParaRPr lang="en-US" baseline="0" dirty="0"/>
          </a:p>
          <a:p>
            <a:pPr>
              <a:spcBef>
                <a:spcPts val="600"/>
              </a:spcBef>
            </a:pPr>
            <a:endParaRPr lang="en-US" dirty="0"/>
          </a:p>
          <a:p>
            <a:r>
              <a:rPr lang="en-US" dirty="0"/>
              <a:t>Looking at the following example</a:t>
            </a:r>
            <a:r>
              <a:rPr lang="en-US" baseline="0" dirty="0"/>
              <a:t> we have a producer and a consumer. </a:t>
            </a:r>
            <a:r>
              <a:rPr lang="en-US" dirty="0"/>
              <a:t>The producer generates a message,</a:t>
            </a:r>
            <a:r>
              <a:rPr lang="en-US" baseline="0" dirty="0"/>
              <a:t> n</a:t>
            </a:r>
            <a:r>
              <a:rPr lang="en-US" dirty="0"/>
              <a:t>otifies the</a:t>
            </a:r>
            <a:r>
              <a:rPr lang="en-US" baseline="0" dirty="0"/>
              <a:t> consumer, and waits for the message to be processed by the consumer. The consumer processes the message and when done, notifies the producer, and waits for the next message. </a:t>
            </a:r>
          </a:p>
          <a:p>
            <a:endParaRPr lang="en-US" baseline="0" dirty="0"/>
          </a:p>
          <a:p>
            <a:r>
              <a:rPr lang="en-US" baseline="0" dirty="0"/>
              <a:t>As you can see, this is a </a:t>
            </a:r>
            <a:r>
              <a:rPr lang="en-US" baseline="0" dirty="0">
                <a:solidFill>
                  <a:srgbClr val="000000"/>
                </a:solidFill>
              </a:rPr>
              <a:t>dependent</a:t>
            </a:r>
            <a:r>
              <a:rPr lang="en-US" baseline="0" dirty="0"/>
              <a:t> process where there is a strong interdependency between the consumer and the producer, which is a tightly coupled system. </a:t>
            </a:r>
          </a:p>
        </p:txBody>
      </p:sp>
    </p:spTree>
    <p:extLst>
      <p:ext uri="{BB962C8B-B14F-4D97-AF65-F5344CB8AC3E}">
        <p14:creationId xmlns:p14="http://schemas.microsoft.com/office/powerpoint/2010/main" val="3915806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600"/>
              </a:spcBef>
            </a:pPr>
            <a:r>
              <a:rPr lang="en-US" dirty="0"/>
              <a:t>Consider a scenario where</a:t>
            </a:r>
            <a:r>
              <a:rPr lang="en-US" baseline="0" dirty="0"/>
              <a:t> an </a:t>
            </a:r>
            <a:r>
              <a:rPr lang="en-US" baseline="0" dirty="0">
                <a:solidFill>
                  <a:srgbClr val="000000"/>
                </a:solidFill>
              </a:rPr>
              <a:t>application</a:t>
            </a:r>
            <a:r>
              <a:rPr lang="en-US" baseline="0" dirty="0"/>
              <a:t> produces messages that must be processed by a consumer downstream. The producer </a:t>
            </a:r>
            <a:r>
              <a:rPr lang="en-US" baseline="0" dirty="0">
                <a:solidFill>
                  <a:srgbClr val="000000"/>
                </a:solidFill>
              </a:rPr>
              <a:t>needs to</a:t>
            </a:r>
            <a:r>
              <a:rPr lang="en-US" baseline="0" dirty="0"/>
              <a:t> know how to connect to the consumer. If the consumer fails for some reason, then messages may be lost. </a:t>
            </a:r>
            <a:r>
              <a:rPr lang="en-US" baseline="0" dirty="0">
                <a:solidFill>
                  <a:srgbClr val="000000"/>
                </a:solidFill>
              </a:rPr>
              <a:t>If</a:t>
            </a:r>
            <a:r>
              <a:rPr lang="en-US" baseline="0" dirty="0"/>
              <a:t> new consumer instances are launched to recover from failure or to keep up with an increased workload, the producer </a:t>
            </a:r>
            <a:r>
              <a:rPr lang="en-US" baseline="0" dirty="0">
                <a:solidFill>
                  <a:srgbClr val="000000"/>
                </a:solidFill>
              </a:rPr>
              <a:t>needs to</a:t>
            </a:r>
            <a:r>
              <a:rPr lang="en-US" baseline="0" dirty="0"/>
              <a:t> be explicitly made aware of the new consumer </a:t>
            </a:r>
            <a:r>
              <a:rPr lang="en-US" baseline="0" dirty="0">
                <a:solidFill>
                  <a:srgbClr val="000000"/>
                </a:solidFill>
              </a:rPr>
              <a:t>instances</a:t>
            </a:r>
            <a:r>
              <a:rPr lang="en-US" baseline="0" dirty="0"/>
              <a:t>. In this scenario, the producer is tightly coupled with the consumers and the coupling is prone to brittleness. </a:t>
            </a:r>
          </a:p>
          <a:p>
            <a:pPr>
              <a:spcBef>
                <a:spcPts val="600"/>
              </a:spcBef>
            </a:pPr>
            <a:endParaRPr lang="en-US" dirty="0"/>
          </a:p>
          <a:p>
            <a:r>
              <a:rPr lang="en-US" dirty="0"/>
              <a:t>Looking at the following example</a:t>
            </a:r>
            <a:r>
              <a:rPr lang="en-US" baseline="0" dirty="0"/>
              <a:t> we have a producer and a consumer. </a:t>
            </a:r>
            <a:r>
              <a:rPr lang="en-US" dirty="0"/>
              <a:t>The producer generates a message,</a:t>
            </a:r>
            <a:r>
              <a:rPr lang="en-US" baseline="0" dirty="0"/>
              <a:t> n</a:t>
            </a:r>
            <a:r>
              <a:rPr lang="en-US" dirty="0"/>
              <a:t>otifies the</a:t>
            </a:r>
            <a:r>
              <a:rPr lang="en-US" baseline="0" dirty="0"/>
              <a:t> consumer, and waits for the message to be processed by the consumer. The consumer processes the message and when done, notifies the producer, and waits for the next message. </a:t>
            </a:r>
          </a:p>
          <a:p>
            <a:endParaRPr lang="en-US" baseline="0" dirty="0"/>
          </a:p>
          <a:p>
            <a:r>
              <a:rPr lang="en-US" baseline="0" dirty="0"/>
              <a:t>As you can see, this is a </a:t>
            </a:r>
            <a:r>
              <a:rPr lang="en-US" baseline="0" dirty="0">
                <a:solidFill>
                  <a:srgbClr val="000000"/>
                </a:solidFill>
              </a:rPr>
              <a:t>dependent</a:t>
            </a:r>
            <a:r>
              <a:rPr lang="en-US" baseline="0" dirty="0"/>
              <a:t> process where there is a strong interdependency between the consumer and the producer, which is a tightly coupled system. </a:t>
            </a:r>
          </a:p>
        </p:txBody>
      </p:sp>
    </p:spTree>
    <p:extLst>
      <p:ext uri="{BB962C8B-B14F-4D97-AF65-F5344CB8AC3E}">
        <p14:creationId xmlns:p14="http://schemas.microsoft.com/office/powerpoint/2010/main" val="745972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interdependency creates a tightly coupled</a:t>
            </a:r>
            <a:r>
              <a:rPr lang="en-US" baseline="0" dirty="0"/>
              <a:t> system. The disadvantage with a tightly coupled system is that it is not fault tolerant. If any one component in our system fails, the entire system </a:t>
            </a:r>
            <a:r>
              <a:rPr lang="en-US" baseline="0" dirty="0">
                <a:solidFill>
                  <a:srgbClr val="000000"/>
                </a:solidFill>
              </a:rPr>
              <a:t>will fail</a:t>
            </a:r>
            <a:r>
              <a:rPr lang="en-US" baseline="0" dirty="0"/>
              <a:t>. </a:t>
            </a:r>
          </a:p>
          <a:p>
            <a:endParaRPr lang="en-US" baseline="0" dirty="0"/>
          </a:p>
          <a:p>
            <a:r>
              <a:rPr lang="en-US" baseline="0" dirty="0"/>
              <a:t>Should our consumer fail while processing the message the producer </a:t>
            </a:r>
            <a:r>
              <a:rPr lang="en-US" baseline="0" dirty="0">
                <a:solidFill>
                  <a:srgbClr val="000000"/>
                </a:solidFill>
              </a:rPr>
              <a:t>will be forced</a:t>
            </a:r>
            <a:r>
              <a:rPr lang="en-US" baseline="0" dirty="0"/>
              <a:t> to wait and wait for the message to be processed</a:t>
            </a:r>
            <a:r>
              <a:rPr lang="en-US" baseline="0" dirty="0">
                <a:solidFill>
                  <a:srgbClr val="000000"/>
                </a:solidFill>
              </a:rPr>
              <a:t>,</a:t>
            </a:r>
            <a:r>
              <a:rPr lang="is-IS" baseline="0" dirty="0">
                <a:solidFill>
                  <a:srgbClr val="000000"/>
                </a:solidFill>
              </a:rPr>
              <a:t>and</a:t>
            </a:r>
            <a:r>
              <a:rPr lang="is-IS" baseline="0" dirty="0"/>
              <a:t> </a:t>
            </a:r>
            <a:r>
              <a:rPr lang="is-IS" baseline="0" dirty="0">
                <a:solidFill>
                  <a:srgbClr val="000000"/>
                </a:solidFill>
              </a:rPr>
              <a:t>will</a:t>
            </a:r>
            <a:r>
              <a:rPr lang="is-IS" baseline="0" dirty="0"/>
              <a:t> still </a:t>
            </a:r>
            <a:r>
              <a:rPr lang="is-IS" baseline="0" dirty="0">
                <a:solidFill>
                  <a:srgbClr val="000000"/>
                </a:solidFill>
              </a:rPr>
              <a:t>be</a:t>
            </a:r>
            <a:r>
              <a:rPr lang="is-IS" baseline="0" dirty="0"/>
              <a:t> waiting. </a:t>
            </a:r>
            <a:r>
              <a:rPr lang="is-IS" baseline="0" dirty="0">
                <a:solidFill>
                  <a:srgbClr val="000000"/>
                </a:solidFill>
              </a:rPr>
              <a:t>Because of the tighly coupled nature of our system</a:t>
            </a:r>
            <a:r>
              <a:rPr lang="is-IS" baseline="0" dirty="0"/>
              <a:t> it is not fault tolerant. </a:t>
            </a:r>
          </a:p>
          <a:p>
            <a:endParaRPr lang="is-IS" baseline="0" dirty="0"/>
          </a:p>
          <a:p>
            <a:endParaRPr lang="en-US" dirty="0"/>
          </a:p>
        </p:txBody>
      </p:sp>
    </p:spTree>
    <p:extLst>
      <p:ext uri="{BB962C8B-B14F-4D97-AF65-F5344CB8AC3E}">
        <p14:creationId xmlns:p14="http://schemas.microsoft.com/office/powerpoint/2010/main" val="32155790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interdependency creates a tightly coupled</a:t>
            </a:r>
            <a:r>
              <a:rPr lang="en-US" baseline="0" dirty="0"/>
              <a:t> system. The disadvantage with a tightly coupled system is that it is not fault tolerant. If any one component in our system fails, the entire system </a:t>
            </a:r>
            <a:r>
              <a:rPr lang="en-US" baseline="0" dirty="0">
                <a:solidFill>
                  <a:srgbClr val="000000"/>
                </a:solidFill>
              </a:rPr>
              <a:t>will fail</a:t>
            </a:r>
            <a:r>
              <a:rPr lang="en-US" baseline="0" dirty="0"/>
              <a:t>. </a:t>
            </a:r>
          </a:p>
          <a:p>
            <a:endParaRPr lang="en-US" baseline="0" dirty="0"/>
          </a:p>
          <a:p>
            <a:r>
              <a:rPr lang="en-US" baseline="0" dirty="0"/>
              <a:t>Should our consumer fail while processing the message the producer </a:t>
            </a:r>
            <a:r>
              <a:rPr lang="en-US" baseline="0" dirty="0">
                <a:solidFill>
                  <a:srgbClr val="000000"/>
                </a:solidFill>
              </a:rPr>
              <a:t>will be forced</a:t>
            </a:r>
            <a:r>
              <a:rPr lang="en-US" baseline="0" dirty="0"/>
              <a:t> to wait and wait for the message to be processed</a:t>
            </a:r>
            <a:r>
              <a:rPr lang="en-US" baseline="0" dirty="0">
                <a:solidFill>
                  <a:srgbClr val="000000"/>
                </a:solidFill>
              </a:rPr>
              <a:t>,</a:t>
            </a:r>
            <a:r>
              <a:rPr lang="is-IS" baseline="0" dirty="0">
                <a:solidFill>
                  <a:srgbClr val="000000"/>
                </a:solidFill>
              </a:rPr>
              <a:t>and</a:t>
            </a:r>
            <a:r>
              <a:rPr lang="is-IS" baseline="0" dirty="0"/>
              <a:t> </a:t>
            </a:r>
            <a:r>
              <a:rPr lang="is-IS" baseline="0" dirty="0">
                <a:solidFill>
                  <a:srgbClr val="000000"/>
                </a:solidFill>
              </a:rPr>
              <a:t>will</a:t>
            </a:r>
            <a:r>
              <a:rPr lang="is-IS" baseline="0" dirty="0"/>
              <a:t> still </a:t>
            </a:r>
            <a:r>
              <a:rPr lang="is-IS" baseline="0" dirty="0">
                <a:solidFill>
                  <a:srgbClr val="000000"/>
                </a:solidFill>
              </a:rPr>
              <a:t>be</a:t>
            </a:r>
            <a:r>
              <a:rPr lang="is-IS" baseline="0" dirty="0"/>
              <a:t> waiting. </a:t>
            </a:r>
            <a:r>
              <a:rPr lang="is-IS" baseline="0" dirty="0">
                <a:solidFill>
                  <a:srgbClr val="000000"/>
                </a:solidFill>
              </a:rPr>
              <a:t>Because of the tighly coupled nature of our system</a:t>
            </a:r>
            <a:r>
              <a:rPr lang="is-IS" baseline="0" dirty="0"/>
              <a:t> it is not fault tolerant. </a:t>
            </a:r>
          </a:p>
          <a:p>
            <a:endParaRPr lang="is-IS" baseline="0" dirty="0"/>
          </a:p>
          <a:p>
            <a:endParaRPr lang="en-US" dirty="0"/>
          </a:p>
        </p:txBody>
      </p:sp>
    </p:spTree>
    <p:extLst>
      <p:ext uri="{BB962C8B-B14F-4D97-AF65-F5344CB8AC3E}">
        <p14:creationId xmlns:p14="http://schemas.microsoft.com/office/powerpoint/2010/main" val="987645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4377690"/>
          </a:xfrm>
        </p:spPr>
        <p:txBody>
          <a:bodyPr/>
          <a:lstStyle/>
          <a:p>
            <a:pPr>
              <a:spcBef>
                <a:spcPts val="600"/>
              </a:spcBef>
              <a:defRPr/>
            </a:pPr>
            <a:r>
              <a:rPr lang="en-US" dirty="0"/>
              <a:t>Having a queue service decouples the producer from the consumer. </a:t>
            </a:r>
          </a:p>
          <a:p>
            <a:pPr>
              <a:spcBef>
                <a:spcPts val="600"/>
              </a:spcBef>
              <a:defRPr/>
            </a:pPr>
            <a:r>
              <a:rPr lang="en-US" dirty="0"/>
              <a:t>A queue is a temporary repository for messages that are awaiting processing. It acts as a buffer between the component producing data and the component receiving the data for processing. </a:t>
            </a:r>
            <a:r>
              <a:rPr lang="en-US" dirty="0">
                <a:solidFill>
                  <a:srgbClr val="000000"/>
                </a:solidFill>
              </a:rPr>
              <a:t>This</a:t>
            </a:r>
            <a:r>
              <a:rPr lang="en-US" dirty="0"/>
              <a:t> means that the queue resolves issues that arise if the producer is producing messages faster than the consumer can process or if the </a:t>
            </a:r>
            <a:r>
              <a:rPr lang="en-US" dirty="0">
                <a:solidFill>
                  <a:srgbClr val="000000"/>
                </a:solidFill>
              </a:rPr>
              <a:t>producer or consumer are</a:t>
            </a:r>
            <a:r>
              <a:rPr lang="en-US" dirty="0"/>
              <a:t> only intermittently connected to the </a:t>
            </a:r>
            <a:r>
              <a:rPr lang="en-US" dirty="0">
                <a:solidFill>
                  <a:srgbClr val="000000"/>
                </a:solidFill>
              </a:rPr>
              <a:t>network</a:t>
            </a:r>
            <a:r>
              <a:rPr lang="en-US" dirty="0"/>
              <a:t>. </a:t>
            </a:r>
          </a:p>
          <a:p>
            <a:pPr>
              <a:spcBef>
                <a:spcPts val="600"/>
              </a:spcBef>
              <a:defRPr/>
            </a:pPr>
            <a:r>
              <a:rPr lang="en-US" dirty="0"/>
              <a:t>A queue supports multiple producers and consumers interacting with the same queue. A single queue can be used simultaneously by many distributed </a:t>
            </a:r>
            <a:r>
              <a:rPr lang="en-US" dirty="0">
                <a:solidFill>
                  <a:srgbClr val="000000"/>
                </a:solidFill>
              </a:rPr>
              <a:t>application</a:t>
            </a:r>
            <a:r>
              <a:rPr lang="en-US" dirty="0"/>
              <a:t> components, with no need for those components to coordinate with each other to share the queue. A queue delivers</a:t>
            </a:r>
            <a:r>
              <a:rPr lang="en-US" baseline="0" dirty="0"/>
              <a:t> e</a:t>
            </a:r>
            <a:r>
              <a:rPr lang="en-US" dirty="0"/>
              <a:t>ach message at least once.</a:t>
            </a:r>
          </a:p>
          <a:p>
            <a:endParaRPr lang="en-US" sz="500" dirty="0"/>
          </a:p>
          <a:p>
            <a:r>
              <a:rPr lang="en-US" dirty="0"/>
              <a:t>Here is an example of an asynchronous</a:t>
            </a:r>
            <a:r>
              <a:rPr lang="en-US" baseline="0" dirty="0"/>
              <a:t> process. </a:t>
            </a:r>
            <a:r>
              <a:rPr lang="is-IS" baseline="0" dirty="0"/>
              <a:t>Where you have a producer, a message queue, and a consumer</a:t>
            </a:r>
            <a:r>
              <a:rPr lang="is-IS" baseline="0" dirty="0">
                <a:solidFill>
                  <a:srgbClr val="000000"/>
                </a:solidFill>
              </a:rPr>
              <a:t>.</a:t>
            </a:r>
            <a:r>
              <a:rPr lang="is-IS" baseline="0" dirty="0"/>
              <a:t> </a:t>
            </a:r>
            <a:r>
              <a:rPr lang="en-US" dirty="0"/>
              <a:t>The producer generates</a:t>
            </a:r>
            <a:r>
              <a:rPr lang="en-US" baseline="0" dirty="0"/>
              <a:t> a message and puts in onto the queue. The producer then generates another message and puts it onto the queue. The producer does not have to wait for the first message to be read and processed before putting the second message on the queue. Instead the producer can keep putting messages on the queue regardless </a:t>
            </a:r>
            <a:r>
              <a:rPr lang="en-US" baseline="0" dirty="0">
                <a:solidFill>
                  <a:srgbClr val="000000"/>
                </a:solidFill>
              </a:rPr>
              <a:t>if</a:t>
            </a:r>
            <a:r>
              <a:rPr lang="en-US" baseline="0" dirty="0"/>
              <a:t> they are being read by the consumer or not.</a:t>
            </a:r>
          </a:p>
          <a:p>
            <a:endParaRPr lang="en-US" sz="500" baseline="0" dirty="0"/>
          </a:p>
          <a:p>
            <a:r>
              <a:rPr lang="en-US" baseline="0" dirty="0"/>
              <a:t>When the consumer does read a message off the queue and </a:t>
            </a:r>
            <a:r>
              <a:rPr lang="en-US" baseline="0" dirty="0">
                <a:solidFill>
                  <a:srgbClr val="000000"/>
                </a:solidFill>
              </a:rPr>
              <a:t>starts</a:t>
            </a:r>
            <a:r>
              <a:rPr lang="en-US" baseline="0" dirty="0"/>
              <a:t> processing it, </a:t>
            </a:r>
            <a:r>
              <a:rPr lang="en-US" baseline="0" dirty="0">
                <a:solidFill>
                  <a:srgbClr val="000000"/>
                </a:solidFill>
              </a:rPr>
              <a:t>if</a:t>
            </a:r>
            <a:r>
              <a:rPr lang="en-US" baseline="0" dirty="0"/>
              <a:t> this consumer fails, it does not impact on the producer. The producer can continue putting messages on the queue. This solution is far more loosely coupled and as a result has greater fault tolerance. </a:t>
            </a:r>
          </a:p>
          <a:p>
            <a:endParaRPr lang="en-US" dirty="0"/>
          </a:p>
        </p:txBody>
      </p:sp>
    </p:spTree>
    <p:extLst>
      <p:ext uri="{BB962C8B-B14F-4D97-AF65-F5344CB8AC3E}">
        <p14:creationId xmlns:p14="http://schemas.microsoft.com/office/powerpoint/2010/main" val="19188879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119241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4103370"/>
          </a:xfrm>
        </p:spPr>
        <p:txBody>
          <a:bodyPr/>
          <a:lstStyle/>
          <a:p>
            <a:r>
              <a:rPr lang="en-US" b="1" dirty="0"/>
              <a:t>Standard queues </a:t>
            </a:r>
            <a:r>
              <a:rPr lang="en-US" dirty="0"/>
              <a:t>support at-least-once message delivery. However, occasionally because of the </a:t>
            </a:r>
            <a:r>
              <a:rPr lang="en-US" dirty="0">
                <a:solidFill>
                  <a:srgbClr val="000000"/>
                </a:solidFill>
              </a:rPr>
              <a:t>highly distributed</a:t>
            </a:r>
            <a:r>
              <a:rPr lang="en-US" dirty="0"/>
              <a:t> architecture, more than one copy of a message might be delivered out of order. Standard queues provide best-effort ordering which </a:t>
            </a:r>
            <a:r>
              <a:rPr lang="en-US" dirty="0">
                <a:solidFill>
                  <a:srgbClr val="000000"/>
                </a:solidFill>
              </a:rPr>
              <a:t>ensures</a:t>
            </a:r>
            <a:r>
              <a:rPr lang="en-US" dirty="0"/>
              <a:t> that messages are generally delivered in the same order as they're sent.</a:t>
            </a:r>
            <a:r>
              <a:rPr lang="en-US" baseline="0" dirty="0"/>
              <a:t>  </a:t>
            </a:r>
            <a:r>
              <a:rPr lang="en-US" dirty="0"/>
              <a:t>You can use standard message queues in many scenarios, as long as your </a:t>
            </a:r>
            <a:r>
              <a:rPr lang="en-US" dirty="0">
                <a:solidFill>
                  <a:srgbClr val="000000"/>
                </a:solidFill>
              </a:rPr>
              <a:t>application</a:t>
            </a:r>
            <a:r>
              <a:rPr lang="en-US" dirty="0"/>
              <a:t> can process messages that arrive more than once and out of order.</a:t>
            </a:r>
          </a:p>
          <a:p>
            <a:endParaRPr lang="en-US" dirty="0"/>
          </a:p>
          <a:p>
            <a:r>
              <a:rPr lang="en-US" dirty="0">
                <a:solidFill>
                  <a:srgbClr val="000000"/>
                </a:solidFill>
              </a:rPr>
              <a:t>For more information,</a:t>
            </a:r>
            <a:r>
              <a:rPr lang="en-US" dirty="0"/>
              <a:t> </a:t>
            </a:r>
            <a:r>
              <a:rPr lang="en-US" baseline="0" dirty="0"/>
              <a:t>see</a:t>
            </a:r>
            <a:r>
              <a:rPr lang="en-US" dirty="0"/>
              <a:t> </a:t>
            </a:r>
            <a:r>
              <a:rPr lang="en-US" dirty="0">
                <a:hlinkClick r:id="rId3"/>
              </a:rPr>
              <a:t>http://docs.aws.amazon.com/AWSSimpleQueueService/latest/SQSDeveloperGuide/standard-queues.html</a:t>
            </a:r>
            <a:r>
              <a:rPr lang="en-US" dirty="0"/>
              <a:t>.</a:t>
            </a:r>
          </a:p>
          <a:p>
            <a:endParaRPr lang="en-US" dirty="0"/>
          </a:p>
          <a:p>
            <a:r>
              <a:rPr lang="en-US" b="1" dirty="0"/>
              <a:t>FIFO queues</a:t>
            </a:r>
            <a:r>
              <a:rPr lang="en-US" b="1" baseline="0" dirty="0"/>
              <a:t> (First-In-First-Out) </a:t>
            </a:r>
            <a:r>
              <a:rPr lang="en-US" dirty="0"/>
              <a:t>are designed to enhance messaging between </a:t>
            </a:r>
            <a:r>
              <a:rPr lang="en-US" dirty="0">
                <a:solidFill>
                  <a:srgbClr val="000000"/>
                </a:solidFill>
              </a:rPr>
              <a:t>applications</a:t>
            </a:r>
            <a:r>
              <a:rPr lang="en-US" dirty="0"/>
              <a:t> when the order of operations and events is critical, or where duplicates can't be tolerated. FIFO queues also provide </a:t>
            </a:r>
            <a:r>
              <a:rPr lang="en-US" dirty="0">
                <a:solidFill>
                  <a:srgbClr val="000000"/>
                </a:solidFill>
              </a:rPr>
              <a:t>exactly once</a:t>
            </a:r>
            <a:r>
              <a:rPr lang="en-US" dirty="0"/>
              <a:t> processing but are limited to 300 transactions </a:t>
            </a:r>
            <a:r>
              <a:rPr lang="en-US" dirty="0">
                <a:solidFill>
                  <a:srgbClr val="000000"/>
                </a:solidFill>
              </a:rPr>
              <a:t>per</a:t>
            </a:r>
            <a:r>
              <a:rPr lang="en-US" dirty="0"/>
              <a:t> second (TPS).</a:t>
            </a:r>
            <a:r>
              <a:rPr lang="en-US" baseline="0" dirty="0"/>
              <a:t>  </a:t>
            </a:r>
            <a:r>
              <a:rPr lang="en-US" dirty="0"/>
              <a:t>FIFO queues are designed to enhance messaging between </a:t>
            </a:r>
            <a:r>
              <a:rPr lang="en-US" dirty="0">
                <a:solidFill>
                  <a:srgbClr val="000000"/>
                </a:solidFill>
              </a:rPr>
              <a:t>applications</a:t>
            </a:r>
            <a:r>
              <a:rPr lang="en-US" dirty="0"/>
              <a:t> when the order of operations and events is critical.</a:t>
            </a:r>
          </a:p>
          <a:p>
            <a:endParaRPr lang="en-US" dirty="0"/>
          </a:p>
          <a:p>
            <a:pPr marL="0" marR="0" lvl="1" indent="0" algn="l" defTabSz="457200" rtl="0" eaLnBrk="1" fontAlgn="auto" latinLnBrk="0" hangingPunct="1">
              <a:lnSpc>
                <a:spcPct val="100000"/>
              </a:lnSpc>
              <a:spcBef>
                <a:spcPts val="0"/>
              </a:spcBef>
              <a:spcAft>
                <a:spcPts val="0"/>
              </a:spcAft>
              <a:buClrTx/>
              <a:buSzTx/>
              <a:buFontTx/>
              <a:buNone/>
              <a:tabLst/>
              <a:defRPr/>
            </a:pPr>
            <a:r>
              <a:rPr lang="en-US" dirty="0">
                <a:solidFill>
                  <a:srgbClr val="000000"/>
                </a:solidFill>
              </a:rPr>
              <a:t>For more information,</a:t>
            </a:r>
            <a:r>
              <a:rPr lang="en-US" baseline="0" dirty="0"/>
              <a:t> </a:t>
            </a:r>
            <a:r>
              <a:rPr lang="en-US" dirty="0"/>
              <a:t>see</a:t>
            </a:r>
            <a:r>
              <a:rPr lang="en-US" baseline="0" dirty="0"/>
              <a:t> </a:t>
            </a:r>
            <a:r>
              <a:rPr lang="en-US" dirty="0">
                <a:hlinkClick r:id="rId4"/>
              </a:rPr>
              <a:t>http://docs.aws.amazon.com/AWSSimpleQueueService/latest/SQSDeveloperGuide/FIFO-queues.html</a:t>
            </a:r>
            <a:r>
              <a:rPr lang="en-US" dirty="0"/>
              <a:t>.</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Tree>
    <p:extLst>
      <p:ext uri="{BB962C8B-B14F-4D97-AF65-F5344CB8AC3E}">
        <p14:creationId xmlns:p14="http://schemas.microsoft.com/office/powerpoint/2010/main" val="41831502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3" y="4560572"/>
            <a:ext cx="5440678" cy="3371848"/>
          </a:xfrm>
        </p:spPr>
        <p:txBody>
          <a:bodyPr/>
          <a:lstStyle/>
          <a:p>
            <a:pPr marL="0" marR="0" indent="0" algn="l" defTabSz="457200" rtl="0" eaLnBrk="1" fontAlgn="auto" latinLnBrk="0" hangingPunct="1">
              <a:lnSpc>
                <a:spcPct val="100000"/>
              </a:lnSpc>
              <a:spcBef>
                <a:spcPts val="600"/>
              </a:spcBef>
              <a:spcAft>
                <a:spcPts val="0"/>
              </a:spcAft>
              <a:buClrTx/>
              <a:buSzTx/>
              <a:buFontTx/>
              <a:buNone/>
              <a:tabLst/>
              <a:defRPr/>
            </a:pPr>
            <a:r>
              <a:rPr lang="en-US" b="0" dirty="0"/>
              <a:t>Queuing Chain Pattern</a:t>
            </a:r>
            <a:r>
              <a:rPr lang="en-US" b="0" baseline="0" dirty="0"/>
              <a:t> is a cloud design pattern</a:t>
            </a:r>
            <a:r>
              <a:rPr lang="en-US" dirty="0"/>
              <a:t>. For more information, see </a:t>
            </a:r>
            <a:r>
              <a:rPr lang="en-US" dirty="0">
                <a:sym typeface="Wingdings" panose="05000000000000000000" pitchFamily="2" charset="2"/>
                <a:hlinkClick r:id="rId3"/>
              </a:rPr>
              <a:t>http://en.clouddesignpattern.org/index.php/CDP:Queuing_Chain_Pattern</a:t>
            </a:r>
            <a:r>
              <a:rPr lang="en-US" dirty="0">
                <a:sym typeface="Wingdings" panose="05000000000000000000" pitchFamily="2" charset="2"/>
              </a:rPr>
              <a:t>.</a:t>
            </a:r>
            <a:endParaRPr lang="en-US" b="0" baseline="0" dirty="0">
              <a:sym typeface="Wingdings" panose="05000000000000000000" pitchFamily="2" charset="2"/>
            </a:endParaRPr>
          </a:p>
          <a:p>
            <a:pPr>
              <a:spcBef>
                <a:spcPts val="600"/>
              </a:spcBef>
            </a:pPr>
            <a:r>
              <a:rPr lang="en-US" b="1" baseline="0" dirty="0">
                <a:sym typeface="Wingdings" panose="05000000000000000000" pitchFamily="2" charset="2"/>
              </a:rPr>
              <a:t>Problem to be </a:t>
            </a:r>
            <a:r>
              <a:rPr lang="en-US" b="1" baseline="0" dirty="0" smtClean="0">
                <a:sym typeface="Wingdings" panose="05000000000000000000" pitchFamily="2" charset="2"/>
              </a:rPr>
              <a:t>solved</a:t>
            </a:r>
            <a:br>
              <a:rPr lang="en-US" b="1" baseline="0" dirty="0" smtClean="0">
                <a:sym typeface="Wingdings" panose="05000000000000000000" pitchFamily="2" charset="2"/>
              </a:rPr>
            </a:br>
            <a:r>
              <a:rPr lang="en-US" b="0" baseline="0" dirty="0" smtClean="0">
                <a:sym typeface="Wingdings" panose="05000000000000000000" pitchFamily="2" charset="2"/>
              </a:rPr>
              <a:t>An </a:t>
            </a:r>
            <a:r>
              <a:rPr lang="en-US" b="0" baseline="0" dirty="0">
                <a:sym typeface="Wingdings" panose="05000000000000000000" pitchFamily="2" charset="2"/>
              </a:rPr>
              <a:t>example of image processing</a:t>
            </a:r>
            <a:r>
              <a:rPr lang="en-US" dirty="0">
                <a:sym typeface="Wingdings" panose="05000000000000000000" pitchFamily="2" charset="2"/>
              </a:rPr>
              <a:t>: </a:t>
            </a:r>
            <a:r>
              <a:rPr lang="en-US" b="0" baseline="0" dirty="0">
                <a:sym typeface="Wingdings" panose="05000000000000000000" pitchFamily="2" charset="2"/>
              </a:rPr>
              <a:t>the sequential operations of uploading, storing, and encoding the image, creating a thumbnail, and </a:t>
            </a:r>
            <a:r>
              <a:rPr lang="en-US" dirty="0">
                <a:sym typeface="Wingdings" panose="05000000000000000000" pitchFamily="2" charset="2"/>
              </a:rPr>
              <a:t>copyrighting </a:t>
            </a:r>
            <a:r>
              <a:rPr lang="en-US" b="0" baseline="0" dirty="0">
                <a:sym typeface="Wingdings" panose="05000000000000000000" pitchFamily="2" charset="2"/>
              </a:rPr>
              <a:t>are tightly linked to each other. This tight linkage complicates the recovery operations when there has been a failure.  </a:t>
            </a:r>
          </a:p>
          <a:p>
            <a:pPr>
              <a:spcBef>
                <a:spcPts val="600"/>
              </a:spcBef>
            </a:pPr>
            <a:r>
              <a:rPr lang="en-US" b="1" baseline="0" dirty="0">
                <a:sym typeface="Wingdings" panose="05000000000000000000" pitchFamily="2" charset="2"/>
              </a:rPr>
              <a:t>Queuing Chain </a:t>
            </a:r>
            <a:r>
              <a:rPr lang="en-US" b="1" baseline="0" dirty="0" smtClean="0">
                <a:sym typeface="Wingdings" panose="05000000000000000000" pitchFamily="2" charset="2"/>
              </a:rPr>
              <a:t>Pattern</a:t>
            </a:r>
            <a:r>
              <a:rPr lang="en-US" dirty="0">
                <a:sym typeface="Wingdings" panose="05000000000000000000" pitchFamily="2" charset="2"/>
              </a:rPr>
              <a:t/>
            </a:r>
            <a:br>
              <a:rPr lang="en-US" dirty="0">
                <a:sym typeface="Wingdings" panose="05000000000000000000" pitchFamily="2" charset="2"/>
              </a:rPr>
            </a:br>
            <a:r>
              <a:rPr lang="en-US" b="0" baseline="0" dirty="0" smtClean="0">
                <a:sym typeface="Wingdings" panose="05000000000000000000" pitchFamily="2" charset="2"/>
              </a:rPr>
              <a:t>You </a:t>
            </a:r>
            <a:r>
              <a:rPr lang="en-US" b="0" baseline="0" dirty="0">
                <a:sym typeface="Wingdings" panose="05000000000000000000" pitchFamily="2" charset="2"/>
              </a:rPr>
              <a:t>can achieve loose coupling of systems by using queues between systems and exchanging messages that transfer jobs. This enables asynchronous linking of systems. This </a:t>
            </a:r>
            <a:r>
              <a:rPr lang="en-US" b="0" baseline="0" dirty="0">
                <a:solidFill>
                  <a:srgbClr val="000000"/>
                </a:solidFill>
                <a:sym typeface="Wingdings" panose="05000000000000000000" pitchFamily="2" charset="2"/>
              </a:rPr>
              <a:t>method</a:t>
            </a:r>
            <a:r>
              <a:rPr lang="en-US" b="0" baseline="0" dirty="0">
                <a:sym typeface="Wingdings" panose="05000000000000000000" pitchFamily="2" charset="2"/>
              </a:rPr>
              <a:t> lets you increase the number of virtual servers that receive and process the messages in parallel. If there is no image to process, you can configure </a:t>
            </a:r>
            <a:r>
              <a:rPr lang="en-US" b="0" baseline="0" dirty="0">
                <a:solidFill>
                  <a:srgbClr val="000000"/>
                </a:solidFill>
                <a:sym typeface="Wingdings" panose="05000000000000000000" pitchFamily="2" charset="2"/>
              </a:rPr>
              <a:t>auto scaling</a:t>
            </a:r>
            <a:r>
              <a:rPr lang="en-US" b="0" baseline="0" dirty="0">
                <a:sym typeface="Wingdings" panose="05000000000000000000" pitchFamily="2" charset="2"/>
              </a:rPr>
              <a:t> to </a:t>
            </a:r>
            <a:r>
              <a:rPr lang="en-US" b="0" baseline="0" dirty="0">
                <a:solidFill>
                  <a:srgbClr val="000000"/>
                </a:solidFill>
                <a:sym typeface="Wingdings" panose="05000000000000000000" pitchFamily="2" charset="2"/>
              </a:rPr>
              <a:t>terminate</a:t>
            </a:r>
            <a:r>
              <a:rPr lang="en-US" b="0" baseline="0" dirty="0">
                <a:sym typeface="Wingdings" panose="05000000000000000000" pitchFamily="2" charset="2"/>
              </a:rPr>
              <a:t> the servers that are in excess. </a:t>
            </a:r>
          </a:p>
          <a:p>
            <a:pPr>
              <a:spcBef>
                <a:spcPts val="600"/>
              </a:spcBef>
            </a:pPr>
            <a:r>
              <a:rPr lang="en-US" b="0" baseline="0" dirty="0">
                <a:solidFill>
                  <a:srgbClr val="000000"/>
                </a:solidFill>
                <a:sym typeface="Wingdings" panose="05000000000000000000" pitchFamily="2" charset="2"/>
              </a:rPr>
              <a:t>Although</a:t>
            </a:r>
            <a:r>
              <a:rPr lang="en-US" b="0" baseline="0" dirty="0">
                <a:sym typeface="Wingdings" panose="05000000000000000000" pitchFamily="2" charset="2"/>
              </a:rPr>
              <a:t> you can use this pattern without </a:t>
            </a:r>
            <a:r>
              <a:rPr lang="en-US" b="0" baseline="0" dirty="0">
                <a:solidFill>
                  <a:srgbClr val="000000"/>
                </a:solidFill>
                <a:sym typeface="Wingdings" panose="05000000000000000000" pitchFamily="2" charset="2"/>
              </a:rPr>
              <a:t>cloud technology</a:t>
            </a:r>
            <a:r>
              <a:rPr lang="en-US" b="0" baseline="0" dirty="0">
                <a:sym typeface="Wingdings" panose="05000000000000000000" pitchFamily="2" charset="2"/>
              </a:rPr>
              <a:t>, the queue itself is provided as an </a:t>
            </a:r>
            <a:r>
              <a:rPr lang="en-US" b="0" baseline="0" dirty="0">
                <a:solidFill>
                  <a:srgbClr val="000000"/>
                </a:solidFill>
                <a:sym typeface="Wingdings" panose="05000000000000000000" pitchFamily="2" charset="2"/>
              </a:rPr>
              <a:t>AWS C</a:t>
            </a:r>
            <a:r>
              <a:rPr lang="en-US" dirty="0">
                <a:solidFill>
                  <a:srgbClr val="000000"/>
                </a:solidFill>
                <a:sym typeface="Wingdings" panose="05000000000000000000" pitchFamily="2" charset="2"/>
              </a:rPr>
              <a:t>loud</a:t>
            </a:r>
            <a:r>
              <a:rPr lang="en-US" dirty="0">
                <a:sym typeface="Wingdings" panose="05000000000000000000" pitchFamily="2" charset="2"/>
              </a:rPr>
              <a:t> </a:t>
            </a:r>
            <a:r>
              <a:rPr lang="en-US" b="0" baseline="0" dirty="0">
                <a:sym typeface="Wingdings" panose="05000000000000000000" pitchFamily="2" charset="2"/>
              </a:rPr>
              <a:t>service (Amazon SQS), which makes it </a:t>
            </a:r>
            <a:r>
              <a:rPr lang="en-US" b="0" baseline="0" dirty="0">
                <a:solidFill>
                  <a:srgbClr val="000000"/>
                </a:solidFill>
                <a:sym typeface="Wingdings" panose="05000000000000000000" pitchFamily="2" charset="2"/>
              </a:rPr>
              <a:t>easier</a:t>
            </a:r>
            <a:r>
              <a:rPr lang="en-US" b="0" baseline="0" dirty="0">
                <a:sym typeface="Wingdings" panose="05000000000000000000" pitchFamily="2" charset="2"/>
              </a:rPr>
              <a:t> for you to use this </a:t>
            </a:r>
            <a:r>
              <a:rPr lang="en-US" b="0" baseline="0" dirty="0">
                <a:solidFill>
                  <a:srgbClr val="000000"/>
                </a:solidFill>
                <a:sym typeface="Wingdings" panose="05000000000000000000" pitchFamily="2" charset="2"/>
              </a:rPr>
              <a:t>pattern</a:t>
            </a:r>
            <a:r>
              <a:rPr lang="en-US" b="0" baseline="0" dirty="0">
                <a:sym typeface="Wingdings" panose="05000000000000000000" pitchFamily="2" charset="2"/>
              </a:rPr>
              <a:t>.   </a:t>
            </a:r>
            <a:r>
              <a:rPr lang="en-US" b="0" baseline="0" dirty="0" smtClean="0">
                <a:sym typeface="Wingdings" panose="05000000000000000000" pitchFamily="2" charset="2"/>
              </a:rPr>
              <a:t/>
            </a:r>
            <a:br>
              <a:rPr lang="en-US" b="0" baseline="0" dirty="0" smtClean="0">
                <a:sym typeface="Wingdings" panose="05000000000000000000" pitchFamily="2" charset="2"/>
              </a:rPr>
            </a:br>
            <a:endParaRPr lang="en-US" b="0" baseline="0" dirty="0">
              <a:sym typeface="Wingdings" panose="05000000000000000000" pitchFamily="2" charset="2"/>
            </a:endParaRPr>
          </a:p>
          <a:p>
            <a:pPr>
              <a:spcBef>
                <a:spcPts val="600"/>
              </a:spcBef>
            </a:pPr>
            <a:r>
              <a:rPr lang="en-US" b="1" baseline="0" dirty="0">
                <a:sym typeface="Wingdings" panose="05000000000000000000" pitchFamily="2" charset="2"/>
              </a:rPr>
              <a:t>Benefits</a:t>
            </a:r>
          </a:p>
          <a:p>
            <a:pPr marL="171450" indent="-171450">
              <a:spcBef>
                <a:spcPts val="600"/>
              </a:spcBef>
              <a:buFont typeface="Arial" panose="020B0604020202020204" pitchFamily="34" charset="0"/>
              <a:buChar char="•"/>
            </a:pPr>
            <a:r>
              <a:rPr lang="en-US" b="0" baseline="0" dirty="0">
                <a:sym typeface="Wingdings" panose="05000000000000000000" pitchFamily="2" charset="2"/>
              </a:rPr>
              <a:t>Use </a:t>
            </a:r>
            <a:r>
              <a:rPr lang="en-US" b="0" baseline="0" dirty="0">
                <a:solidFill>
                  <a:srgbClr val="000000"/>
                </a:solidFill>
                <a:sym typeface="Wingdings" panose="05000000000000000000" pitchFamily="2" charset="2"/>
              </a:rPr>
              <a:t>asynchronous processing</a:t>
            </a:r>
            <a:r>
              <a:rPr lang="en-US" b="0" baseline="0" dirty="0">
                <a:sym typeface="Wingdings" panose="05000000000000000000" pitchFamily="2" charset="2"/>
              </a:rPr>
              <a:t> to return responses quickly</a:t>
            </a:r>
            <a:r>
              <a:rPr lang="en-US" dirty="0">
                <a:sym typeface="Wingdings" panose="05000000000000000000" pitchFamily="2" charset="2"/>
              </a:rPr>
              <a:t>.</a:t>
            </a:r>
            <a:endParaRPr lang="en-US" b="0" baseline="0" dirty="0">
              <a:sym typeface="Wingdings" panose="05000000000000000000" pitchFamily="2" charset="2"/>
            </a:endParaRPr>
          </a:p>
          <a:p>
            <a:pPr marL="171450" indent="-171450">
              <a:spcBef>
                <a:spcPts val="600"/>
              </a:spcBef>
              <a:buFont typeface="Arial" panose="020B0604020202020204" pitchFamily="34" charset="0"/>
              <a:buChar char="•"/>
            </a:pPr>
            <a:r>
              <a:rPr lang="en-US" b="0" baseline="0" dirty="0">
                <a:sym typeface="Wingdings" panose="05000000000000000000" pitchFamily="2" charset="2"/>
              </a:rPr>
              <a:t>Structure the system through loose coupling of Amazon EC2 instances</a:t>
            </a:r>
            <a:r>
              <a:rPr lang="en-US" dirty="0">
                <a:sym typeface="Wingdings" panose="05000000000000000000" pitchFamily="2" charset="2"/>
              </a:rPr>
              <a:t>.</a:t>
            </a:r>
            <a:endParaRPr lang="en-US" b="0" baseline="0" dirty="0">
              <a:sym typeface="Wingdings" panose="05000000000000000000" pitchFamily="2" charset="2"/>
            </a:endParaRPr>
          </a:p>
          <a:p>
            <a:pPr marL="171450" indent="-171450">
              <a:spcBef>
                <a:spcPts val="600"/>
              </a:spcBef>
              <a:buFont typeface="Arial" panose="020B0604020202020204" pitchFamily="34" charset="0"/>
              <a:buChar char="•"/>
            </a:pPr>
            <a:r>
              <a:rPr lang="en-US" b="0" baseline="0" dirty="0">
                <a:sym typeface="Wingdings" panose="05000000000000000000" pitchFamily="2" charset="2"/>
              </a:rPr>
              <a:t>Handle performance and service requirements through merely increasing or decreasing the number of Amazon EC2 instances used in job processing</a:t>
            </a:r>
            <a:r>
              <a:rPr lang="en-US" dirty="0">
                <a:sym typeface="Wingdings" panose="05000000000000000000" pitchFamily="2" charset="2"/>
              </a:rPr>
              <a:t>.</a:t>
            </a:r>
            <a:endParaRPr lang="en-US" b="0" baseline="0" dirty="0">
              <a:sym typeface="Wingdings" panose="05000000000000000000" pitchFamily="2" charset="2"/>
            </a:endParaRPr>
          </a:p>
          <a:p>
            <a:pPr marL="171450" indent="-171450">
              <a:spcBef>
                <a:spcPts val="600"/>
              </a:spcBef>
              <a:buFont typeface="Arial" panose="020B0604020202020204" pitchFamily="34" charset="0"/>
              <a:buChar char="•"/>
            </a:pPr>
            <a:r>
              <a:rPr lang="en-US" b="0" baseline="0" dirty="0">
                <a:solidFill>
                  <a:srgbClr val="000000"/>
                </a:solidFill>
                <a:sym typeface="Wingdings" panose="05000000000000000000" pitchFamily="2" charset="2"/>
              </a:rPr>
              <a:t>Even</a:t>
            </a:r>
            <a:r>
              <a:rPr lang="en-US" b="0" baseline="0" dirty="0">
                <a:sym typeface="Wingdings" panose="05000000000000000000" pitchFamily="2" charset="2"/>
              </a:rPr>
              <a:t> if an Amazon EC2 instance </a:t>
            </a:r>
            <a:r>
              <a:rPr lang="en-US" dirty="0">
                <a:sym typeface="Wingdings" panose="05000000000000000000" pitchFamily="2" charset="2"/>
              </a:rPr>
              <a:t>fails</a:t>
            </a:r>
            <a:r>
              <a:rPr lang="en-US" b="0" baseline="0" dirty="0">
                <a:sym typeface="Wingdings" panose="05000000000000000000" pitchFamily="2" charset="2"/>
              </a:rPr>
              <a:t>, a message </a:t>
            </a:r>
            <a:r>
              <a:rPr lang="en-US" dirty="0">
                <a:sym typeface="Wingdings" panose="05000000000000000000" pitchFamily="2" charset="2"/>
              </a:rPr>
              <a:t>remains </a:t>
            </a:r>
            <a:r>
              <a:rPr lang="en-US" b="0" baseline="0" dirty="0">
                <a:sym typeface="Wingdings" panose="05000000000000000000" pitchFamily="2" charset="2"/>
              </a:rPr>
              <a:t>in the queue service, which enables processing to be continued immediately upon recovery of the Amazon EC2 instance </a:t>
            </a:r>
            <a:r>
              <a:rPr lang="en-US" dirty="0">
                <a:sym typeface="Wingdings" panose="05000000000000000000" pitchFamily="2" charset="2"/>
              </a:rPr>
              <a:t>and </a:t>
            </a:r>
            <a:r>
              <a:rPr lang="en-US" b="0" baseline="0" dirty="0">
                <a:sym typeface="Wingdings" panose="05000000000000000000" pitchFamily="2" charset="2"/>
              </a:rPr>
              <a:t>producing a system that is resistant to </a:t>
            </a:r>
            <a:r>
              <a:rPr lang="en-US" b="0" baseline="0" dirty="0">
                <a:solidFill>
                  <a:srgbClr val="000000"/>
                </a:solidFill>
                <a:sym typeface="Wingdings" panose="05000000000000000000" pitchFamily="2" charset="2"/>
              </a:rPr>
              <a:t>failure</a:t>
            </a:r>
            <a:r>
              <a:rPr lang="en-US" dirty="0">
                <a:sym typeface="Wingdings" panose="05000000000000000000" pitchFamily="2" charset="2"/>
              </a:rPr>
              <a:t>.</a:t>
            </a:r>
            <a:endParaRPr lang="en-US" b="0" dirty="0"/>
          </a:p>
        </p:txBody>
      </p:sp>
    </p:spTree>
    <p:extLst>
      <p:ext uri="{BB962C8B-B14F-4D97-AF65-F5344CB8AC3E}">
        <p14:creationId xmlns:p14="http://schemas.microsoft.com/office/powerpoint/2010/main" val="2295442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illustration depicts a Producer publishing a message</a:t>
            </a:r>
            <a:r>
              <a:rPr lang="en-US" baseline="0" dirty="0"/>
              <a:t> to the q</a:t>
            </a:r>
            <a:r>
              <a:rPr lang="en-US" baseline="0" dirty="0">
                <a:solidFill>
                  <a:srgbClr val="000000"/>
                </a:solidFill>
              </a:rPr>
              <a:t>ueue</a:t>
            </a:r>
            <a:r>
              <a:rPr lang="en-US" baseline="0" dirty="0"/>
              <a:t>.</a:t>
            </a:r>
            <a:endParaRPr lang="en-US" dirty="0"/>
          </a:p>
        </p:txBody>
      </p:sp>
    </p:spTree>
    <p:extLst>
      <p:ext uri="{BB962C8B-B14F-4D97-AF65-F5344CB8AC3E}">
        <p14:creationId xmlns:p14="http://schemas.microsoft.com/office/powerpoint/2010/main" val="875770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3" y="4560572"/>
            <a:ext cx="5440678" cy="2137408"/>
          </a:xfrm>
        </p:spPr>
        <p:txBody>
          <a:bodyPr/>
          <a:lstStyle/>
          <a:p>
            <a:pPr>
              <a:spcBef>
                <a:spcPts val="600"/>
              </a:spcBef>
            </a:pPr>
            <a:r>
              <a:rPr lang="en-US" dirty="0"/>
              <a:t>The </a:t>
            </a:r>
            <a:r>
              <a:rPr lang="en-US" dirty="0">
                <a:cs typeface="Courier New" panose="02070309020205020404" pitchFamily="49" charset="0"/>
              </a:rPr>
              <a:t>SendMessage</a:t>
            </a:r>
            <a:r>
              <a:rPr lang="en-US" baseline="0" dirty="0"/>
              <a:t> operation sends messages to a specific queue. </a:t>
            </a:r>
            <a:r>
              <a:rPr lang="en-US" dirty="0">
                <a:cs typeface="Arial" panose="020B0604020202020204" pitchFamily="34" charset="0"/>
              </a:rPr>
              <a:t>The maximum message size is 256 KB. </a:t>
            </a:r>
            <a:endParaRPr lang="en-US" dirty="0"/>
          </a:p>
          <a:p>
            <a:pPr>
              <a:spcBef>
                <a:spcPts val="600"/>
              </a:spcBef>
            </a:pPr>
            <a:r>
              <a:rPr lang="en-US" dirty="0"/>
              <a:t>The parameters of a </a:t>
            </a:r>
            <a:r>
              <a:rPr lang="en-US" dirty="0">
                <a:latin typeface="Courier New" panose="02070309020205020404" pitchFamily="49" charset="0"/>
                <a:cs typeface="Courier New" panose="02070309020205020404" pitchFamily="49" charset="0"/>
              </a:rPr>
              <a:t>SendMessage</a:t>
            </a:r>
            <a:r>
              <a:rPr lang="en-US" dirty="0"/>
              <a:t> operation are as follows:</a:t>
            </a:r>
            <a:endParaRPr lang="en-US" baseline="0" dirty="0"/>
          </a:p>
          <a:p>
            <a:pPr marL="171450" indent="-171450">
              <a:spcBef>
                <a:spcPts val="600"/>
              </a:spcBef>
              <a:buFont typeface="Arial" panose="020B0604020202020204" pitchFamily="34" charset="0"/>
              <a:buChar char="•"/>
            </a:pPr>
            <a:r>
              <a:rPr lang="en-US" baseline="0" dirty="0" err="1">
                <a:solidFill>
                  <a:srgbClr val="000000"/>
                </a:solidFill>
                <a:latin typeface="Lucida Console" panose="020B0609040504020204" pitchFamily="49" charset="0"/>
                <a:cs typeface="Courier New" panose="02070309020205020404" pitchFamily="49" charset="0"/>
              </a:rPr>
              <a:t>QueueUrl</a:t>
            </a:r>
            <a:r>
              <a:rPr lang="en-US" baseline="0" dirty="0"/>
              <a:t> (required): Specifies the url of the queue that the message should be sent to. </a:t>
            </a:r>
          </a:p>
          <a:p>
            <a:pPr marL="171450" indent="-171450">
              <a:spcBef>
                <a:spcPts val="600"/>
              </a:spcBef>
              <a:buFont typeface="Arial" panose="020B0604020202020204" pitchFamily="34" charset="0"/>
              <a:buChar char="•"/>
            </a:pPr>
            <a:r>
              <a:rPr lang="en-US" baseline="0" dirty="0" err="1">
                <a:latin typeface="Lucida Console" panose="020B0609040504020204" pitchFamily="49" charset="0"/>
                <a:cs typeface="Courier New" panose="02070309020205020404" pitchFamily="49" charset="0"/>
              </a:rPr>
              <a:t>MessageBody</a:t>
            </a:r>
            <a:r>
              <a:rPr lang="en-US" baseline="0" dirty="0"/>
              <a:t> (required): Specifies the message to send. </a:t>
            </a:r>
          </a:p>
          <a:p>
            <a:pPr marL="171450" indent="-171450">
              <a:spcBef>
                <a:spcPts val="600"/>
              </a:spcBef>
              <a:buFont typeface="Arial" panose="020B0604020202020204" pitchFamily="34" charset="0"/>
              <a:buChar char="•"/>
            </a:pPr>
            <a:r>
              <a:rPr lang="en-US" dirty="0">
                <a:latin typeface="Courier New" panose="02070309020205020404" pitchFamily="49" charset="0"/>
                <a:cs typeface="Courier New" panose="02070309020205020404" pitchFamily="49" charset="0"/>
              </a:rPr>
              <a:t>DelaySeconds</a:t>
            </a:r>
            <a:r>
              <a:rPr lang="en-US" baseline="0" dirty="0"/>
              <a:t> (optional): Specifies t</a:t>
            </a:r>
            <a:r>
              <a:rPr lang="en-US" dirty="0"/>
              <a:t>he number of seconds to delay a specific message. Messages will become available for processing after the delay time is finished. If you do not specify a value, the default value for the queue applies</a:t>
            </a:r>
            <a:r>
              <a:rPr lang="en-US" dirty="0" smtClean="0"/>
              <a:t>.</a:t>
            </a:r>
            <a:br>
              <a:rPr lang="en-US" dirty="0" smtClean="0"/>
            </a:br>
            <a:endParaRPr lang="en-US" dirty="0"/>
          </a:p>
          <a:p>
            <a:pPr marL="171450" marR="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baseline="0" dirty="0">
                <a:latin typeface="Lucida Console" panose="020B0609040504020204" pitchFamily="49" charset="0"/>
                <a:cs typeface="Courier New" panose="02070309020205020404" pitchFamily="49" charset="0"/>
              </a:rPr>
              <a:t>MessageAttributes</a:t>
            </a:r>
            <a:r>
              <a:rPr lang="en-US" baseline="0" dirty="0"/>
              <a:t> (optional): Specifies structured metadata about the message such as timestamp, signature, and geospatial data. </a:t>
            </a:r>
            <a:r>
              <a:rPr lang="en-US" dirty="0"/>
              <a:t>Each message attribute consists of the attributes name, </a:t>
            </a:r>
            <a:r>
              <a:rPr lang="en-US" dirty="0">
                <a:solidFill>
                  <a:srgbClr val="000000"/>
                </a:solidFill>
              </a:rPr>
              <a:t>type</a:t>
            </a:r>
            <a:r>
              <a:rPr lang="en-US" dirty="0"/>
              <a:t>, and value. The supported message attribute data types are String, Number, and Binary. You can also provide </a:t>
            </a:r>
            <a:r>
              <a:rPr lang="en-US" dirty="0">
                <a:solidFill>
                  <a:srgbClr val="000000"/>
                </a:solidFill>
              </a:rPr>
              <a:t>custom information</a:t>
            </a:r>
            <a:r>
              <a:rPr lang="en-US" dirty="0"/>
              <a:t> on the </a:t>
            </a:r>
            <a:r>
              <a:rPr lang="en-US" dirty="0">
                <a:solidFill>
                  <a:srgbClr val="000000"/>
                </a:solidFill>
              </a:rPr>
              <a:t>type</a:t>
            </a:r>
            <a:r>
              <a:rPr lang="en-US" dirty="0"/>
              <a:t>. For example, you might define</a:t>
            </a:r>
            <a:r>
              <a:rPr lang="en-US" baseline="0" dirty="0"/>
              <a:t> custom </a:t>
            </a:r>
            <a:r>
              <a:rPr lang="en-US" baseline="0" dirty="0">
                <a:solidFill>
                  <a:srgbClr val="000000"/>
                </a:solidFill>
              </a:rPr>
              <a:t>type</a:t>
            </a:r>
            <a:r>
              <a:rPr lang="en-US" baseline="0" dirty="0"/>
              <a:t> labels such as Binary.gif and Binary.png to indicate the </a:t>
            </a:r>
            <a:r>
              <a:rPr lang="en-US" baseline="0" dirty="0">
                <a:solidFill>
                  <a:srgbClr val="000000"/>
                </a:solidFill>
              </a:rPr>
              <a:t>type</a:t>
            </a:r>
            <a:r>
              <a:rPr lang="en-US" baseline="0" dirty="0"/>
              <a:t> of binary data in a message. </a:t>
            </a:r>
            <a:r>
              <a:rPr lang="en-US" dirty="0"/>
              <a:t>The data type is </a:t>
            </a:r>
            <a:r>
              <a:rPr lang="en-US" dirty="0">
                <a:solidFill>
                  <a:srgbClr val="000000"/>
                </a:solidFill>
              </a:rPr>
              <a:t>case sensitive</a:t>
            </a:r>
            <a:r>
              <a:rPr lang="en-US" dirty="0"/>
              <a:t>, and it can be up to 256 bytes long. Message attribute data types identify how message attribute values are handled by Amazon SQS. For example, if the </a:t>
            </a:r>
            <a:r>
              <a:rPr lang="en-US" dirty="0">
                <a:solidFill>
                  <a:srgbClr val="000000"/>
                </a:solidFill>
              </a:rPr>
              <a:t>type</a:t>
            </a:r>
            <a:r>
              <a:rPr lang="en-US" dirty="0"/>
              <a:t> is a number, Amazon SQS </a:t>
            </a:r>
            <a:r>
              <a:rPr lang="en-US" dirty="0">
                <a:solidFill>
                  <a:srgbClr val="000000"/>
                </a:solidFill>
              </a:rPr>
              <a:t>validates</a:t>
            </a:r>
            <a:r>
              <a:rPr lang="en-US" dirty="0"/>
              <a:t> that the</a:t>
            </a:r>
            <a:r>
              <a:rPr lang="en-US" baseline="0" dirty="0"/>
              <a:t> attribute value</a:t>
            </a:r>
            <a:r>
              <a:rPr lang="en-US" dirty="0"/>
              <a:t> is a number. </a:t>
            </a:r>
            <a:r>
              <a:rPr lang="en-US" dirty="0">
                <a:cs typeface="Arial" panose="020B0604020202020204" pitchFamily="34" charset="0"/>
              </a:rPr>
              <a:t>The message size includes all parts of the message attribute, including name, </a:t>
            </a:r>
            <a:r>
              <a:rPr lang="en-US" dirty="0">
                <a:solidFill>
                  <a:srgbClr val="000000"/>
                </a:solidFill>
                <a:cs typeface="Arial" panose="020B0604020202020204" pitchFamily="34" charset="0"/>
              </a:rPr>
              <a:t>type</a:t>
            </a:r>
            <a:r>
              <a:rPr lang="en-US" dirty="0">
                <a:cs typeface="Arial" panose="020B0604020202020204" pitchFamily="34" charset="0"/>
              </a:rPr>
              <a:t>, and value.</a:t>
            </a:r>
            <a:r>
              <a:rPr lang="en-US" dirty="0">
                <a:cs typeface="Courier New" panose="02070309020205020404" pitchFamily="49" charset="0"/>
              </a:rPr>
              <a:t> </a:t>
            </a:r>
            <a:r>
              <a:rPr lang="en-US" dirty="0"/>
              <a:t>For more information about message attributes, see </a:t>
            </a:r>
            <a:r>
              <a:rPr lang="en-US" dirty="0">
                <a:hlinkClick r:id="rId3"/>
              </a:rPr>
              <a:t>http://docs.aws.amazon.com/AWSSimpleQueueService/latest/SQSDeveloperGuide/SQSMessageAttributes.html#SQSMessageAttributes.DataTypes</a:t>
            </a:r>
            <a:r>
              <a:rPr lang="en-US" dirty="0"/>
              <a:t>.  </a:t>
            </a:r>
          </a:p>
          <a:p>
            <a:pPr>
              <a:spcBef>
                <a:spcPts val="600"/>
              </a:spcBef>
            </a:pPr>
            <a:endParaRPr lang="en-US" dirty="0"/>
          </a:p>
          <a:p>
            <a:pPr>
              <a:spcBef>
                <a:spcPts val="600"/>
              </a:spcBef>
            </a:pPr>
            <a:r>
              <a:rPr lang="en-US" dirty="0"/>
              <a:t>You can also perform a batch request to deliver up to </a:t>
            </a:r>
            <a:r>
              <a:rPr lang="en-US" dirty="0">
                <a:solidFill>
                  <a:srgbClr val="000000"/>
                </a:solidFill>
              </a:rPr>
              <a:t>ten</a:t>
            </a:r>
            <a:r>
              <a:rPr lang="en-US" dirty="0"/>
              <a:t> messages using the </a:t>
            </a:r>
            <a:r>
              <a:rPr lang="en-US" dirty="0">
                <a:cs typeface="Courier New" panose="02070309020205020404" pitchFamily="49" charset="0"/>
              </a:rPr>
              <a:t>SendMessageBatch</a:t>
            </a:r>
            <a:r>
              <a:rPr lang="en-US" dirty="0"/>
              <a:t> request.</a:t>
            </a:r>
          </a:p>
          <a:p>
            <a:pPr>
              <a:spcBef>
                <a:spcPts val="600"/>
              </a:spcBef>
            </a:pPr>
            <a:endParaRPr lang="en-US" b="1" dirty="0"/>
          </a:p>
          <a:p>
            <a:pPr marL="0" marR="0" indent="0" algn="l" defTabSz="457200" rtl="0" eaLnBrk="1" fontAlgn="auto" latinLnBrk="0" hangingPunct="1">
              <a:lnSpc>
                <a:spcPct val="100000"/>
              </a:lnSpc>
              <a:spcBef>
                <a:spcPts val="600"/>
              </a:spcBef>
              <a:spcAft>
                <a:spcPts val="0"/>
              </a:spcAft>
              <a:buClrTx/>
              <a:buSzTx/>
              <a:buFontTx/>
              <a:buNone/>
              <a:tabLst/>
              <a:defRPr/>
            </a:pPr>
            <a:r>
              <a:rPr lang="en-US" b="0" dirty="0"/>
              <a:t>Use the Amazon SQS Extended Client Library for Java to send messages with a large payload of up to 2 GB. For more information, see </a:t>
            </a:r>
            <a:r>
              <a:rPr lang="en-US" dirty="0">
                <a:hlinkClick r:id="rId4"/>
              </a:rPr>
              <a:t>https://github.com/awslabs/amazon-sqs-java-extended-client-lib</a:t>
            </a:r>
            <a:r>
              <a:rPr lang="en-US" dirty="0"/>
              <a:t>. </a:t>
            </a:r>
          </a:p>
        </p:txBody>
      </p:sp>
    </p:spTree>
    <p:extLst>
      <p:ext uri="{BB962C8B-B14F-4D97-AF65-F5344CB8AC3E}">
        <p14:creationId xmlns:p14="http://schemas.microsoft.com/office/powerpoint/2010/main" val="10104679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Immediately after a message is received, it remains in the queue. </a:t>
            </a:r>
            <a:r>
              <a:rPr lang="en-US" dirty="0">
                <a:solidFill>
                  <a:srgbClr val="000000"/>
                </a:solidFill>
              </a:rPr>
              <a:t>To</a:t>
            </a:r>
            <a:r>
              <a:rPr lang="en-US" dirty="0"/>
              <a:t> prevent other consumers from processing the message again, Amazon SQS sets a </a:t>
            </a:r>
            <a:r>
              <a:rPr lang="en-US" i="1" dirty="0"/>
              <a:t>visibility timeout</a:t>
            </a:r>
            <a:r>
              <a:rPr lang="en-US" dirty="0"/>
              <a:t>, a period of time during which Amazon SQS prevents other consumers from receiving and processing the </a:t>
            </a:r>
            <a:r>
              <a:rPr lang="en-US" dirty="0">
                <a:solidFill>
                  <a:srgbClr val="000000"/>
                </a:solidFill>
              </a:rPr>
              <a:t>message</a:t>
            </a:r>
            <a:r>
              <a:rPr lang="en-US" dirty="0"/>
              <a:t>. The default visibility timeout for a message is 30 seconds. The maximum is 12 hours.</a:t>
            </a:r>
          </a:p>
          <a:p>
            <a:endParaRPr lang="en-US" dirty="0"/>
          </a:p>
        </p:txBody>
      </p:sp>
    </p:spTree>
    <p:extLst>
      <p:ext uri="{BB962C8B-B14F-4D97-AF65-F5344CB8AC3E}">
        <p14:creationId xmlns:p14="http://schemas.microsoft.com/office/powerpoint/2010/main" val="19494595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326131"/>
          </a:xfrm>
        </p:spPr>
        <p:txBody>
          <a:bodyPr/>
          <a:lstStyle/>
          <a:p>
            <a:pPr>
              <a:spcBef>
                <a:spcPts val="600"/>
              </a:spcBef>
            </a:pPr>
            <a:r>
              <a:rPr lang="en-US" dirty="0"/>
              <a:t>Now that a message is in the queue, you can receive it (retrieve it from the queue). When requesting to get a message from the queue, you </a:t>
            </a:r>
            <a:r>
              <a:rPr lang="en-US" dirty="0">
                <a:solidFill>
                  <a:srgbClr val="000000"/>
                </a:solidFill>
              </a:rPr>
              <a:t>cannot  specify</a:t>
            </a:r>
            <a:r>
              <a:rPr lang="en-US" dirty="0"/>
              <a:t> which message to get. You </a:t>
            </a:r>
            <a:r>
              <a:rPr lang="en-US" dirty="0">
                <a:solidFill>
                  <a:srgbClr val="000000"/>
                </a:solidFill>
              </a:rPr>
              <a:t>simply</a:t>
            </a:r>
            <a:r>
              <a:rPr lang="en-US" dirty="0"/>
              <a:t> specify the maximum number of messages you want to get (up to 10), and Amazon SQS returns up to that maximum number. </a:t>
            </a:r>
          </a:p>
          <a:p>
            <a:pPr>
              <a:spcBef>
                <a:spcPts val="600"/>
              </a:spcBef>
            </a:pPr>
            <a:r>
              <a:rPr lang="en-US" dirty="0">
                <a:latin typeface="Lucida Console" panose="020B0609040504020204" pitchFamily="49" charset="0"/>
                <a:cs typeface="Courier New" panose="02070309020205020404" pitchFamily="49" charset="0"/>
              </a:rPr>
              <a:t>ReceiveMessage</a:t>
            </a:r>
            <a:r>
              <a:rPr lang="en-US" dirty="0"/>
              <a:t> retrieves one or more messages, with a maximum limit of 10 messages, from the specified queue.</a:t>
            </a:r>
          </a:p>
          <a:p>
            <a:pPr>
              <a:spcBef>
                <a:spcPts val="600"/>
              </a:spcBef>
            </a:pPr>
            <a:r>
              <a:rPr lang="en-US" dirty="0"/>
              <a:t>The behavior of retrieving messages from the queue depends on whether you are using short (standard) polling or long polling.</a:t>
            </a:r>
          </a:p>
          <a:p>
            <a:pPr>
              <a:spcBef>
                <a:spcPts val="600"/>
              </a:spcBef>
            </a:pPr>
            <a:r>
              <a:rPr lang="en-US" dirty="0"/>
              <a:t>Amazon SQS short polling is the traditional and default way of retrieving messages from Amazon SQS queues. Short polling returns a response immediately, even if the queue being polled is empty; however, long polling does not return a response until a message arrives in the queue. These two concepts are discussed in more detail in the next couple of slides.</a:t>
            </a:r>
          </a:p>
          <a:p>
            <a:pPr marL="0" marR="0" indent="0" algn="l" defTabSz="457200" rtl="0" eaLnBrk="1" fontAlgn="auto" latinLnBrk="0" hangingPunct="1">
              <a:lnSpc>
                <a:spcPct val="100000"/>
              </a:lnSpc>
              <a:spcBef>
                <a:spcPts val="600"/>
              </a:spcBef>
              <a:spcAft>
                <a:spcPts val="0"/>
              </a:spcAft>
              <a:buClrTx/>
              <a:buSzTx/>
              <a:buFontTx/>
              <a:buNone/>
              <a:tabLst/>
              <a:defRPr/>
            </a:pPr>
            <a:r>
              <a:rPr lang="en-US" baseline="0" dirty="0"/>
              <a:t>For more information about queue operations, see </a:t>
            </a:r>
            <a:r>
              <a:rPr lang="en-US" dirty="0">
                <a:hlinkClick r:id="rId3"/>
              </a:rPr>
              <a:t>http://docs.aws.amazon.com/AWSSimpleQueueService/latest/APIReference/Welcome.html</a:t>
            </a:r>
            <a:r>
              <a:rPr lang="en-US" dirty="0"/>
              <a:t>. </a:t>
            </a:r>
          </a:p>
          <a:p>
            <a:pPr marL="0" indent="0">
              <a:spcBef>
                <a:spcPts val="600"/>
              </a:spcBef>
              <a:buNone/>
              <a:defRPr/>
            </a:pPr>
            <a:r>
              <a:rPr lang="en-US" dirty="0"/>
              <a:t>Visibility timeout is the period of time that a message is invisible to the rest of your </a:t>
            </a:r>
            <a:r>
              <a:rPr lang="en-US" dirty="0">
                <a:solidFill>
                  <a:srgbClr val="000000"/>
                </a:solidFill>
              </a:rPr>
              <a:t>application</a:t>
            </a:r>
            <a:r>
              <a:rPr lang="en-US" dirty="0"/>
              <a:t> after an </a:t>
            </a:r>
            <a:r>
              <a:rPr lang="en-US" dirty="0">
                <a:solidFill>
                  <a:srgbClr val="000000"/>
                </a:solidFill>
              </a:rPr>
              <a:t>application</a:t>
            </a:r>
            <a:r>
              <a:rPr lang="en-US" dirty="0"/>
              <a:t> component gets it from the queue. </a:t>
            </a:r>
            <a:r>
              <a:rPr lang="en-US" sz="1200" dirty="0"/>
              <a:t>It</a:t>
            </a:r>
            <a:r>
              <a:rPr lang="en-US" sz="1200" baseline="0" dirty="0"/>
              <a:t> p</a:t>
            </a:r>
            <a:r>
              <a:rPr lang="en-US" sz="1200" dirty="0"/>
              <a:t>revents multiple components from processing the same message. </a:t>
            </a:r>
            <a:r>
              <a:rPr lang="en-US" dirty="0"/>
              <a:t>During the visibility timeout, the component that received the message usually processes it and then deletes it from the queue. This prevents multiple components from processing the same message.</a:t>
            </a:r>
          </a:p>
          <a:p>
            <a:pPr>
              <a:spcBef>
                <a:spcPts val="600"/>
              </a:spcBef>
            </a:pPr>
            <a:r>
              <a:rPr lang="en-US" dirty="0">
                <a:cs typeface="Arial" panose="020B0604020202020204" pitchFamily="34" charset="0"/>
              </a:rPr>
              <a:t>When </a:t>
            </a:r>
            <a:r>
              <a:rPr lang="en-US" baseline="0" dirty="0">
                <a:cs typeface="Arial" panose="020B0604020202020204" pitchFamily="34" charset="0"/>
              </a:rPr>
              <a:t>the </a:t>
            </a:r>
            <a:r>
              <a:rPr lang="en-US" baseline="0" dirty="0">
                <a:solidFill>
                  <a:srgbClr val="000000"/>
                </a:solidFill>
                <a:cs typeface="Arial" panose="020B0604020202020204" pitchFamily="34" charset="0"/>
              </a:rPr>
              <a:t>application</a:t>
            </a:r>
            <a:r>
              <a:rPr lang="en-US" baseline="0" dirty="0">
                <a:cs typeface="Arial" panose="020B0604020202020204" pitchFamily="34" charset="0"/>
              </a:rPr>
              <a:t> needs more time for processing, the visibility timeout can be changed dynamically via the </a:t>
            </a:r>
            <a:r>
              <a:rPr lang="en-US" baseline="0" dirty="0">
                <a:latin typeface="Lucida Console" panose="020B0609040504020204" pitchFamily="49" charset="0"/>
                <a:cs typeface="Courier New" panose="02070309020205020404" pitchFamily="49" charset="0"/>
              </a:rPr>
              <a:t>ChangeMessageVisibility</a:t>
            </a:r>
            <a:r>
              <a:rPr lang="en-US" baseline="0" dirty="0">
                <a:latin typeface="Arial" panose="020B0604020202020204" pitchFamily="34" charset="0"/>
                <a:cs typeface="Arial" panose="020B0604020202020204" pitchFamily="34" charset="0"/>
              </a:rPr>
              <a:t> </a:t>
            </a:r>
            <a:r>
              <a:rPr lang="en-US" baseline="0" dirty="0">
                <a:cs typeface="Arial" panose="020B0604020202020204" pitchFamily="34" charset="0"/>
              </a:rPr>
              <a:t>operation</a:t>
            </a:r>
            <a:r>
              <a:rPr lang="en-US" baseline="0" dirty="0" smtClean="0">
                <a:cs typeface="Arial" panose="020B0604020202020204" pitchFamily="34" charset="0"/>
              </a:rPr>
              <a:t>.</a:t>
            </a:r>
            <a:endParaRPr lang="en-US" dirty="0">
              <a:cs typeface="Arial" panose="020B0604020202020204" pitchFamily="34" charset="0"/>
            </a:endParaRPr>
          </a:p>
          <a:p>
            <a:pPr>
              <a:spcBef>
                <a:spcPts val="600"/>
              </a:spcBef>
            </a:pPr>
            <a:r>
              <a:rPr lang="en-US" dirty="0">
                <a:cs typeface="Arial" panose="020B0604020202020204" pitchFamily="34" charset="0"/>
              </a:rPr>
              <a:t>For more information about visibility timeout, see </a:t>
            </a:r>
            <a:r>
              <a:rPr lang="en-US" dirty="0">
                <a:cs typeface="Arial" panose="020B0604020202020204" pitchFamily="34" charset="0"/>
                <a:hlinkClick r:id="rId4"/>
              </a:rPr>
              <a:t>http://docs.aws.amazon.com/AWSSimpleQueueService/latest/SQSDeveloperGuide/AboutVT.html</a:t>
            </a:r>
            <a:r>
              <a:rPr lang="en-US" dirty="0">
                <a:cs typeface="Arial" panose="020B0604020202020204" pitchFamily="34" charset="0"/>
              </a:rPr>
              <a:t>.</a:t>
            </a:r>
            <a:endParaRPr lang="en-US" dirty="0"/>
          </a:p>
          <a:p>
            <a:pPr marL="0" marR="0" indent="0" algn="l" defTabSz="457200" rtl="0" eaLnBrk="1" fontAlgn="auto" latinLnBrk="0" hangingPunct="1">
              <a:lnSpc>
                <a:spcPct val="100000"/>
              </a:lnSpc>
              <a:spcBef>
                <a:spcPts val="600"/>
              </a:spcBef>
              <a:spcAft>
                <a:spcPts val="0"/>
              </a:spcAft>
              <a:buClrTx/>
              <a:buSzTx/>
              <a:buFontTx/>
              <a:buNone/>
              <a:tabLst/>
              <a:defRPr/>
            </a:pPr>
            <a:endParaRPr lang="en-US" dirty="0"/>
          </a:p>
          <a:p>
            <a:pPr>
              <a:spcBef>
                <a:spcPts val="600"/>
              </a:spcBef>
            </a:pPr>
            <a:endParaRPr lang="en-US" dirty="0"/>
          </a:p>
        </p:txBody>
      </p:sp>
    </p:spTree>
    <p:extLst>
      <p:ext uri="{BB962C8B-B14F-4D97-AF65-F5344CB8AC3E}">
        <p14:creationId xmlns:p14="http://schemas.microsoft.com/office/powerpoint/2010/main" val="14112115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SQS automatically deletes messages that have been in a queue for more than maximum message retention period. The default message retention period is 4 days. However, you can set the message retention period to a value from 60 seconds to 1,209,600 seconds (14 days) using the </a:t>
            </a:r>
            <a:r>
              <a:rPr lang="en-US" dirty="0" err="1">
                <a:latin typeface="Lucida Console" panose="020B0609040504020204" pitchFamily="49" charset="0"/>
              </a:rPr>
              <a:t>SetQueueAttributes</a:t>
            </a:r>
            <a:r>
              <a:rPr lang="en-US" dirty="0"/>
              <a:t> </a:t>
            </a:r>
            <a:r>
              <a:rPr lang="en-US" dirty="0">
                <a:solidFill>
                  <a:srgbClr val="000000"/>
                </a:solidFill>
              </a:rPr>
              <a:t>action</a:t>
            </a:r>
            <a:r>
              <a:rPr lang="en-US" dirty="0"/>
              <a:t>. </a:t>
            </a:r>
          </a:p>
          <a:p>
            <a:r>
              <a:rPr lang="en-US" sz="1200" kern="1200" dirty="0">
                <a:solidFill>
                  <a:schemeClr val="tx1"/>
                </a:solidFill>
                <a:effectLst/>
              </a:rPr>
              <a:t>This can also be performed with the SDK, for </a:t>
            </a:r>
            <a:r>
              <a:rPr lang="en-US" sz="1200" kern="1200" dirty="0" smtClean="0">
                <a:solidFill>
                  <a:schemeClr val="tx1"/>
                </a:solidFill>
                <a:effectLst/>
              </a:rPr>
              <a:t>example:</a:t>
            </a:r>
          </a:p>
          <a:p>
            <a:r>
              <a:rPr lang="en-US" dirty="0"/>
              <a:t/>
            </a:r>
            <a:br>
              <a:rPr lang="en-US" dirty="0"/>
            </a:br>
            <a:r>
              <a:rPr lang="en-US" sz="1200" kern="1200" dirty="0" smtClean="0">
                <a:solidFill>
                  <a:schemeClr val="tx1"/>
                </a:solidFill>
                <a:effectLst/>
                <a:latin typeface="Lucida Console" panose="020B0609040504020204" pitchFamily="49" charset="0"/>
              </a:rPr>
              <a:t>Python </a:t>
            </a:r>
            <a:r>
              <a:rPr lang="en-US" sz="1200" kern="1200" dirty="0">
                <a:solidFill>
                  <a:schemeClr val="tx1"/>
                </a:solidFill>
                <a:effectLst/>
                <a:latin typeface="Lucida Console" panose="020B0609040504020204" pitchFamily="49" charset="0"/>
              </a:rPr>
              <a:t>(Boto3):</a:t>
            </a:r>
          </a:p>
          <a:p>
            <a:r>
              <a:rPr lang="en-US" dirty="0" smtClean="0">
                <a:latin typeface="Lucida Console" panose="020B0609040504020204" pitchFamily="49" charset="0"/>
              </a:rPr>
              <a:t>response = </a:t>
            </a:r>
            <a:r>
              <a:rPr lang="en-US" dirty="0" err="1" smtClean="0">
                <a:latin typeface="Lucida Console" panose="020B0609040504020204" pitchFamily="49" charset="0"/>
              </a:rPr>
              <a:t>client.delete_message</a:t>
            </a:r>
            <a:r>
              <a:rPr lang="en-US" dirty="0" smtClean="0">
                <a:latin typeface="Lucida Console" panose="020B0609040504020204" pitchFamily="49" charset="0"/>
              </a:rPr>
              <a:t>( </a:t>
            </a:r>
            <a:r>
              <a:rPr lang="en-US" dirty="0" err="1" smtClean="0">
                <a:latin typeface="Lucida Console" panose="020B0609040504020204" pitchFamily="49" charset="0"/>
              </a:rPr>
              <a:t>QueueUrl</a:t>
            </a:r>
            <a:r>
              <a:rPr lang="en-US" dirty="0" smtClean="0">
                <a:latin typeface="Lucida Console" panose="020B0609040504020204" pitchFamily="49" charset="0"/>
              </a:rPr>
              <a:t>='string', </a:t>
            </a:r>
            <a:r>
              <a:rPr lang="en-US" dirty="0" err="1" smtClean="0">
                <a:latin typeface="Lucida Console" panose="020B0609040504020204" pitchFamily="49" charset="0"/>
              </a:rPr>
              <a:t>ReceiptHandle</a:t>
            </a:r>
            <a:r>
              <a:rPr lang="en-US" dirty="0" smtClean="0">
                <a:latin typeface="Lucida Console" panose="020B0609040504020204" pitchFamily="49" charset="0"/>
              </a:rPr>
              <a:t>='string' )</a:t>
            </a:r>
            <a:endParaRPr lang="en-US" dirty="0">
              <a:latin typeface="Lucida Console" panose="020B0609040504020204" pitchFamily="49" charset="0"/>
            </a:endParaRPr>
          </a:p>
        </p:txBody>
      </p:sp>
    </p:spTree>
    <p:extLst>
      <p:ext uri="{BB962C8B-B14F-4D97-AF65-F5344CB8AC3E}">
        <p14:creationId xmlns:p14="http://schemas.microsoft.com/office/powerpoint/2010/main" val="634942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2" y="4560572"/>
            <a:ext cx="5440677" cy="4400548"/>
          </a:xfrm>
        </p:spPr>
        <p:txBody>
          <a:bodyPr/>
          <a:lstStyle/>
          <a:p>
            <a:pPr>
              <a:spcBef>
                <a:spcPts val="600"/>
              </a:spcBef>
            </a:pPr>
            <a:r>
              <a:rPr lang="en-US" dirty="0"/>
              <a:t>When you receive the message, you must delete it from the queue to acknowledge that you processed the message and no longer need it. You specify which message to delete by providing the </a:t>
            </a:r>
            <a:r>
              <a:rPr lang="en-US" dirty="0" smtClean="0">
                <a:cs typeface="Courier New" panose="02070309020205020404" pitchFamily="49" charset="0"/>
              </a:rPr>
              <a:t>receipt</a:t>
            </a:r>
            <a:r>
              <a:rPr lang="en-US" dirty="0" smtClean="0"/>
              <a:t> handle that </a:t>
            </a:r>
            <a:r>
              <a:rPr lang="en-US" dirty="0"/>
              <a:t>Amazon SQS returned when you received the message</a:t>
            </a:r>
            <a:r>
              <a:rPr lang="en-US" dirty="0" smtClean="0"/>
              <a:t>.</a:t>
            </a:r>
            <a:endParaRPr lang="en-US" dirty="0"/>
          </a:p>
          <a:p>
            <a:pPr>
              <a:spcBef>
                <a:spcPts val="600"/>
              </a:spcBef>
            </a:pPr>
            <a:r>
              <a:rPr lang="en-US" dirty="0">
                <a:solidFill>
                  <a:srgbClr val="000000"/>
                </a:solidFill>
              </a:rPr>
              <a:t>Amazon</a:t>
            </a:r>
            <a:r>
              <a:rPr lang="en-US" dirty="0"/>
              <a:t> SQS doesn't automatically delete the message after returning it to you, in case you don't actually receive the message (the receiving component could fail or lose its </a:t>
            </a:r>
            <a:r>
              <a:rPr lang="en-US" dirty="0">
                <a:solidFill>
                  <a:srgbClr val="000000"/>
                </a:solidFill>
              </a:rPr>
              <a:t>connection</a:t>
            </a:r>
            <a:r>
              <a:rPr lang="en-US" dirty="0"/>
              <a:t>). </a:t>
            </a:r>
            <a:r>
              <a:rPr lang="en-US" dirty="0">
                <a:solidFill>
                  <a:srgbClr val="000000"/>
                </a:solidFill>
              </a:rPr>
              <a:t>You must send</a:t>
            </a:r>
            <a:r>
              <a:rPr lang="en-US" dirty="0"/>
              <a:t> a separate request to delete the message, which acknowledges that you've successfully received and processed the message.</a:t>
            </a:r>
          </a:p>
          <a:p>
            <a:pPr>
              <a:spcBef>
                <a:spcPts val="600"/>
              </a:spcBef>
            </a:pPr>
            <a:r>
              <a:rPr lang="en-US" dirty="0"/>
              <a:t>You can use the </a:t>
            </a:r>
            <a:r>
              <a:rPr lang="en-US" dirty="0">
                <a:latin typeface="Lucida Console" panose="020B0609040504020204" pitchFamily="49" charset="0"/>
                <a:cs typeface="Courier New" panose="02070309020205020404" pitchFamily="49" charset="0"/>
              </a:rPr>
              <a:t>DeleteMessage</a:t>
            </a:r>
            <a:r>
              <a:rPr lang="en-US" dirty="0"/>
              <a:t> request to delete the specified message from the specified queue. Even if the message is locked by another reader because of the visibility timeout setting, it is still deleted from the queue. If you </a:t>
            </a:r>
            <a:r>
              <a:rPr lang="en-US" dirty="0">
                <a:solidFill>
                  <a:srgbClr val="000000"/>
                </a:solidFill>
              </a:rPr>
              <a:t>leave</a:t>
            </a:r>
            <a:r>
              <a:rPr lang="en-US" dirty="0"/>
              <a:t> a message in the queue for longer than the queue's configured retention period, Amazon SQS automatically deletes it. There is also a batch version of this request, known as </a:t>
            </a:r>
            <a:r>
              <a:rPr lang="en-US" dirty="0">
                <a:latin typeface="Lucida Console" panose="020B0609040504020204" pitchFamily="49" charset="0"/>
                <a:cs typeface="Courier New" panose="02070309020205020404" pitchFamily="49" charset="0"/>
              </a:rPr>
              <a:t>DeleteMessageBatch</a:t>
            </a:r>
            <a:r>
              <a:rPr lang="en-US" dirty="0"/>
              <a:t>, that lets you delete up to 10 messages from the specified queue.</a:t>
            </a:r>
          </a:p>
          <a:p>
            <a:pPr>
              <a:spcBef>
                <a:spcPts val="600"/>
              </a:spcBef>
            </a:pPr>
            <a:r>
              <a:rPr lang="en-US" dirty="0"/>
              <a:t>The slide illustrates an example query request that deletes a message from the queue named </a:t>
            </a:r>
            <a:r>
              <a:rPr lang="en-US" dirty="0" err="1">
                <a:latin typeface="Lucida Console" panose="020B0609040504020204" pitchFamily="49" charset="0"/>
                <a:cs typeface="Courier New" panose="02070309020205020404" pitchFamily="49" charset="0"/>
              </a:rPr>
              <a:t>testQueue</a:t>
            </a:r>
            <a:r>
              <a:rPr lang="en-US" dirty="0"/>
              <a:t>.</a:t>
            </a:r>
          </a:p>
          <a:p>
            <a:pPr>
              <a:spcBef>
                <a:spcPts val="600"/>
              </a:spcBef>
            </a:pPr>
            <a:r>
              <a:rPr lang="en-US" b="1" dirty="0"/>
              <a:t>Note: </a:t>
            </a:r>
            <a:r>
              <a:rPr lang="en-US" dirty="0"/>
              <a:t>You can also delete an entire queue with a call to </a:t>
            </a:r>
            <a:r>
              <a:rPr lang="en-US" dirty="0">
                <a:latin typeface="Lucida Console" panose="020B0609040504020204" pitchFamily="49" charset="0"/>
                <a:cs typeface="Courier New" panose="02070309020205020404" pitchFamily="49" charset="0"/>
              </a:rPr>
              <a:t>DeleteQueue</a:t>
            </a:r>
            <a:r>
              <a:rPr lang="en-US" dirty="0"/>
              <a:t>, even if the queue has messages in it. Alternatively, you can use the </a:t>
            </a:r>
            <a:r>
              <a:rPr lang="en-US" dirty="0">
                <a:latin typeface="Lucida Console" panose="020B0609040504020204" pitchFamily="49" charset="0"/>
                <a:cs typeface="Courier New" panose="02070309020205020404" pitchFamily="49" charset="0"/>
              </a:rPr>
              <a:t>PurgeQueue</a:t>
            </a:r>
            <a:r>
              <a:rPr lang="en-US" dirty="0"/>
              <a:t> request to delete all the messages in an Amazon SQS queue without deleting the queue itself.</a:t>
            </a:r>
          </a:p>
          <a:p>
            <a:pPr>
              <a:spcBef>
                <a:spcPts val="600"/>
              </a:spcBef>
            </a:pPr>
            <a:endParaRPr lang="en-US" dirty="0"/>
          </a:p>
        </p:txBody>
      </p:sp>
    </p:spTree>
    <p:extLst>
      <p:ext uri="{BB962C8B-B14F-4D97-AF65-F5344CB8AC3E}">
        <p14:creationId xmlns:p14="http://schemas.microsoft.com/office/powerpoint/2010/main" val="10639298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3" y="4560572"/>
            <a:ext cx="5440678" cy="4294316"/>
          </a:xfrm>
        </p:spPr>
        <p:txBody>
          <a:bodyPr/>
          <a:lstStyle/>
          <a:p>
            <a:pPr>
              <a:spcBef>
                <a:spcPts val="600"/>
              </a:spcBef>
            </a:pPr>
            <a:r>
              <a:rPr lang="en-US" b="1" dirty="0"/>
              <a:t>Queue URL</a:t>
            </a:r>
            <a:br>
              <a:rPr lang="en-US" b="1" dirty="0"/>
            </a:br>
            <a:r>
              <a:rPr lang="en-US" dirty="0"/>
              <a:t>When creating a new queue, you must provide a queue name that is unique within the scope of all your queues. Amazon SQS assigns each queue you create an identifier called a queue URL, which includes the queue name and other components that Amazon SQS determines. </a:t>
            </a:r>
            <a:r>
              <a:rPr lang="en-US" dirty="0">
                <a:solidFill>
                  <a:srgbClr val="000000"/>
                </a:solidFill>
              </a:rPr>
              <a:t>You must provide</a:t>
            </a:r>
            <a:r>
              <a:rPr lang="en-US" dirty="0"/>
              <a:t> the queue URL to perform an </a:t>
            </a:r>
            <a:r>
              <a:rPr lang="en-US" dirty="0">
                <a:solidFill>
                  <a:srgbClr val="000000"/>
                </a:solidFill>
              </a:rPr>
              <a:t>action</a:t>
            </a:r>
            <a:r>
              <a:rPr lang="en-US" dirty="0"/>
              <a:t> on a queue. The slide illustrates</a:t>
            </a:r>
            <a:r>
              <a:rPr lang="en-US" baseline="0" dirty="0"/>
              <a:t> a q</a:t>
            </a:r>
            <a:r>
              <a:rPr lang="en-US" dirty="0"/>
              <a:t>ueue URL for a queue named "queue1" owned by a person with the AWS account number "123456789012</a:t>
            </a:r>
            <a:r>
              <a:rPr lang="en-US" dirty="0" smtClean="0"/>
              <a:t>.“</a:t>
            </a:r>
            <a:r>
              <a:rPr lang="en-US" b="1" dirty="0"/>
              <a:t/>
            </a:r>
            <a:br>
              <a:rPr lang="en-US" b="1" dirty="0"/>
            </a:br>
            <a:r>
              <a:rPr lang="en-US" b="1" dirty="0" smtClean="0"/>
              <a:t>Note</a:t>
            </a:r>
            <a:r>
              <a:rPr lang="en-US" b="1" dirty="0"/>
              <a:t>:</a:t>
            </a:r>
            <a:r>
              <a:rPr lang="en-US" dirty="0"/>
              <a:t> </a:t>
            </a:r>
            <a:r>
              <a:rPr lang="en-US" dirty="0">
                <a:solidFill>
                  <a:srgbClr val="000000"/>
                </a:solidFill>
              </a:rPr>
              <a:t>Always</a:t>
            </a:r>
            <a:r>
              <a:rPr lang="en-US" dirty="0"/>
              <a:t> use the entire queue URL as Amazon SQS returned it to you when you created the queue. Do not build the queue URL from its separate </a:t>
            </a:r>
            <a:r>
              <a:rPr lang="en-US" dirty="0" smtClean="0"/>
              <a:t>components.</a:t>
            </a:r>
            <a:r>
              <a:rPr lang="en-US" b="1" dirty="0"/>
              <a:t/>
            </a:r>
            <a:br>
              <a:rPr lang="en-US" b="1" dirty="0"/>
            </a:br>
            <a:r>
              <a:rPr lang="en-US" b="1" dirty="0" smtClean="0"/>
              <a:t>Message </a:t>
            </a:r>
            <a:r>
              <a:rPr lang="en-US" b="1" dirty="0"/>
              <a:t>ID</a:t>
            </a:r>
            <a:br>
              <a:rPr lang="en-US" b="1" dirty="0"/>
            </a:br>
            <a:r>
              <a:rPr lang="en-US" dirty="0"/>
              <a:t>For each message, Amazon SQS returns a system-assigned message ID in the </a:t>
            </a:r>
            <a:r>
              <a:rPr lang="en-US" dirty="0">
                <a:latin typeface="Lucida Console" panose="020B0609040504020204" pitchFamily="49" charset="0"/>
                <a:cs typeface="Courier New" panose="02070309020205020404" pitchFamily="49" charset="0"/>
              </a:rPr>
              <a:t>SendMessage</a:t>
            </a:r>
            <a:r>
              <a:rPr lang="en-US" dirty="0"/>
              <a:t> response. This unique identifier is useful for identifying messages. The maximum length of a message ID is 100 </a:t>
            </a:r>
            <a:r>
              <a:rPr lang="en-US" dirty="0" smtClean="0"/>
              <a:t>characters.</a:t>
            </a:r>
            <a:r>
              <a:rPr lang="en-US" b="1" dirty="0"/>
              <a:t/>
            </a:r>
            <a:br>
              <a:rPr lang="en-US" b="1" dirty="0"/>
            </a:br>
            <a:r>
              <a:rPr lang="en-US" b="1" dirty="0" smtClean="0">
                <a:solidFill>
                  <a:srgbClr val="000000"/>
                </a:solidFill>
              </a:rPr>
              <a:t>Receipt </a:t>
            </a:r>
            <a:r>
              <a:rPr lang="en-US" b="1" dirty="0">
                <a:solidFill>
                  <a:srgbClr val="000000"/>
                </a:solidFill>
              </a:rPr>
              <a:t>Handle</a:t>
            </a:r>
            <a:r>
              <a:rPr lang="en-US" b="1" dirty="0">
                <a:solidFill>
                  <a:srgbClr val="000000"/>
                </a:solidFill>
                <a:latin typeface="Calibri" panose="020F0502020204030204" pitchFamily="34" charset="0"/>
              </a:rPr>
              <a:t/>
            </a:r>
            <a:br>
              <a:rPr lang="en-US" b="1" dirty="0">
                <a:solidFill>
                  <a:srgbClr val="000000"/>
                </a:solidFill>
                <a:latin typeface="Calibri" panose="020F0502020204030204" pitchFamily="34" charset="0"/>
              </a:rPr>
            </a:br>
            <a:r>
              <a:rPr lang="en-US" dirty="0"/>
              <a:t>Each time you receive a message from a queue, you receive a receipt handle for that message. The handle is associated with the act of receiving the message, not with the message itself. If you receive a message more than once, each time you receive it, you get a different receipt handle. The maximum length of a receipt handle is 1024 characters.</a:t>
            </a:r>
            <a:endParaRPr lang="en-US" b="1" dirty="0"/>
          </a:p>
          <a:p>
            <a:pPr>
              <a:spcBef>
                <a:spcPts val="600"/>
              </a:spcBef>
            </a:pPr>
            <a:r>
              <a:rPr lang="en-US" b="1" dirty="0"/>
              <a:t>Note: </a:t>
            </a:r>
            <a:r>
              <a:rPr lang="en-US" dirty="0"/>
              <a:t>To delete a message, </a:t>
            </a:r>
            <a:r>
              <a:rPr lang="en-US" dirty="0" smtClean="0"/>
              <a:t>you must provide the most recently received receipt handle when you request to delete the message (otherwise, the message might not be deleted). </a:t>
            </a:r>
            <a:endParaRPr lang="en-US" dirty="0"/>
          </a:p>
        </p:txBody>
      </p:sp>
    </p:spTree>
    <p:extLst>
      <p:ext uri="{BB962C8B-B14F-4D97-AF65-F5344CB8AC3E}">
        <p14:creationId xmlns:p14="http://schemas.microsoft.com/office/powerpoint/2010/main" val="16945667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3" y="4560571"/>
            <a:ext cx="5440678" cy="3314699"/>
          </a:xfrm>
        </p:spPr>
        <p:txBody>
          <a:bodyPr/>
          <a:lstStyle/>
          <a:p>
            <a:pPr>
              <a:spcBef>
                <a:spcPts val="600"/>
              </a:spcBef>
            </a:pPr>
            <a:r>
              <a:rPr lang="en-US" dirty="0">
                <a:latin typeface="Lucida Console" panose="020B0609040504020204" pitchFamily="49" charset="0"/>
                <a:cs typeface="Courier New" panose="02070309020205020404" pitchFamily="49" charset="0"/>
              </a:rPr>
              <a:t>CreateQueue</a:t>
            </a:r>
            <a:r>
              <a:rPr lang="en-US" dirty="0"/>
              <a:t> creates a new queue or returns the URL of an existing one. When you request </a:t>
            </a:r>
            <a:r>
              <a:rPr lang="en-US" dirty="0">
                <a:cs typeface="Courier New" panose="02070309020205020404" pitchFamily="49" charset="0"/>
              </a:rPr>
              <a:t>CreateQueue</a:t>
            </a:r>
            <a:r>
              <a:rPr lang="en-US" dirty="0"/>
              <a:t>, you provide a name for the queue. To successfully create a new queue, you must provide a name that is unique within the scope of your own queues. You may pass one or more attributes in the request including:</a:t>
            </a:r>
          </a:p>
          <a:p>
            <a:pPr marL="171450" marR="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b="1" dirty="0">
                <a:cs typeface="Courier New" panose="02070309020205020404" pitchFamily="49" charset="0"/>
              </a:rPr>
              <a:t>DelaySeconds</a:t>
            </a:r>
            <a:r>
              <a:rPr lang="en-US" dirty="0"/>
              <a:t>: </a:t>
            </a:r>
            <a:r>
              <a:rPr lang="en-US" sz="1200" kern="1200" dirty="0">
                <a:solidFill>
                  <a:schemeClr val="tx1"/>
                </a:solidFill>
                <a:effectLst/>
              </a:rPr>
              <a:t>The</a:t>
            </a:r>
            <a:r>
              <a:rPr lang="en-US" sz="1200" kern="1200" baseline="0" dirty="0">
                <a:solidFill>
                  <a:schemeClr val="tx1"/>
                </a:solidFill>
                <a:effectLst/>
              </a:rPr>
              <a:t> time in seconds that the delivery of all messages in the queue </a:t>
            </a:r>
            <a:r>
              <a:rPr lang="en-US" sz="1200" kern="1200" baseline="0" dirty="0">
                <a:solidFill>
                  <a:srgbClr val="000000"/>
                </a:solidFill>
                <a:effectLst/>
              </a:rPr>
              <a:t>will be delayed</a:t>
            </a:r>
            <a:r>
              <a:rPr lang="en-US" sz="1200" kern="1200" baseline="0" dirty="0">
                <a:solidFill>
                  <a:schemeClr val="tx1"/>
                </a:solidFill>
                <a:effectLst/>
              </a:rPr>
              <a:t>. The maximum </a:t>
            </a:r>
            <a:r>
              <a:rPr lang="en-US" dirty="0"/>
              <a:t>delay is 15 minutes and t</a:t>
            </a:r>
            <a:r>
              <a:rPr lang="en-US" sz="1200" kern="1200" baseline="0" dirty="0">
                <a:solidFill>
                  <a:schemeClr val="tx1"/>
                </a:solidFill>
                <a:effectLst/>
              </a:rPr>
              <a:t>he default value for this attribute is 0.</a:t>
            </a:r>
            <a:endParaRPr lang="en-US" dirty="0"/>
          </a:p>
          <a:p>
            <a:pPr marL="171450" indent="-171450">
              <a:spcBef>
                <a:spcPts val="600"/>
              </a:spcBef>
              <a:buFont typeface="Arial" panose="020B0604020202020204" pitchFamily="34" charset="0"/>
              <a:buChar char="•"/>
            </a:pPr>
            <a:r>
              <a:rPr lang="en-US" b="1" dirty="0">
                <a:cs typeface="Courier New" panose="02070309020205020404" pitchFamily="49" charset="0"/>
              </a:rPr>
              <a:t>MaximumMessageSize</a:t>
            </a:r>
            <a:r>
              <a:rPr lang="en-US" dirty="0"/>
              <a:t>: The limit of how many bytes a message can contain before Amazon SQS rejects it. The maximum and default values for this attribute are </a:t>
            </a:r>
            <a:r>
              <a:rPr lang="en-US" dirty="0">
                <a:solidFill>
                  <a:srgbClr val="000000"/>
                </a:solidFill>
              </a:rPr>
              <a:t>256 </a:t>
            </a:r>
            <a:r>
              <a:rPr lang="en-US" dirty="0" smtClean="0">
                <a:solidFill>
                  <a:srgbClr val="000000"/>
                </a:solidFill>
              </a:rPr>
              <a:t>KB</a:t>
            </a:r>
            <a:r>
              <a:rPr lang="en-US" dirty="0"/>
              <a:t>.</a:t>
            </a:r>
          </a:p>
          <a:p>
            <a:pPr marL="171450" indent="-171450">
              <a:spcBef>
                <a:spcPts val="600"/>
              </a:spcBef>
              <a:buFont typeface="Arial" panose="020B0604020202020204" pitchFamily="34" charset="0"/>
              <a:buChar char="•"/>
            </a:pPr>
            <a:r>
              <a:rPr lang="en-US" b="1" dirty="0">
                <a:cs typeface="Courier New" panose="02070309020205020404" pitchFamily="49" charset="0"/>
              </a:rPr>
              <a:t>MessageRetentionPeriod</a:t>
            </a:r>
            <a:r>
              <a:rPr lang="en-US" dirty="0"/>
              <a:t>: The number of seconds Amazon SQS retains a message. The maximum value for this attribute is 14 days and by default a message is retained for 4 days.</a:t>
            </a:r>
          </a:p>
          <a:p>
            <a:pPr marL="171450" indent="-171450">
              <a:spcBef>
                <a:spcPts val="600"/>
              </a:spcBef>
              <a:buFont typeface="Arial" panose="020B0604020202020204" pitchFamily="34" charset="0"/>
              <a:buChar char="•"/>
            </a:pPr>
            <a:r>
              <a:rPr lang="en-US" b="1" dirty="0">
                <a:cs typeface="Courier New" panose="02070309020205020404" pitchFamily="49" charset="0"/>
              </a:rPr>
              <a:t>ReceiveMessageWaitTimeSeconds</a:t>
            </a:r>
            <a:r>
              <a:rPr lang="en-US" dirty="0"/>
              <a:t>: The time for which a </a:t>
            </a:r>
            <a:r>
              <a:rPr lang="en-US" dirty="0">
                <a:cs typeface="Courier New" panose="02070309020205020404" pitchFamily="49" charset="0"/>
              </a:rPr>
              <a:t>ReceiveMessage</a:t>
            </a:r>
            <a:r>
              <a:rPr lang="en-US" dirty="0"/>
              <a:t> call </a:t>
            </a:r>
            <a:r>
              <a:rPr lang="en-US" dirty="0">
                <a:solidFill>
                  <a:srgbClr val="000000"/>
                </a:solidFill>
              </a:rPr>
              <a:t>will wait</a:t>
            </a:r>
            <a:r>
              <a:rPr lang="en-US" dirty="0"/>
              <a:t> for a message to arrive. The maximum configurable wait time is 20 seconds and the default value is 0.</a:t>
            </a:r>
          </a:p>
          <a:p>
            <a:pPr marL="171450" indent="-171450">
              <a:spcBef>
                <a:spcPts val="600"/>
              </a:spcBef>
              <a:buFont typeface="Arial" panose="020B0604020202020204" pitchFamily="34" charset="0"/>
              <a:buChar char="•"/>
            </a:pPr>
            <a:r>
              <a:rPr lang="en-US" b="1" dirty="0" err="1">
                <a:solidFill>
                  <a:srgbClr val="000000"/>
                </a:solidFill>
                <a:cs typeface="Courier New" panose="02070309020205020404" pitchFamily="49" charset="0"/>
              </a:rPr>
              <a:t>VisibilityTimeout</a:t>
            </a:r>
            <a:r>
              <a:rPr lang="en-US" dirty="0"/>
              <a:t>: The period of time that a message is invisible to the rest of your </a:t>
            </a:r>
            <a:r>
              <a:rPr lang="en-US" dirty="0">
                <a:solidFill>
                  <a:srgbClr val="000000"/>
                </a:solidFill>
              </a:rPr>
              <a:t>application</a:t>
            </a:r>
            <a:r>
              <a:rPr lang="en-US" dirty="0"/>
              <a:t> after an </a:t>
            </a:r>
            <a:r>
              <a:rPr lang="en-US" dirty="0">
                <a:solidFill>
                  <a:srgbClr val="000000"/>
                </a:solidFill>
              </a:rPr>
              <a:t>application</a:t>
            </a:r>
            <a:r>
              <a:rPr lang="en-US" dirty="0"/>
              <a:t> component gets it from the queue. During the visibility timeout, the component that received the message usually processes it and then deletes it from the queue. This prevents multiple components from processing the same message. The maximum </a:t>
            </a:r>
            <a:r>
              <a:rPr lang="en-US" dirty="0">
                <a:solidFill>
                  <a:srgbClr val="000000"/>
                </a:solidFill>
              </a:rPr>
              <a:t>allowed</a:t>
            </a:r>
            <a:r>
              <a:rPr lang="en-US" dirty="0"/>
              <a:t> timeout value is 12 hours. The default timeout value is 30 seconds.</a:t>
            </a:r>
          </a:p>
          <a:p>
            <a:pPr marL="171450">
              <a:spcBef>
                <a:spcPts val="600"/>
              </a:spcBef>
            </a:pPr>
            <a:r>
              <a:rPr lang="en-US" dirty="0">
                <a:cs typeface="Arial" panose="020B0604020202020204" pitchFamily="34" charset="0"/>
              </a:rPr>
              <a:t>When the </a:t>
            </a:r>
            <a:r>
              <a:rPr lang="en-US" dirty="0">
                <a:solidFill>
                  <a:srgbClr val="000000"/>
                </a:solidFill>
                <a:cs typeface="Arial" panose="020B0604020202020204" pitchFamily="34" charset="0"/>
              </a:rPr>
              <a:t>application</a:t>
            </a:r>
            <a:r>
              <a:rPr lang="en-US" dirty="0">
                <a:cs typeface="Arial" panose="020B0604020202020204" pitchFamily="34" charset="0"/>
              </a:rPr>
              <a:t> needs more time for processing, you can change this timeout value dynamically via the </a:t>
            </a:r>
            <a:r>
              <a:rPr lang="en-US" dirty="0">
                <a:latin typeface="Lucida Console" panose="020B0609040504020204" pitchFamily="49" charset="0"/>
                <a:cs typeface="Courier New" panose="02070309020205020404" pitchFamily="49" charset="0"/>
              </a:rPr>
              <a:t>ChangeMessageVisibility</a:t>
            </a:r>
            <a:r>
              <a:rPr lang="en-US" dirty="0">
                <a:cs typeface="Arial" panose="020B0604020202020204" pitchFamily="34" charset="0"/>
              </a:rPr>
              <a:t> operation.</a:t>
            </a:r>
          </a:p>
          <a:p>
            <a:pPr>
              <a:spcBef>
                <a:spcPts val="600"/>
              </a:spcBef>
            </a:pPr>
            <a:r>
              <a:rPr lang="en-US" dirty="0"/>
              <a:t>If you do not provide a value for any attribute, the queue </a:t>
            </a:r>
            <a:r>
              <a:rPr lang="en-US" dirty="0">
                <a:solidFill>
                  <a:srgbClr val="000000"/>
                </a:solidFill>
              </a:rPr>
              <a:t>will have</a:t>
            </a:r>
            <a:r>
              <a:rPr lang="en-US" dirty="0"/>
              <a:t> the default value for that attribute. </a:t>
            </a:r>
            <a:endParaRPr lang="en-US" dirty="0">
              <a:cs typeface="Courier New" panose="02070309020205020404" pitchFamily="49" charset="0"/>
            </a:endParaRPr>
          </a:p>
          <a:p>
            <a:pPr>
              <a:spcBef>
                <a:spcPts val="600"/>
              </a:spcBef>
            </a:pPr>
            <a:r>
              <a:rPr lang="en-US" dirty="0">
                <a:cs typeface="Courier New" panose="02070309020205020404" pitchFamily="49" charset="0"/>
              </a:rPr>
              <a:t>Use the </a:t>
            </a:r>
            <a:r>
              <a:rPr lang="en-US" dirty="0">
                <a:latin typeface="Lucida Console" panose="020B0609040504020204" pitchFamily="49" charset="0"/>
                <a:cs typeface="Courier New" panose="02070309020205020404" pitchFamily="49" charset="0"/>
              </a:rPr>
              <a:t>SetQueueAttributes</a:t>
            </a:r>
            <a:r>
              <a:rPr lang="en-US" dirty="0">
                <a:cs typeface="Courier New" panose="02070309020205020404" pitchFamily="49" charset="0"/>
              </a:rPr>
              <a:t> and </a:t>
            </a:r>
            <a:r>
              <a:rPr lang="en-US" dirty="0">
                <a:latin typeface="Lucida Console" panose="020B0609040504020204" pitchFamily="49" charset="0"/>
                <a:cs typeface="Courier New" panose="02070309020205020404" pitchFamily="49" charset="0"/>
              </a:rPr>
              <a:t>GetQueueAttributes</a:t>
            </a:r>
            <a:r>
              <a:rPr lang="en-US" dirty="0"/>
              <a:t> operations to set and retrieve the attributes of a queue</a:t>
            </a:r>
            <a:r>
              <a:rPr lang="en-US" dirty="0" smtClean="0"/>
              <a:t>.</a:t>
            </a:r>
            <a:endParaRPr lang="en-US" dirty="0"/>
          </a:p>
          <a:p>
            <a:pPr>
              <a:spcBef>
                <a:spcPts val="600"/>
              </a:spcBef>
            </a:pPr>
            <a:r>
              <a:rPr lang="en-US" dirty="0"/>
              <a:t>When</a:t>
            </a:r>
            <a:r>
              <a:rPr lang="en-US" baseline="0" dirty="0"/>
              <a:t> you use</a:t>
            </a:r>
            <a:r>
              <a:rPr lang="en-US" dirty="0"/>
              <a:t> </a:t>
            </a:r>
            <a:r>
              <a:rPr lang="en-US" baseline="0" dirty="0">
                <a:latin typeface="Lucida Console" panose="020B0609040504020204" pitchFamily="49" charset="0"/>
                <a:cs typeface="Courier New" panose="02070309020205020404" pitchFamily="49" charset="0"/>
              </a:rPr>
              <a:t>CreateQueue</a:t>
            </a:r>
            <a:r>
              <a:rPr lang="en-US" baseline="0" dirty="0"/>
              <a:t>, if the queue name is already in use, then the request returns the URL of the existing queue. A much simpler</a:t>
            </a:r>
            <a:r>
              <a:rPr lang="en-US" dirty="0"/>
              <a:t> way to retrieve the URL of an Amazon SQS queue is to use the </a:t>
            </a:r>
            <a:r>
              <a:rPr lang="en-US" baseline="0" dirty="0">
                <a:latin typeface="Lucida Console" panose="020B0609040504020204" pitchFamily="49" charset="0"/>
                <a:cs typeface="Courier New" panose="02070309020205020404" pitchFamily="49" charset="0"/>
              </a:rPr>
              <a:t>GetQueueUrl</a:t>
            </a:r>
            <a:r>
              <a:rPr lang="en-US" baseline="0" dirty="0"/>
              <a:t> request</a:t>
            </a:r>
            <a:r>
              <a:rPr lang="en-US" baseline="0" dirty="0" smtClean="0"/>
              <a:t>.</a:t>
            </a:r>
            <a:endParaRPr lang="en-US" dirty="0"/>
          </a:p>
          <a:p>
            <a:pPr>
              <a:spcBef>
                <a:spcPts val="600"/>
              </a:spcBef>
            </a:pPr>
            <a:r>
              <a:rPr lang="en-US" dirty="0"/>
              <a:t>The </a:t>
            </a:r>
            <a:r>
              <a:rPr lang="en-US" i="1" dirty="0">
                <a:cs typeface="Courier New" panose="02070309020205020404" pitchFamily="49" charset="0"/>
              </a:rPr>
              <a:t>DeleteQueue</a:t>
            </a:r>
            <a:r>
              <a:rPr lang="en-US" dirty="0"/>
              <a:t> request deletes a queue regardless of whether the queue is empty. When a queue is deleted, any messages in the queue are no longer available. </a:t>
            </a:r>
            <a:r>
              <a:rPr lang="en-US" dirty="0">
                <a:solidFill>
                  <a:srgbClr val="000000"/>
                </a:solidFill>
              </a:rPr>
              <a:t>It</a:t>
            </a:r>
            <a:r>
              <a:rPr lang="en-US" dirty="0"/>
              <a:t> is important to note that Amazon SQS can delete your queue without notification </a:t>
            </a:r>
            <a:r>
              <a:rPr lang="en-US" dirty="0">
                <a:solidFill>
                  <a:srgbClr val="000000"/>
                </a:solidFill>
              </a:rPr>
              <a:t>if</a:t>
            </a:r>
            <a:r>
              <a:rPr lang="en-US" dirty="0"/>
              <a:t> </a:t>
            </a:r>
            <a:r>
              <a:rPr lang="en-US" dirty="0">
                <a:solidFill>
                  <a:srgbClr val="000000"/>
                </a:solidFill>
              </a:rPr>
              <a:t>actions</a:t>
            </a:r>
            <a:r>
              <a:rPr lang="en-US" dirty="0"/>
              <a:t> like </a:t>
            </a:r>
            <a:r>
              <a:rPr lang="en-US" dirty="0">
                <a:latin typeface="Lucida Console" panose="020B0609040504020204" pitchFamily="49" charset="0"/>
                <a:cs typeface="Courier New" panose="02070309020205020404" pitchFamily="49" charset="0"/>
              </a:rPr>
              <a:t>SendMessage</a:t>
            </a:r>
            <a:r>
              <a:rPr lang="en-US" dirty="0">
                <a:latin typeface="Lucida Console" panose="020B0609040504020204" pitchFamily="49" charset="0"/>
              </a:rPr>
              <a:t>, </a:t>
            </a:r>
            <a:r>
              <a:rPr lang="en-US" dirty="0">
                <a:latin typeface="Lucida Console" panose="020B0609040504020204" pitchFamily="49" charset="0"/>
                <a:cs typeface="Courier New" panose="02070309020205020404" pitchFamily="49" charset="0"/>
              </a:rPr>
              <a:t>ReceiveMessage</a:t>
            </a:r>
            <a:r>
              <a:rPr lang="en-US" dirty="0">
                <a:latin typeface="Lucida Console" panose="020B0609040504020204" pitchFamily="49" charset="0"/>
              </a:rPr>
              <a:t>, </a:t>
            </a:r>
            <a:r>
              <a:rPr lang="en-US" dirty="0">
                <a:latin typeface="Lucida Console" panose="020B0609040504020204" pitchFamily="49" charset="0"/>
                <a:cs typeface="Courier New" panose="02070309020205020404" pitchFamily="49" charset="0"/>
              </a:rPr>
              <a:t>DeleteMessage</a:t>
            </a:r>
            <a:r>
              <a:rPr lang="en-US" dirty="0">
                <a:latin typeface="Lucida Console" panose="020B0609040504020204" pitchFamily="49" charset="0"/>
              </a:rPr>
              <a:t>, </a:t>
            </a:r>
            <a:r>
              <a:rPr lang="en-US" dirty="0">
                <a:latin typeface="Lucida Console" panose="020B0609040504020204" pitchFamily="49" charset="0"/>
                <a:cs typeface="Courier New" panose="02070309020205020404" pitchFamily="49" charset="0"/>
              </a:rPr>
              <a:t>GetQueueAttributes</a:t>
            </a:r>
            <a:r>
              <a:rPr lang="en-US" dirty="0">
                <a:latin typeface="Lucida Console" panose="020B0609040504020204" pitchFamily="49" charset="0"/>
              </a:rPr>
              <a:t>, </a:t>
            </a:r>
            <a:r>
              <a:rPr lang="en-US" dirty="0">
                <a:latin typeface="Lucida Console" panose="020B0609040504020204" pitchFamily="49" charset="0"/>
                <a:cs typeface="Courier New" panose="02070309020205020404" pitchFamily="49" charset="0"/>
              </a:rPr>
              <a:t>SetQueueAttributes</a:t>
            </a:r>
            <a:r>
              <a:rPr lang="en-US" dirty="0">
                <a:latin typeface="Lucida Console" panose="020B0609040504020204" pitchFamily="49" charset="0"/>
              </a:rPr>
              <a:t>, </a:t>
            </a:r>
            <a:r>
              <a:rPr lang="en-US" dirty="0">
                <a:latin typeface="Lucida Console" panose="020B0609040504020204" pitchFamily="49" charset="0"/>
                <a:cs typeface="Courier New" panose="02070309020205020404" pitchFamily="49" charset="0"/>
              </a:rPr>
              <a:t>AddPermission</a:t>
            </a:r>
            <a:r>
              <a:rPr lang="en-US" dirty="0"/>
              <a:t>, and </a:t>
            </a:r>
            <a:r>
              <a:rPr lang="en-US" dirty="0">
                <a:latin typeface="Lucida Console" panose="020B0609040504020204" pitchFamily="49" charset="0"/>
                <a:cs typeface="Courier New" panose="02070309020205020404" pitchFamily="49" charset="0"/>
              </a:rPr>
              <a:t>RemovePermissions</a:t>
            </a:r>
            <a:r>
              <a:rPr lang="en-US" dirty="0"/>
              <a:t> have not been performed on the queue for 30 consecutive </a:t>
            </a:r>
            <a:r>
              <a:rPr lang="en-US" dirty="0">
                <a:solidFill>
                  <a:srgbClr val="000000"/>
                </a:solidFill>
              </a:rPr>
              <a:t>days</a:t>
            </a:r>
            <a:r>
              <a:rPr lang="en-US" dirty="0" smtClean="0"/>
              <a:t>.</a:t>
            </a:r>
            <a:endParaRPr lang="en-US" baseline="0" dirty="0"/>
          </a:p>
          <a:p>
            <a:pPr>
              <a:spcBef>
                <a:spcPts val="600"/>
              </a:spcBef>
            </a:pPr>
            <a:r>
              <a:rPr lang="en-US" baseline="0" dirty="0"/>
              <a:t>You can use </a:t>
            </a:r>
            <a:r>
              <a:rPr lang="en-US" baseline="0" dirty="0">
                <a:latin typeface="Lucida Console" panose="020B0609040504020204" pitchFamily="49" charset="0"/>
                <a:cs typeface="Courier New" panose="02070309020205020404" pitchFamily="49" charset="0"/>
              </a:rPr>
              <a:t>ListQueues</a:t>
            </a:r>
            <a:r>
              <a:rPr lang="en-US" baseline="0" dirty="0"/>
              <a:t> to retrieve</a:t>
            </a:r>
            <a:r>
              <a:rPr lang="en-US" dirty="0"/>
              <a:t> a list of your queues. The results lists can be filtered by using optional parameters like </a:t>
            </a:r>
            <a:r>
              <a:rPr lang="en-US" dirty="0" err="1">
                <a:latin typeface="Lucida Console" panose="020B0609040504020204" pitchFamily="49" charset="0"/>
                <a:cs typeface="Courier New" panose="02070309020205020404" pitchFamily="49" charset="0"/>
              </a:rPr>
              <a:t>QueuenamePrefix</a:t>
            </a:r>
            <a:r>
              <a:rPr lang="en-US" dirty="0" smtClean="0"/>
              <a:t>.</a:t>
            </a:r>
            <a:endParaRPr lang="en-US" baseline="0" dirty="0"/>
          </a:p>
          <a:p>
            <a:pPr marL="0" marR="0" indent="0" algn="l" defTabSz="457200" rtl="0" eaLnBrk="1" fontAlgn="auto" latinLnBrk="0" hangingPunct="1">
              <a:lnSpc>
                <a:spcPct val="100000"/>
              </a:lnSpc>
              <a:spcBef>
                <a:spcPts val="600"/>
              </a:spcBef>
              <a:spcAft>
                <a:spcPts val="0"/>
              </a:spcAft>
              <a:buClrTx/>
              <a:buSzTx/>
              <a:buFontTx/>
              <a:buNone/>
              <a:tabLst/>
              <a:defRPr/>
            </a:pPr>
            <a:r>
              <a:rPr lang="en-US" baseline="0" dirty="0"/>
              <a:t>For more information about queue operations, see </a:t>
            </a:r>
            <a:r>
              <a:rPr lang="en-US" dirty="0">
                <a:hlinkClick r:id="rId3"/>
              </a:rPr>
              <a:t>http://docs.aws.amazon.com/AWSSimpleQueueService/latest/APIReference/Welcome.html</a:t>
            </a:r>
            <a:r>
              <a:rPr lang="en-US" dirty="0"/>
              <a:t>. </a:t>
            </a:r>
          </a:p>
        </p:txBody>
      </p:sp>
    </p:spTree>
    <p:extLst>
      <p:ext uri="{BB962C8B-B14F-4D97-AF65-F5344CB8AC3E}">
        <p14:creationId xmlns:p14="http://schemas.microsoft.com/office/powerpoint/2010/main" val="620742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3" y="4560571"/>
            <a:ext cx="5440678" cy="3120390"/>
          </a:xfrm>
        </p:spPr>
        <p:txBody>
          <a:bodyPr/>
          <a:lstStyle/>
          <a:p>
            <a:pPr>
              <a:spcBef>
                <a:spcPts val="600"/>
              </a:spcBef>
            </a:pPr>
            <a:r>
              <a:rPr lang="en-US" dirty="0" smtClean="0"/>
              <a:t>With short polling, Amazon SQS samples a subset of the servers (based on a weighted random distribution) and returns messages from only the sampled servers. A small number of messages in the queue (fewer than 1000) </a:t>
            </a:r>
            <a:r>
              <a:rPr lang="en-US" dirty="0" smtClean="0">
                <a:solidFill>
                  <a:srgbClr val="000000"/>
                </a:solidFill>
              </a:rPr>
              <a:t>means that a particular request might</a:t>
            </a:r>
            <a:r>
              <a:rPr lang="en-US" dirty="0" smtClean="0"/>
              <a:t> not return any messages. If you continue to retrieve from your queues, Amazon SQS </a:t>
            </a:r>
            <a:r>
              <a:rPr lang="en-US" dirty="0" smtClean="0">
                <a:solidFill>
                  <a:srgbClr val="000000"/>
                </a:solidFill>
              </a:rPr>
              <a:t>samples</a:t>
            </a:r>
            <a:r>
              <a:rPr lang="en-US" dirty="0" smtClean="0"/>
              <a:t> all the servers, and you eventually </a:t>
            </a:r>
            <a:r>
              <a:rPr lang="en-US" dirty="0" smtClean="0">
                <a:solidFill>
                  <a:srgbClr val="000000"/>
                </a:solidFill>
              </a:rPr>
              <a:t>receive</a:t>
            </a:r>
            <a:r>
              <a:rPr lang="en-US" dirty="0" smtClean="0"/>
              <a:t> all your messages. </a:t>
            </a:r>
            <a:r>
              <a:rPr lang="en-US" dirty="0" smtClean="0">
                <a:solidFill>
                  <a:srgbClr val="000000"/>
                </a:solidFill>
              </a:rPr>
              <a:t>Short</a:t>
            </a:r>
            <a:r>
              <a:rPr lang="en-US" dirty="0" smtClean="0"/>
              <a:t> polling is the default behavior of Amazon SQS queues. It occurs when the </a:t>
            </a:r>
            <a:r>
              <a:rPr lang="en-US" dirty="0" err="1" smtClean="0">
                <a:latin typeface="Lucida Console" panose="020B0609040504020204" pitchFamily="49" charset="0"/>
                <a:cs typeface="Courier New" panose="02070309020205020404" pitchFamily="49" charset="0"/>
              </a:rPr>
              <a:t>WaitTimeSeconds</a:t>
            </a:r>
            <a:r>
              <a:rPr lang="en-US" dirty="0" smtClean="0"/>
              <a:t> parameter of a </a:t>
            </a:r>
            <a:r>
              <a:rPr lang="en-US" dirty="0" err="1" smtClean="0">
                <a:latin typeface="Lucida Console" panose="020B0609040504020204" pitchFamily="49" charset="0"/>
                <a:cs typeface="Courier New" panose="02070309020205020404" pitchFamily="49" charset="0"/>
              </a:rPr>
              <a:t>ReceiveMessage</a:t>
            </a:r>
            <a:r>
              <a:rPr lang="en-US" dirty="0" smtClean="0"/>
              <a:t> call is set to 0 or the queue attribute </a:t>
            </a:r>
            <a:r>
              <a:rPr lang="en-US" dirty="0" err="1" smtClean="0">
                <a:latin typeface="Lucida Console" panose="020B0609040504020204" pitchFamily="49" charset="0"/>
                <a:cs typeface="Courier New" panose="02070309020205020404" pitchFamily="49" charset="0"/>
              </a:rPr>
              <a:t>ReceiveMessageWaitTimeSeconds</a:t>
            </a:r>
            <a:r>
              <a:rPr lang="en-US" dirty="0" smtClean="0"/>
              <a:t> is </a:t>
            </a:r>
            <a:r>
              <a:rPr lang="en-US" dirty="0" smtClean="0">
                <a:solidFill>
                  <a:srgbClr val="000000"/>
                </a:solidFill>
              </a:rPr>
              <a:t>0</a:t>
            </a:r>
            <a:r>
              <a:rPr lang="en-US" dirty="0" smtClean="0"/>
              <a:t>.</a:t>
            </a:r>
          </a:p>
          <a:p>
            <a:endParaRPr lang="en-US" b="1" dirty="0" smtClean="0"/>
          </a:p>
          <a:p>
            <a:r>
              <a:rPr lang="en-US" b="1" dirty="0" smtClean="0"/>
              <a:t>Short polling vs. long polling</a:t>
            </a:r>
          </a:p>
          <a:p>
            <a:r>
              <a:rPr lang="en-US" dirty="0" smtClean="0"/>
              <a:t>A </a:t>
            </a:r>
            <a:r>
              <a:rPr lang="en-US" dirty="0" smtClean="0">
                <a:solidFill>
                  <a:srgbClr val="000000"/>
                </a:solidFill>
              </a:rPr>
              <a:t>better</a:t>
            </a:r>
            <a:r>
              <a:rPr lang="en-US" dirty="0" smtClean="0"/>
              <a:t> and preferred way to retrieve messages from your Amazon SQS queues is to use Amazon SQS long polling. </a:t>
            </a:r>
            <a:r>
              <a:rPr lang="en-US" dirty="0" smtClean="0">
                <a:solidFill>
                  <a:srgbClr val="000000"/>
                </a:solidFill>
              </a:rPr>
              <a:t>Though</a:t>
            </a:r>
            <a:r>
              <a:rPr lang="en-US" dirty="0" smtClean="0"/>
              <a:t> Amazon SQS long polling is preferred, if your </a:t>
            </a:r>
            <a:r>
              <a:rPr lang="en-US" dirty="0" smtClean="0">
                <a:solidFill>
                  <a:srgbClr val="000000"/>
                </a:solidFill>
              </a:rPr>
              <a:t>application</a:t>
            </a:r>
            <a:r>
              <a:rPr lang="en-US" dirty="0" smtClean="0"/>
              <a:t> expects an immediate response from a </a:t>
            </a:r>
            <a:r>
              <a:rPr lang="en-US" dirty="0" err="1" smtClean="0">
                <a:latin typeface="Lucida Console" panose="020B0609040504020204" pitchFamily="49" charset="0"/>
                <a:cs typeface="Courier New" panose="02070309020205020404" pitchFamily="49" charset="0"/>
              </a:rPr>
              <a:t>ReceiveMessage</a:t>
            </a:r>
            <a:r>
              <a:rPr lang="en-US" dirty="0" smtClean="0"/>
              <a:t> call, you </a:t>
            </a:r>
            <a:r>
              <a:rPr lang="en-US" dirty="0" smtClean="0">
                <a:solidFill>
                  <a:srgbClr val="000000"/>
                </a:solidFill>
              </a:rPr>
              <a:t>might have to make </a:t>
            </a:r>
            <a:r>
              <a:rPr lang="en-US" dirty="0" smtClean="0"/>
              <a:t>some </a:t>
            </a:r>
            <a:r>
              <a:rPr lang="en-US" dirty="0" smtClean="0">
                <a:solidFill>
                  <a:srgbClr val="000000"/>
                </a:solidFill>
              </a:rPr>
              <a:t>application</a:t>
            </a:r>
            <a:r>
              <a:rPr lang="en-US" dirty="0" smtClean="0"/>
              <a:t> </a:t>
            </a:r>
            <a:r>
              <a:rPr lang="en-US" dirty="0" smtClean="0">
                <a:solidFill>
                  <a:srgbClr val="000000"/>
                </a:solidFill>
              </a:rPr>
              <a:t>modifications to use long polling</a:t>
            </a:r>
            <a:r>
              <a:rPr lang="en-US" dirty="0" smtClean="0"/>
              <a:t>. </a:t>
            </a:r>
            <a:r>
              <a:rPr lang="en-US" dirty="0" smtClean="0">
                <a:solidFill>
                  <a:srgbClr val="000000"/>
                </a:solidFill>
              </a:rPr>
              <a:t>For</a:t>
            </a:r>
            <a:r>
              <a:rPr lang="en-US" dirty="0" smtClean="0"/>
              <a:t> example, if your </a:t>
            </a:r>
            <a:r>
              <a:rPr lang="en-US" dirty="0" smtClean="0">
                <a:solidFill>
                  <a:srgbClr val="000000"/>
                </a:solidFill>
              </a:rPr>
              <a:t>application</a:t>
            </a:r>
            <a:r>
              <a:rPr lang="en-US" dirty="0" smtClean="0"/>
              <a:t> has a single thread that polls multiple queues, switching from short polling to long polling </a:t>
            </a:r>
            <a:r>
              <a:rPr lang="en-US" dirty="0" smtClean="0">
                <a:solidFill>
                  <a:srgbClr val="000000"/>
                </a:solidFill>
              </a:rPr>
              <a:t>will</a:t>
            </a:r>
            <a:r>
              <a:rPr lang="en-US" dirty="0" smtClean="0"/>
              <a:t> likely not </a:t>
            </a:r>
            <a:r>
              <a:rPr lang="en-US" dirty="0" smtClean="0">
                <a:solidFill>
                  <a:srgbClr val="000000"/>
                </a:solidFill>
              </a:rPr>
              <a:t>work. The reason is that </a:t>
            </a:r>
            <a:r>
              <a:rPr lang="en-US" dirty="0" smtClean="0"/>
              <a:t>the single thread </a:t>
            </a:r>
            <a:r>
              <a:rPr lang="en-US" dirty="0" smtClean="0">
                <a:solidFill>
                  <a:srgbClr val="000000"/>
                </a:solidFill>
              </a:rPr>
              <a:t>will wait</a:t>
            </a:r>
            <a:r>
              <a:rPr lang="en-US" dirty="0" smtClean="0"/>
              <a:t> for the long poll timeout on any empty queues, delaying the processing of any </a:t>
            </a:r>
            <a:r>
              <a:rPr lang="en-US" dirty="0" smtClean="0">
                <a:solidFill>
                  <a:srgbClr val="000000"/>
                </a:solidFill>
              </a:rPr>
              <a:t>queues that</a:t>
            </a:r>
            <a:r>
              <a:rPr lang="en-US" dirty="0" smtClean="0"/>
              <a:t> might contain </a:t>
            </a:r>
            <a:r>
              <a:rPr lang="en-US" dirty="0" smtClean="0">
                <a:solidFill>
                  <a:srgbClr val="000000"/>
                </a:solidFill>
              </a:rPr>
              <a:t>messages</a:t>
            </a:r>
            <a:r>
              <a:rPr lang="en-US" dirty="0" smtClean="0"/>
              <a:t>.</a:t>
            </a:r>
          </a:p>
          <a:p>
            <a:pPr>
              <a:spcBef>
                <a:spcPts val="600"/>
              </a:spcBef>
            </a:pPr>
            <a:r>
              <a:rPr lang="en-US" b="1" dirty="0" smtClean="0"/>
              <a:t>Note: </a:t>
            </a:r>
            <a:r>
              <a:rPr lang="en-US" dirty="0" smtClean="0"/>
              <a:t>For such </a:t>
            </a:r>
            <a:r>
              <a:rPr lang="en-US" dirty="0" smtClean="0">
                <a:solidFill>
                  <a:srgbClr val="000000"/>
                </a:solidFill>
              </a:rPr>
              <a:t>applications</a:t>
            </a:r>
            <a:r>
              <a:rPr lang="en-US" dirty="0" smtClean="0"/>
              <a:t>, you can still take advantage of the benefits of Amazon SQS long polling by using a single thread to process only one queue.  </a:t>
            </a:r>
          </a:p>
          <a:p>
            <a:pPr>
              <a:spcBef>
                <a:spcPts val="600"/>
              </a:spcBef>
            </a:pPr>
            <a:endParaRPr lang="en-US" dirty="0"/>
          </a:p>
        </p:txBody>
      </p:sp>
    </p:spTree>
    <p:extLst>
      <p:ext uri="{BB962C8B-B14F-4D97-AF65-F5344CB8AC3E}">
        <p14:creationId xmlns:p14="http://schemas.microsoft.com/office/powerpoint/2010/main" val="25648853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3" y="4560571"/>
            <a:ext cx="5440678" cy="4435945"/>
          </a:xfrm>
        </p:spPr>
        <p:txBody>
          <a:bodyPr/>
          <a:lstStyle/>
          <a:p>
            <a:pPr>
              <a:spcBef>
                <a:spcPts val="600"/>
              </a:spcBef>
            </a:pPr>
            <a:r>
              <a:rPr lang="en-US" dirty="0" smtClean="0"/>
              <a:t>Amazon SQS long polling doesn’t return a response until a message arrives in the queue or the long poll times </a:t>
            </a:r>
            <a:r>
              <a:rPr lang="en-US" dirty="0" smtClean="0">
                <a:solidFill>
                  <a:srgbClr val="000000"/>
                </a:solidFill>
              </a:rPr>
              <a:t>out</a:t>
            </a:r>
            <a:r>
              <a:rPr lang="en-US" dirty="0" smtClean="0"/>
              <a:t>. Amazon SQS long polling makes it </a:t>
            </a:r>
            <a:r>
              <a:rPr lang="en-US" dirty="0" smtClean="0">
                <a:solidFill>
                  <a:srgbClr val="000000"/>
                </a:solidFill>
              </a:rPr>
              <a:t>easy</a:t>
            </a:r>
            <a:r>
              <a:rPr lang="en-US" dirty="0" smtClean="0"/>
              <a:t> and inexpensive to retrieve messages from your Amazon SQS queue as soon as they are available. Unless the connection times out, the response to the </a:t>
            </a:r>
            <a:r>
              <a:rPr lang="en-US" dirty="0" err="1" smtClean="0">
                <a:latin typeface="Lucida Console" panose="020B0609040504020204" pitchFamily="49" charset="0"/>
                <a:cs typeface="Courier New" panose="02070309020205020404" pitchFamily="49" charset="0"/>
              </a:rPr>
              <a:t>ReceiveMessage</a:t>
            </a:r>
            <a:r>
              <a:rPr lang="en-US" dirty="0" smtClean="0"/>
              <a:t> request </a:t>
            </a:r>
            <a:r>
              <a:rPr lang="en-US" dirty="0" smtClean="0">
                <a:solidFill>
                  <a:srgbClr val="000000"/>
                </a:solidFill>
              </a:rPr>
              <a:t>contains</a:t>
            </a:r>
            <a:r>
              <a:rPr lang="en-US" dirty="0" smtClean="0"/>
              <a:t> at least one of the available messages. Long polling reduces the cost of using Amazon SQS by reducing the number of empty responses and false empty responses. </a:t>
            </a:r>
          </a:p>
          <a:p>
            <a:pPr>
              <a:spcBef>
                <a:spcPts val="600"/>
              </a:spcBef>
            </a:pPr>
            <a:r>
              <a:rPr lang="en-US" dirty="0" smtClean="0"/>
              <a:t>There are </a:t>
            </a:r>
            <a:r>
              <a:rPr lang="en-US" dirty="0" smtClean="0">
                <a:solidFill>
                  <a:srgbClr val="000000"/>
                </a:solidFill>
              </a:rPr>
              <a:t>three different API </a:t>
            </a:r>
            <a:r>
              <a:rPr lang="en-US" dirty="0" smtClean="0"/>
              <a:t>calls you can use to </a:t>
            </a:r>
            <a:r>
              <a:rPr lang="en-US" dirty="0" smtClean="0">
                <a:solidFill>
                  <a:srgbClr val="000000"/>
                </a:solidFill>
              </a:rPr>
              <a:t>enable</a:t>
            </a:r>
            <a:r>
              <a:rPr lang="en-US" dirty="0" smtClean="0"/>
              <a:t> long polling in Amazon SQS: </a:t>
            </a:r>
            <a:r>
              <a:rPr lang="en-US" dirty="0" err="1" smtClean="0">
                <a:latin typeface="Lucida Console" panose="020B0609040504020204" pitchFamily="49" charset="0"/>
                <a:cs typeface="Courier New" panose="02070309020205020404" pitchFamily="49" charset="0"/>
              </a:rPr>
              <a:t>ReceiveMessage</a:t>
            </a:r>
            <a:r>
              <a:rPr lang="en-US" dirty="0" smtClean="0"/>
              <a:t>, </a:t>
            </a:r>
            <a:r>
              <a:rPr lang="en-US" dirty="0" err="1" smtClean="0">
                <a:latin typeface="Lucida Console" panose="020B0609040504020204" pitchFamily="49" charset="0"/>
                <a:cs typeface="Courier New" panose="02070309020205020404" pitchFamily="49" charset="0"/>
              </a:rPr>
              <a:t>CreateQueue</a:t>
            </a:r>
            <a:r>
              <a:rPr lang="en-US" dirty="0" smtClean="0"/>
              <a:t>, and </a:t>
            </a:r>
            <a:r>
              <a:rPr lang="en-US" dirty="0" err="1" smtClean="0">
                <a:latin typeface="Lucida Console" panose="020B0609040504020204" pitchFamily="49" charset="0"/>
                <a:cs typeface="Courier New" panose="02070309020205020404" pitchFamily="49" charset="0"/>
              </a:rPr>
              <a:t>SetQueueAttributes</a:t>
            </a:r>
            <a:r>
              <a:rPr lang="en-US" dirty="0" smtClean="0"/>
              <a:t>. </a:t>
            </a:r>
          </a:p>
          <a:p>
            <a:pPr>
              <a:spcBef>
                <a:spcPts val="600"/>
              </a:spcBef>
            </a:pPr>
            <a:r>
              <a:rPr lang="en-US" dirty="0" smtClean="0"/>
              <a:t>For </a:t>
            </a:r>
            <a:r>
              <a:rPr lang="en-US" dirty="0" err="1" smtClean="0">
                <a:latin typeface="Lucida Console" panose="020B0609040504020204" pitchFamily="49" charset="0"/>
                <a:cs typeface="Courier New" panose="02070309020205020404" pitchFamily="49" charset="0"/>
              </a:rPr>
              <a:t>ReceiveMessage</a:t>
            </a:r>
            <a:r>
              <a:rPr lang="en-US" dirty="0" smtClean="0"/>
              <a:t>, you configure the </a:t>
            </a:r>
            <a:r>
              <a:rPr lang="en-US" dirty="0" err="1" smtClean="0">
                <a:latin typeface="Lucida Console" panose="020B0609040504020204" pitchFamily="49" charset="0"/>
                <a:cs typeface="Courier New" panose="02070309020205020404" pitchFamily="49" charset="0"/>
              </a:rPr>
              <a:t>WaitTimeSeconds</a:t>
            </a:r>
            <a:r>
              <a:rPr lang="en-US" dirty="0" smtClean="0"/>
              <a:t> parameter. For </a:t>
            </a:r>
            <a:r>
              <a:rPr lang="en-US" dirty="0" err="1" smtClean="0">
                <a:latin typeface="Lucida Console" panose="020B0609040504020204" pitchFamily="49" charset="0"/>
                <a:cs typeface="Courier New" panose="02070309020205020404" pitchFamily="49" charset="0"/>
              </a:rPr>
              <a:t>CreateQueue</a:t>
            </a:r>
            <a:r>
              <a:rPr lang="en-US" dirty="0" smtClean="0"/>
              <a:t> and </a:t>
            </a:r>
            <a:r>
              <a:rPr lang="en-US" dirty="0" err="1" smtClean="0">
                <a:latin typeface="Lucida Console" panose="020B0609040504020204" pitchFamily="49" charset="0"/>
                <a:cs typeface="Courier New" panose="02070309020205020404" pitchFamily="49" charset="0"/>
              </a:rPr>
              <a:t>SetQueueAttributes</a:t>
            </a:r>
            <a:r>
              <a:rPr lang="en-US" dirty="0" smtClean="0"/>
              <a:t>, you configure the </a:t>
            </a:r>
            <a:r>
              <a:rPr lang="en-US" dirty="0" err="1" smtClean="0">
                <a:latin typeface="Lucida Console" panose="020B0609040504020204" pitchFamily="49" charset="0"/>
                <a:cs typeface="Courier New" panose="02070309020205020404" pitchFamily="49" charset="0"/>
              </a:rPr>
              <a:t>ReceiveMessageWaitTimeSeconds</a:t>
            </a:r>
            <a:r>
              <a:rPr lang="en-US" dirty="0" smtClean="0"/>
              <a:t> attribute. </a:t>
            </a:r>
            <a:endParaRPr lang="en-US" b="1" dirty="0" smtClean="0"/>
          </a:p>
          <a:p>
            <a:pPr marL="0" indent="0">
              <a:spcBef>
                <a:spcPts val="600"/>
              </a:spcBef>
              <a:buFontTx/>
              <a:buNone/>
            </a:pPr>
            <a:r>
              <a:rPr lang="en-US" b="1" dirty="0" smtClean="0"/>
              <a:t>Important: </a:t>
            </a:r>
            <a:r>
              <a:rPr lang="en-US" dirty="0" smtClean="0">
                <a:solidFill>
                  <a:srgbClr val="000000"/>
                </a:solidFill>
              </a:rPr>
              <a:t>If</a:t>
            </a:r>
            <a:r>
              <a:rPr lang="en-US" dirty="0" smtClean="0"/>
              <a:t> you decide to implement long polling with multiple queues, we recommend that you use one thread for each queue. </a:t>
            </a:r>
            <a:r>
              <a:rPr lang="en-US" dirty="0" smtClean="0">
                <a:solidFill>
                  <a:srgbClr val="000000"/>
                </a:solidFill>
              </a:rPr>
              <a:t>When</a:t>
            </a:r>
            <a:r>
              <a:rPr lang="en-US" dirty="0" smtClean="0"/>
              <a:t> you use one thread for each queue</a:t>
            </a:r>
            <a:r>
              <a:rPr lang="en-US" dirty="0" smtClean="0">
                <a:solidFill>
                  <a:srgbClr val="000000"/>
                </a:solidFill>
              </a:rPr>
              <a:t>, your</a:t>
            </a:r>
            <a:r>
              <a:rPr lang="en-US" dirty="0" smtClean="0"/>
              <a:t> </a:t>
            </a:r>
            <a:r>
              <a:rPr lang="en-US" dirty="0" smtClean="0">
                <a:solidFill>
                  <a:srgbClr val="000000"/>
                </a:solidFill>
              </a:rPr>
              <a:t>application</a:t>
            </a:r>
            <a:r>
              <a:rPr lang="en-US" dirty="0" smtClean="0"/>
              <a:t> can process the messages in each of the queues as they become available. If you have one thread for multiple queues, your </a:t>
            </a:r>
            <a:r>
              <a:rPr lang="en-US" dirty="0" smtClean="0">
                <a:solidFill>
                  <a:srgbClr val="000000"/>
                </a:solidFill>
              </a:rPr>
              <a:t>application</a:t>
            </a:r>
            <a:r>
              <a:rPr lang="en-US" dirty="0" smtClean="0"/>
              <a:t> can be blocked from processing available messages in the other queues.</a:t>
            </a:r>
          </a:p>
          <a:p>
            <a:pPr>
              <a:spcBef>
                <a:spcPts val="600"/>
              </a:spcBef>
            </a:pPr>
            <a:endParaRPr lang="en-US" dirty="0"/>
          </a:p>
        </p:txBody>
      </p:sp>
    </p:spTree>
    <p:extLst>
      <p:ext uri="{BB962C8B-B14F-4D97-AF65-F5344CB8AC3E}">
        <p14:creationId xmlns:p14="http://schemas.microsoft.com/office/powerpoint/2010/main" val="17936275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600"/>
              </a:spcBef>
              <a:buClrTx/>
              <a:buSzTx/>
              <a:buFontTx/>
              <a:buNone/>
              <a:tabLst/>
              <a:defRPr/>
            </a:pPr>
            <a:r>
              <a:rPr lang="en-US" sz="1200" b="0" i="0" kern="1200" dirty="0">
                <a:solidFill>
                  <a:schemeClr val="tx1"/>
                </a:solidFill>
                <a:effectLst/>
              </a:rPr>
              <a:t>A dead-letter </a:t>
            </a:r>
            <a:r>
              <a:rPr lang="en-US" sz="1200" b="0" i="0" kern="1200" dirty="0">
                <a:solidFill>
                  <a:srgbClr val="000000"/>
                </a:solidFill>
                <a:effectLst/>
              </a:rPr>
              <a:t>queue</a:t>
            </a:r>
            <a:r>
              <a:rPr lang="en-US" sz="1200" b="0" i="0" kern="1200" dirty="0">
                <a:solidFill>
                  <a:schemeClr val="tx1"/>
                </a:solidFill>
                <a:effectLst/>
              </a:rPr>
              <a:t> (DLQ) is an Amazon SQS </a:t>
            </a:r>
            <a:r>
              <a:rPr lang="en-US" sz="1200" b="0" i="0" kern="1200" dirty="0">
                <a:solidFill>
                  <a:srgbClr val="000000"/>
                </a:solidFill>
                <a:effectLst/>
              </a:rPr>
              <a:t>queue that</a:t>
            </a:r>
            <a:r>
              <a:rPr lang="en-US" sz="1200" b="0" i="0" kern="1200" dirty="0">
                <a:solidFill>
                  <a:schemeClr val="tx1"/>
                </a:solidFill>
                <a:effectLst/>
              </a:rPr>
              <a:t> you configure to receive messages from other Amazon SQS queues, referred to as “source queues.</a:t>
            </a:r>
            <a:r>
              <a:rPr lang="en-US" sz="1200" b="0" i="0" kern="1200" dirty="0">
                <a:solidFill>
                  <a:srgbClr val="000000"/>
                </a:solidFill>
                <a:effectLst/>
              </a:rPr>
              <a:t>”</a:t>
            </a:r>
            <a:r>
              <a:rPr lang="en-US" sz="1200" b="0" i="0" kern="1200" dirty="0">
                <a:solidFill>
                  <a:schemeClr val="tx1"/>
                </a:solidFill>
                <a:effectLst/>
              </a:rPr>
              <a:t> </a:t>
            </a:r>
            <a:r>
              <a:rPr lang="en-US" dirty="0"/>
              <a:t>Typically, you set up a </a:t>
            </a:r>
            <a:r>
              <a:rPr lang="en-US" sz="1200" b="0" i="0" kern="1200" dirty="0">
                <a:solidFill>
                  <a:schemeClr val="tx1"/>
                </a:solidFill>
                <a:effectLst/>
              </a:rPr>
              <a:t>DLQ to receive messages after a </a:t>
            </a:r>
            <a:r>
              <a:rPr lang="en-US" dirty="0"/>
              <a:t>maximum </a:t>
            </a:r>
            <a:r>
              <a:rPr lang="en-US" sz="1200" b="0" i="0" kern="1200" dirty="0">
                <a:solidFill>
                  <a:schemeClr val="tx1"/>
                </a:solidFill>
                <a:effectLst/>
              </a:rPr>
              <a:t>number of processing attempts </a:t>
            </a:r>
            <a:r>
              <a:rPr lang="en-US" dirty="0"/>
              <a:t>has </a:t>
            </a:r>
            <a:r>
              <a:rPr lang="en-US" sz="1200" b="0" i="0" kern="1200" dirty="0">
                <a:solidFill>
                  <a:schemeClr val="tx1"/>
                </a:solidFill>
                <a:effectLst/>
              </a:rPr>
              <a:t>been reached. DLQ provides the ability to isolate messages that could not be processed.</a:t>
            </a:r>
          </a:p>
          <a:p>
            <a:pPr>
              <a:spcBef>
                <a:spcPts val="600"/>
              </a:spcBef>
            </a:pPr>
            <a:r>
              <a:rPr lang="en-US" sz="1200" b="0" i="0" kern="1200" dirty="0">
                <a:solidFill>
                  <a:schemeClr val="tx1"/>
                </a:solidFill>
                <a:effectLst/>
              </a:rPr>
              <a:t>A DLQ is </a:t>
            </a:r>
            <a:r>
              <a:rPr lang="en-US" sz="1200" b="0" i="0" kern="1200" dirty="0">
                <a:solidFill>
                  <a:srgbClr val="000000"/>
                </a:solidFill>
                <a:effectLst/>
              </a:rPr>
              <a:t>just</a:t>
            </a:r>
            <a:r>
              <a:rPr lang="en-US" sz="1200" b="0" i="0" kern="1200" dirty="0">
                <a:solidFill>
                  <a:schemeClr val="tx1"/>
                </a:solidFill>
                <a:effectLst/>
              </a:rPr>
              <a:t> like any other </a:t>
            </a:r>
            <a:r>
              <a:rPr lang="en-US" dirty="0"/>
              <a:t>Amazon SQS</a:t>
            </a:r>
            <a:r>
              <a:rPr lang="en-US" sz="1200" b="0" i="0" kern="1200" dirty="0">
                <a:solidFill>
                  <a:schemeClr val="tx1"/>
                </a:solidFill>
                <a:effectLst/>
              </a:rPr>
              <a:t> queue. Messages can be sent to it and received from it like any other Amazon SQS queues. You can create a DLQ from the Amazon SQS API and the Amazon SQS area</a:t>
            </a:r>
            <a:r>
              <a:rPr lang="en-US" sz="1200" b="0" i="0" kern="1200" baseline="0" dirty="0">
                <a:solidFill>
                  <a:schemeClr val="tx1"/>
                </a:solidFill>
                <a:effectLst/>
              </a:rPr>
              <a:t> in the AWS Management Console</a:t>
            </a:r>
            <a:r>
              <a:rPr lang="en-US" sz="1200" b="0" i="0" kern="1200" dirty="0">
                <a:solidFill>
                  <a:schemeClr val="tx1"/>
                </a:solidFill>
                <a:effectLst/>
              </a:rPr>
              <a:t>.</a:t>
            </a:r>
          </a:p>
          <a:p>
            <a:pPr>
              <a:spcBef>
                <a:spcPts val="600"/>
              </a:spcBef>
            </a:pPr>
            <a:r>
              <a:rPr lang="en-US" dirty="0"/>
              <a:t>For more information about Amazon SQS Dead Letter </a:t>
            </a:r>
            <a:r>
              <a:rPr lang="en-US" dirty="0">
                <a:solidFill>
                  <a:srgbClr val="000000"/>
                </a:solidFill>
              </a:rPr>
              <a:t>Queues</a:t>
            </a:r>
            <a:r>
              <a:rPr lang="en-US" dirty="0"/>
              <a:t>, see </a:t>
            </a:r>
            <a:r>
              <a:rPr lang="en-US" dirty="0">
                <a:hlinkClick r:id="rId3"/>
              </a:rPr>
              <a:t>http://docs.aws.amazon.com/AWSSimpleQueueService/latest/SQSDeveloperGuide/SQSDeadLetterQueue.html</a:t>
            </a:r>
            <a:r>
              <a:rPr lang="en-US" dirty="0"/>
              <a:t>. </a:t>
            </a:r>
            <a:endParaRPr lang="en-US" sz="1200" b="0" i="0" kern="1200" dirty="0">
              <a:solidFill>
                <a:schemeClr val="tx1"/>
              </a:solidFill>
              <a:effectLst/>
            </a:endParaRPr>
          </a:p>
        </p:txBody>
      </p:sp>
    </p:spTree>
    <p:extLst>
      <p:ext uri="{BB962C8B-B14F-4D97-AF65-F5344CB8AC3E}">
        <p14:creationId xmlns:p14="http://schemas.microsoft.com/office/powerpoint/2010/main" val="14989286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600"/>
              </a:spcBef>
            </a:pPr>
            <a:r>
              <a:rPr lang="en-US" sz="1200" b="0" i="0" kern="1200" dirty="0">
                <a:solidFill>
                  <a:schemeClr val="tx1"/>
                </a:solidFill>
                <a:effectLst/>
                <a:ea typeface="+mn-ea"/>
                <a:cs typeface="+mn-cs"/>
              </a:rPr>
              <a:t>A developer associates an access policy statement (specifying the permissions being granted) with the queue to be shared. Amazon SQS provides </a:t>
            </a:r>
            <a:r>
              <a:rPr lang="en-US" sz="1200" b="0" i="0" kern="1200" dirty="0">
                <a:solidFill>
                  <a:srgbClr val="000000"/>
                </a:solidFill>
                <a:effectLst/>
                <a:ea typeface="+mn-ea"/>
                <a:cs typeface="+mn-cs"/>
              </a:rPr>
              <a:t>APIs</a:t>
            </a:r>
            <a:r>
              <a:rPr lang="en-US" sz="1200" b="0" i="0" kern="1200" dirty="0">
                <a:solidFill>
                  <a:schemeClr val="tx1"/>
                </a:solidFill>
                <a:effectLst/>
                <a:ea typeface="+mn-ea"/>
                <a:cs typeface="+mn-cs"/>
              </a:rPr>
              <a:t> to create and manage the access policy statements: </a:t>
            </a:r>
            <a:r>
              <a:rPr lang="en-US" sz="1200" b="0" i="0" kern="1200" dirty="0">
                <a:solidFill>
                  <a:schemeClr val="tx1"/>
                </a:solidFill>
                <a:effectLst/>
                <a:latin typeface="Lucida Console" panose="020B0609040504020204" pitchFamily="49" charset="0"/>
                <a:cs typeface="Courier New" panose="02070309020205020404" pitchFamily="49" charset="0"/>
              </a:rPr>
              <a:t>AddPermission</a:t>
            </a:r>
            <a:r>
              <a:rPr lang="en-US" sz="1200" b="0" i="0" kern="1200" dirty="0">
                <a:solidFill>
                  <a:schemeClr val="tx1"/>
                </a:solidFill>
                <a:effectLst/>
                <a:latin typeface="Arial"/>
                <a:ea typeface="+mn-ea"/>
                <a:cs typeface="+mn-cs"/>
              </a:rPr>
              <a:t>, </a:t>
            </a:r>
            <a:r>
              <a:rPr lang="en-US" dirty="0">
                <a:latin typeface="Lucida Console" panose="020B0609040504020204" pitchFamily="49" charset="0"/>
                <a:cs typeface="Courier New" panose="02070309020205020404" pitchFamily="49" charset="0"/>
              </a:rPr>
              <a:t>RemovePermission</a:t>
            </a:r>
            <a:r>
              <a:rPr lang="en-US" sz="1200" b="0" i="0" kern="1200" dirty="0">
                <a:solidFill>
                  <a:schemeClr val="tx1"/>
                </a:solidFill>
                <a:effectLst/>
                <a:latin typeface="Arial"/>
                <a:ea typeface="+mn-ea"/>
                <a:cs typeface="+mn-cs"/>
              </a:rPr>
              <a:t>, </a:t>
            </a:r>
            <a:r>
              <a:rPr lang="en-US" sz="1200" b="0" i="0" kern="1200" dirty="0">
                <a:solidFill>
                  <a:schemeClr val="tx1"/>
                </a:solidFill>
                <a:effectLst/>
                <a:latin typeface="Lucida Console" panose="020B0609040504020204" pitchFamily="49" charset="0"/>
                <a:cs typeface="Courier New" panose="02070309020205020404" pitchFamily="49" charset="0"/>
              </a:rPr>
              <a:t>SetQueueAttributes</a:t>
            </a:r>
            <a:r>
              <a:rPr lang="en-US" dirty="0"/>
              <a:t>,</a:t>
            </a:r>
            <a:r>
              <a:rPr lang="en-US" sz="1200" b="0" i="0" kern="1200" dirty="0">
                <a:solidFill>
                  <a:schemeClr val="tx1"/>
                </a:solidFill>
                <a:effectLst/>
                <a:latin typeface="Arial"/>
                <a:ea typeface="+mn-ea"/>
                <a:cs typeface="+mn-cs"/>
              </a:rPr>
              <a:t> </a:t>
            </a:r>
            <a:r>
              <a:rPr lang="en-US" sz="1200" b="0" i="0" kern="1200" dirty="0">
                <a:solidFill>
                  <a:schemeClr val="tx1"/>
                </a:solidFill>
                <a:effectLst/>
                <a:ea typeface="+mn-ea"/>
                <a:cs typeface="+mn-cs"/>
              </a:rPr>
              <a:t>and</a:t>
            </a:r>
            <a:r>
              <a:rPr lang="en-US" sz="1200" b="0" i="0" kern="1200" dirty="0">
                <a:solidFill>
                  <a:schemeClr val="tx1"/>
                </a:solidFill>
                <a:effectLst/>
                <a:latin typeface="Arial"/>
                <a:ea typeface="+mn-ea"/>
                <a:cs typeface="+mn-cs"/>
              </a:rPr>
              <a:t> </a:t>
            </a:r>
            <a:r>
              <a:rPr lang="en-US" dirty="0">
                <a:latin typeface="Lucida Console" panose="020B0609040504020204" pitchFamily="49" charset="0"/>
                <a:cs typeface="Courier New" panose="02070309020205020404" pitchFamily="49" charset="0"/>
              </a:rPr>
              <a:t>GetQueueAttributes</a:t>
            </a:r>
            <a:r>
              <a:rPr lang="en-US" sz="1200" b="0" i="0" kern="1200" dirty="0">
                <a:solidFill>
                  <a:schemeClr val="tx1"/>
                </a:solidFill>
                <a:effectLst/>
                <a:latin typeface="Arial"/>
                <a:ea typeface="+mn-ea"/>
                <a:cs typeface="+mn-cs"/>
              </a:rPr>
              <a:t>. </a:t>
            </a:r>
            <a:r>
              <a:rPr lang="en-US" sz="1200" b="0" i="0" kern="1200" dirty="0">
                <a:solidFill>
                  <a:schemeClr val="tx1"/>
                </a:solidFill>
                <a:effectLst/>
              </a:rPr>
              <a:t>Refer to the latest API specification for more details.</a:t>
            </a:r>
          </a:p>
          <a:p>
            <a:pPr>
              <a:spcBef>
                <a:spcPts val="600"/>
              </a:spcBef>
            </a:pPr>
            <a:r>
              <a:rPr lang="en-US" sz="1200" b="0" i="0" kern="1200" dirty="0">
                <a:solidFill>
                  <a:schemeClr val="tx1"/>
                </a:solidFill>
                <a:effectLst/>
              </a:rPr>
              <a:t>Amazon SQS in each region is </a:t>
            </a:r>
            <a:r>
              <a:rPr lang="en-US" sz="1200" b="0" i="0" kern="1200" dirty="0">
                <a:solidFill>
                  <a:srgbClr val="000000"/>
                </a:solidFill>
                <a:effectLst/>
              </a:rPr>
              <a:t>totally independent</a:t>
            </a:r>
            <a:r>
              <a:rPr lang="en-US" sz="1200" b="0" i="0" kern="1200" dirty="0">
                <a:solidFill>
                  <a:schemeClr val="tx1"/>
                </a:solidFill>
                <a:effectLst/>
              </a:rPr>
              <a:t> in message stores and queue </a:t>
            </a:r>
            <a:r>
              <a:rPr lang="en-US" dirty="0"/>
              <a:t>names; therefore,</a:t>
            </a:r>
            <a:r>
              <a:rPr lang="en-US" baseline="0" dirty="0"/>
              <a:t> the</a:t>
            </a:r>
            <a:r>
              <a:rPr lang="en-US" dirty="0"/>
              <a:t> </a:t>
            </a:r>
            <a:r>
              <a:rPr lang="en-US" sz="1200" b="0" i="0" kern="1200" dirty="0">
                <a:solidFill>
                  <a:schemeClr val="tx1"/>
                </a:solidFill>
                <a:effectLst/>
              </a:rPr>
              <a:t>messages</a:t>
            </a:r>
            <a:r>
              <a:rPr lang="en-US" sz="1200" b="0" i="0" kern="1200" baseline="0" dirty="0">
                <a:solidFill>
                  <a:schemeClr val="tx1"/>
                </a:solidFill>
                <a:effectLst/>
              </a:rPr>
              <a:t> cannot be shared between queues in different regions. </a:t>
            </a:r>
            <a:endParaRPr lang="en-US" b="0" dirty="0"/>
          </a:p>
        </p:txBody>
      </p:sp>
    </p:spTree>
    <p:extLst>
      <p:ext uri="{BB962C8B-B14F-4D97-AF65-F5344CB8AC3E}">
        <p14:creationId xmlns:p14="http://schemas.microsoft.com/office/powerpoint/2010/main" val="15491807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728197"/>
          </a:xfrm>
        </p:spPr>
        <p:txBody>
          <a:bodyPr/>
          <a:lstStyle/>
          <a:p>
            <a:r>
              <a:rPr lang="en-US" dirty="0"/>
              <a:t>Server-side</a:t>
            </a:r>
            <a:r>
              <a:rPr lang="en-US" baseline="0" dirty="0"/>
              <a:t> encryption (SSE)</a:t>
            </a:r>
            <a:r>
              <a:rPr lang="en-US" dirty="0"/>
              <a:t> encrypts the body of the message, but does not touch the queue metadata, the message metadata, or the per-queue metrics. Adding encryption to an existing queue does not encrypt any backlogged messages. Similarly, removing encryption </a:t>
            </a:r>
            <a:r>
              <a:rPr lang="en-US" dirty="0">
                <a:solidFill>
                  <a:srgbClr val="000000"/>
                </a:solidFill>
              </a:rPr>
              <a:t>leaves</a:t>
            </a:r>
            <a:r>
              <a:rPr lang="en-US" dirty="0"/>
              <a:t> backlogged messages encrypted.</a:t>
            </a:r>
          </a:p>
          <a:p>
            <a:endParaRPr lang="en-US" dirty="0"/>
          </a:p>
          <a:p>
            <a:r>
              <a:rPr lang="en-US" dirty="0"/>
              <a:t>You can use the </a:t>
            </a:r>
            <a:r>
              <a:rPr lang="en-US" dirty="0">
                <a:solidFill>
                  <a:srgbClr val="000000"/>
                </a:solidFill>
              </a:rPr>
              <a:t>AWS managed</a:t>
            </a:r>
            <a:r>
              <a:rPr lang="en-US" dirty="0"/>
              <a:t> </a:t>
            </a:r>
            <a:r>
              <a:rPr lang="en-US" dirty="0">
                <a:solidFill>
                  <a:srgbClr val="000000"/>
                </a:solidFill>
              </a:rPr>
              <a:t>customer master key (CMK)</a:t>
            </a:r>
            <a:r>
              <a:rPr lang="en-US" dirty="0"/>
              <a:t> which is unique for each customer and region, or you can create and manage your own keys. If you </a:t>
            </a:r>
            <a:r>
              <a:rPr lang="en-US" dirty="0">
                <a:solidFill>
                  <a:srgbClr val="000000"/>
                </a:solidFill>
              </a:rPr>
              <a:t>choose</a:t>
            </a:r>
            <a:r>
              <a:rPr lang="en-US" dirty="0"/>
              <a:t> to use your own keys, don’t forget to update your KMS key policies so that they </a:t>
            </a:r>
            <a:r>
              <a:rPr lang="en-US" dirty="0">
                <a:solidFill>
                  <a:srgbClr val="000000"/>
                </a:solidFill>
              </a:rPr>
              <a:t>allow</a:t>
            </a:r>
            <a:r>
              <a:rPr lang="en-US" dirty="0"/>
              <a:t> for encryption and decryption of messages.</a:t>
            </a:r>
          </a:p>
          <a:p>
            <a:endParaRPr lang="en-US" dirty="0"/>
          </a:p>
          <a:p>
            <a:r>
              <a:rPr lang="en-US" dirty="0"/>
              <a:t>Encryption key provided by </a:t>
            </a:r>
            <a:r>
              <a:rPr lang="en-US" dirty="0">
                <a:solidFill>
                  <a:srgbClr val="000000"/>
                </a:solidFill>
              </a:rPr>
              <a:t>AWS Key Management Service</a:t>
            </a:r>
            <a:r>
              <a:rPr lang="en-US" dirty="0"/>
              <a:t> (AWS </a:t>
            </a:r>
            <a:r>
              <a:rPr lang="en-US" dirty="0">
                <a:solidFill>
                  <a:srgbClr val="000000"/>
                </a:solidFill>
              </a:rPr>
              <a:t>KMS</a:t>
            </a:r>
            <a:r>
              <a:rPr lang="en-US" dirty="0"/>
              <a:t>) key policies.</a:t>
            </a:r>
            <a:r>
              <a:rPr lang="en-US" baseline="0" dirty="0"/>
              <a:t> </a:t>
            </a:r>
            <a:r>
              <a:rPr lang="en-US" dirty="0"/>
              <a:t>Verify the key policies of the customer master key (CMK) </a:t>
            </a:r>
            <a:r>
              <a:rPr lang="en-US" dirty="0">
                <a:solidFill>
                  <a:srgbClr val="000000"/>
                </a:solidFill>
              </a:rPr>
              <a:t>allow</a:t>
            </a:r>
            <a:r>
              <a:rPr lang="en-US" dirty="0"/>
              <a:t> the necessary permissions for the principal.</a:t>
            </a:r>
            <a:r>
              <a:rPr lang="en-US" baseline="0" dirty="0"/>
              <a:t> </a:t>
            </a:r>
            <a:r>
              <a:rPr lang="en-US" dirty="0"/>
              <a:t>To send messages, the producer must have the </a:t>
            </a:r>
            <a:r>
              <a:rPr lang="en-US" dirty="0" err="1">
                <a:latin typeface="Lucida Console" panose="020B0609040504020204" pitchFamily="49" charset="0"/>
                <a:cs typeface="Courier New" panose="02070309020205020404" pitchFamily="49" charset="0"/>
              </a:rPr>
              <a:t>kms:GenerateDataKey</a:t>
            </a:r>
            <a:r>
              <a:rPr lang="en-US" dirty="0"/>
              <a:t> and </a:t>
            </a:r>
            <a:r>
              <a:rPr lang="en-US" dirty="0" err="1">
                <a:latin typeface="Lucida Console" panose="020B0609040504020204" pitchFamily="49" charset="0"/>
                <a:cs typeface="Courier New" panose="02070309020205020404" pitchFamily="49" charset="0"/>
              </a:rPr>
              <a:t>kms:Decrypt</a:t>
            </a:r>
            <a:r>
              <a:rPr lang="en-US" dirty="0"/>
              <a:t> permissions.</a:t>
            </a:r>
            <a:r>
              <a:rPr lang="en-US" baseline="0" dirty="0"/>
              <a:t> </a:t>
            </a:r>
            <a:r>
              <a:rPr lang="en-US" dirty="0"/>
              <a:t>To receive messages, the consumer must have the </a:t>
            </a:r>
            <a:r>
              <a:rPr lang="en-US" dirty="0" err="1">
                <a:latin typeface="Lucida Console" panose="020B0609040504020204" pitchFamily="49" charset="0"/>
                <a:cs typeface="Courier New" panose="02070309020205020404" pitchFamily="49" charset="0"/>
              </a:rPr>
              <a:t>kms:Decrypt</a:t>
            </a:r>
            <a:r>
              <a:rPr lang="en-US" dirty="0"/>
              <a:t> permission.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more information, see </a:t>
            </a:r>
            <a:r>
              <a:rPr lang="en-US" dirty="0">
                <a:hlinkClick r:id="rId3"/>
              </a:rPr>
              <a:t>https://docs.aws.amazon.com/AWSSimpleQueueService/latest/SQSDeveloperGuide/sqs-server-side-encryption.html#sqs-what-permissions-for-sse</a:t>
            </a:r>
            <a:r>
              <a:rPr lang="en-US" dirty="0"/>
              <a:t>.</a:t>
            </a:r>
          </a:p>
          <a:p>
            <a:endParaRPr lang="en-US" dirty="0"/>
          </a:p>
          <a:p>
            <a:endParaRPr lang="en-US" dirty="0"/>
          </a:p>
        </p:txBody>
      </p:sp>
    </p:spTree>
    <p:extLst>
      <p:ext uri="{BB962C8B-B14F-4D97-AF65-F5344CB8AC3E}">
        <p14:creationId xmlns:p14="http://schemas.microsoft.com/office/powerpoint/2010/main" val="40211681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3" y="4560571"/>
            <a:ext cx="5440678" cy="3348989"/>
          </a:xfrm>
        </p:spPr>
        <p:txBody>
          <a:bodyPr/>
          <a:lstStyle/>
          <a:p>
            <a:pPr>
              <a:spcBef>
                <a:spcPts val="600"/>
              </a:spcBef>
            </a:pPr>
            <a:r>
              <a:rPr lang="en-US" b="1" u="none" dirty="0"/>
              <a:t>Work queues</a:t>
            </a:r>
            <a:br>
              <a:rPr lang="en-US" b="1" u="none" dirty="0"/>
            </a:br>
            <a:r>
              <a:rPr lang="en-US" dirty="0"/>
              <a:t>Decouple components of a distributed </a:t>
            </a:r>
            <a:r>
              <a:rPr lang="en-US" dirty="0">
                <a:solidFill>
                  <a:srgbClr val="000000"/>
                </a:solidFill>
              </a:rPr>
              <a:t>application</a:t>
            </a:r>
            <a:r>
              <a:rPr lang="en-US" dirty="0"/>
              <a:t> that may not all process the same amount of work simultaneously.</a:t>
            </a:r>
          </a:p>
          <a:p>
            <a:pPr>
              <a:spcBef>
                <a:spcPts val="600"/>
              </a:spcBef>
            </a:pPr>
            <a:r>
              <a:rPr lang="en-US" b="1" u="none" dirty="0"/>
              <a:t>Buffer and batch operations</a:t>
            </a:r>
            <a:br>
              <a:rPr lang="en-US" b="1" u="none" dirty="0"/>
            </a:br>
            <a:r>
              <a:rPr lang="en-US" dirty="0"/>
              <a:t>Add </a:t>
            </a:r>
            <a:r>
              <a:rPr lang="en-US" dirty="0">
                <a:solidFill>
                  <a:srgbClr val="000000"/>
                </a:solidFill>
              </a:rPr>
              <a:t>scalability and reliability</a:t>
            </a:r>
            <a:r>
              <a:rPr lang="en-US" dirty="0"/>
              <a:t> to your architecture and smooth out temporary volume spikes without losing messages or increasing latency.</a:t>
            </a:r>
          </a:p>
          <a:p>
            <a:pPr>
              <a:spcBef>
                <a:spcPts val="600"/>
              </a:spcBef>
            </a:pPr>
            <a:r>
              <a:rPr lang="en-US" b="1" u="none" dirty="0"/>
              <a:t>Request offloading</a:t>
            </a:r>
            <a:br>
              <a:rPr lang="en-US" b="1" u="none" dirty="0"/>
            </a:br>
            <a:r>
              <a:rPr lang="en-US" dirty="0"/>
              <a:t>Move slow operations off of interactive request paths by enqueuing the request.</a:t>
            </a:r>
          </a:p>
          <a:p>
            <a:pPr>
              <a:spcBef>
                <a:spcPts val="600"/>
              </a:spcBef>
            </a:pPr>
            <a:r>
              <a:rPr lang="en-US" b="1" dirty="0">
                <a:solidFill>
                  <a:srgbClr val="000000"/>
                </a:solidFill>
              </a:rPr>
              <a:t>Auto Scaling</a:t>
            </a:r>
            <a:r>
              <a:rPr lang="en-US" b="1" dirty="0">
                <a:solidFill>
                  <a:srgbClr val="000000"/>
                </a:solidFill>
                <a:latin typeface="Calibri" panose="020F0502020204030204" pitchFamily="34" charset="0"/>
              </a:rPr>
              <a:t/>
            </a:r>
            <a:br>
              <a:rPr lang="en-US" b="1" dirty="0">
                <a:solidFill>
                  <a:srgbClr val="000000"/>
                </a:solidFill>
                <a:latin typeface="Calibri" panose="020F0502020204030204" pitchFamily="34" charset="0"/>
              </a:rPr>
            </a:br>
            <a:r>
              <a:rPr lang="en-US" dirty="0">
                <a:solidFill>
                  <a:srgbClr val="000000"/>
                </a:solidFill>
              </a:rPr>
              <a:t>You</a:t>
            </a:r>
            <a:r>
              <a:rPr lang="en-US" dirty="0"/>
              <a:t> can use Amazon SQS queues to help determine the load on an </a:t>
            </a:r>
            <a:r>
              <a:rPr lang="en-US" dirty="0">
                <a:solidFill>
                  <a:srgbClr val="000000"/>
                </a:solidFill>
              </a:rPr>
              <a:t>application</a:t>
            </a:r>
            <a:r>
              <a:rPr lang="en-US" dirty="0"/>
              <a:t>, and when combined with </a:t>
            </a:r>
            <a:r>
              <a:rPr lang="en-US" dirty="0">
                <a:solidFill>
                  <a:srgbClr val="000000"/>
                </a:solidFill>
              </a:rPr>
              <a:t>Auto Scaling</a:t>
            </a:r>
            <a:r>
              <a:rPr lang="en-US" dirty="0"/>
              <a:t>, you can scale the number of Amazon EC2 instances out or in, depending on the volume of </a:t>
            </a:r>
            <a:r>
              <a:rPr lang="en-US" dirty="0">
                <a:solidFill>
                  <a:srgbClr val="000000"/>
                </a:solidFill>
              </a:rPr>
              <a:t>traffic</a:t>
            </a:r>
            <a:r>
              <a:rPr lang="en-US" dirty="0"/>
              <a:t>. </a:t>
            </a:r>
          </a:p>
          <a:p>
            <a:pPr>
              <a:spcBef>
                <a:spcPts val="600"/>
              </a:spcBef>
            </a:pPr>
            <a:r>
              <a:rPr lang="en-US" b="1" u="none" dirty="0"/>
              <a:t>Fan-out</a:t>
            </a:r>
            <a:br>
              <a:rPr lang="en-US" b="1" u="none" dirty="0"/>
            </a:br>
            <a:r>
              <a:rPr lang="en-US" dirty="0"/>
              <a:t>Combine Amazon SQS with Amazon SNS to send identical copies of a message to multiple queues in parallel for simultaneous processing.</a:t>
            </a:r>
          </a:p>
        </p:txBody>
      </p:sp>
    </p:spTree>
    <p:extLst>
      <p:ext uri="{BB962C8B-B14F-4D97-AF65-F5344CB8AC3E}">
        <p14:creationId xmlns:p14="http://schemas.microsoft.com/office/powerpoint/2010/main" val="38192118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509010"/>
          </a:xfrm>
        </p:spPr>
        <p:txBody>
          <a:bodyPr/>
          <a:lstStyle/>
          <a:p>
            <a:pPr>
              <a:spcBef>
                <a:spcPts val="600"/>
              </a:spcBef>
            </a:pPr>
            <a:r>
              <a:rPr lang="en-US" dirty="0">
                <a:solidFill>
                  <a:srgbClr val="000000"/>
                </a:solidFill>
              </a:rPr>
              <a:t>Amazon Simple Queue Service</a:t>
            </a:r>
            <a:r>
              <a:rPr lang="en-US" dirty="0"/>
              <a:t> (Amazon </a:t>
            </a:r>
            <a:r>
              <a:rPr lang="en-US" dirty="0">
                <a:solidFill>
                  <a:srgbClr val="000000"/>
                </a:solidFill>
              </a:rPr>
              <a:t>SQS</a:t>
            </a:r>
            <a:r>
              <a:rPr lang="en-US" dirty="0"/>
              <a:t>) is a web service that gives you access to a message queue that can be used to store messages while waiting for a computer to process </a:t>
            </a:r>
            <a:r>
              <a:rPr lang="en-US" dirty="0">
                <a:solidFill>
                  <a:srgbClr val="000000"/>
                </a:solidFill>
              </a:rPr>
              <a:t>them</a:t>
            </a:r>
            <a:r>
              <a:rPr lang="en-US" dirty="0"/>
              <a:t>. You can quickly build message queuing </a:t>
            </a:r>
            <a:r>
              <a:rPr lang="en-US" dirty="0">
                <a:solidFill>
                  <a:srgbClr val="000000"/>
                </a:solidFill>
              </a:rPr>
              <a:t>applications</a:t>
            </a:r>
            <a:r>
              <a:rPr lang="en-US" dirty="0"/>
              <a:t> that can be run on any computer on the i</a:t>
            </a:r>
            <a:r>
              <a:rPr lang="en-US" dirty="0">
                <a:solidFill>
                  <a:srgbClr val="000000"/>
                </a:solidFill>
              </a:rPr>
              <a:t>nternet</a:t>
            </a:r>
            <a:r>
              <a:rPr lang="en-US" dirty="0"/>
              <a:t>. Amazon SQS helps developers focus on building sophisticated message-based </a:t>
            </a:r>
            <a:r>
              <a:rPr lang="en-US" dirty="0">
                <a:solidFill>
                  <a:srgbClr val="000000"/>
                </a:solidFill>
              </a:rPr>
              <a:t>applications</a:t>
            </a:r>
            <a:r>
              <a:rPr lang="en-US" dirty="0"/>
              <a:t>, without worrying about how the messages are stored and managed.</a:t>
            </a:r>
          </a:p>
          <a:p>
            <a:pPr>
              <a:spcBef>
                <a:spcPts val="600"/>
              </a:spcBef>
            </a:pPr>
            <a:r>
              <a:rPr lang="en-US" dirty="0"/>
              <a:t>Amazon SQS queues can deliver </a:t>
            </a:r>
            <a:r>
              <a:rPr lang="en-US" dirty="0">
                <a:solidFill>
                  <a:srgbClr val="000000"/>
                </a:solidFill>
              </a:rPr>
              <a:t>high</a:t>
            </a:r>
            <a:r>
              <a:rPr lang="en-US" dirty="0"/>
              <a:t> throughput (many thousands of messages </a:t>
            </a:r>
            <a:r>
              <a:rPr lang="en-US" dirty="0">
                <a:solidFill>
                  <a:srgbClr val="000000"/>
                </a:solidFill>
              </a:rPr>
              <a:t>per</a:t>
            </a:r>
            <a:r>
              <a:rPr lang="en-US" dirty="0"/>
              <a:t> second). You can use Amazon SQS with software </a:t>
            </a:r>
            <a:r>
              <a:rPr lang="en-US" dirty="0">
                <a:solidFill>
                  <a:srgbClr val="000000"/>
                </a:solidFill>
              </a:rPr>
              <a:t>applications</a:t>
            </a:r>
            <a:r>
              <a:rPr lang="en-US" dirty="0"/>
              <a:t> in various ways. For example, you can:</a:t>
            </a:r>
          </a:p>
          <a:p>
            <a:pPr marL="171450" indent="-171450">
              <a:spcBef>
                <a:spcPts val="600"/>
              </a:spcBef>
              <a:buFont typeface="Arial" panose="020B0604020202020204" pitchFamily="34" charset="0"/>
              <a:buChar char="•"/>
            </a:pPr>
            <a:r>
              <a:rPr lang="en-US" dirty="0"/>
              <a:t>Integrate Amazon SQS with other AWS infrastructure web services </a:t>
            </a:r>
            <a:r>
              <a:rPr lang="en-US" dirty="0">
                <a:solidFill>
                  <a:srgbClr val="000000"/>
                </a:solidFill>
              </a:rPr>
              <a:t>to</a:t>
            </a:r>
            <a:r>
              <a:rPr lang="en-US" dirty="0"/>
              <a:t> make </a:t>
            </a:r>
            <a:r>
              <a:rPr lang="en-US" dirty="0">
                <a:solidFill>
                  <a:srgbClr val="000000"/>
                </a:solidFill>
              </a:rPr>
              <a:t>applications</a:t>
            </a:r>
            <a:r>
              <a:rPr lang="en-US" dirty="0"/>
              <a:t> more reliable and flexible.</a:t>
            </a:r>
          </a:p>
          <a:p>
            <a:pPr marL="171450" indent="-171450">
              <a:spcBef>
                <a:spcPts val="600"/>
              </a:spcBef>
              <a:buFont typeface="Arial" panose="020B0604020202020204" pitchFamily="34" charset="0"/>
              <a:buChar char="•"/>
            </a:pPr>
            <a:r>
              <a:rPr lang="en-US" dirty="0"/>
              <a:t>Use an Amazon SQS queue as a queue of work, where each message is a task that </a:t>
            </a:r>
            <a:r>
              <a:rPr lang="en-US" dirty="0">
                <a:solidFill>
                  <a:srgbClr val="000000"/>
                </a:solidFill>
              </a:rPr>
              <a:t>needs to</a:t>
            </a:r>
            <a:r>
              <a:rPr lang="en-US" dirty="0"/>
              <a:t> be completed by a process. One or many computers can read tasks from the queue and perform them.</a:t>
            </a:r>
          </a:p>
          <a:p>
            <a:pPr marL="171450" indent="-171450">
              <a:spcBef>
                <a:spcPts val="600"/>
              </a:spcBef>
              <a:buFont typeface="Arial" panose="020B0604020202020204" pitchFamily="34" charset="0"/>
              <a:buChar char="•"/>
            </a:pPr>
            <a:r>
              <a:rPr lang="en-US" dirty="0"/>
              <a:t>Have Amazon SQS help a browser-based </a:t>
            </a:r>
            <a:r>
              <a:rPr lang="en-US" dirty="0">
                <a:solidFill>
                  <a:srgbClr val="000000"/>
                </a:solidFill>
              </a:rPr>
              <a:t>application</a:t>
            </a:r>
            <a:r>
              <a:rPr lang="en-US" dirty="0"/>
              <a:t> receive notifications from a server. The application server can add the notifications to a queue, which the browser can poll—even if there is a firewall between them.</a:t>
            </a:r>
          </a:p>
          <a:p>
            <a:pPr marL="171450" indent="-171450">
              <a:spcBef>
                <a:spcPts val="600"/>
              </a:spcBef>
              <a:buFont typeface="Arial" panose="020B0604020202020204" pitchFamily="34" charset="0"/>
              <a:buChar char="•"/>
            </a:pPr>
            <a:r>
              <a:rPr lang="en-US" dirty="0"/>
              <a:t>Keep notifications of significant events in a business process in an Amazon SQS queue. Each event can have a corresponding message in a queue, and </a:t>
            </a:r>
            <a:r>
              <a:rPr lang="en-US" dirty="0">
                <a:solidFill>
                  <a:srgbClr val="000000"/>
                </a:solidFill>
              </a:rPr>
              <a:t>applications</a:t>
            </a:r>
            <a:r>
              <a:rPr lang="en-US" dirty="0"/>
              <a:t> that </a:t>
            </a:r>
            <a:r>
              <a:rPr lang="en-US" dirty="0">
                <a:solidFill>
                  <a:srgbClr val="000000"/>
                </a:solidFill>
              </a:rPr>
              <a:t>must b</a:t>
            </a:r>
            <a:r>
              <a:rPr lang="en-US" dirty="0"/>
              <a:t>e aware of the event can read and process the messages.</a:t>
            </a:r>
          </a:p>
          <a:p>
            <a:pPr marL="0" marR="0" indent="0" algn="l" defTabSz="457200" rtl="0" eaLnBrk="1" fontAlgn="auto" latinLnBrk="0" hangingPunct="1">
              <a:lnSpc>
                <a:spcPct val="100000"/>
              </a:lnSpc>
              <a:spcBef>
                <a:spcPts val="600"/>
              </a:spcBef>
              <a:buClrTx/>
              <a:buSzTx/>
              <a:buFontTx/>
              <a:buNone/>
              <a:tabLst/>
              <a:defRPr/>
            </a:pPr>
            <a:r>
              <a:rPr lang="en-US" sz="1200" kern="1200" dirty="0">
                <a:solidFill>
                  <a:schemeClr val="tx1"/>
                </a:solidFill>
                <a:effectLst/>
              </a:rPr>
              <a:t>Amazon SQS is engineered to be available and deliver messages.</a:t>
            </a:r>
          </a:p>
          <a:p>
            <a:pPr marL="0" indent="0">
              <a:buNone/>
            </a:pPr>
            <a:r>
              <a:rPr lang="en-US" dirty="0"/>
              <a:t>A fast, reliable, scalable, fully managed message queuing service.</a:t>
            </a:r>
            <a:r>
              <a:rPr lang="en-US" baseline="0" dirty="0"/>
              <a:t> It </a:t>
            </a:r>
            <a:r>
              <a:rPr lang="en-US" baseline="0" dirty="0">
                <a:solidFill>
                  <a:srgbClr val="000000"/>
                </a:solidFill>
              </a:rPr>
              <a:t>a</a:t>
            </a:r>
            <a:r>
              <a:rPr lang="en-US" dirty="0">
                <a:solidFill>
                  <a:srgbClr val="000000"/>
                </a:solidFill>
              </a:rPr>
              <a:t>llows</a:t>
            </a:r>
            <a:r>
              <a:rPr lang="en-US" dirty="0"/>
              <a:t> for </a:t>
            </a:r>
            <a:r>
              <a:rPr lang="en-US" dirty="0">
                <a:solidFill>
                  <a:srgbClr val="000000"/>
                </a:solidFill>
              </a:rPr>
              <a:t>asynchronous communication</a:t>
            </a:r>
            <a:r>
              <a:rPr lang="en-US" dirty="0"/>
              <a:t>,</a:t>
            </a:r>
            <a:r>
              <a:rPr lang="en-US" baseline="0" dirty="0"/>
              <a:t> d</a:t>
            </a:r>
            <a:r>
              <a:rPr lang="en-US" dirty="0"/>
              <a:t>ecouples components,</a:t>
            </a:r>
            <a:r>
              <a:rPr lang="en-US" baseline="0" dirty="0"/>
              <a:t> s</a:t>
            </a:r>
            <a:r>
              <a:rPr lang="en-US" dirty="0"/>
              <a:t>upports higher throughput,</a:t>
            </a:r>
            <a:r>
              <a:rPr lang="en-US" baseline="0" dirty="0"/>
              <a:t> and h</a:t>
            </a:r>
            <a:r>
              <a:rPr lang="en-US" dirty="0"/>
              <a:t>olds messages until you explicitly delete them.</a:t>
            </a:r>
          </a:p>
          <a:p>
            <a:pPr>
              <a:spcBef>
                <a:spcPts val="600"/>
              </a:spcBef>
              <a:defRPr/>
            </a:pPr>
            <a:r>
              <a:rPr lang="en-US" dirty="0"/>
              <a:t>For more information about throughput, see</a:t>
            </a:r>
            <a:r>
              <a:rPr lang="en-US" baseline="0" dirty="0"/>
              <a:t> </a:t>
            </a:r>
            <a:r>
              <a:rPr lang="en-US" dirty="0">
                <a:hlinkClick r:id="rId3"/>
              </a:rPr>
              <a:t>http://docs.aws.amazon.com/AWSSimpleQueueService/latest/SQSDeveloperGuide/throughput.html</a:t>
            </a:r>
            <a:r>
              <a:rPr lang="en-US" dirty="0"/>
              <a:t>.</a:t>
            </a:r>
          </a:p>
        </p:txBody>
      </p:sp>
    </p:spTree>
    <p:extLst>
      <p:ext uri="{BB962C8B-B14F-4D97-AF65-F5344CB8AC3E}">
        <p14:creationId xmlns:p14="http://schemas.microsoft.com/office/powerpoint/2010/main" val="22590791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468651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3" y="4560571"/>
            <a:ext cx="5440678" cy="4171949"/>
          </a:xfrm>
        </p:spPr>
        <p:txBody>
          <a:bodyPr/>
          <a:lstStyle/>
          <a:p>
            <a:pPr>
              <a:spcBef>
                <a:spcPts val="600"/>
              </a:spcBef>
            </a:pPr>
            <a:r>
              <a:rPr lang="en-US" sz="1200" kern="1200" dirty="0">
                <a:solidFill>
                  <a:srgbClr val="000000"/>
                </a:solidFill>
                <a:effectLst/>
                <a:cs typeface="Arial" panose="020B0604020202020204" pitchFamily="34" charset="0"/>
              </a:rPr>
              <a:t>Amazon Simple Notification Service</a:t>
            </a:r>
            <a:r>
              <a:rPr lang="en-US" sz="1200" kern="1200" dirty="0">
                <a:solidFill>
                  <a:schemeClr val="tx1"/>
                </a:solidFill>
                <a:effectLst/>
                <a:cs typeface="Arial" panose="020B0604020202020204" pitchFamily="34" charset="0"/>
              </a:rPr>
              <a:t> (Amazon SNS) is a web service that makes it </a:t>
            </a:r>
            <a:r>
              <a:rPr lang="en-US" sz="1200" kern="1200" dirty="0">
                <a:solidFill>
                  <a:srgbClr val="000000"/>
                </a:solidFill>
                <a:effectLst/>
                <a:cs typeface="Arial" panose="020B0604020202020204" pitchFamily="34" charset="0"/>
              </a:rPr>
              <a:t>easy</a:t>
            </a:r>
            <a:r>
              <a:rPr lang="en-US" sz="1200" kern="1200" dirty="0">
                <a:solidFill>
                  <a:schemeClr val="tx1"/>
                </a:solidFill>
                <a:effectLst/>
                <a:cs typeface="Arial" panose="020B0604020202020204" pitchFamily="34" charset="0"/>
              </a:rPr>
              <a:t> to set up, operate, and send notifications from the cloud</a:t>
            </a:r>
            <a:r>
              <a:rPr lang="en-US" dirty="0">
                <a:cs typeface="Arial" panose="020B0604020202020204" pitchFamily="34" charset="0"/>
              </a:rPr>
              <a:t>. </a:t>
            </a:r>
            <a:r>
              <a:rPr lang="en-US" dirty="0">
                <a:solidFill>
                  <a:srgbClr val="000000"/>
                </a:solidFill>
                <a:cs typeface="Arial" panose="020B0604020202020204" pitchFamily="34" charset="0"/>
              </a:rPr>
              <a:t>Amazon</a:t>
            </a:r>
            <a:r>
              <a:rPr lang="en-US" dirty="0">
                <a:cs typeface="Arial" panose="020B0604020202020204" pitchFamily="34" charset="0"/>
              </a:rPr>
              <a:t> SNS follows the “publish-subscribe” (pub-sub) messaging paradigm, with notifications being delivered to clients using a “push” mechanism that </a:t>
            </a:r>
            <a:r>
              <a:rPr lang="en-US" dirty="0">
                <a:solidFill>
                  <a:srgbClr val="000000"/>
                </a:solidFill>
                <a:cs typeface="Arial" panose="020B0604020202020204" pitchFamily="34" charset="0"/>
              </a:rPr>
              <a:t>eliminates</a:t>
            </a:r>
            <a:r>
              <a:rPr lang="en-US" dirty="0">
                <a:cs typeface="Arial" panose="020B0604020202020204" pitchFamily="34" charset="0"/>
              </a:rPr>
              <a:t> the need to periodically check or “poll” for new information and </a:t>
            </a:r>
            <a:r>
              <a:rPr lang="en-US" dirty="0">
                <a:solidFill>
                  <a:srgbClr val="000000"/>
                </a:solidFill>
                <a:cs typeface="Arial" panose="020B0604020202020204" pitchFamily="34" charset="0"/>
              </a:rPr>
              <a:t>updates</a:t>
            </a:r>
            <a:r>
              <a:rPr lang="en-US" dirty="0" smtClean="0">
                <a:cs typeface="Arial" panose="020B0604020202020204" pitchFamily="34" charset="0"/>
              </a:rPr>
              <a:t>.</a:t>
            </a:r>
            <a:br>
              <a:rPr lang="en-US" dirty="0" smtClean="0">
                <a:cs typeface="Arial" panose="020B0604020202020204" pitchFamily="34" charset="0"/>
              </a:rPr>
            </a:br>
            <a:r>
              <a:rPr lang="en-US" sz="1200" dirty="0" smtClean="0"/>
              <a:t/>
            </a:r>
            <a:br>
              <a:rPr lang="en-US" sz="1200" dirty="0" smtClean="0"/>
            </a:br>
            <a:r>
              <a:rPr lang="en-US" sz="1200" dirty="0" smtClean="0"/>
              <a:t>When </a:t>
            </a:r>
            <a:r>
              <a:rPr lang="en-US" sz="1200" dirty="0"/>
              <a:t>using Amazon SNS, you (as the owner) create a topic and control access to it by defining policies that determine which publishers and subscribers can communicate with the topic. A publisher sends messages to topics they have created or to topics they have permission to publish to. Instead of including a specific destination address in each message, a publisher sends a message to the topic. </a:t>
            </a:r>
            <a:r>
              <a:rPr lang="en-US" sz="1200" dirty="0" smtClean="0"/>
              <a:t/>
            </a:r>
            <a:br>
              <a:rPr lang="en-US" sz="1200" dirty="0" smtClean="0"/>
            </a:br>
            <a:r>
              <a:rPr lang="en-US" sz="1200" dirty="0" smtClean="0"/>
              <a:t/>
            </a:r>
            <a:br>
              <a:rPr lang="en-US" sz="1200" dirty="0" smtClean="0"/>
            </a:br>
            <a:r>
              <a:rPr lang="en-US" sz="1200" dirty="0" smtClean="0"/>
              <a:t>Amazon </a:t>
            </a:r>
            <a:r>
              <a:rPr lang="en-US" sz="1200" dirty="0"/>
              <a:t>SNS matches the topic to a list of subscribers who have subscribed to that topic and delivers the message to each of those subscribers. Each topic has a unique name that identifies the Amazon SNS endpoint for publishers to post messages and subscribers to register for notifications. Subscribers receive all messages published to the topics that they subscribe to, and all subscribers to a topic receive the same messages</a:t>
            </a:r>
            <a:r>
              <a:rPr lang="en-US" sz="1200" dirty="0" smtClean="0"/>
              <a:t>.</a:t>
            </a:r>
            <a:endParaRPr lang="en-US" sz="1200" dirty="0"/>
          </a:p>
          <a:p>
            <a:pPr>
              <a:spcBef>
                <a:spcPts val="600"/>
              </a:spcBef>
            </a:pPr>
            <a:r>
              <a:rPr lang="en-US" dirty="0">
                <a:solidFill>
                  <a:srgbClr val="000000"/>
                </a:solidFill>
              </a:rPr>
              <a:t>Subscribers</a:t>
            </a:r>
            <a:r>
              <a:rPr lang="en-US" dirty="0"/>
              <a:t> (</a:t>
            </a:r>
            <a:r>
              <a:rPr lang="en-US" dirty="0">
                <a:solidFill>
                  <a:srgbClr val="000000"/>
                </a:solidFill>
              </a:rPr>
              <a:t>e.g.,</a:t>
            </a:r>
            <a:r>
              <a:rPr lang="en-US" dirty="0"/>
              <a:t> web servers, email addresses, Amazon SQS queues, AWS Lambda functions) consume or receive the message or notification over one of the supported protocols e.g</a:t>
            </a:r>
            <a:r>
              <a:rPr lang="en-US" dirty="0">
                <a:solidFill>
                  <a:srgbClr val="000000"/>
                </a:solidFill>
              </a:rPr>
              <a:t>.,</a:t>
            </a:r>
            <a:r>
              <a:rPr lang="en-US" dirty="0"/>
              <a:t> Amazon SQS, </a:t>
            </a:r>
            <a:r>
              <a:rPr lang="en-US" dirty="0">
                <a:solidFill>
                  <a:srgbClr val="000000"/>
                </a:solidFill>
              </a:rPr>
              <a:t>HTTP/S</a:t>
            </a:r>
            <a:r>
              <a:rPr lang="en-US" dirty="0"/>
              <a:t>, email, </a:t>
            </a:r>
            <a:r>
              <a:rPr lang="en-US" dirty="0">
                <a:solidFill>
                  <a:srgbClr val="000000"/>
                </a:solidFill>
              </a:rPr>
              <a:t>SMS</a:t>
            </a:r>
            <a:r>
              <a:rPr lang="en-US" dirty="0"/>
              <a:t>, Lambda) when they are subscribed to the </a:t>
            </a:r>
            <a:r>
              <a:rPr lang="en-US" dirty="0">
                <a:solidFill>
                  <a:srgbClr val="000000"/>
                </a:solidFill>
              </a:rPr>
              <a:t>topic</a:t>
            </a:r>
            <a:r>
              <a:rPr lang="en-US" dirty="0"/>
              <a:t>. </a:t>
            </a:r>
            <a:endParaRPr lang="en-US" u="sng" dirty="0">
              <a:cs typeface="Arial" panose="020B0604020202020204" pitchFamily="34" charset="0"/>
            </a:endParaRPr>
          </a:p>
          <a:p>
            <a:pPr>
              <a:spcBef>
                <a:spcPts val="600"/>
              </a:spcBef>
            </a:pPr>
            <a:r>
              <a:rPr lang="en-US" b="1" u="none" dirty="0">
                <a:cs typeface="Arial" panose="020B0604020202020204" pitchFamily="34" charset="0"/>
              </a:rPr>
              <a:t>Mobile</a:t>
            </a:r>
            <a:r>
              <a:rPr lang="en-US" b="1" u="none" baseline="0" dirty="0">
                <a:cs typeface="Arial" panose="020B0604020202020204" pitchFamily="34" charset="0"/>
              </a:rPr>
              <a:t> Push Messaging</a:t>
            </a:r>
            <a:r>
              <a:rPr lang="en-US" b="1" dirty="0">
                <a:cs typeface="Arial" panose="020B0604020202020204" pitchFamily="34" charset="0"/>
              </a:rPr>
              <a:t/>
            </a:r>
            <a:br>
              <a:rPr lang="en-US" b="1" dirty="0">
                <a:cs typeface="Arial" panose="020B0604020202020204" pitchFamily="34" charset="0"/>
              </a:rPr>
            </a:br>
            <a:r>
              <a:rPr lang="en-US" dirty="0">
                <a:cs typeface="Arial" panose="020B0604020202020204" pitchFamily="34" charset="0"/>
              </a:rPr>
              <a:t>Amazon SNS lets you push messages to mobile devices or distributed services via API or an easy-to-use AWS M</a:t>
            </a:r>
            <a:r>
              <a:rPr lang="en-US" dirty="0">
                <a:solidFill>
                  <a:srgbClr val="000000"/>
                </a:solidFill>
                <a:cs typeface="Arial" panose="020B0604020202020204" pitchFamily="34" charset="0"/>
              </a:rPr>
              <a:t>anagement Console</a:t>
            </a:r>
            <a:r>
              <a:rPr lang="en-US" dirty="0">
                <a:cs typeface="Arial" panose="020B0604020202020204" pitchFamily="34" charset="0"/>
              </a:rPr>
              <a:t>. You can seamlessly scale from a handful of messages </a:t>
            </a:r>
            <a:r>
              <a:rPr lang="en-US" dirty="0">
                <a:solidFill>
                  <a:srgbClr val="000000"/>
                </a:solidFill>
                <a:cs typeface="Arial" panose="020B0604020202020204" pitchFamily="34" charset="0"/>
              </a:rPr>
              <a:t>per</a:t>
            </a:r>
            <a:r>
              <a:rPr lang="en-US" dirty="0">
                <a:cs typeface="Arial" panose="020B0604020202020204" pitchFamily="34" charset="0"/>
              </a:rPr>
              <a:t> day to millions of messages or more.</a:t>
            </a:r>
          </a:p>
          <a:p>
            <a:pPr>
              <a:spcBef>
                <a:spcPts val="600"/>
              </a:spcBef>
            </a:pPr>
            <a:r>
              <a:rPr lang="en-US" dirty="0">
                <a:solidFill>
                  <a:srgbClr val="000000"/>
                </a:solidFill>
                <a:cs typeface="Arial" panose="020B0604020202020204" pitchFamily="34" charset="0"/>
              </a:rPr>
              <a:t>With Amazon SNS,</a:t>
            </a:r>
            <a:r>
              <a:rPr lang="en-US" dirty="0">
                <a:cs typeface="Arial" panose="020B0604020202020204" pitchFamily="34" charset="0"/>
              </a:rPr>
              <a:t> you can publish a message once and deliver it one or more times. So you can </a:t>
            </a:r>
            <a:r>
              <a:rPr lang="en-US" dirty="0">
                <a:solidFill>
                  <a:srgbClr val="000000"/>
                </a:solidFill>
                <a:cs typeface="Arial" panose="020B0604020202020204" pitchFamily="34" charset="0"/>
              </a:rPr>
              <a:t>choose</a:t>
            </a:r>
            <a:r>
              <a:rPr lang="en-US" dirty="0">
                <a:cs typeface="Arial" panose="020B0604020202020204" pitchFamily="34" charset="0"/>
              </a:rPr>
              <a:t> to direct unique messages to individual Apple, Google or Amazon devices, or broadcast deliveries to many mobile devices with a single publish request.</a:t>
            </a:r>
          </a:p>
          <a:p>
            <a:pPr>
              <a:spcBef>
                <a:spcPts val="600"/>
              </a:spcBef>
            </a:pPr>
            <a:r>
              <a:rPr lang="en-US" dirty="0">
                <a:cs typeface="Arial" panose="020B0604020202020204" pitchFamily="34" charset="0"/>
              </a:rPr>
              <a:t>Amazon SNS </a:t>
            </a:r>
            <a:r>
              <a:rPr lang="en-US" dirty="0">
                <a:solidFill>
                  <a:srgbClr val="000000"/>
                </a:solidFill>
                <a:cs typeface="Arial" panose="020B0604020202020204" pitchFamily="34" charset="0"/>
              </a:rPr>
              <a:t>allows</a:t>
            </a:r>
            <a:r>
              <a:rPr lang="en-US" dirty="0">
                <a:cs typeface="Arial" panose="020B0604020202020204" pitchFamily="34" charset="0"/>
              </a:rPr>
              <a:t> you to group multiple recipients using topics. A topic is an “access point” for </a:t>
            </a:r>
            <a:r>
              <a:rPr lang="en-US" dirty="0">
                <a:solidFill>
                  <a:srgbClr val="000000"/>
                </a:solidFill>
                <a:cs typeface="Arial" panose="020B0604020202020204" pitchFamily="34" charset="0"/>
              </a:rPr>
              <a:t>allowing</a:t>
            </a:r>
            <a:r>
              <a:rPr lang="en-US" dirty="0">
                <a:cs typeface="Arial" panose="020B0604020202020204" pitchFamily="34" charset="0"/>
              </a:rPr>
              <a:t> recipients to dynamically subscribe for identical copies of the same notification. One topic can support deliveries to multiple endpoint </a:t>
            </a:r>
            <a:r>
              <a:rPr lang="en-US" dirty="0">
                <a:solidFill>
                  <a:srgbClr val="000000"/>
                </a:solidFill>
                <a:cs typeface="Arial" panose="020B0604020202020204" pitchFamily="34" charset="0"/>
              </a:rPr>
              <a:t>types</a:t>
            </a:r>
            <a:r>
              <a:rPr lang="en-US" dirty="0">
                <a:cs typeface="Arial" panose="020B0604020202020204" pitchFamily="34" charset="0"/>
              </a:rPr>
              <a:t>; for example, you can group together iOS, Android and </a:t>
            </a:r>
            <a:r>
              <a:rPr lang="en-US" dirty="0">
                <a:solidFill>
                  <a:srgbClr val="000000"/>
                </a:solidFill>
                <a:cs typeface="Arial" panose="020B0604020202020204" pitchFamily="34" charset="0"/>
              </a:rPr>
              <a:t>SMS</a:t>
            </a:r>
            <a:r>
              <a:rPr lang="en-US" dirty="0">
                <a:cs typeface="Arial" panose="020B0604020202020204" pitchFamily="34" charset="0"/>
              </a:rPr>
              <a:t> recipients. When you publish once to a topic, Amazon SNS delivers appropriately formatted copies of your message to each subscriber.</a:t>
            </a:r>
          </a:p>
        </p:txBody>
      </p:sp>
    </p:spTree>
    <p:extLst>
      <p:ext uri="{BB962C8B-B14F-4D97-AF65-F5344CB8AC3E}">
        <p14:creationId xmlns:p14="http://schemas.microsoft.com/office/powerpoint/2010/main" val="13299452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315747"/>
          </a:xfrm>
        </p:spPr>
        <p:txBody>
          <a:bodyPr/>
          <a:lstStyle/>
          <a:p>
            <a:r>
              <a:rPr lang="en-US" sz="1200" kern="1200" dirty="0">
                <a:solidFill>
                  <a:srgbClr val="000000"/>
                </a:solidFill>
                <a:effectLst/>
                <a:ea typeface="+mn-ea"/>
                <a:cs typeface="+mn-cs"/>
              </a:rPr>
              <a:t>To</a:t>
            </a:r>
            <a:r>
              <a:rPr lang="en-US" sz="1200" kern="1200" dirty="0">
                <a:solidFill>
                  <a:schemeClr val="tx1"/>
                </a:solidFill>
                <a:effectLst/>
                <a:ea typeface="+mn-ea"/>
                <a:cs typeface="+mn-cs"/>
              </a:rPr>
              <a:t> have Amazon SNS deliver notifications to an SQS queue, a developer should subscribe to a topic specifying “</a:t>
            </a:r>
            <a:r>
              <a:rPr lang="en-US" sz="1200" kern="1200" dirty="0">
                <a:solidFill>
                  <a:srgbClr val="000000"/>
                </a:solidFill>
                <a:effectLst/>
                <a:ea typeface="+mn-ea"/>
                <a:cs typeface="+mn-cs"/>
              </a:rPr>
              <a:t>SQS</a:t>
            </a:r>
            <a:r>
              <a:rPr lang="en-US" sz="1200" kern="1200" dirty="0">
                <a:solidFill>
                  <a:schemeClr val="tx1"/>
                </a:solidFill>
                <a:effectLst/>
                <a:ea typeface="+mn-ea"/>
                <a:cs typeface="+mn-cs"/>
              </a:rPr>
              <a:t>” as the transport and a valid SQS queue as the </a:t>
            </a:r>
            <a:r>
              <a:rPr lang="en-US" sz="1200" kern="1200" dirty="0">
                <a:solidFill>
                  <a:srgbClr val="000000"/>
                </a:solidFill>
                <a:effectLst/>
                <a:ea typeface="+mn-ea"/>
                <a:cs typeface="+mn-cs"/>
              </a:rPr>
              <a:t>endpoint</a:t>
            </a:r>
            <a:r>
              <a:rPr lang="en-US" sz="1200" kern="1200" dirty="0">
                <a:solidFill>
                  <a:schemeClr val="tx1"/>
                </a:solidFill>
                <a:effectLst/>
                <a:ea typeface="+mn-ea"/>
                <a:cs typeface="+mn-cs"/>
              </a:rPr>
              <a:t>. In order to </a:t>
            </a:r>
            <a:r>
              <a:rPr lang="en-US" sz="1200" kern="1200" dirty="0">
                <a:solidFill>
                  <a:srgbClr val="000000"/>
                </a:solidFill>
                <a:effectLst/>
                <a:ea typeface="+mn-ea"/>
                <a:cs typeface="+mn-cs"/>
              </a:rPr>
              <a:t>allow</a:t>
            </a:r>
            <a:r>
              <a:rPr lang="en-US" sz="1200" kern="1200" dirty="0">
                <a:solidFill>
                  <a:schemeClr val="tx1"/>
                </a:solidFill>
                <a:effectLst/>
                <a:ea typeface="+mn-ea"/>
                <a:cs typeface="+mn-cs"/>
              </a:rPr>
              <a:t> the SQS queue to receive notifications from Amazon SNS, the SQS queue owner must subscribe the SQS queue to the topic for Amazon SNS.  If the </a:t>
            </a:r>
            <a:r>
              <a:rPr lang="en-US" sz="1200" kern="1200" dirty="0">
                <a:solidFill>
                  <a:srgbClr val="000000"/>
                </a:solidFill>
                <a:effectLst/>
                <a:ea typeface="+mn-ea"/>
                <a:cs typeface="+mn-cs"/>
              </a:rPr>
              <a:t>user</a:t>
            </a:r>
            <a:r>
              <a:rPr lang="en-US" sz="1200" kern="1200" dirty="0">
                <a:solidFill>
                  <a:schemeClr val="tx1"/>
                </a:solidFill>
                <a:effectLst/>
                <a:ea typeface="+mn-ea"/>
                <a:cs typeface="+mn-cs"/>
              </a:rPr>
              <a:t> owns both the Amazon SNS topic being subscribed to and the SQS queue receiving the notifications, nothing further is required. Any message published to the topic </a:t>
            </a:r>
            <a:r>
              <a:rPr lang="en-US" sz="1200" kern="1200" dirty="0">
                <a:solidFill>
                  <a:srgbClr val="000000"/>
                </a:solidFill>
                <a:effectLst/>
                <a:ea typeface="+mn-ea"/>
                <a:cs typeface="+mn-cs"/>
              </a:rPr>
              <a:t>will</a:t>
            </a:r>
            <a:r>
              <a:rPr lang="en-US" sz="1200" kern="1200" dirty="0">
                <a:solidFill>
                  <a:schemeClr val="tx1"/>
                </a:solidFill>
                <a:effectLst/>
                <a:ea typeface="+mn-ea"/>
                <a:cs typeface="+mn-cs"/>
              </a:rPr>
              <a:t> automatically </a:t>
            </a:r>
            <a:r>
              <a:rPr lang="en-US" sz="1200" kern="1200" dirty="0">
                <a:solidFill>
                  <a:srgbClr val="000000"/>
                </a:solidFill>
                <a:effectLst/>
                <a:ea typeface="+mn-ea"/>
                <a:cs typeface="+mn-cs"/>
              </a:rPr>
              <a:t>be delivered</a:t>
            </a:r>
            <a:r>
              <a:rPr lang="en-US" sz="1200" kern="1200" dirty="0">
                <a:solidFill>
                  <a:schemeClr val="tx1"/>
                </a:solidFill>
                <a:effectLst/>
                <a:ea typeface="+mn-ea"/>
                <a:cs typeface="+mn-cs"/>
              </a:rPr>
              <a:t> to the specified SQS queue. If the owner of the SQS queue is not the owner of the topic, Amazon SNS </a:t>
            </a:r>
            <a:r>
              <a:rPr lang="en-US" sz="1200" kern="1200" dirty="0">
                <a:solidFill>
                  <a:srgbClr val="000000"/>
                </a:solidFill>
                <a:effectLst/>
                <a:ea typeface="+mn-ea"/>
                <a:cs typeface="+mn-cs"/>
              </a:rPr>
              <a:t>will require</a:t>
            </a:r>
            <a:r>
              <a:rPr lang="en-US" sz="1200" kern="1200" dirty="0">
                <a:solidFill>
                  <a:schemeClr val="tx1"/>
                </a:solidFill>
                <a:effectLst/>
                <a:ea typeface="+mn-ea"/>
                <a:cs typeface="+mn-cs"/>
              </a:rPr>
              <a:t> an explicit confirmation to the subscription request.</a:t>
            </a:r>
          </a:p>
          <a:p>
            <a:endParaRPr lang="en-US" sz="1200" kern="1200" dirty="0">
              <a:solidFill>
                <a:schemeClr val="tx1"/>
              </a:solidFill>
              <a:effectLst/>
              <a:ea typeface="+mn-ea"/>
              <a:cs typeface="+mn-cs"/>
            </a:endParaRPr>
          </a:p>
          <a:p>
            <a:r>
              <a:rPr lang="en-US" sz="1200" kern="1200" dirty="0">
                <a:solidFill>
                  <a:schemeClr val="tx1"/>
                </a:solidFill>
                <a:effectLst/>
                <a:ea typeface="+mn-ea"/>
                <a:cs typeface="+mn-cs"/>
              </a:rPr>
              <a:t>The slide illustrates an example of a </a:t>
            </a:r>
            <a:r>
              <a:rPr lang="en-US" sz="1200" i="1" kern="1200" dirty="0">
                <a:solidFill>
                  <a:schemeClr val="tx1"/>
                </a:solidFill>
                <a:effectLst/>
                <a:ea typeface="+mn-ea"/>
                <a:cs typeface="+mn-cs"/>
              </a:rPr>
              <a:t>fan-out </a:t>
            </a:r>
            <a:r>
              <a:rPr lang="en-US" sz="1200" kern="1200" dirty="0">
                <a:solidFill>
                  <a:schemeClr val="tx1"/>
                </a:solidFill>
                <a:effectLst/>
                <a:ea typeface="+mn-ea"/>
                <a:cs typeface="+mn-cs"/>
              </a:rPr>
              <a:t>scenario using </a:t>
            </a:r>
            <a:r>
              <a:rPr lang="en-US" sz="1200" kern="1200" dirty="0">
                <a:solidFill>
                  <a:srgbClr val="000000"/>
                </a:solidFill>
                <a:effectLst/>
                <a:ea typeface="+mn-ea"/>
                <a:cs typeface="+mn-cs"/>
              </a:rPr>
              <a:t>SNS</a:t>
            </a:r>
            <a:r>
              <a:rPr lang="en-US" sz="1200" kern="1200" dirty="0">
                <a:solidFill>
                  <a:schemeClr val="tx1"/>
                </a:solidFill>
                <a:effectLst/>
                <a:ea typeface="+mn-ea"/>
                <a:cs typeface="+mn-cs"/>
              </a:rPr>
              <a:t> and </a:t>
            </a:r>
            <a:r>
              <a:rPr lang="en-US" sz="1200" kern="1200" dirty="0">
                <a:solidFill>
                  <a:srgbClr val="000000"/>
                </a:solidFill>
                <a:effectLst/>
                <a:ea typeface="+mn-ea"/>
                <a:cs typeface="+mn-cs"/>
              </a:rPr>
              <a:t>SQS</a:t>
            </a:r>
            <a:r>
              <a:rPr lang="en-US" sz="1200" kern="1200" dirty="0">
                <a:solidFill>
                  <a:schemeClr val="tx1"/>
                </a:solidFill>
                <a:effectLst/>
                <a:ea typeface="+mn-ea"/>
                <a:cs typeface="+mn-cs"/>
              </a:rPr>
              <a:t>. In a </a:t>
            </a:r>
            <a:r>
              <a:rPr lang="en-US" sz="1200" i="1" kern="1200" dirty="0">
                <a:solidFill>
                  <a:schemeClr val="tx1"/>
                </a:solidFill>
                <a:effectLst/>
                <a:ea typeface="+mn-ea"/>
                <a:cs typeface="+mn-cs"/>
              </a:rPr>
              <a:t>fan-out </a:t>
            </a:r>
            <a:r>
              <a:rPr lang="en-US" sz="1200" kern="1200" dirty="0">
                <a:solidFill>
                  <a:schemeClr val="tx1"/>
                </a:solidFill>
                <a:effectLst/>
                <a:ea typeface="+mn-ea"/>
                <a:cs typeface="+mn-cs"/>
              </a:rPr>
              <a:t>scenario, an Amazon SNS message is sent to a topic and then replicated and pushed to multiple Amazon SQS queues, HTTP endpoints, or email addresses. This </a:t>
            </a:r>
            <a:r>
              <a:rPr lang="en-US" sz="1200" kern="1200" dirty="0">
                <a:solidFill>
                  <a:srgbClr val="000000"/>
                </a:solidFill>
                <a:effectLst/>
                <a:ea typeface="+mn-ea"/>
                <a:cs typeface="+mn-cs"/>
              </a:rPr>
              <a:t>allows</a:t>
            </a:r>
            <a:r>
              <a:rPr lang="en-US" sz="1200" kern="1200" dirty="0">
                <a:solidFill>
                  <a:schemeClr val="tx1"/>
                </a:solidFill>
                <a:effectLst/>
                <a:ea typeface="+mn-ea"/>
                <a:cs typeface="+mn-cs"/>
              </a:rPr>
              <a:t> for parallel asynchronous processing. For example, you could develop an </a:t>
            </a:r>
            <a:r>
              <a:rPr lang="en-US" sz="1200" kern="1200" dirty="0">
                <a:solidFill>
                  <a:srgbClr val="000000"/>
                </a:solidFill>
                <a:effectLst/>
                <a:ea typeface="+mn-ea"/>
                <a:cs typeface="+mn-cs"/>
              </a:rPr>
              <a:t>application</a:t>
            </a:r>
            <a:r>
              <a:rPr lang="en-US" sz="1200" kern="1200" dirty="0">
                <a:solidFill>
                  <a:schemeClr val="tx1"/>
                </a:solidFill>
                <a:effectLst/>
                <a:ea typeface="+mn-ea"/>
                <a:cs typeface="+mn-cs"/>
              </a:rPr>
              <a:t> that sends an Amazon SNS message to a topic whenever an order is placed for a product. Then, the Amazon SQS queues that are subscribed to that topic would receive identical notifications for the new order. </a:t>
            </a:r>
            <a:r>
              <a:rPr lang="en-US" sz="1200" kern="1200" dirty="0">
                <a:solidFill>
                  <a:srgbClr val="000000"/>
                </a:solidFill>
                <a:effectLst/>
                <a:ea typeface="+mn-ea"/>
                <a:cs typeface="+mn-cs"/>
              </a:rPr>
              <a:t>The</a:t>
            </a:r>
            <a:r>
              <a:rPr lang="en-US" sz="1200" kern="1200" dirty="0">
                <a:solidFill>
                  <a:schemeClr val="tx1"/>
                </a:solidFill>
                <a:effectLst/>
                <a:ea typeface="+mn-ea"/>
                <a:cs typeface="+mn-cs"/>
              </a:rPr>
              <a:t> Amazon EC2 server instance attached to one of the queues could handle the processing or fulfillment of the order, while the other server instance could be attached to a data warehouse for analysis of all orders </a:t>
            </a:r>
            <a:r>
              <a:rPr lang="en-US" sz="1200" kern="1200" dirty="0">
                <a:solidFill>
                  <a:srgbClr val="000000"/>
                </a:solidFill>
                <a:effectLst/>
                <a:ea typeface="+mn-ea"/>
                <a:cs typeface="+mn-cs"/>
              </a:rPr>
              <a:t>received</a:t>
            </a:r>
            <a:r>
              <a:rPr lang="en-US" sz="1200" kern="1200" dirty="0">
                <a:solidFill>
                  <a:schemeClr val="tx1"/>
                </a:solidFill>
                <a:effectLst/>
                <a:ea typeface="+mn-ea"/>
                <a:cs typeface="+mn-cs"/>
              </a:rPr>
              <a:t>.</a:t>
            </a:r>
          </a:p>
        </p:txBody>
      </p:sp>
    </p:spTree>
    <p:extLst>
      <p:ext uri="{BB962C8B-B14F-4D97-AF65-F5344CB8AC3E}">
        <p14:creationId xmlns:p14="http://schemas.microsoft.com/office/powerpoint/2010/main" val="17491505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3" y="4560571"/>
            <a:ext cx="5440678" cy="3433055"/>
          </a:xfrm>
        </p:spPr>
        <p:txBody>
          <a:bodyPr/>
          <a:lstStyle/>
          <a:p>
            <a:pPr>
              <a:spcBef>
                <a:spcPts val="600"/>
              </a:spcBef>
            </a:pPr>
            <a:r>
              <a:rPr lang="en-US" dirty="0"/>
              <a:t>By</a:t>
            </a:r>
            <a:r>
              <a:rPr lang="en-US" baseline="0" dirty="0"/>
              <a:t> default, w</a:t>
            </a:r>
            <a:r>
              <a:rPr lang="en-US" dirty="0"/>
              <a:t>hen Amazon SNS sends a message to Amazon SQS, it encodes the message as a JSON document that contains the message</a:t>
            </a:r>
            <a:r>
              <a:rPr lang="en-US" baseline="0" dirty="0"/>
              <a:t> </a:t>
            </a:r>
            <a:r>
              <a:rPr lang="en-US" baseline="0" dirty="0">
                <a:solidFill>
                  <a:srgbClr val="000000"/>
                </a:solidFill>
              </a:rPr>
              <a:t>as well as</a:t>
            </a:r>
            <a:r>
              <a:rPr lang="en-US" baseline="0" dirty="0"/>
              <a:t> metadata about the message.</a:t>
            </a:r>
          </a:p>
          <a:p>
            <a:pPr>
              <a:spcBef>
                <a:spcPts val="600"/>
              </a:spcBef>
            </a:pPr>
            <a:r>
              <a:rPr lang="en-US" baseline="0" dirty="0"/>
              <a:t>If you </a:t>
            </a:r>
            <a:r>
              <a:rPr lang="en-US" baseline="0" dirty="0">
                <a:solidFill>
                  <a:srgbClr val="000000"/>
                </a:solidFill>
              </a:rPr>
              <a:t>enable</a:t>
            </a:r>
            <a:r>
              <a:rPr lang="en-US" baseline="0" dirty="0"/>
              <a:t> </a:t>
            </a:r>
            <a:r>
              <a:rPr lang="en-US" baseline="0" dirty="0">
                <a:solidFill>
                  <a:srgbClr val="000000"/>
                </a:solidFill>
              </a:rPr>
              <a:t>raw message delivery</a:t>
            </a:r>
            <a:r>
              <a:rPr lang="en-US" baseline="0" dirty="0"/>
              <a:t> on a subscription, Amazon SNS sends messages as is without adding JSON encoding or Amazon SNS metadata. </a:t>
            </a:r>
            <a:r>
              <a:rPr lang="en-US" baseline="0" dirty="0">
                <a:solidFill>
                  <a:srgbClr val="000000"/>
                </a:solidFill>
              </a:rPr>
              <a:t>In </a:t>
            </a:r>
            <a:r>
              <a:rPr lang="en-US" baseline="0" dirty="0"/>
              <a:t>the example containing order information, the original producer sent a JSON-formatted order message to Amazon SNS. Amazon SNS then </a:t>
            </a:r>
            <a:r>
              <a:rPr lang="en-US" baseline="0" dirty="0">
                <a:solidFill>
                  <a:srgbClr val="000000"/>
                </a:solidFill>
              </a:rPr>
              <a:t>simply</a:t>
            </a:r>
            <a:r>
              <a:rPr lang="en-US" baseline="0" dirty="0"/>
              <a:t> published the message as is to subscribers without adding Amazon SNS metadata.</a:t>
            </a:r>
          </a:p>
          <a:p>
            <a:pPr>
              <a:spcBef>
                <a:spcPts val="600"/>
              </a:spcBef>
            </a:pPr>
            <a:r>
              <a:rPr lang="en-US" baseline="0" dirty="0"/>
              <a:t>For more information, see:</a:t>
            </a:r>
          </a:p>
          <a:p>
            <a:pPr marL="171450" indent="-171450">
              <a:spcBef>
                <a:spcPts val="600"/>
              </a:spcBef>
              <a:buFont typeface="Arial" panose="020B0604020202020204" pitchFamily="34" charset="0"/>
              <a:buChar char="•"/>
            </a:pPr>
            <a:r>
              <a:rPr lang="en-US" baseline="0" dirty="0"/>
              <a:t>Sending Amazon SNS Messages to Amazon </a:t>
            </a:r>
            <a:r>
              <a:rPr lang="en-US" baseline="0" dirty="0">
                <a:solidFill>
                  <a:srgbClr val="000000"/>
                </a:solidFill>
              </a:rPr>
              <a:t>SQS Queues</a:t>
            </a:r>
            <a:r>
              <a:rPr lang="en-US" baseline="0" dirty="0"/>
              <a:t>: </a:t>
            </a:r>
            <a:r>
              <a:rPr lang="en-US" dirty="0">
                <a:hlinkClick r:id="rId3"/>
              </a:rPr>
              <a:t>http://docs.aws.amazon.com/sns/latest/dg/SendMessageToSQS.html#SendMessageToSQS.test</a:t>
            </a:r>
            <a:r>
              <a:rPr lang="en-US" dirty="0"/>
              <a:t> </a:t>
            </a:r>
          </a:p>
          <a:p>
            <a:pPr marL="171450" indent="-171450">
              <a:lnSpc>
                <a:spcPct val="150000"/>
              </a:lnSpc>
              <a:buFont typeface="Arial" panose="020B0604020202020204" pitchFamily="34" charset="0"/>
              <a:buChar char="•"/>
            </a:pPr>
            <a:r>
              <a:rPr lang="en-US" dirty="0"/>
              <a:t>Raw Message </a:t>
            </a:r>
            <a:r>
              <a:rPr lang="en-US" dirty="0">
                <a:solidFill>
                  <a:srgbClr val="000000"/>
                </a:solidFill>
              </a:rPr>
              <a:t>Delivery</a:t>
            </a:r>
            <a:r>
              <a:rPr lang="en-US" dirty="0"/>
              <a:t>: </a:t>
            </a:r>
            <a:r>
              <a:rPr lang="en-US" dirty="0">
                <a:hlinkClick r:id="rId4"/>
              </a:rPr>
              <a:t>http://docs.aws.amazon.com/sns/latest/dg/large-payload-raw-message.html</a:t>
            </a:r>
            <a:r>
              <a:rPr lang="en-US" dirty="0"/>
              <a:t> </a:t>
            </a:r>
            <a:endParaRPr lang="en-US" baseline="0" dirty="0"/>
          </a:p>
          <a:p>
            <a:pPr>
              <a:spcBef>
                <a:spcPts val="600"/>
              </a:spcBef>
            </a:pPr>
            <a:endParaRPr lang="en-US" baseline="0" dirty="0"/>
          </a:p>
          <a:p>
            <a:pPr>
              <a:spcBef>
                <a:spcPts val="600"/>
              </a:spcBef>
            </a:pPr>
            <a:endParaRPr lang="en-US" baseline="0" dirty="0"/>
          </a:p>
          <a:p>
            <a:pPr>
              <a:spcBef>
                <a:spcPts val="600"/>
              </a:spcBef>
            </a:pPr>
            <a:endParaRPr lang="en-US" baseline="0" dirty="0"/>
          </a:p>
        </p:txBody>
      </p:sp>
    </p:spTree>
    <p:extLst>
      <p:ext uri="{BB962C8B-B14F-4D97-AF65-F5344CB8AC3E}">
        <p14:creationId xmlns:p14="http://schemas.microsoft.com/office/powerpoint/2010/main" val="16424973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600"/>
              </a:spcBef>
            </a:pPr>
            <a:r>
              <a:rPr lang="en-US" b="0" dirty="0"/>
              <a:t>The slide illustrates another example of the fan-out use case for an </a:t>
            </a:r>
            <a:r>
              <a:rPr lang="en-US" b="0" dirty="0">
                <a:solidFill>
                  <a:srgbClr val="000000"/>
                </a:solidFill>
              </a:rPr>
              <a:t>image-processing</a:t>
            </a:r>
            <a:r>
              <a:rPr lang="en-US" b="0" dirty="0"/>
              <a:t> scenario.</a:t>
            </a:r>
          </a:p>
          <a:p>
            <a:pPr>
              <a:spcBef>
                <a:spcPts val="600"/>
              </a:spcBef>
            </a:pPr>
            <a:r>
              <a:rPr lang="en-US" b="0" dirty="0"/>
              <a:t>Lambda functions are processing messages from the </a:t>
            </a:r>
            <a:r>
              <a:rPr lang="en-US" b="0" baseline="0" dirty="0">
                <a:solidFill>
                  <a:srgbClr val="000000"/>
                </a:solidFill>
              </a:rPr>
              <a:t>SQS queue</a:t>
            </a:r>
            <a:r>
              <a:rPr lang="en-US" b="0" baseline="0" dirty="0"/>
              <a:t> to generate thumbnail images, as source images are put into the </a:t>
            </a:r>
            <a:r>
              <a:rPr lang="en-US" b="0" baseline="0" dirty="0">
                <a:solidFill>
                  <a:srgbClr val="000000"/>
                </a:solidFill>
              </a:rPr>
              <a:t>S3 bucket</a:t>
            </a:r>
            <a:r>
              <a:rPr lang="en-US" b="0" baseline="0" dirty="0"/>
              <a:t> for Ingest. </a:t>
            </a:r>
          </a:p>
        </p:txBody>
      </p:sp>
    </p:spTree>
    <p:extLst>
      <p:ext uri="{BB962C8B-B14F-4D97-AF65-F5344CB8AC3E}">
        <p14:creationId xmlns:p14="http://schemas.microsoft.com/office/powerpoint/2010/main" val="18588484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3" y="4560571"/>
            <a:ext cx="5440678" cy="3348989"/>
          </a:xfrm>
        </p:spPr>
        <p:txBody>
          <a:bodyPr/>
          <a:lstStyle/>
          <a:p>
            <a:pPr>
              <a:spcBef>
                <a:spcPts val="600"/>
              </a:spcBef>
            </a:pPr>
            <a:r>
              <a:rPr lang="en-US" dirty="0">
                <a:latin typeface="Arial" panose="020B0604020202020204" pitchFamily="34" charset="0"/>
                <a:cs typeface="Arial" panose="020B0604020202020204" pitchFamily="34" charset="0"/>
              </a:rPr>
              <a:t>The </a:t>
            </a:r>
            <a:r>
              <a:rPr lang="en-US" dirty="0">
                <a:latin typeface="Lucida Console" panose="020B0609040504020204" pitchFamily="49" charset="0"/>
                <a:cs typeface="Courier New" panose="02070309020205020404" pitchFamily="49" charset="0"/>
              </a:rPr>
              <a:t>CreateTopic</a:t>
            </a:r>
            <a:r>
              <a:rPr lang="en-US" dirty="0"/>
              <a:t> request creates a topic to which notifications can be published. </a:t>
            </a:r>
            <a:r>
              <a:rPr lang="en-US" dirty="0">
                <a:solidFill>
                  <a:srgbClr val="000000"/>
                </a:solidFill>
              </a:rPr>
              <a:t>Users</a:t>
            </a:r>
            <a:r>
              <a:rPr lang="en-US" dirty="0"/>
              <a:t> can create a maximum of 3000 topics. This </a:t>
            </a:r>
            <a:r>
              <a:rPr lang="en-US" dirty="0">
                <a:solidFill>
                  <a:srgbClr val="000000"/>
                </a:solidFill>
              </a:rPr>
              <a:t>action</a:t>
            </a:r>
            <a:r>
              <a:rPr lang="en-US" dirty="0"/>
              <a:t> is idempotent, so if the requester already owns a topic with the specified name, that topic's ARN is returned without creating a new topic. The response from the </a:t>
            </a:r>
            <a:r>
              <a:rPr lang="en-US" dirty="0">
                <a:latin typeface="Lucida Console" panose="020B0609040504020204" pitchFamily="49" charset="0"/>
                <a:cs typeface="Courier New" panose="02070309020205020404" pitchFamily="49" charset="0"/>
              </a:rPr>
              <a:t>CreateTopic</a:t>
            </a:r>
            <a:r>
              <a:rPr lang="en-US" dirty="0"/>
              <a:t> request contains the Amazon Resource Name (ARN) of the created topic.</a:t>
            </a:r>
          </a:p>
          <a:p>
            <a:pPr>
              <a:spcBef>
                <a:spcPts val="600"/>
              </a:spcBef>
            </a:pPr>
            <a:r>
              <a:rPr lang="en-US" dirty="0">
                <a:latin typeface="Arial" panose="020B0604020202020204" pitchFamily="34" charset="0"/>
                <a:cs typeface="Arial" panose="020B0604020202020204" pitchFamily="34" charset="0"/>
              </a:rPr>
              <a:t>The </a:t>
            </a:r>
            <a:r>
              <a:rPr lang="en-US" dirty="0">
                <a:latin typeface="Lucida Console" panose="020B0609040504020204" pitchFamily="49" charset="0"/>
                <a:cs typeface="Courier New" panose="02070309020205020404" pitchFamily="49" charset="0"/>
              </a:rPr>
              <a:t>Subscribe</a:t>
            </a:r>
            <a:r>
              <a:rPr lang="en-US" dirty="0"/>
              <a:t> request prepares to subscribe an endpoint by sending the endpoint a confirmation message. To actually create a subscription, the endpoint owner must call the </a:t>
            </a:r>
            <a:r>
              <a:rPr lang="en-US" dirty="0" err="1">
                <a:latin typeface="Lucida Console" panose="020B0609040504020204" pitchFamily="49" charset="0"/>
                <a:cs typeface="Courier New" panose="02070309020205020404" pitchFamily="49" charset="0"/>
              </a:rPr>
              <a:t>ConfirmSubscription</a:t>
            </a:r>
            <a:r>
              <a:rPr lang="en-US" dirty="0"/>
              <a:t> </a:t>
            </a:r>
            <a:r>
              <a:rPr lang="en-US" dirty="0">
                <a:solidFill>
                  <a:srgbClr val="000000"/>
                </a:solidFill>
              </a:rPr>
              <a:t>action</a:t>
            </a:r>
            <a:r>
              <a:rPr lang="en-US" dirty="0"/>
              <a:t> with the token from the confirmation message. Confirmation tokens are valid for three days. The response of the </a:t>
            </a:r>
            <a:r>
              <a:rPr lang="en-US" dirty="0">
                <a:latin typeface="Lucida Console" panose="020B0609040504020204" pitchFamily="49" charset="0"/>
                <a:cs typeface="Courier New" panose="02070309020205020404" pitchFamily="49" charset="0"/>
              </a:rPr>
              <a:t>Subscribe</a:t>
            </a:r>
            <a:r>
              <a:rPr lang="en-US" dirty="0"/>
              <a:t> request includes the ARN of the subscription, </a:t>
            </a:r>
            <a:r>
              <a:rPr lang="en-US" dirty="0">
                <a:solidFill>
                  <a:srgbClr val="000000"/>
                </a:solidFill>
              </a:rPr>
              <a:t>if</a:t>
            </a:r>
            <a:r>
              <a:rPr lang="en-US" dirty="0"/>
              <a:t> the service was able to create a subscription immediately (without requiring </a:t>
            </a:r>
            <a:r>
              <a:rPr lang="en-US" dirty="0">
                <a:solidFill>
                  <a:srgbClr val="000000"/>
                </a:solidFill>
              </a:rPr>
              <a:t>endpoint owner confirmation</a:t>
            </a:r>
            <a:r>
              <a:rPr lang="en-US" dirty="0"/>
              <a:t>).</a:t>
            </a:r>
          </a:p>
          <a:p>
            <a:pPr>
              <a:spcBef>
                <a:spcPts val="600"/>
              </a:spcBef>
            </a:pPr>
            <a:r>
              <a:rPr lang="en-US" dirty="0">
                <a:latin typeface="Arial" panose="020B0604020202020204" pitchFamily="34" charset="0"/>
                <a:cs typeface="Arial" panose="020B0604020202020204" pitchFamily="34" charset="0"/>
              </a:rPr>
              <a:t>The </a:t>
            </a:r>
            <a:r>
              <a:rPr lang="en-US" dirty="0">
                <a:latin typeface="Lucida Console" panose="020B0609040504020204" pitchFamily="49" charset="0"/>
                <a:cs typeface="Courier New" panose="02070309020205020404" pitchFamily="49" charset="0"/>
              </a:rPr>
              <a:t>ConfirmSubscription</a:t>
            </a:r>
            <a:r>
              <a:rPr lang="en-US" dirty="0"/>
              <a:t> request verifies an endpoint owner's intent to receive messages by validating the token sent to the endpoint by an earlier </a:t>
            </a:r>
            <a:r>
              <a:rPr lang="en-US" dirty="0">
                <a:latin typeface="Courier New" panose="02070309020205020404" pitchFamily="49" charset="0"/>
                <a:cs typeface="Courier New" panose="02070309020205020404" pitchFamily="49" charset="0"/>
              </a:rPr>
              <a:t>Subscribe</a:t>
            </a:r>
            <a:r>
              <a:rPr lang="en-US" dirty="0"/>
              <a:t> </a:t>
            </a:r>
            <a:r>
              <a:rPr lang="en-US" dirty="0">
                <a:solidFill>
                  <a:srgbClr val="000000"/>
                </a:solidFill>
              </a:rPr>
              <a:t>action</a:t>
            </a:r>
            <a:r>
              <a:rPr lang="en-US" dirty="0"/>
              <a:t>. If the token is valid, the </a:t>
            </a:r>
            <a:r>
              <a:rPr lang="en-US" dirty="0">
                <a:solidFill>
                  <a:srgbClr val="000000"/>
                </a:solidFill>
              </a:rPr>
              <a:t>action</a:t>
            </a:r>
            <a:r>
              <a:rPr lang="en-US" dirty="0"/>
              <a:t> creates a new subscription and returns its ARN. This call requires an AWS signature only when the </a:t>
            </a:r>
            <a:r>
              <a:rPr lang="en-US" dirty="0">
                <a:latin typeface="Lucida Console" panose="020B0609040504020204" pitchFamily="49" charset="0"/>
                <a:cs typeface="Courier New" panose="02070309020205020404" pitchFamily="49" charset="0"/>
              </a:rPr>
              <a:t>AuthenticateOnUnsubscribe</a:t>
            </a:r>
            <a:r>
              <a:rPr lang="en-US" dirty="0"/>
              <a:t> flag is set to "true</a:t>
            </a:r>
            <a:r>
              <a:rPr lang="en-US" dirty="0">
                <a:solidFill>
                  <a:srgbClr val="000000"/>
                </a:solidFill>
              </a:rPr>
              <a:t>“.</a:t>
            </a:r>
            <a:endParaRPr lang="en-US" dirty="0"/>
          </a:p>
          <a:p>
            <a:pPr>
              <a:spcBef>
                <a:spcPts val="600"/>
              </a:spcBef>
              <a:defRPr/>
            </a:pPr>
            <a:r>
              <a:rPr lang="en-US" dirty="0">
                <a:latin typeface="Arial" panose="020B0604020202020204" pitchFamily="34" charset="0"/>
                <a:cs typeface="Arial" panose="020B0604020202020204" pitchFamily="34" charset="0"/>
              </a:rPr>
              <a:t>The </a:t>
            </a:r>
            <a:r>
              <a:rPr lang="en-US" dirty="0">
                <a:latin typeface="Lucida Console" panose="020B0609040504020204" pitchFamily="49" charset="0"/>
                <a:cs typeface="Courier New" panose="02070309020205020404" pitchFamily="49" charset="0"/>
              </a:rPr>
              <a:t>DeleteTopic</a:t>
            </a:r>
            <a:r>
              <a:rPr lang="en-US" dirty="0"/>
              <a:t> request deletes a topic and all its subscriptions. Deleting a topic might prevent some messages previously sent to the topic from being delivered to subscribers. This </a:t>
            </a:r>
            <a:r>
              <a:rPr lang="en-US" dirty="0">
                <a:solidFill>
                  <a:srgbClr val="000000"/>
                </a:solidFill>
              </a:rPr>
              <a:t>action</a:t>
            </a:r>
            <a:r>
              <a:rPr lang="en-US" dirty="0"/>
              <a:t> is idempotent, so deleting a topic that </a:t>
            </a:r>
            <a:r>
              <a:rPr lang="en-US" dirty="0">
                <a:solidFill>
                  <a:srgbClr val="000000"/>
                </a:solidFill>
              </a:rPr>
              <a:t>does not</a:t>
            </a:r>
            <a:r>
              <a:rPr lang="en-US" dirty="0"/>
              <a:t> exist </a:t>
            </a:r>
            <a:r>
              <a:rPr lang="en-US" dirty="0">
                <a:solidFill>
                  <a:srgbClr val="000000"/>
                </a:solidFill>
              </a:rPr>
              <a:t>does not</a:t>
            </a:r>
            <a:r>
              <a:rPr lang="en-US" dirty="0"/>
              <a:t> result in an error.</a:t>
            </a:r>
            <a:endParaRPr lang="en-US" dirty="0">
              <a:latin typeface="Courier New" panose="02070309020205020404" pitchFamily="49" charset="0"/>
              <a:cs typeface="Courier New" panose="02070309020205020404" pitchFamily="49" charset="0"/>
            </a:endParaRPr>
          </a:p>
          <a:p>
            <a:pPr>
              <a:spcBef>
                <a:spcPts val="600"/>
              </a:spcBef>
            </a:pPr>
            <a:r>
              <a:rPr lang="en-US" dirty="0">
                <a:latin typeface="Lucida Console" panose="020B0609040504020204" pitchFamily="49" charset="0"/>
                <a:cs typeface="Courier New" panose="02070309020205020404" pitchFamily="49" charset="0"/>
              </a:rPr>
              <a:t>Publish</a:t>
            </a:r>
            <a:r>
              <a:rPr lang="en-US" dirty="0"/>
              <a:t> sends a message to all of a topic's subscribed endpoints. When a </a:t>
            </a:r>
            <a:r>
              <a:rPr lang="en-US" dirty="0" err="1">
                <a:latin typeface="Lucida Console" panose="020B0609040504020204" pitchFamily="49" charset="0"/>
                <a:cs typeface="Courier New" panose="02070309020205020404" pitchFamily="49" charset="0"/>
              </a:rPr>
              <a:t>messageId</a:t>
            </a:r>
            <a:r>
              <a:rPr lang="en-US" dirty="0"/>
              <a:t> is returned, the message has been saved and Amazon SNS </a:t>
            </a:r>
            <a:r>
              <a:rPr lang="en-US" dirty="0">
                <a:solidFill>
                  <a:srgbClr val="000000"/>
                </a:solidFill>
              </a:rPr>
              <a:t>will attempt</a:t>
            </a:r>
            <a:r>
              <a:rPr lang="en-US" dirty="0"/>
              <a:t> to deliver it to the topic's subscribers shortly. The format of the outgoing message to each subscribed endpoint depends on the notification protocol </a:t>
            </a:r>
            <a:r>
              <a:rPr lang="en-US" dirty="0">
                <a:solidFill>
                  <a:srgbClr val="000000"/>
                </a:solidFill>
              </a:rPr>
              <a:t>selected</a:t>
            </a:r>
            <a:r>
              <a:rPr lang="en-US" dirty="0" smtClean="0"/>
              <a:t>.</a:t>
            </a:r>
            <a:endParaRPr lang="en-US" dirty="0"/>
          </a:p>
          <a:p>
            <a:pPr>
              <a:spcBef>
                <a:spcPts val="600"/>
              </a:spcBef>
            </a:pPr>
            <a:r>
              <a:rPr lang="en-US" dirty="0"/>
              <a:t>For a complete list of </a:t>
            </a:r>
            <a:r>
              <a:rPr lang="en-US" dirty="0">
                <a:solidFill>
                  <a:srgbClr val="000000"/>
                </a:solidFill>
              </a:rPr>
              <a:t>actions</a:t>
            </a:r>
            <a:r>
              <a:rPr lang="en-US" dirty="0"/>
              <a:t>, see </a:t>
            </a:r>
            <a:r>
              <a:rPr lang="en-US" dirty="0">
                <a:hlinkClick r:id="rId3"/>
              </a:rPr>
              <a:t>http://docs.aws.amazon.com/sns/latest/api/API_Operations.html</a:t>
            </a:r>
            <a:r>
              <a:rPr lang="en-US" dirty="0"/>
              <a:t>.</a:t>
            </a:r>
          </a:p>
          <a:p>
            <a:pPr>
              <a:spcBef>
                <a:spcPts val="600"/>
              </a:spcBef>
            </a:pPr>
            <a:endParaRPr lang="en-US" dirty="0"/>
          </a:p>
        </p:txBody>
      </p:sp>
    </p:spTree>
    <p:extLst>
      <p:ext uri="{BB962C8B-B14F-4D97-AF65-F5344CB8AC3E}">
        <p14:creationId xmlns:p14="http://schemas.microsoft.com/office/powerpoint/2010/main" val="18413218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4023360"/>
          </a:xfrm>
        </p:spPr>
        <p:txBody>
          <a:bodyPr/>
          <a:lstStyle/>
          <a:p>
            <a:r>
              <a:rPr lang="en-US" dirty="0"/>
              <a:t>Amazon SNS and AWS Lambda are integrated so you can invoke Lambda functions with Amazon SNS notifications. When a message is published to an SNS topic that has a Lambda function subscribed to it, the Lambda function is invoked with the payload of the published message. </a:t>
            </a:r>
            <a:r>
              <a:rPr lang="en-US" dirty="0">
                <a:solidFill>
                  <a:srgbClr val="000000"/>
                </a:solidFill>
              </a:rPr>
              <a:t>The</a:t>
            </a:r>
            <a:r>
              <a:rPr lang="en-US" dirty="0"/>
              <a:t> Lambda function receives the message payload as an input parameter and can manipulate the information in the message, publish the message to other SNS topics, or send the message to other AWS </a:t>
            </a:r>
            <a:r>
              <a:rPr lang="en-US" dirty="0">
                <a:solidFill>
                  <a:srgbClr val="000000"/>
                </a:solidFill>
              </a:rPr>
              <a:t>services</a:t>
            </a:r>
            <a:r>
              <a:rPr lang="en-US" dirty="0"/>
              <a:t>. </a:t>
            </a:r>
          </a:p>
          <a:p>
            <a:endParaRPr lang="en-US" dirty="0"/>
          </a:p>
          <a:p>
            <a:r>
              <a:rPr lang="en-US" dirty="0"/>
              <a:t>By default, a subscriber of an Amazon SNS topic receives every message published to the topic. To receive only a subset of the messages, a subscriber assigns a </a:t>
            </a:r>
            <a:r>
              <a:rPr lang="en-US" i="1" dirty="0"/>
              <a:t>filter policy</a:t>
            </a:r>
            <a:r>
              <a:rPr lang="en-US" dirty="0"/>
              <a:t> to the topic subscription. This feature simplifies the pub/sub messaging architecture by offloading the filtering logic from subscribers, </a:t>
            </a:r>
            <a:r>
              <a:rPr lang="en-US" dirty="0">
                <a:solidFill>
                  <a:srgbClr val="000000"/>
                </a:solidFill>
              </a:rPr>
              <a:t>as well as</a:t>
            </a:r>
            <a:r>
              <a:rPr lang="en-US" dirty="0"/>
              <a:t> the routing logic from publishers, to </a:t>
            </a:r>
            <a:r>
              <a:rPr lang="en-US" dirty="0">
                <a:solidFill>
                  <a:srgbClr val="000000"/>
                </a:solidFill>
              </a:rPr>
              <a:t>SNS</a:t>
            </a:r>
            <a:r>
              <a:rPr lang="en-US" dirty="0"/>
              <a:t>.</a:t>
            </a:r>
          </a:p>
          <a:p>
            <a:endParaRPr lang="en-US" dirty="0"/>
          </a:p>
          <a:p>
            <a:r>
              <a:rPr lang="en-US" dirty="0"/>
              <a:t>Amazon SNS message filtering now supports both numeric and string matching. Specifically, string matching operators </a:t>
            </a:r>
            <a:r>
              <a:rPr lang="en-US" dirty="0">
                <a:solidFill>
                  <a:srgbClr val="000000"/>
                </a:solidFill>
              </a:rPr>
              <a:t>allow</a:t>
            </a:r>
            <a:r>
              <a:rPr lang="en-US" dirty="0"/>
              <a:t> for exact, prefix, and “anything-but” comparisons, while numeric matching operators </a:t>
            </a:r>
            <a:r>
              <a:rPr lang="en-US" dirty="0">
                <a:solidFill>
                  <a:srgbClr val="000000"/>
                </a:solidFill>
              </a:rPr>
              <a:t>allow</a:t>
            </a:r>
            <a:r>
              <a:rPr lang="en-US" dirty="0"/>
              <a:t> for exact and range comparisons. You can </a:t>
            </a:r>
            <a:r>
              <a:rPr lang="en-US" dirty="0">
                <a:solidFill>
                  <a:srgbClr val="000000"/>
                </a:solidFill>
              </a:rPr>
              <a:t>leverage</a:t>
            </a:r>
            <a:r>
              <a:rPr lang="en-US" dirty="0"/>
              <a:t> this new set of operators to further simplify pub/sub messaging architectures by offloading to </a:t>
            </a:r>
            <a:r>
              <a:rPr lang="en-US" dirty="0">
                <a:solidFill>
                  <a:srgbClr val="000000"/>
                </a:solidFill>
              </a:rPr>
              <a:t>SNS message</a:t>
            </a:r>
            <a:r>
              <a:rPr lang="en-US" dirty="0"/>
              <a:t> filtering logic from subscribers, </a:t>
            </a:r>
            <a:r>
              <a:rPr lang="en-US" dirty="0">
                <a:solidFill>
                  <a:srgbClr val="000000"/>
                </a:solidFill>
              </a:rPr>
              <a:t>as well as</a:t>
            </a:r>
            <a:r>
              <a:rPr lang="en-US" dirty="0"/>
              <a:t> </a:t>
            </a:r>
            <a:r>
              <a:rPr lang="en-US" dirty="0">
                <a:solidFill>
                  <a:srgbClr val="000000"/>
                </a:solidFill>
              </a:rPr>
              <a:t>routing logic</a:t>
            </a:r>
            <a:r>
              <a:rPr lang="en-US" dirty="0"/>
              <a:t> from publishers.</a:t>
            </a:r>
          </a:p>
          <a:p>
            <a:r>
              <a:rPr lang="en-US" sz="1200" kern="1200" dirty="0">
                <a:solidFill>
                  <a:schemeClr val="tx1"/>
                </a:solidFill>
                <a:effectLst/>
                <a:latin typeface="+mn-lt"/>
                <a:ea typeface="+mn-ea"/>
                <a:cs typeface="+mn-cs"/>
              </a:rPr>
              <a:t>1. Create </a:t>
            </a:r>
            <a:r>
              <a:rPr lang="en-US" sz="1200" kern="1200" dirty="0">
                <a:solidFill>
                  <a:srgbClr val="000000"/>
                </a:solidFill>
                <a:effectLst/>
                <a:ea typeface="+mn-ea"/>
                <a:cs typeface="+mn-cs"/>
              </a:rPr>
              <a:t>topic</a:t>
            </a:r>
            <a:endParaRPr lang="en-US" sz="1200" kern="1200" dirty="0">
              <a:solidFill>
                <a:srgbClr val="000000"/>
              </a:solidFill>
              <a:effectLst/>
              <a:latin typeface="Calibri" panose="020F0502020204030204" pitchFamily="34" charset="0"/>
              <a:ea typeface="+mn-ea"/>
              <a:cs typeface="+mn-cs"/>
            </a:endParaRPr>
          </a:p>
          <a:p>
            <a:r>
              <a:rPr lang="en-US" sz="1200" kern="1200" dirty="0">
                <a:solidFill>
                  <a:schemeClr val="tx1"/>
                </a:solidFill>
                <a:effectLst/>
                <a:latin typeface="+mn-lt"/>
                <a:ea typeface="+mn-ea"/>
                <a:cs typeface="+mn-cs"/>
              </a:rPr>
              <a:t>2. Assigns a filter policy to the topic </a:t>
            </a:r>
            <a:r>
              <a:rPr lang="en-US" sz="1200" kern="1200" dirty="0">
                <a:solidFill>
                  <a:srgbClr val="000000"/>
                </a:solidFill>
                <a:effectLst/>
                <a:ea typeface="+mn-ea"/>
                <a:cs typeface="+mn-cs"/>
              </a:rPr>
              <a:t>subscription</a:t>
            </a:r>
            <a:endParaRPr lang="en-US" sz="1200" kern="1200" dirty="0">
              <a:solidFill>
                <a:srgbClr val="000000"/>
              </a:solidFill>
              <a:effectLst/>
              <a:latin typeface="Calibri" panose="020F0502020204030204" pitchFamily="34" charset="0"/>
              <a:ea typeface="+mn-ea"/>
              <a:cs typeface="+mn-cs"/>
            </a:endParaRPr>
          </a:p>
          <a:p>
            <a:endParaRPr lang="en-US" dirty="0"/>
          </a:p>
        </p:txBody>
      </p:sp>
    </p:spTree>
    <p:extLst>
      <p:ext uri="{BB962C8B-B14F-4D97-AF65-F5344CB8AC3E}">
        <p14:creationId xmlns:p14="http://schemas.microsoft.com/office/powerpoint/2010/main" val="18707709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165841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attribute “</a:t>
            </a:r>
            <a:r>
              <a:rPr lang="en-US" dirty="0">
                <a:latin typeface="Lucida Console" panose="020B0609040504020204" pitchFamily="49" charset="0"/>
              </a:rPr>
              <a:t>event_type</a:t>
            </a:r>
            <a:r>
              <a:rPr lang="en-US" dirty="0"/>
              <a:t>” with the value “</a:t>
            </a:r>
            <a:r>
              <a:rPr lang="en-US" dirty="0">
                <a:latin typeface="Lucida Console" panose="020B0609040504020204" pitchFamily="49" charset="0"/>
              </a:rPr>
              <a:t>product_page_visited</a:t>
            </a:r>
            <a:r>
              <a:rPr lang="en-US" dirty="0"/>
              <a:t>” matches only the filter policy associated with the search engine subscription. Therefore, only the Lambda function subscribed to the SNS topic is notified about this navigation event.</a:t>
            </a:r>
          </a:p>
        </p:txBody>
      </p:sp>
    </p:spTree>
    <p:extLst>
      <p:ext uri="{BB962C8B-B14F-4D97-AF65-F5344CB8AC3E}">
        <p14:creationId xmlns:p14="http://schemas.microsoft.com/office/powerpoint/2010/main" val="32216082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600"/>
              </a:spcBef>
            </a:pPr>
            <a:r>
              <a:rPr lang="en-US" dirty="0"/>
              <a:t>For more information, s</a:t>
            </a:r>
            <a:r>
              <a:rPr lang="en-US" sz="1200" b="0" i="0" kern="1200" dirty="0">
                <a:solidFill>
                  <a:schemeClr val="tx1"/>
                </a:solidFill>
                <a:effectLst/>
                <a:latin typeface="Arial"/>
                <a:ea typeface="+mn-ea"/>
                <a:cs typeface="+mn-cs"/>
              </a:rPr>
              <a:t>ee </a:t>
            </a:r>
            <a:r>
              <a:rPr lang="en-US" dirty="0">
                <a:hlinkClick r:id="rId3"/>
              </a:rPr>
              <a:t>https://aws.amazon.com/sns/faqs/</a:t>
            </a:r>
            <a:r>
              <a:rPr lang="en-US" dirty="0"/>
              <a:t>.</a:t>
            </a:r>
            <a:endParaRPr lang="en-US" sz="1200" b="0" i="0" kern="1200" dirty="0">
              <a:solidFill>
                <a:schemeClr val="tx1"/>
              </a:solidFill>
              <a:effectLst/>
              <a:latin typeface="Arial"/>
              <a:ea typeface="+mn-ea"/>
              <a:cs typeface="+mn-cs"/>
            </a:endParaRPr>
          </a:p>
        </p:txBody>
      </p:sp>
    </p:spTree>
    <p:extLst>
      <p:ext uri="{BB962C8B-B14F-4D97-AF65-F5344CB8AC3E}">
        <p14:creationId xmlns:p14="http://schemas.microsoft.com/office/powerpoint/2010/main" val="14330402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600"/>
              </a:spcBef>
            </a:pPr>
            <a:r>
              <a:rPr lang="en-US" dirty="0"/>
              <a:t>Amazon SNS supports other protocols beside email. You can use HTTP, HTTPS, and Amazon SQS queues. You have </a:t>
            </a:r>
            <a:r>
              <a:rPr lang="en-US" dirty="0">
                <a:solidFill>
                  <a:srgbClr val="000000"/>
                </a:solidFill>
              </a:rPr>
              <a:t>detailed control</a:t>
            </a:r>
            <a:r>
              <a:rPr lang="en-US" dirty="0"/>
              <a:t> over which endpoints a topic </a:t>
            </a:r>
            <a:r>
              <a:rPr lang="en-US" dirty="0">
                <a:solidFill>
                  <a:srgbClr val="000000"/>
                </a:solidFill>
              </a:rPr>
              <a:t>allows</a:t>
            </a:r>
            <a:r>
              <a:rPr lang="en-US" dirty="0"/>
              <a:t>, who is able to publish to a topic, and under what conditions.</a:t>
            </a:r>
          </a:p>
          <a:p>
            <a:pPr>
              <a:spcBef>
                <a:spcPts val="600"/>
              </a:spcBef>
            </a:pPr>
            <a:r>
              <a:rPr lang="en-US" dirty="0">
                <a:solidFill>
                  <a:srgbClr val="000000"/>
                </a:solidFill>
              </a:rPr>
              <a:t>Amazon</a:t>
            </a:r>
            <a:r>
              <a:rPr lang="en-US" dirty="0"/>
              <a:t> SNS integrates with </a:t>
            </a:r>
            <a:r>
              <a:rPr lang="en-US" dirty="0">
                <a:solidFill>
                  <a:srgbClr val="000000"/>
                </a:solidFill>
              </a:rPr>
              <a:t>AWS Identity and Access Management</a:t>
            </a:r>
            <a:r>
              <a:rPr lang="en-US" dirty="0"/>
              <a:t> (IAM) so that you can specify which Amazon SNS </a:t>
            </a:r>
            <a:r>
              <a:rPr lang="en-US" dirty="0">
                <a:solidFill>
                  <a:srgbClr val="000000"/>
                </a:solidFill>
              </a:rPr>
              <a:t>actions</a:t>
            </a:r>
            <a:r>
              <a:rPr lang="en-US" dirty="0"/>
              <a:t> a </a:t>
            </a:r>
            <a:r>
              <a:rPr lang="en-US" dirty="0">
                <a:solidFill>
                  <a:srgbClr val="000000"/>
                </a:solidFill>
              </a:rPr>
              <a:t>user</a:t>
            </a:r>
            <a:r>
              <a:rPr lang="en-US" dirty="0"/>
              <a:t> in your AWS account can perform with Amazon SNS </a:t>
            </a:r>
            <a:r>
              <a:rPr lang="en-US" dirty="0">
                <a:solidFill>
                  <a:srgbClr val="000000"/>
                </a:solidFill>
              </a:rPr>
              <a:t>resources</a:t>
            </a:r>
            <a:r>
              <a:rPr lang="en-US" dirty="0"/>
              <a:t>. You can specify a particular topic in the policy. </a:t>
            </a:r>
            <a:r>
              <a:rPr lang="en-US" dirty="0">
                <a:solidFill>
                  <a:srgbClr val="000000"/>
                </a:solidFill>
              </a:rPr>
              <a:t>For</a:t>
            </a:r>
            <a:r>
              <a:rPr lang="en-US" dirty="0"/>
              <a:t> example, you could use variables when creating an IAM policy that gives certain </a:t>
            </a:r>
            <a:r>
              <a:rPr lang="en-US" dirty="0">
                <a:solidFill>
                  <a:srgbClr val="000000"/>
                </a:solidFill>
              </a:rPr>
              <a:t>users</a:t>
            </a:r>
            <a:r>
              <a:rPr lang="en-US" dirty="0"/>
              <a:t> in your organization permission to use the Publish </a:t>
            </a:r>
            <a:r>
              <a:rPr lang="en-US" dirty="0">
                <a:solidFill>
                  <a:srgbClr val="000000"/>
                </a:solidFill>
              </a:rPr>
              <a:t>action</a:t>
            </a:r>
            <a:r>
              <a:rPr lang="en-US" dirty="0"/>
              <a:t> with specific topics in your AWS </a:t>
            </a:r>
            <a:r>
              <a:rPr lang="en-US" dirty="0">
                <a:solidFill>
                  <a:srgbClr val="000000"/>
                </a:solidFill>
              </a:rPr>
              <a:t>account</a:t>
            </a:r>
            <a:r>
              <a:rPr lang="en-US" dirty="0"/>
              <a:t>.</a:t>
            </a:r>
          </a:p>
          <a:p>
            <a:pPr>
              <a:spcBef>
                <a:spcPts val="600"/>
              </a:spcBef>
            </a:pPr>
            <a:r>
              <a:rPr lang="en-US" dirty="0"/>
              <a:t>You use an IAM policy to restrict your </a:t>
            </a:r>
            <a:r>
              <a:rPr lang="en-US" dirty="0">
                <a:solidFill>
                  <a:srgbClr val="000000"/>
                </a:solidFill>
              </a:rPr>
              <a:t>users</a:t>
            </a:r>
            <a:r>
              <a:rPr lang="en-US" dirty="0"/>
              <a:t>' access to Amazon SNS </a:t>
            </a:r>
            <a:r>
              <a:rPr lang="en-US" dirty="0">
                <a:solidFill>
                  <a:srgbClr val="000000"/>
                </a:solidFill>
              </a:rPr>
              <a:t>actions</a:t>
            </a:r>
            <a:r>
              <a:rPr lang="en-US" dirty="0"/>
              <a:t> and topics. An IAM policy can restrict access only to </a:t>
            </a:r>
            <a:r>
              <a:rPr lang="en-US" dirty="0">
                <a:solidFill>
                  <a:srgbClr val="000000"/>
                </a:solidFill>
              </a:rPr>
              <a:t>users</a:t>
            </a:r>
            <a:r>
              <a:rPr lang="en-US" dirty="0"/>
              <a:t> within your AWS account, not to other AWS accounts.</a:t>
            </a:r>
          </a:p>
          <a:p>
            <a:pPr>
              <a:spcBef>
                <a:spcPts val="600"/>
              </a:spcBef>
            </a:pPr>
            <a:r>
              <a:rPr lang="en-US" dirty="0">
                <a:solidFill>
                  <a:srgbClr val="000000"/>
                </a:solidFill>
              </a:rPr>
              <a:t>You</a:t>
            </a:r>
            <a:r>
              <a:rPr lang="en-US" dirty="0"/>
              <a:t> use an Amazon SNS policy with a particular topic to restrict who can work with that topic (for</a:t>
            </a:r>
            <a:r>
              <a:rPr lang="en-US" baseline="0" dirty="0"/>
              <a:t> example</a:t>
            </a:r>
            <a:r>
              <a:rPr lang="en-US" dirty="0"/>
              <a:t>, who can publish messages to it, who can subscribe to </a:t>
            </a:r>
            <a:r>
              <a:rPr lang="en-US" dirty="0">
                <a:solidFill>
                  <a:srgbClr val="000000"/>
                </a:solidFill>
              </a:rPr>
              <a:t>it</a:t>
            </a:r>
            <a:r>
              <a:rPr lang="en-US" dirty="0"/>
              <a:t>). Amazon SNS policies can give access to other AWS accounts, or to </a:t>
            </a:r>
            <a:r>
              <a:rPr lang="en-US" dirty="0">
                <a:solidFill>
                  <a:srgbClr val="000000"/>
                </a:solidFill>
              </a:rPr>
              <a:t>users</a:t>
            </a:r>
            <a:r>
              <a:rPr lang="en-US" dirty="0"/>
              <a:t> within your own AWS account.</a:t>
            </a:r>
          </a:p>
          <a:p>
            <a:endParaRPr lang="en-US" dirty="0"/>
          </a:p>
        </p:txBody>
      </p:sp>
    </p:spTree>
    <p:extLst>
      <p:ext uri="{BB962C8B-B14F-4D97-AF65-F5344CB8AC3E}">
        <p14:creationId xmlns:p14="http://schemas.microsoft.com/office/powerpoint/2010/main" val="19506587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ea typeface="+mn-ea"/>
                <a:cs typeface="+mn-cs"/>
              </a:rPr>
              <a:t>Amazon SQS and Amazon SNS are both messaging services within AWS, but they provide different benefits for developers. Amazon SNS </a:t>
            </a:r>
            <a:r>
              <a:rPr lang="en-US" sz="1200" kern="1200" dirty="0">
                <a:solidFill>
                  <a:srgbClr val="000000"/>
                </a:solidFill>
                <a:effectLst/>
                <a:ea typeface="+mn-ea"/>
                <a:cs typeface="+mn-cs"/>
              </a:rPr>
              <a:t>allows</a:t>
            </a:r>
            <a:r>
              <a:rPr lang="en-US" sz="1200" kern="1200" dirty="0">
                <a:solidFill>
                  <a:schemeClr val="tx1"/>
                </a:solidFill>
                <a:effectLst/>
                <a:ea typeface="+mn-ea"/>
                <a:cs typeface="+mn-cs"/>
              </a:rPr>
              <a:t> </a:t>
            </a:r>
            <a:r>
              <a:rPr lang="en-US" sz="1200" kern="1200" dirty="0">
                <a:solidFill>
                  <a:srgbClr val="000000"/>
                </a:solidFill>
                <a:effectLst/>
                <a:ea typeface="+mn-ea"/>
                <a:cs typeface="+mn-cs"/>
              </a:rPr>
              <a:t>applications</a:t>
            </a:r>
            <a:r>
              <a:rPr lang="en-US" sz="1200" kern="1200" dirty="0">
                <a:solidFill>
                  <a:schemeClr val="tx1"/>
                </a:solidFill>
                <a:effectLst/>
                <a:ea typeface="+mn-ea"/>
                <a:cs typeface="+mn-cs"/>
              </a:rPr>
              <a:t> to send time-critical messages to multiple subscribers through a “push” mechanism, </a:t>
            </a:r>
            <a:r>
              <a:rPr lang="en-US" sz="1200" kern="1200" dirty="0">
                <a:solidFill>
                  <a:srgbClr val="000000"/>
                </a:solidFill>
                <a:effectLst/>
                <a:ea typeface="+mn-ea"/>
                <a:cs typeface="+mn-cs"/>
              </a:rPr>
              <a:t>eliminating</a:t>
            </a:r>
            <a:r>
              <a:rPr lang="en-US" sz="1200" kern="1200" dirty="0">
                <a:solidFill>
                  <a:schemeClr val="tx1"/>
                </a:solidFill>
                <a:effectLst/>
                <a:ea typeface="+mn-ea"/>
                <a:cs typeface="+mn-cs"/>
              </a:rPr>
              <a:t> the need to periodically check or “poll” for updates. </a:t>
            </a:r>
            <a:endParaRPr lang="en-US" sz="1200" kern="1200" dirty="0" smtClean="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ea typeface="+mn-ea"/>
                <a:cs typeface="+mn-cs"/>
              </a:rPr>
              <a:t>Amazon </a:t>
            </a:r>
            <a:r>
              <a:rPr lang="en-US" sz="1200" kern="1200" dirty="0">
                <a:solidFill>
                  <a:schemeClr val="tx1"/>
                </a:solidFill>
                <a:effectLst/>
                <a:ea typeface="+mn-ea"/>
                <a:cs typeface="+mn-cs"/>
              </a:rPr>
              <a:t>SQS is a message queue service used by distributed </a:t>
            </a:r>
            <a:r>
              <a:rPr lang="en-US" sz="1200" kern="1200" dirty="0">
                <a:solidFill>
                  <a:srgbClr val="000000"/>
                </a:solidFill>
                <a:effectLst/>
                <a:ea typeface="+mn-ea"/>
                <a:cs typeface="+mn-cs"/>
              </a:rPr>
              <a:t>applications</a:t>
            </a:r>
            <a:r>
              <a:rPr lang="en-US" sz="1200" kern="1200" dirty="0">
                <a:solidFill>
                  <a:schemeClr val="tx1"/>
                </a:solidFill>
                <a:effectLst/>
                <a:ea typeface="+mn-ea"/>
                <a:cs typeface="+mn-cs"/>
              </a:rPr>
              <a:t> to exchange messages through a polling model, and it can be used to decouple sending and receiving components. Amazon SQS provides flexibility for distributed components of </a:t>
            </a:r>
            <a:r>
              <a:rPr lang="en-US" sz="1200" kern="1200" dirty="0">
                <a:solidFill>
                  <a:srgbClr val="000000"/>
                </a:solidFill>
                <a:effectLst/>
                <a:ea typeface="+mn-ea"/>
                <a:cs typeface="+mn-cs"/>
              </a:rPr>
              <a:t>applications</a:t>
            </a:r>
            <a:r>
              <a:rPr lang="en-US" sz="1200" kern="1200" dirty="0">
                <a:solidFill>
                  <a:schemeClr val="tx1"/>
                </a:solidFill>
                <a:effectLst/>
                <a:ea typeface="+mn-ea"/>
                <a:cs typeface="+mn-cs"/>
              </a:rPr>
              <a:t> to send and receive messages without requiring each component to be concurrently available.</a:t>
            </a:r>
          </a:p>
          <a:p>
            <a:endParaRPr lang="en-US" dirty="0"/>
          </a:p>
        </p:txBody>
      </p:sp>
    </p:spTree>
    <p:extLst>
      <p:ext uri="{BB962C8B-B14F-4D97-AF65-F5344CB8AC3E}">
        <p14:creationId xmlns:p14="http://schemas.microsoft.com/office/powerpoint/2010/main" val="31668589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20459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204913"/>
            <a:ext cx="5486400" cy="3086100"/>
          </a:xfrm>
        </p:spPr>
      </p:sp>
      <p:sp>
        <p:nvSpPr>
          <p:cNvPr id="3" name="Notes Placeholder 2"/>
          <p:cNvSpPr>
            <a:spLocks noGrp="1"/>
          </p:cNvSpPr>
          <p:nvPr>
            <p:ph type="body" idx="1"/>
          </p:nvPr>
        </p:nvSpPr>
        <p:spPr/>
        <p:txBody>
          <a:bodyPr/>
          <a:lstStyle/>
          <a:p>
            <a:r>
              <a:rPr lang="en-US" dirty="0"/>
              <a:t>Amazon MQ is a managed message broker service for Apache ActiveMQ that makes it </a:t>
            </a:r>
            <a:r>
              <a:rPr lang="en-US" dirty="0">
                <a:solidFill>
                  <a:srgbClr val="000000"/>
                </a:solidFill>
              </a:rPr>
              <a:t>easy</a:t>
            </a:r>
            <a:r>
              <a:rPr lang="en-US" dirty="0"/>
              <a:t> to set up and operate message brokers in the cloud. Message brokers </a:t>
            </a:r>
            <a:r>
              <a:rPr lang="en-US" dirty="0">
                <a:solidFill>
                  <a:srgbClr val="000000"/>
                </a:solidFill>
              </a:rPr>
              <a:t>allow</a:t>
            </a:r>
            <a:r>
              <a:rPr lang="en-US" dirty="0"/>
              <a:t> </a:t>
            </a:r>
            <a:r>
              <a:rPr lang="en-US" dirty="0">
                <a:solidFill>
                  <a:srgbClr val="000000"/>
                </a:solidFill>
              </a:rPr>
              <a:t>different software</a:t>
            </a:r>
            <a:r>
              <a:rPr lang="en-US" dirty="0"/>
              <a:t> systems–often using different programming languages, and on different platforms–to communicate and exchange information. </a:t>
            </a:r>
            <a:br>
              <a:rPr lang="en-US" dirty="0"/>
            </a:br>
            <a:r>
              <a:rPr lang="en-US" dirty="0"/>
              <a:t/>
            </a:r>
            <a:br>
              <a:rPr lang="en-US" dirty="0"/>
            </a:br>
            <a:r>
              <a:rPr lang="en-US" dirty="0"/>
              <a:t>Messaging is the communications backbone that connects and integrates the components of distributed </a:t>
            </a:r>
            <a:r>
              <a:rPr lang="en-US" dirty="0">
                <a:solidFill>
                  <a:srgbClr val="000000"/>
                </a:solidFill>
              </a:rPr>
              <a:t>applications</a:t>
            </a:r>
            <a:r>
              <a:rPr lang="en-US" dirty="0"/>
              <a:t>, such as order processing, inventory management, and order fulfillment for </a:t>
            </a:r>
            <a:r>
              <a:rPr lang="en-US" dirty="0">
                <a:solidFill>
                  <a:srgbClr val="000000"/>
                </a:solidFill>
              </a:rPr>
              <a:t>ecommerce</a:t>
            </a:r>
            <a:r>
              <a:rPr lang="en-US" dirty="0"/>
              <a:t>. Amazon MQ manages the administration and maintenance of ActiveMQ, a popular open-source message broker. The underlying infrastructure is automatically provisioned for high availability and message durability to support the reliability of your </a:t>
            </a:r>
            <a:r>
              <a:rPr lang="en-US" dirty="0">
                <a:solidFill>
                  <a:srgbClr val="000000"/>
                </a:solidFill>
              </a:rPr>
              <a:t>applications</a:t>
            </a:r>
            <a:r>
              <a:rPr lang="en-US" dirty="0"/>
              <a:t>. </a:t>
            </a:r>
            <a:br>
              <a:rPr lang="en-US" dirty="0"/>
            </a:br>
            <a:r>
              <a:rPr lang="en-US" dirty="0"/>
              <a:t/>
            </a:r>
            <a:br>
              <a:rPr lang="en-US" dirty="0"/>
            </a:br>
            <a:r>
              <a:rPr lang="en-US" dirty="0"/>
              <a:t>With Amazon MQ, you get </a:t>
            </a:r>
            <a:r>
              <a:rPr lang="en-US" dirty="0">
                <a:solidFill>
                  <a:srgbClr val="000000"/>
                </a:solidFill>
              </a:rPr>
              <a:t>direct access to the ActiveMQ console and industry standard APIs and protocols for messaging, including JMS, NMS, AMQP, STOMP, MQTT, and WebSocket</a:t>
            </a:r>
            <a:r>
              <a:rPr lang="en-US" dirty="0"/>
              <a:t>. You can easily move from any message broker that uses these standards to Amazon MQ because you don’t have to rewrite any messaging code in your </a:t>
            </a:r>
            <a:r>
              <a:rPr lang="en-US" dirty="0">
                <a:solidFill>
                  <a:srgbClr val="000000"/>
                </a:solidFill>
              </a:rPr>
              <a:t>applications</a:t>
            </a:r>
            <a:r>
              <a:rPr lang="en-US" dirty="0"/>
              <a:t>.</a:t>
            </a:r>
          </a:p>
        </p:txBody>
      </p:sp>
    </p:spTree>
    <p:extLst>
      <p:ext uri="{BB962C8B-B14F-4D97-AF65-F5344CB8AC3E}">
        <p14:creationId xmlns:p14="http://schemas.microsoft.com/office/powerpoint/2010/main" val="5086539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active/standby broker for high availability is </a:t>
            </a:r>
            <a:r>
              <a:rPr lang="en-US" dirty="0">
                <a:solidFill>
                  <a:srgbClr val="000000"/>
                </a:solidFill>
              </a:rPr>
              <a:t>comprised</a:t>
            </a:r>
            <a:r>
              <a:rPr lang="en-US" dirty="0"/>
              <a:t> of two brokers in two different Availability Zones, configured in a redundant pair. These brokers communicate synchronously with your </a:t>
            </a:r>
            <a:r>
              <a:rPr lang="en-US" dirty="0">
                <a:solidFill>
                  <a:srgbClr val="000000"/>
                </a:solidFill>
              </a:rPr>
              <a:t>application</a:t>
            </a:r>
            <a:r>
              <a:rPr lang="en-US" dirty="0"/>
              <a:t>, and with a shared storage location. By default, Amazon MQ uses Amazon Elastic File System (Amazon EFS) for broker storage. To take advantage of high durability and replication across multiple Availability Zones, use Amazon EFS. To take advantage of low latency and high throughput, use Amazon</a:t>
            </a:r>
            <a:r>
              <a:rPr lang="en-US" baseline="0" dirty="0"/>
              <a:t> Elastic Block Storage</a:t>
            </a:r>
            <a:r>
              <a:rPr lang="en-US" dirty="0"/>
              <a:t> (Amazon EBS)</a:t>
            </a:r>
          </a:p>
          <a:p>
            <a:endParaRPr lang="en-US" dirty="0"/>
          </a:p>
          <a:p>
            <a:r>
              <a:rPr lang="en-US" dirty="0"/>
              <a:t>Normally, only one of the broker instances is active at any time, while the other broker instance is on standby. </a:t>
            </a:r>
            <a:r>
              <a:rPr lang="en-US" dirty="0">
                <a:solidFill>
                  <a:srgbClr val="000000"/>
                </a:solidFill>
              </a:rPr>
              <a:t>If</a:t>
            </a:r>
            <a:r>
              <a:rPr lang="en-US" dirty="0"/>
              <a:t> one of the broker instances malfunctions or undergoes maintenance, it takes Amazon MQ a short while to take the inactive instance out of service, </a:t>
            </a:r>
            <a:r>
              <a:rPr lang="en-US" dirty="0">
                <a:solidFill>
                  <a:srgbClr val="000000"/>
                </a:solidFill>
              </a:rPr>
              <a:t>allowing</a:t>
            </a:r>
            <a:r>
              <a:rPr lang="en-US" dirty="0"/>
              <a:t> the healthy standby instance to become active and to begin accepting incoming </a:t>
            </a:r>
            <a:r>
              <a:rPr lang="en-US" dirty="0">
                <a:solidFill>
                  <a:srgbClr val="000000"/>
                </a:solidFill>
              </a:rPr>
              <a:t>communications</a:t>
            </a:r>
            <a:r>
              <a:rPr lang="en-US" dirty="0"/>
              <a:t>. </a:t>
            </a:r>
          </a:p>
          <a:p>
            <a:endParaRPr lang="en-US" dirty="0"/>
          </a:p>
          <a:p>
            <a:r>
              <a:rPr lang="en-US" dirty="0"/>
              <a:t>Amazon MQ brokers can be created as single-instance brokers or active/standby brokers for high availability. For both deployment modes, Amazon MQ provides </a:t>
            </a:r>
            <a:r>
              <a:rPr lang="en-US" dirty="0">
                <a:solidFill>
                  <a:srgbClr val="000000"/>
                </a:solidFill>
              </a:rPr>
              <a:t>high durability</a:t>
            </a:r>
            <a:r>
              <a:rPr lang="en-US" dirty="0"/>
              <a:t> by storing its data redundantly, across multiple Availability Zones (multi-AZs) within an AWS Region. Amazon MQ </a:t>
            </a:r>
            <a:r>
              <a:rPr lang="en-US" dirty="0">
                <a:solidFill>
                  <a:srgbClr val="000000"/>
                </a:solidFill>
              </a:rPr>
              <a:t>ensures</a:t>
            </a:r>
            <a:r>
              <a:rPr lang="en-US" dirty="0"/>
              <a:t> high availability by providing failover to a standby instance in a second Availability Zone. </a:t>
            </a:r>
          </a:p>
          <a:p>
            <a:endParaRPr lang="en-US" dirty="0"/>
          </a:p>
        </p:txBody>
      </p:sp>
    </p:spTree>
    <p:extLst>
      <p:ext uri="{BB962C8B-B14F-4D97-AF65-F5344CB8AC3E}">
        <p14:creationId xmlns:p14="http://schemas.microsoft.com/office/powerpoint/2010/main" val="11303446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Organizations have started to build new or “lift and shift” </a:t>
            </a:r>
            <a:r>
              <a:rPr lang="en-US" dirty="0">
                <a:solidFill>
                  <a:srgbClr val="000000"/>
                </a:solidFill>
              </a:rPr>
              <a:t>applications</a:t>
            </a:r>
            <a:r>
              <a:rPr lang="en-US" dirty="0"/>
              <a:t> to AWS. In some cases, there are </a:t>
            </a:r>
            <a:r>
              <a:rPr lang="en-US" dirty="0">
                <a:solidFill>
                  <a:srgbClr val="000000"/>
                </a:solidFill>
              </a:rPr>
              <a:t>applications</a:t>
            </a:r>
            <a:r>
              <a:rPr lang="en-US" dirty="0"/>
              <a:t>, such as mainframe systems, too costly to migrate. In these scenarios, those on-premises </a:t>
            </a:r>
            <a:r>
              <a:rPr lang="en-US" dirty="0">
                <a:solidFill>
                  <a:srgbClr val="000000"/>
                </a:solidFill>
              </a:rPr>
              <a:t>applications</a:t>
            </a:r>
            <a:r>
              <a:rPr lang="en-US" dirty="0"/>
              <a:t> still </a:t>
            </a:r>
            <a:r>
              <a:rPr lang="en-US" dirty="0">
                <a:solidFill>
                  <a:srgbClr val="000000"/>
                </a:solidFill>
              </a:rPr>
              <a:t>need to</a:t>
            </a:r>
            <a:r>
              <a:rPr lang="en-US" dirty="0"/>
              <a:t> interact with cloud-based components. Amazon MQ</a:t>
            </a:r>
            <a:r>
              <a:rPr lang="en-US" baseline="0" dirty="0"/>
              <a:t> </a:t>
            </a:r>
            <a:r>
              <a:rPr lang="en-US" dirty="0"/>
              <a:t>is a managed message broker service for ActiveMQ that enables organizations to send messages between </a:t>
            </a:r>
            <a:r>
              <a:rPr lang="en-US" dirty="0">
                <a:solidFill>
                  <a:srgbClr val="000000"/>
                </a:solidFill>
              </a:rPr>
              <a:t>applications</a:t>
            </a:r>
            <a:r>
              <a:rPr lang="en-US" dirty="0"/>
              <a:t> in the cloud and on-premises to </a:t>
            </a:r>
            <a:r>
              <a:rPr lang="en-US" dirty="0">
                <a:solidFill>
                  <a:srgbClr val="000000"/>
                </a:solidFill>
              </a:rPr>
              <a:t>enable</a:t>
            </a:r>
            <a:r>
              <a:rPr lang="en-US" dirty="0"/>
              <a:t> hybrid environments and </a:t>
            </a:r>
            <a:r>
              <a:rPr lang="en-US" dirty="0">
                <a:solidFill>
                  <a:srgbClr val="000000"/>
                </a:solidFill>
              </a:rPr>
              <a:t>application</a:t>
            </a:r>
            <a:r>
              <a:rPr lang="en-US" dirty="0"/>
              <a:t> modernization. ActiveMQ is an open-source message broker written in Java that is packaged with clients in multiple languages, Java Message </a:t>
            </a:r>
            <a:r>
              <a:rPr lang="en-US" dirty="0">
                <a:solidFill>
                  <a:srgbClr val="000000"/>
                </a:solidFill>
              </a:rPr>
              <a:t>Server</a:t>
            </a:r>
            <a:r>
              <a:rPr lang="en-US" dirty="0"/>
              <a:t> (JMS) client being one example.</a:t>
            </a:r>
          </a:p>
          <a:p>
            <a:endParaRPr lang="en-US" dirty="0"/>
          </a:p>
          <a:p>
            <a:r>
              <a:rPr lang="en-US" dirty="0"/>
              <a:t>This diagram shows you can use Amazon MQ to integrate on-premises and cloud environments using the network of brokers feature of ActiveMQ. </a:t>
            </a:r>
            <a:r>
              <a:rPr lang="en-US" dirty="0">
                <a:solidFill>
                  <a:srgbClr val="000000"/>
                </a:solidFill>
              </a:rPr>
              <a:t>It</a:t>
            </a:r>
            <a:r>
              <a:rPr lang="en-US" dirty="0"/>
              <a:t> outlines </a:t>
            </a:r>
            <a:r>
              <a:rPr lang="en-US" dirty="0">
                <a:solidFill>
                  <a:srgbClr val="000000"/>
                </a:solidFill>
              </a:rPr>
              <a:t>the message lifecycle from the on-premises producer to the on-premises broker, traversing the hybrid connection between the on-premises broker and Amazon MQ, and finally consumption within the AWS Cloud</a:t>
            </a:r>
            <a:r>
              <a:rPr lang="en-US" dirty="0"/>
              <a:t>.</a:t>
            </a:r>
          </a:p>
          <a:p>
            <a:endParaRPr lang="en-US" b="1" dirty="0"/>
          </a:p>
          <a:p>
            <a:r>
              <a:rPr lang="en-US" b="0" dirty="0"/>
              <a:t>For</a:t>
            </a:r>
            <a:r>
              <a:rPr lang="en-US" b="0" baseline="0" dirty="0"/>
              <a:t> more information, see </a:t>
            </a:r>
            <a:r>
              <a:rPr lang="en-US" dirty="0">
                <a:hlinkClick r:id="rId3"/>
              </a:rPr>
              <a:t>https://aws.amazon.com/blogs/compute/running-activemq-in-a-hybrid-cloud-environment-with-amazon-mq/</a:t>
            </a:r>
            <a:r>
              <a:rPr lang="en-US" dirty="0"/>
              <a:t>.</a:t>
            </a:r>
          </a:p>
          <a:p>
            <a:endParaRPr lang="en-US" b="0" dirty="0"/>
          </a:p>
          <a:p>
            <a:endParaRPr lang="en-US" dirty="0"/>
          </a:p>
        </p:txBody>
      </p:sp>
    </p:spTree>
    <p:extLst>
      <p:ext uri="{BB962C8B-B14F-4D97-AF65-F5344CB8AC3E}">
        <p14:creationId xmlns:p14="http://schemas.microsoft.com/office/powerpoint/2010/main" val="19991810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Amazon MQ, Amazon SQS, and Amazon SNS are messaging services that are suitable for anyone from startups to enterprises. If you're using messaging with existing </a:t>
            </a:r>
            <a:r>
              <a:rPr lang="en-US" sz="1200" kern="1200" dirty="0">
                <a:solidFill>
                  <a:srgbClr val="000000"/>
                </a:solidFill>
                <a:effectLst/>
                <a:latin typeface="+mn-lt"/>
                <a:ea typeface="+mn-ea"/>
                <a:cs typeface="+mn-cs"/>
              </a:rPr>
              <a:t>applications</a:t>
            </a:r>
            <a:r>
              <a:rPr lang="en-US" sz="1200" kern="1200" dirty="0">
                <a:solidFill>
                  <a:schemeClr val="tx1"/>
                </a:solidFill>
                <a:effectLst/>
                <a:latin typeface="+mn-lt"/>
                <a:ea typeface="+mn-ea"/>
                <a:cs typeface="+mn-cs"/>
              </a:rPr>
              <a:t>, and want to move your messaging to the cloud quickly and easily, we </a:t>
            </a:r>
            <a:r>
              <a:rPr lang="en-US" sz="1200" kern="1200" dirty="0">
                <a:solidFill>
                  <a:srgbClr val="000000"/>
                </a:solidFill>
                <a:effectLst/>
                <a:latin typeface="+mn-lt"/>
                <a:ea typeface="+mn-ea"/>
                <a:cs typeface="+mn-cs"/>
              </a:rPr>
              <a:t>recommend you consider</a:t>
            </a:r>
            <a:r>
              <a:rPr lang="en-US" sz="1200" kern="1200" dirty="0">
                <a:solidFill>
                  <a:schemeClr val="tx1"/>
                </a:solidFill>
                <a:effectLst/>
                <a:latin typeface="+mn-lt"/>
                <a:ea typeface="+mn-ea"/>
                <a:cs typeface="+mn-cs"/>
              </a:rPr>
              <a:t> Amazon MQ. It supports </a:t>
            </a:r>
            <a:r>
              <a:rPr lang="en-US" dirty="0">
                <a:solidFill>
                  <a:srgbClr val="000000"/>
                </a:solidFill>
              </a:rPr>
              <a:t>open standard</a:t>
            </a:r>
            <a:r>
              <a:rPr lang="en-US" sz="1200" kern="1200" dirty="0">
                <a:solidFill>
                  <a:schemeClr val="tx1"/>
                </a:solidFill>
                <a:effectLst/>
                <a:latin typeface="+mn-lt"/>
                <a:ea typeface="+mn-ea"/>
                <a:cs typeface="+mn-cs"/>
              </a:rPr>
              <a:t> </a:t>
            </a:r>
            <a:r>
              <a:rPr lang="en-US" sz="1200" kern="1200" dirty="0">
                <a:solidFill>
                  <a:srgbClr val="000000"/>
                </a:solidFill>
                <a:effectLst/>
                <a:latin typeface="+mn-lt"/>
                <a:ea typeface="+mn-ea"/>
                <a:cs typeface="+mn-cs"/>
              </a:rPr>
              <a:t>APIs</a:t>
            </a:r>
            <a:r>
              <a:rPr lang="en-US" sz="1200" kern="1200" dirty="0">
                <a:solidFill>
                  <a:schemeClr val="tx1"/>
                </a:solidFill>
                <a:effectLst/>
                <a:latin typeface="+mn-lt"/>
                <a:ea typeface="+mn-ea"/>
                <a:cs typeface="+mn-cs"/>
              </a:rPr>
              <a:t> and protocols so you can switch from any standards-based message broker to Amazon MQ without rewriting the messaging code in your </a:t>
            </a:r>
            <a:r>
              <a:rPr lang="en-US" sz="1200" kern="1200" dirty="0">
                <a:solidFill>
                  <a:srgbClr val="000000"/>
                </a:solidFill>
                <a:effectLst/>
                <a:latin typeface="+mn-lt"/>
                <a:ea typeface="+mn-ea"/>
                <a:cs typeface="+mn-cs"/>
              </a:rPr>
              <a:t>applications</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you are building brand new </a:t>
            </a:r>
            <a:r>
              <a:rPr lang="en-US" sz="1200" kern="1200" dirty="0">
                <a:solidFill>
                  <a:srgbClr val="000000"/>
                </a:solidFill>
                <a:effectLst/>
                <a:latin typeface="+mn-lt"/>
                <a:ea typeface="+mn-ea"/>
                <a:cs typeface="+mn-cs"/>
              </a:rPr>
              <a:t>applications</a:t>
            </a:r>
            <a:r>
              <a:rPr lang="en-US" sz="1200" kern="1200" dirty="0">
                <a:solidFill>
                  <a:schemeClr val="tx1"/>
                </a:solidFill>
                <a:effectLst/>
                <a:latin typeface="+mn-lt"/>
                <a:ea typeface="+mn-ea"/>
                <a:cs typeface="+mn-cs"/>
              </a:rPr>
              <a:t> in the cloud, we </a:t>
            </a:r>
            <a:r>
              <a:rPr lang="en-US" sz="1200" kern="1200" dirty="0">
                <a:solidFill>
                  <a:srgbClr val="000000"/>
                </a:solidFill>
                <a:effectLst/>
                <a:latin typeface="+mn-lt"/>
                <a:ea typeface="+mn-ea"/>
                <a:cs typeface="+mn-cs"/>
              </a:rPr>
              <a:t>recommend you consider</a:t>
            </a:r>
            <a:r>
              <a:rPr lang="en-US" sz="1200" kern="1200" dirty="0">
                <a:solidFill>
                  <a:schemeClr val="tx1"/>
                </a:solidFill>
                <a:effectLst/>
                <a:latin typeface="+mn-lt"/>
                <a:ea typeface="+mn-ea"/>
                <a:cs typeface="+mn-cs"/>
              </a:rPr>
              <a:t> Amazon SQS and Amazon SNS. Amazon SQS and </a:t>
            </a:r>
            <a:r>
              <a:rPr lang="en-US" sz="1200" kern="1200" dirty="0">
                <a:solidFill>
                  <a:srgbClr val="000000"/>
                </a:solidFill>
                <a:effectLst/>
                <a:latin typeface="+mn-lt"/>
                <a:ea typeface="+mn-ea"/>
                <a:cs typeface="+mn-cs"/>
              </a:rPr>
              <a:t>SNS</a:t>
            </a:r>
            <a:r>
              <a:rPr lang="en-US" sz="1200" kern="1200" dirty="0">
                <a:solidFill>
                  <a:schemeClr val="tx1"/>
                </a:solidFill>
                <a:effectLst/>
                <a:latin typeface="+mn-lt"/>
                <a:ea typeface="+mn-ea"/>
                <a:cs typeface="+mn-cs"/>
              </a:rPr>
              <a:t> are lightweight, fully managed message queue and topic services that scale almost infinitely and provide </a:t>
            </a:r>
            <a:r>
              <a:rPr lang="en-US" sz="1200" kern="1200" dirty="0">
                <a:solidFill>
                  <a:srgbClr val="000000"/>
                </a:solidFill>
                <a:effectLst/>
                <a:latin typeface="+mn-lt"/>
                <a:ea typeface="+mn-ea"/>
                <a:cs typeface="+mn-cs"/>
              </a:rPr>
              <a:t>simple</a:t>
            </a:r>
            <a:r>
              <a:rPr lang="en-US" sz="1200" kern="1200" dirty="0">
                <a:solidFill>
                  <a:schemeClr val="tx1"/>
                </a:solidFill>
                <a:effectLst/>
                <a:latin typeface="+mn-lt"/>
                <a:ea typeface="+mn-ea"/>
                <a:cs typeface="+mn-cs"/>
              </a:rPr>
              <a:t>, easy-to-use </a:t>
            </a:r>
            <a:r>
              <a:rPr lang="en-US" sz="1200" kern="1200" dirty="0">
                <a:solidFill>
                  <a:srgbClr val="000000"/>
                </a:solidFill>
                <a:effectLst/>
                <a:latin typeface="+mn-lt"/>
                <a:ea typeface="+mn-ea"/>
                <a:cs typeface="+mn-cs"/>
              </a:rPr>
              <a:t>APIs</a:t>
            </a:r>
            <a:r>
              <a:rPr lang="en-US" sz="1200" kern="1200" dirty="0">
                <a:solidFill>
                  <a:schemeClr val="tx1"/>
                </a:solidFill>
                <a:effectLst/>
                <a:latin typeface="+mn-lt"/>
                <a:ea typeface="+mn-ea"/>
                <a:cs typeface="+mn-cs"/>
              </a:rPr>
              <a:t>. You can use Amazon SQS and </a:t>
            </a:r>
            <a:r>
              <a:rPr lang="en-US" sz="1200" kern="1200" dirty="0">
                <a:solidFill>
                  <a:srgbClr val="000000"/>
                </a:solidFill>
                <a:effectLst/>
                <a:latin typeface="+mn-lt"/>
                <a:ea typeface="+mn-ea"/>
                <a:cs typeface="+mn-cs"/>
              </a:rPr>
              <a:t>SNS</a:t>
            </a:r>
            <a:r>
              <a:rPr lang="en-US" sz="1200" kern="1200" dirty="0">
                <a:solidFill>
                  <a:schemeClr val="tx1"/>
                </a:solidFill>
                <a:effectLst/>
                <a:latin typeface="+mn-lt"/>
                <a:ea typeface="+mn-ea"/>
                <a:cs typeface="+mn-cs"/>
              </a:rPr>
              <a:t> to decouple and scale microservices, distributed systems, and serverless </a:t>
            </a:r>
            <a:r>
              <a:rPr lang="en-US" sz="1200" kern="1200" dirty="0">
                <a:solidFill>
                  <a:srgbClr val="000000"/>
                </a:solidFill>
                <a:effectLst/>
                <a:latin typeface="+mn-lt"/>
                <a:ea typeface="+mn-ea"/>
                <a:cs typeface="+mn-cs"/>
              </a:rPr>
              <a:t>applications</a:t>
            </a:r>
            <a:r>
              <a:rPr lang="en-US" sz="1200" kern="1200" dirty="0">
                <a:solidFill>
                  <a:schemeClr val="tx1"/>
                </a:solidFill>
                <a:effectLst/>
                <a:latin typeface="+mn-lt"/>
                <a:ea typeface="+mn-ea"/>
                <a:cs typeface="+mn-cs"/>
              </a:rPr>
              <a:t>, and improve reliability.</a:t>
            </a:r>
          </a:p>
          <a:p>
            <a:endParaRPr lang="en-US" dirty="0"/>
          </a:p>
        </p:txBody>
      </p:sp>
    </p:spTree>
    <p:extLst>
      <p:ext uri="{BB962C8B-B14F-4D97-AF65-F5344CB8AC3E}">
        <p14:creationId xmlns:p14="http://schemas.microsoft.com/office/powerpoint/2010/main" val="20541946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86034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kern="1200" dirty="0">
                <a:solidFill>
                  <a:schemeClr val="tx1"/>
                </a:solidFill>
                <a:effectLst/>
              </a:rPr>
              <a:t>Read </a:t>
            </a:r>
            <a:r>
              <a:rPr lang="en-US" kern="1200" dirty="0">
                <a:solidFill>
                  <a:srgbClr val="000000"/>
                </a:solidFill>
                <a:effectLst/>
              </a:rPr>
              <a:t>left</a:t>
            </a:r>
            <a:r>
              <a:rPr lang="en-US" kern="1200" dirty="0">
                <a:solidFill>
                  <a:schemeClr val="tx1"/>
                </a:solidFill>
                <a:effectLst/>
              </a:rPr>
              <a:t> to right: </a:t>
            </a:r>
          </a:p>
          <a:p>
            <a:r>
              <a:rPr lang="en-US" kern="1200" dirty="0">
                <a:solidFill>
                  <a:schemeClr val="tx1"/>
                </a:solidFill>
                <a:effectLst/>
              </a:rPr>
              <a:t>(True) </a:t>
            </a:r>
          </a:p>
          <a:p>
            <a:pPr lvl="0"/>
            <a:r>
              <a:rPr lang="en-US" kern="1200" dirty="0">
                <a:solidFill>
                  <a:schemeClr val="tx1"/>
                </a:solidFill>
                <a:effectLst/>
              </a:rPr>
              <a:t>(False) </a:t>
            </a:r>
            <a:r>
              <a:rPr lang="en-US" sz="1200" dirty="0">
                <a:ea typeface="Amazon Ember Light" panose="020B0403020204020204" pitchFamily="34" charset="0"/>
                <a:cs typeface="Amazon Ember Light" panose="020B0403020204020204" pitchFamily="34" charset="0"/>
              </a:rPr>
              <a:t>With an </a:t>
            </a:r>
            <a:r>
              <a:rPr lang="en-US" sz="1200" dirty="0">
                <a:solidFill>
                  <a:srgbClr val="000000"/>
                </a:solidFill>
                <a:ea typeface="Amazon Ember Light" panose="020B0403020204020204" pitchFamily="34" charset="0"/>
                <a:cs typeface="Amazon Ember Light" panose="020B0403020204020204" pitchFamily="34" charset="0"/>
              </a:rPr>
              <a:t>SQS</a:t>
            </a:r>
            <a:r>
              <a:rPr lang="en-US" sz="1200" dirty="0">
                <a:ea typeface="Amazon Ember Light" panose="020B0403020204020204" pitchFamily="34" charset="0"/>
                <a:cs typeface="Amazon Ember Light" panose="020B0403020204020204" pitchFamily="34" charset="0"/>
              </a:rPr>
              <a:t> Standard </a:t>
            </a:r>
            <a:r>
              <a:rPr lang="en-US" sz="1200" dirty="0">
                <a:solidFill>
                  <a:srgbClr val="000000"/>
                </a:solidFill>
                <a:ea typeface="Amazon Ember Light" panose="020B0403020204020204" pitchFamily="34" charset="0"/>
                <a:cs typeface="Amazon Ember Light" panose="020B0403020204020204" pitchFamily="34" charset="0"/>
              </a:rPr>
              <a:t>Queue</a:t>
            </a:r>
            <a:r>
              <a:rPr lang="en-US" sz="1200" dirty="0">
                <a:ea typeface="Amazon Ember Light" panose="020B0403020204020204" pitchFamily="34" charset="0"/>
                <a:cs typeface="Amazon Ember Light" panose="020B0403020204020204" pitchFamily="34" charset="0"/>
              </a:rPr>
              <a:t>, message ordering is </a:t>
            </a:r>
            <a:r>
              <a:rPr lang="en-US" sz="1200" b="1" dirty="0">
                <a:ea typeface="Amazon Ember Light" panose="020B0403020204020204" pitchFamily="34" charset="0"/>
                <a:cs typeface="Amazon Ember Light" panose="020B0403020204020204" pitchFamily="34" charset="0"/>
              </a:rPr>
              <a:t>not</a:t>
            </a:r>
            <a:r>
              <a:rPr lang="en-US" sz="1200" b="0" baseline="0" dirty="0">
                <a:ea typeface="Amazon Ember Light" panose="020B0403020204020204" pitchFamily="34" charset="0"/>
                <a:cs typeface="Amazon Ember Light" panose="020B0403020204020204" pitchFamily="34" charset="0"/>
              </a:rPr>
              <a:t> </a:t>
            </a:r>
            <a:r>
              <a:rPr lang="en-US" sz="1200" b="0" dirty="0">
                <a:solidFill>
                  <a:srgbClr val="000000"/>
                </a:solidFill>
                <a:ea typeface="Amazon Ember Light" panose="020B0403020204020204" pitchFamily="34" charset="0"/>
                <a:cs typeface="Amazon Ember Light" panose="020B0403020204020204" pitchFamily="34" charset="0"/>
              </a:rPr>
              <a:t>guaranteed</a:t>
            </a:r>
            <a:r>
              <a:rPr lang="en-US" sz="1200" dirty="0">
                <a:ea typeface="Amazon Ember Light" panose="020B0403020204020204" pitchFamily="34" charset="0"/>
                <a:cs typeface="Amazon Ember Light" panose="020B0403020204020204" pitchFamily="34" charset="0"/>
              </a:rPr>
              <a:t>. Message order is preserved with a FIFO </a:t>
            </a:r>
            <a:r>
              <a:rPr lang="en-US" sz="1200" dirty="0">
                <a:solidFill>
                  <a:srgbClr val="000000"/>
                </a:solidFill>
                <a:ea typeface="Amazon Ember Light" panose="020B0403020204020204" pitchFamily="34" charset="0"/>
                <a:cs typeface="Amazon Ember Light" panose="020B0403020204020204" pitchFamily="34" charset="0"/>
              </a:rPr>
              <a:t>Queue</a:t>
            </a:r>
            <a:r>
              <a:rPr lang="en-US" sz="1200" dirty="0">
                <a:ea typeface="Amazon Ember Light" panose="020B0403020204020204" pitchFamily="34" charset="0"/>
                <a:cs typeface="Amazon Ember Light" panose="020B0403020204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rPr>
              <a:t>(False) </a:t>
            </a:r>
            <a:r>
              <a:rPr lang="en-US" dirty="0"/>
              <a:t>With long polling, does not work </a:t>
            </a:r>
            <a:r>
              <a:rPr lang="en-US" dirty="0">
                <a:solidFill>
                  <a:srgbClr val="000000"/>
                </a:solidFill>
              </a:rPr>
              <a:t>better</a:t>
            </a:r>
            <a:r>
              <a:rPr lang="en-US" dirty="0"/>
              <a:t> for single threaded </a:t>
            </a:r>
            <a:r>
              <a:rPr lang="en-US" dirty="0">
                <a:solidFill>
                  <a:srgbClr val="000000"/>
                </a:solidFill>
              </a:rPr>
              <a:t>applications</a:t>
            </a:r>
            <a:r>
              <a:rPr lang="en-US" dirty="0"/>
              <a:t>. </a:t>
            </a:r>
            <a:r>
              <a:rPr lang="en-US" dirty="0">
                <a:solidFill>
                  <a:srgbClr val="000000"/>
                </a:solidFill>
              </a:rPr>
              <a:t>If</a:t>
            </a:r>
            <a:r>
              <a:rPr lang="en-US" dirty="0"/>
              <a:t> you decide to implement long polling with multiple queues, we recommend that you use one thread for each queue, instead of trying to use one single thread for polling all the </a:t>
            </a:r>
            <a:r>
              <a:rPr lang="en-US" dirty="0">
                <a:solidFill>
                  <a:srgbClr val="000000"/>
                </a:solidFill>
              </a:rPr>
              <a:t>queues</a:t>
            </a:r>
            <a:r>
              <a:rPr lang="en-US" dirty="0"/>
              <a:t>. </a:t>
            </a:r>
            <a:r>
              <a:rPr lang="en-US" dirty="0">
                <a:solidFill>
                  <a:srgbClr val="000000"/>
                </a:solidFill>
              </a:rPr>
              <a:t>When</a:t>
            </a:r>
            <a:r>
              <a:rPr lang="en-US" dirty="0"/>
              <a:t> you use one thread for each queue</a:t>
            </a:r>
            <a:r>
              <a:rPr lang="en-US" dirty="0">
                <a:solidFill>
                  <a:srgbClr val="000000"/>
                </a:solidFill>
              </a:rPr>
              <a:t>,  your</a:t>
            </a:r>
            <a:r>
              <a:rPr lang="en-US" dirty="0"/>
              <a:t> </a:t>
            </a:r>
            <a:r>
              <a:rPr lang="en-US" dirty="0">
                <a:solidFill>
                  <a:srgbClr val="000000"/>
                </a:solidFill>
              </a:rPr>
              <a:t>application</a:t>
            </a:r>
            <a:r>
              <a:rPr lang="en-US" dirty="0"/>
              <a:t> can process the messages in each of the queues as they become available, as opposed to one single thread for multiple queues where your </a:t>
            </a:r>
            <a:r>
              <a:rPr lang="en-US" dirty="0">
                <a:solidFill>
                  <a:srgbClr val="000000"/>
                </a:solidFill>
              </a:rPr>
              <a:t>application</a:t>
            </a:r>
            <a:r>
              <a:rPr lang="en-US" dirty="0"/>
              <a:t> could be blocked from processing available messages in the other queues while waiting (up to 20 seconds) on a queue that does not have any available </a:t>
            </a:r>
            <a:r>
              <a:rPr lang="en-US" dirty="0">
                <a:solidFill>
                  <a:srgbClr val="000000"/>
                </a:solidFill>
              </a:rPr>
              <a:t>messages</a:t>
            </a:r>
            <a:r>
              <a:rPr lang="en-US" dirty="0"/>
              <a:t>. </a:t>
            </a:r>
            <a:endParaRPr lang="en-US" dirty="0">
              <a:ea typeface="Amazon Ember Light" panose="020B0403020204020204" pitchFamily="34" charset="0"/>
              <a:cs typeface="Amazon Ember Light" panose="020B04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rPr>
              <a:t>(False) </a:t>
            </a:r>
            <a:r>
              <a:rPr lang="en-US" sz="1200" dirty="0">
                <a:ea typeface="Amazon Ember Light" panose="020B0403020204020204" pitchFamily="34" charset="0"/>
                <a:cs typeface="Amazon Ember Light" panose="020B0403020204020204" pitchFamily="34" charset="0"/>
              </a:rPr>
              <a:t>You </a:t>
            </a:r>
            <a:r>
              <a:rPr lang="en-US" sz="1200" b="1" dirty="0">
                <a:ea typeface="Amazon Ember Light" panose="020B0403020204020204" pitchFamily="34" charset="0"/>
                <a:cs typeface="Amazon Ember Light" panose="020B0403020204020204" pitchFamily="34" charset="0"/>
              </a:rPr>
              <a:t>can</a:t>
            </a:r>
            <a:r>
              <a:rPr lang="en-US" sz="1200" dirty="0">
                <a:ea typeface="Amazon Ember Light" panose="020B0403020204020204" pitchFamily="34" charset="0"/>
                <a:cs typeface="Amazon Ember Light" panose="020B0403020204020204" pitchFamily="34" charset="0"/>
              </a:rPr>
              <a:t> filter messages when subscribing to an SNS topic, you </a:t>
            </a:r>
            <a:r>
              <a:rPr lang="en-US" sz="1200" dirty="0">
                <a:solidFill>
                  <a:srgbClr val="000000"/>
                </a:solidFill>
                <a:ea typeface="Amazon Ember Light" panose="020B0403020204020204" pitchFamily="34" charset="0"/>
                <a:cs typeface="Amazon Ember Light" panose="020B0403020204020204" pitchFamily="34" charset="0"/>
              </a:rPr>
              <a:t>always</a:t>
            </a:r>
            <a:r>
              <a:rPr lang="en-US" sz="1200" dirty="0">
                <a:ea typeface="Amazon Ember Light" panose="020B0403020204020204" pitchFamily="34" charset="0"/>
                <a:cs typeface="Amazon Ember Light" panose="020B0403020204020204" pitchFamily="34" charset="0"/>
              </a:rPr>
              <a:t> receive all</a:t>
            </a:r>
            <a:r>
              <a:rPr lang="en-US" sz="1200" baseline="0" dirty="0">
                <a:ea typeface="Amazon Ember Light" panose="020B0403020204020204" pitchFamily="34" charset="0"/>
                <a:cs typeface="Amazon Ember Light" panose="020B0403020204020204" pitchFamily="34" charset="0"/>
              </a:rPr>
              <a:t> </a:t>
            </a:r>
            <a:r>
              <a:rPr lang="en-US" sz="1200" dirty="0">
                <a:ea typeface="Amazon Ember Light" panose="020B0403020204020204" pitchFamily="34" charset="0"/>
                <a:cs typeface="Amazon Ember Light" panose="020B0403020204020204" pitchFamily="34" charset="0"/>
              </a:rPr>
              <a:t>messages published.</a:t>
            </a:r>
          </a:p>
          <a:p>
            <a:pPr lvl="0"/>
            <a:r>
              <a:rPr lang="en-US" kern="1200" dirty="0">
                <a:solidFill>
                  <a:schemeClr val="tx1"/>
                </a:solidFill>
                <a:effectLst/>
              </a:rPr>
              <a:t>(True)</a:t>
            </a:r>
          </a:p>
          <a:p>
            <a:pPr lvl="0"/>
            <a:r>
              <a:rPr lang="en-US" kern="1200" dirty="0">
                <a:solidFill>
                  <a:schemeClr val="tx1"/>
                </a:solidFill>
                <a:effectLst/>
              </a:rPr>
              <a:t>(True)</a:t>
            </a:r>
          </a:p>
        </p:txBody>
      </p:sp>
    </p:spTree>
    <p:extLst>
      <p:ext uri="{BB962C8B-B14F-4D97-AF65-F5344CB8AC3E}">
        <p14:creationId xmlns:p14="http://schemas.microsoft.com/office/powerpoint/2010/main" val="9221653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736369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lab, you </a:t>
            </a:r>
            <a:r>
              <a:rPr lang="en-US" dirty="0">
                <a:solidFill>
                  <a:srgbClr val="000000"/>
                </a:solidFill>
              </a:rPr>
              <a:t>will learn</a:t>
            </a:r>
            <a:r>
              <a:rPr lang="en-US" dirty="0"/>
              <a:t> how to use the AWS SDK to send and receive messages from </a:t>
            </a:r>
            <a:r>
              <a:rPr lang="en-US" dirty="0">
                <a:solidFill>
                  <a:srgbClr val="000000"/>
                </a:solidFill>
              </a:rPr>
              <a:t>Amazon Simple Notification Service</a:t>
            </a:r>
            <a:r>
              <a:rPr lang="en-US" dirty="0"/>
              <a:t> (</a:t>
            </a:r>
            <a:r>
              <a:rPr lang="en-US" dirty="0">
                <a:solidFill>
                  <a:srgbClr val="000000"/>
                </a:solidFill>
              </a:rPr>
              <a:t>SNS</a:t>
            </a:r>
            <a:r>
              <a:rPr lang="en-US" dirty="0"/>
              <a:t>) and </a:t>
            </a:r>
            <a:r>
              <a:rPr lang="en-US" dirty="0">
                <a:solidFill>
                  <a:srgbClr val="000000"/>
                </a:solidFill>
              </a:rPr>
              <a:t>Amazon Simple Queue Service</a:t>
            </a:r>
            <a:r>
              <a:rPr lang="en-US" dirty="0"/>
              <a:t> (</a:t>
            </a:r>
            <a:r>
              <a:rPr lang="en-US" dirty="0">
                <a:solidFill>
                  <a:srgbClr val="000000"/>
                </a:solidFill>
              </a:rPr>
              <a:t>SQS</a:t>
            </a:r>
            <a:r>
              <a:rPr lang="en-US" dirty="0"/>
              <a:t>). You </a:t>
            </a:r>
            <a:r>
              <a:rPr lang="en-US" dirty="0">
                <a:solidFill>
                  <a:srgbClr val="000000"/>
                </a:solidFill>
              </a:rPr>
              <a:t>will learn</a:t>
            </a:r>
            <a:r>
              <a:rPr lang="en-US" dirty="0"/>
              <a:t> how to set up Amazon SNS and Amazon SQS to implement a fan-out scenario to send messages to multiple recipients.</a:t>
            </a:r>
          </a:p>
          <a:p>
            <a:endParaRPr lang="en-US" dirty="0"/>
          </a:p>
          <a:p>
            <a:pPr marL="0" indent="0">
              <a:buNone/>
            </a:pPr>
            <a:r>
              <a:rPr lang="en-US" dirty="0"/>
              <a:t>In the lab, you will:</a:t>
            </a:r>
          </a:p>
          <a:p>
            <a:pPr marL="171450" indent="-171450">
              <a:buFont typeface="Arial" panose="020B0604020202020204" pitchFamily="34" charset="0"/>
              <a:buChar char="•"/>
            </a:pPr>
            <a:r>
              <a:rPr lang="en-US" sz="1200" dirty="0"/>
              <a:t>Set up Amazon SNS topics and Amazon SQS queues.</a:t>
            </a:r>
          </a:p>
          <a:p>
            <a:pPr marL="171450" indent="-171450">
              <a:buFont typeface="Arial" panose="020B0604020202020204" pitchFamily="34" charset="0"/>
              <a:buChar char="•"/>
            </a:pPr>
            <a:r>
              <a:rPr lang="en-US" sz="1200" dirty="0"/>
              <a:t>Develop </a:t>
            </a:r>
            <a:r>
              <a:rPr lang="en-US" sz="1200" dirty="0">
                <a:solidFill>
                  <a:srgbClr val="000000"/>
                </a:solidFill>
              </a:rPr>
              <a:t>the  Amazon</a:t>
            </a:r>
            <a:r>
              <a:rPr lang="en-US" sz="1200" dirty="0"/>
              <a:t> SNS publisher.</a:t>
            </a:r>
          </a:p>
          <a:p>
            <a:pPr marL="171450" indent="-171450">
              <a:buFont typeface="Arial" panose="020B0604020202020204" pitchFamily="34" charset="0"/>
              <a:buChar char="•"/>
            </a:pPr>
            <a:r>
              <a:rPr lang="en-US" sz="1200" dirty="0"/>
              <a:t>Develop </a:t>
            </a:r>
            <a:r>
              <a:rPr lang="en-US" sz="1200" dirty="0">
                <a:solidFill>
                  <a:srgbClr val="000000"/>
                </a:solidFill>
              </a:rPr>
              <a:t>the  Amazon</a:t>
            </a:r>
            <a:r>
              <a:rPr lang="en-US" sz="1200" dirty="0"/>
              <a:t> SQS consumer.</a:t>
            </a:r>
            <a:endParaRPr lang="en-US" dirty="0"/>
          </a:p>
        </p:txBody>
      </p:sp>
    </p:spTree>
    <p:extLst>
      <p:ext uri="{BB962C8B-B14F-4D97-AF65-F5344CB8AC3E}">
        <p14:creationId xmlns:p14="http://schemas.microsoft.com/office/powerpoint/2010/main" val="1697209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6130733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4657467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159793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3" y="4560571"/>
            <a:ext cx="5440678" cy="4171949"/>
          </a:xfrm>
        </p:spPr>
        <p:txBody>
          <a:bodyPr/>
          <a:lstStyle/>
          <a:p>
            <a:pPr>
              <a:spcBef>
                <a:spcPts val="600"/>
              </a:spcBef>
            </a:pPr>
            <a:r>
              <a:rPr lang="en-US" dirty="0"/>
              <a:t>Familiarize yourself with the Amazon SNS,</a:t>
            </a:r>
            <a:r>
              <a:rPr lang="en-US" baseline="0" dirty="0"/>
              <a:t> </a:t>
            </a:r>
            <a:r>
              <a:rPr lang="en-US" dirty="0"/>
              <a:t>Amazon SQS, and Amazon </a:t>
            </a:r>
            <a:r>
              <a:rPr lang="en-US" dirty="0">
                <a:solidFill>
                  <a:srgbClr val="000000"/>
                </a:solidFill>
              </a:rPr>
              <a:t>MQ-related</a:t>
            </a:r>
            <a:r>
              <a:rPr lang="en-US" dirty="0"/>
              <a:t> API in the SDK</a:t>
            </a:r>
            <a:r>
              <a:rPr lang="en-US" baseline="0" dirty="0"/>
              <a:t> for your preferred language.</a:t>
            </a:r>
          </a:p>
          <a:p>
            <a:pPr>
              <a:spcBef>
                <a:spcPts val="600"/>
              </a:spcBef>
            </a:pPr>
            <a:r>
              <a:rPr lang="en-US" b="1" baseline="0" dirty="0"/>
              <a:t>Java</a:t>
            </a:r>
          </a:p>
          <a:p>
            <a:pPr marL="171450" indent="-171450">
              <a:spcBef>
                <a:spcPts val="600"/>
              </a:spcBef>
              <a:buFont typeface="Arial" panose="020B0604020202020204" pitchFamily="34" charset="0"/>
              <a:buChar char="•"/>
            </a:pPr>
            <a:r>
              <a:rPr lang="en-US" baseline="0" dirty="0"/>
              <a:t>Amazon SNS client: </a:t>
            </a:r>
            <a:r>
              <a:rPr lang="en-US" dirty="0">
                <a:hlinkClick r:id="rId3"/>
              </a:rPr>
              <a:t>http://docs.aws.amazon.com/AWSJavaSDK/latest/javadoc/com/amazonaws/services/sns/AmazonSNSClient.html</a:t>
            </a:r>
            <a:endParaRPr lang="en-US" dirty="0"/>
          </a:p>
          <a:p>
            <a:pPr marL="171450" marR="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dirty="0"/>
              <a:t>Amazon SQS client: </a:t>
            </a:r>
            <a:r>
              <a:rPr lang="en-US" dirty="0">
                <a:hlinkClick r:id="rId4"/>
              </a:rPr>
              <a:t>http://docs.aws.amazon.com/AWSJavaSDK/latest/javadoc/com/amazonaws/services/sqs/AmazonSQSClient.html</a:t>
            </a:r>
            <a:r>
              <a:rPr lang="en-US" dirty="0"/>
              <a:t> </a:t>
            </a:r>
          </a:p>
          <a:p>
            <a:pPr marL="171450" marR="0" lvl="0" indent="-1714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dirty="0"/>
              <a:t>Amazon MQ Interface: </a:t>
            </a:r>
            <a:r>
              <a:rPr lang="en-US" dirty="0">
                <a:hlinkClick r:id="rId5"/>
              </a:rPr>
              <a:t>http://docs.aws.amazon.com/AWSJavaSDK/latest/javadoc/com/amazonaws/services/mq/AmazonMQClient.html</a:t>
            </a:r>
            <a:r>
              <a:rPr lang="en-US" dirty="0"/>
              <a:t> </a:t>
            </a:r>
          </a:p>
          <a:p>
            <a:pPr>
              <a:spcBef>
                <a:spcPts val="600"/>
              </a:spcBef>
            </a:pPr>
            <a:r>
              <a:rPr lang="en-US" b="1" dirty="0"/>
              <a:t>.NET</a:t>
            </a:r>
          </a:p>
          <a:p>
            <a:pPr marL="171450" indent="-171450">
              <a:spcBef>
                <a:spcPts val="600"/>
              </a:spcBef>
              <a:buFont typeface="Arial" panose="020B0604020202020204" pitchFamily="34" charset="0"/>
              <a:buChar char="•"/>
            </a:pPr>
            <a:r>
              <a:rPr lang="en-US" dirty="0"/>
              <a:t>Amazon SNS client: </a:t>
            </a:r>
            <a:r>
              <a:rPr lang="en-US" dirty="0">
                <a:hlinkClick r:id="rId6"/>
              </a:rPr>
              <a:t>http://docs.aws.amazon.com/sdkfornet/v3/apidocs/items/SNS/TSNSClient.html</a:t>
            </a:r>
            <a:endParaRPr lang="en-US" dirty="0"/>
          </a:p>
          <a:p>
            <a:pPr marL="171450" indent="-171450">
              <a:spcBef>
                <a:spcPts val="600"/>
              </a:spcBef>
              <a:buFont typeface="Arial" panose="020B0604020202020204" pitchFamily="34" charset="0"/>
              <a:buChar char="•"/>
            </a:pPr>
            <a:r>
              <a:rPr lang="en-US" dirty="0"/>
              <a:t>Amazon SQS client:</a:t>
            </a:r>
            <a:r>
              <a:rPr lang="en-US" baseline="0" dirty="0"/>
              <a:t> </a:t>
            </a:r>
            <a:r>
              <a:rPr lang="en-US" dirty="0">
                <a:hlinkClick r:id="rId7"/>
              </a:rPr>
              <a:t>http://docs.aws.amazon.com/sdkfornet/v3/apidocs/items/SQS/TSQSClient.html</a:t>
            </a:r>
            <a:endParaRPr lang="en-US" dirty="0"/>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dirty="0"/>
              <a:t>Amazon MQ client:</a:t>
            </a:r>
            <a:r>
              <a:rPr lang="en-US" baseline="0" dirty="0"/>
              <a:t> </a:t>
            </a:r>
            <a:r>
              <a:rPr lang="en-US" dirty="0">
                <a:hlinkClick r:id="rId8"/>
              </a:rPr>
              <a:t>http://docs.aws.amazon.com/sdkfornet/v3/apidocs/items/MQ/TMQClient.html</a:t>
            </a:r>
            <a:endParaRPr lang="en-US" b="1" dirty="0"/>
          </a:p>
          <a:p>
            <a:pPr marL="0" indent="0">
              <a:spcBef>
                <a:spcPts val="600"/>
              </a:spcBef>
              <a:buFont typeface="Arial" panose="020B0604020202020204" pitchFamily="34" charset="0"/>
              <a:buNone/>
            </a:pPr>
            <a:r>
              <a:rPr lang="en-US" b="1" dirty="0"/>
              <a:t>Python</a:t>
            </a:r>
          </a:p>
          <a:p>
            <a:pPr marL="171450" indent="-171450">
              <a:buFont typeface="Arial" panose="020B0604020202020204" pitchFamily="34" charset="0"/>
              <a:buChar char="•"/>
            </a:pPr>
            <a:r>
              <a:rPr lang="en-US" dirty="0"/>
              <a:t>Amazon SNS client: </a:t>
            </a:r>
            <a:r>
              <a:rPr lang="en-US" dirty="0">
                <a:hlinkClick r:id="rId9"/>
              </a:rPr>
              <a:t>http://boto3.readthedocs.org/en/latest/reference/services/sns.html</a:t>
            </a:r>
            <a:r>
              <a:rPr lang="en-US" dirty="0"/>
              <a:t> </a:t>
            </a:r>
          </a:p>
          <a:p>
            <a:pPr marL="171450" indent="-171450">
              <a:buFont typeface="Arial" panose="020B0604020202020204" pitchFamily="34" charset="0"/>
              <a:buChar char="•"/>
            </a:pPr>
            <a:r>
              <a:rPr lang="en-US" dirty="0"/>
              <a:t>Amazon SQS client: </a:t>
            </a:r>
            <a:r>
              <a:rPr lang="en-US" dirty="0">
                <a:hlinkClick r:id="rId10"/>
              </a:rPr>
              <a:t>http://boto3.readthedocs.org/en/latest/reference/services/sqs.html</a:t>
            </a:r>
            <a:r>
              <a:rPr lang="en-US" dirty="0"/>
              <a:t> </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dirty="0"/>
              <a:t>Amazon MQ client: </a:t>
            </a:r>
            <a:r>
              <a:rPr lang="en-US" dirty="0">
                <a:hlinkClick r:id="rId11"/>
              </a:rPr>
              <a:t>http://boto3.readthedocs.org/en/latest/reference/services/mq.html</a:t>
            </a:r>
            <a:r>
              <a:rPr lang="en-US" dirty="0"/>
              <a:t> </a:t>
            </a:r>
          </a:p>
          <a:p>
            <a:pPr marL="0" indent="0">
              <a:spcBef>
                <a:spcPts val="600"/>
              </a:spcBef>
              <a:buFont typeface="Arial" panose="020B0604020202020204" pitchFamily="34" charset="0"/>
              <a:buNone/>
            </a:pPr>
            <a:endParaRPr lang="en-US" dirty="0"/>
          </a:p>
        </p:txBody>
      </p:sp>
    </p:spTree>
    <p:extLst>
      <p:ext uri="{BB962C8B-B14F-4D97-AF65-F5344CB8AC3E}">
        <p14:creationId xmlns:p14="http://schemas.microsoft.com/office/powerpoint/2010/main" val="40679261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5.jp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5.jp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vmlDrawing" Target="../drawings/vmlDrawing1.vml"/><Relationship Id="rId6" Type="http://schemas.openxmlformats.org/officeDocument/2006/relationships/image" Target="../media/image8.png"/><Relationship Id="rId5" Type="http://schemas.openxmlformats.org/officeDocument/2006/relationships/oleObject" Target="../embeddings/oleObject2.bin"/><Relationship Id="rId4" Type="http://schemas.openxmlformats.org/officeDocument/2006/relationships/image" Target="../media/image7.wmf"/></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vmlDrawing" Target="../drawings/vmlDrawing2.vml"/><Relationship Id="rId6" Type="http://schemas.openxmlformats.org/officeDocument/2006/relationships/image" Target="../media/image10.wmf"/><Relationship Id="rId5" Type="http://schemas.openxmlformats.org/officeDocument/2006/relationships/oleObject" Target="../embeddings/oleObject3.bin"/><Relationship Id="rId4" Type="http://schemas.openxmlformats.org/officeDocument/2006/relationships/image" Target="../media/image12.png"/></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4087148434"/>
      </p:ext>
    </p:extLst>
  </p:cSld>
  <p:clrMapOvr>
    <a:masterClrMapping/>
  </p:clrMapOvr>
  <p:extLst mod="1">
    <p:ext uri="{DCECCB84-F9BA-43D5-87BE-67443E8EF086}">
      <p15:sldGuideLst xmlns:p15="http://schemas.microsoft.com/office/powerpoint/2012/main">
        <p15:guide id="1" orient="horz" pos="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pic>
        <p:nvPicPr>
          <p:cNvPr id="7" name="Picture 6">
            <a:extLst>
              <a:ext uri="{FF2B5EF4-FFF2-40B4-BE49-F238E27FC236}">
                <a16:creationId xmlns:a16="http://schemas.microsoft.com/office/drawing/2014/main" id="{C64AE505-226A-7C43-A554-8CB1590043A4}"/>
              </a:ext>
            </a:extLst>
          </p:cNvPr>
          <p:cNvPicPr>
            <a:picLocks noChangeAspect="1"/>
          </p:cNvPicPr>
          <p:nvPr/>
        </p:nvPicPr>
        <p:blipFill>
          <a:blip r:embed="rId3"/>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1247158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a:t>© 2020 Amazon Web Services, Inc. or its Affiliates. All rights reserved.</a:t>
            </a:r>
            <a:endParaRPr lang="en-US" dirty="0"/>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9FC43BFD-8FF7-A343-A8A6-E2338FCE8046}" type="slidenum">
              <a:rPr lang="en-US" smtClean="0"/>
              <a:t>‹#›</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280E0825-B265-3846-8BB3-B9ECFCCA9B2D}"/>
              </a:ext>
            </a:extLst>
          </p:cNvPr>
          <p:cNvPicPr>
            <a:picLocks noChangeAspect="1"/>
          </p:cNvPicPr>
          <p:nvPr/>
        </p:nvPicPr>
        <p:blipFill>
          <a:blip r:embed="rId4"/>
          <a:stretch>
            <a:fillRect/>
          </a:stretch>
        </p:blipFill>
        <p:spPr>
          <a:xfrm>
            <a:off x="9840052" y="365126"/>
            <a:ext cx="1910948" cy="449072"/>
          </a:xfrm>
          <a:prstGeom prst="rect">
            <a:avLst/>
          </a:prstGeom>
        </p:spPr>
      </p:pic>
    </p:spTree>
    <p:custDataLst>
      <p:tags r:id="rId1"/>
    </p:custDataLst>
    <p:extLst>
      <p:ext uri="{BB962C8B-B14F-4D97-AF65-F5344CB8AC3E}">
        <p14:creationId xmlns:p14="http://schemas.microsoft.com/office/powerpoint/2010/main" val="3271637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ub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40776E6-F3E1-DA4B-8CFE-F2F2516FB70A}"/>
              </a:ext>
            </a:extLst>
          </p:cNvPr>
          <p:cNvPicPr>
            <a:picLocks noChangeAspect="1"/>
          </p:cNvPicPr>
          <p:nvPr/>
        </p:nvPicPr>
        <p:blipFill>
          <a:blip r:embed="rId3"/>
          <a:stretch>
            <a:fillRect/>
          </a:stretch>
        </p:blipFill>
        <p:spPr>
          <a:xfrm>
            <a:off x="9840052" y="365126"/>
            <a:ext cx="1910948" cy="449072"/>
          </a:xfrm>
          <a:prstGeom prst="rect">
            <a:avLst/>
          </a:prstGeom>
        </p:spPr>
      </p:pic>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pic>
        <p:nvPicPr>
          <p:cNvPr id="7" name="Picture 6">
            <a:extLst>
              <a:ext uri="{FF2B5EF4-FFF2-40B4-BE49-F238E27FC236}">
                <a16:creationId xmlns:a16="http://schemas.microsoft.com/office/drawing/2014/main" id="{3AA315D3-3937-1747-9C2E-0067F12A02F0}"/>
              </a:ext>
            </a:extLst>
          </p:cNvPr>
          <p:cNvPicPr>
            <a:picLocks noChangeAspect="1"/>
          </p:cNvPicPr>
          <p:nvPr/>
        </p:nvPicPr>
        <p:blipFill rotWithShape="1">
          <a:blip r:embed="rId4"/>
          <a:srcRect l="75552" t="60520" r="3438" b="3809"/>
          <a:stretch/>
        </p:blipFill>
        <p:spPr>
          <a:xfrm rot="10800000">
            <a:off x="-1" y="-2"/>
            <a:ext cx="2268187" cy="2166103"/>
          </a:xfrm>
          <a:prstGeom prst="rect">
            <a:avLst/>
          </a:prstGeom>
        </p:spPr>
      </p:pic>
      <p:sp>
        <p:nvSpPr>
          <p:cNvPr id="9"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221014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596180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662951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68920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9FC43BFD-8FF7-A343-A8A6-E2338FCE8046}"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pic>
        <p:nvPicPr>
          <p:cNvPr id="12" name="Picture 11">
            <a:extLst>
              <a:ext uri="{FF2B5EF4-FFF2-40B4-BE49-F238E27FC236}">
                <a16:creationId xmlns:a16="http://schemas.microsoft.com/office/drawing/2014/main" id="{4C010055-05DB-D943-85E9-EC2AE16084DD}"/>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32531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mparison Three">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2041931"/>
            <a:ext cx="3593592" cy="4131395"/>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2041932"/>
            <a:ext cx="3593592" cy="4131394"/>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2041931"/>
            <a:ext cx="3593592" cy="4131395"/>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
        <p:nvSpPr>
          <p:cNvPr id="14"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9" name="Text Placeholder 2">
            <a:extLst>
              <a:ext uri="{FF2B5EF4-FFF2-40B4-BE49-F238E27FC236}">
                <a16:creationId xmlns:a16="http://schemas.microsoft.com/office/drawing/2014/main" id="{696A4FD3-97EE-8149-9A33-E0E6B1B0C06E}"/>
              </a:ext>
            </a:extLst>
          </p:cNvPr>
          <p:cNvSpPr>
            <a:spLocks noGrp="1"/>
          </p:cNvSpPr>
          <p:nvPr>
            <p:ph type="body" sz="quarter" idx="16"/>
          </p:nvPr>
        </p:nvSpPr>
        <p:spPr>
          <a:xfrm>
            <a:off x="4314210"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20" name="Text Placeholder 2">
            <a:extLst>
              <a:ext uri="{FF2B5EF4-FFF2-40B4-BE49-F238E27FC236}">
                <a16:creationId xmlns:a16="http://schemas.microsoft.com/office/drawing/2014/main" id="{696A4FD3-97EE-8149-9A33-E0E6B1B0C06E}"/>
              </a:ext>
            </a:extLst>
          </p:cNvPr>
          <p:cNvSpPr>
            <a:spLocks noGrp="1"/>
          </p:cNvSpPr>
          <p:nvPr>
            <p:ph type="body" sz="quarter" idx="17"/>
          </p:nvPr>
        </p:nvSpPr>
        <p:spPr>
          <a:xfrm>
            <a:off x="8173686"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Tree>
    <p:custDataLst>
      <p:tags r:id="rId1"/>
    </p:custDataLst>
    <p:extLst>
      <p:ext uri="{BB962C8B-B14F-4D97-AF65-F5344CB8AC3E}">
        <p14:creationId xmlns:p14="http://schemas.microsoft.com/office/powerpoint/2010/main" val="1675512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pic>
        <p:nvPicPr>
          <p:cNvPr id="12" name="Picture 11">
            <a:extLst>
              <a:ext uri="{FF2B5EF4-FFF2-40B4-BE49-F238E27FC236}">
                <a16:creationId xmlns:a16="http://schemas.microsoft.com/office/drawing/2014/main" id="{F4A3FF58-786E-B24E-B376-6652EC26070D}"/>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739098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p>
            <a:fld id="{9FC43BFD-8FF7-A343-A8A6-E2338FCE8046}" type="slidenum">
              <a:rPr lang="en-US" smtClean="0"/>
              <a:t>‹#›</a:t>
            </a:fld>
            <a:endParaRPr lang="en-US" dirty="0"/>
          </a:p>
        </p:txBody>
      </p:sp>
      <p:pic>
        <p:nvPicPr>
          <p:cNvPr id="9" name="Picture 8">
            <a:extLst>
              <a:ext uri="{FF2B5EF4-FFF2-40B4-BE49-F238E27FC236}">
                <a16:creationId xmlns:a16="http://schemas.microsoft.com/office/drawing/2014/main" id="{65773DE8-A996-034F-B75D-51D5ACFED07E}"/>
              </a:ext>
            </a:extLst>
          </p:cNvPr>
          <p:cNvPicPr>
            <a:picLocks noChangeAspect="1"/>
          </p:cNvPicPr>
          <p:nvPr/>
        </p:nvPicPr>
        <p:blipFill>
          <a:blip r:embed="rId4"/>
          <a:stretch>
            <a:fillRect/>
          </a:stretch>
        </p:blipFill>
        <p:spPr>
          <a:xfrm>
            <a:off x="9840052" y="365125"/>
            <a:ext cx="1910948" cy="449073"/>
          </a:xfrm>
          <a:prstGeom prst="rect">
            <a:avLst/>
          </a:prstGeom>
        </p:spPr>
      </p:pic>
      <p:sp>
        <p:nvSpPr>
          <p:cNvPr id="7" name="Footer Placeholder 4">
            <a:extLst>
              <a:ext uri="{FF2B5EF4-FFF2-40B4-BE49-F238E27FC236}">
                <a16:creationId xmlns:a16="http://schemas.microsoft.com/office/drawing/2014/main" id="{BE8EE179-7D32-EC44-9957-395A214B62C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8889600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a:p>
            <a:pPr lvl="0"/>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6300316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r>
              <a:rPr lang="en-US"/>
              <a:t>Click icon to add picture</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r>
              <a:rPr lang="en-US"/>
              <a:t>Click icon to add picture</a:t>
            </a:r>
            <a:endParaRPr lang="en-US" dirty="0"/>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r>
              <a:rPr lang="en-US"/>
              <a:t>Click icon to add picture</a:t>
            </a:r>
            <a:endParaRPr lang="en-US" dirty="0"/>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r>
              <a:rPr lang="en-US"/>
              <a:t>Click icon to add picture</a:t>
            </a:r>
          </a:p>
        </p:txBody>
      </p:sp>
      <p:pic>
        <p:nvPicPr>
          <p:cNvPr id="15" name="Picture 14">
            <a:extLst>
              <a:ext uri="{FF2B5EF4-FFF2-40B4-BE49-F238E27FC236}">
                <a16:creationId xmlns:a16="http://schemas.microsoft.com/office/drawing/2014/main" id="{D2B6CB73-644C-3C44-9950-49A93F6F36C7}"/>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610468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9FC43BFD-8FF7-A343-A8A6-E2338FCE8046}"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r>
              <a:rPr lang="en-US"/>
              <a:t>Click icon to add picture</a:t>
            </a:r>
            <a:endParaRPr lang="en-US" dirty="0"/>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r>
              <a:rPr lang="en-US"/>
              <a:t>Click icon to add picture</a:t>
            </a:r>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r>
              <a:rPr lang="en-US"/>
              <a:t>Click icon to add picture</a:t>
            </a:r>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r>
              <a:rPr lang="en-US"/>
              <a:t>Click icon to add picture</a:t>
            </a:r>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r>
              <a:rPr lang="en-US"/>
              <a:t>Click icon to add picture</a:t>
            </a:r>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r>
              <a:rPr lang="en-US"/>
              <a:t>Click icon to add picture</a:t>
            </a:r>
          </a:p>
        </p:txBody>
      </p:sp>
      <p:pic>
        <p:nvPicPr>
          <p:cNvPr id="22" name="Picture 21">
            <a:extLst>
              <a:ext uri="{FF2B5EF4-FFF2-40B4-BE49-F238E27FC236}">
                <a16:creationId xmlns:a16="http://schemas.microsoft.com/office/drawing/2014/main" id="{A5227888-88F5-4747-9B64-3DA540A538D1}"/>
              </a:ext>
            </a:extLst>
          </p:cNvPr>
          <p:cNvPicPr>
            <a:picLocks noChangeAspect="1"/>
          </p:cNvPicPr>
          <p:nvPr/>
        </p:nvPicPr>
        <p:blipFill>
          <a:blip r:embed="rId4"/>
          <a:stretch>
            <a:fillRect/>
          </a:stretch>
        </p:blipFill>
        <p:spPr>
          <a:xfrm>
            <a:off x="9840052" y="365125"/>
            <a:ext cx="1910948" cy="449073"/>
          </a:xfrm>
          <a:prstGeom prst="rect">
            <a:avLst/>
          </a:prstGeom>
        </p:spPr>
      </p:pic>
      <p:sp>
        <p:nvSpPr>
          <p:cNvPr id="21" name="Footer Placeholder 4">
            <a:extLst>
              <a:ext uri="{FF2B5EF4-FFF2-40B4-BE49-F238E27FC236}">
                <a16:creationId xmlns:a16="http://schemas.microsoft.com/office/drawing/2014/main" id="{FBF3F200-BB4F-664F-876E-B587463197E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5449386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dirty="0"/>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dirty="0"/>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dirty="0"/>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dirty="0"/>
              <a:t>Icon</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p:nvPicPr>
        <p:blipFill>
          <a:blip r:embed="rId3"/>
          <a:stretch>
            <a:fillRect/>
          </a:stretch>
        </p:blipFill>
        <p:spPr>
          <a:xfrm>
            <a:off x="9840052" y="365126"/>
            <a:ext cx="1910948"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
        <p:nvSpPr>
          <p:cNvPr id="18"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778227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p:nvPicPr>
        <p:blipFill>
          <a:blip r:embed="rId4"/>
          <a:stretch>
            <a:fillRect/>
          </a:stretch>
        </p:blipFill>
        <p:spPr>
          <a:xfrm>
            <a:off x="9840052" y="365126"/>
            <a:ext cx="1910948" cy="449073"/>
          </a:xfrm>
          <a:prstGeom prst="rect">
            <a:avLst/>
          </a:prstGeom>
        </p:spPr>
      </p:pic>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9FC43BFD-8FF7-A343-A8A6-E2338FCE8046}" type="slidenum">
              <a:rPr lang="en-US" smtClean="0"/>
              <a:t>‹#›</a:t>
            </a:fld>
            <a:endParaRPr lang="en-US" dirty="0"/>
          </a:p>
        </p:txBody>
      </p:sp>
      <p:sp>
        <p:nvSpPr>
          <p:cNvPr id="6" name="Table Placeholder 5"/>
          <p:cNvSpPr>
            <a:spLocks noGrp="1"/>
          </p:cNvSpPr>
          <p:nvPr>
            <p:ph type="tbl" sz="quarter" idx="13" hasCustomPrompt="1"/>
          </p:nvPr>
        </p:nvSpPr>
        <p:spPr>
          <a:xfrm>
            <a:off x="425196" y="1783718"/>
            <a:ext cx="11347704" cy="3931920"/>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0" i="0" u="none" strike="noStrike" baseline="0" smtClean="0">
                <a:effectLs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00" b="0" i="0" u="none" strike="noStrike" dirty="0">
                <a:effectLst/>
                <a:latin typeface="Amazon Ember Light" panose="020B0403020204020204" pitchFamily="34" charset="0"/>
              </a:rPr>
              <a:t>Edit Master table layout</a:t>
            </a:r>
            <a:endParaRPr lang="en-US" sz="1800" b="0" i="0" u="none" strike="noStrike" dirty="0">
              <a:effectLst/>
              <a:latin typeface="Arial" panose="020B0604020202020204" pitchFamily="34" charset="0"/>
            </a:endParaRPr>
          </a:p>
        </p:txBody>
      </p:sp>
      <p:sp>
        <p:nvSpPr>
          <p:cNvPr id="12"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1602344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7253938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pic>
        <p:nvPicPr>
          <p:cNvPr id="7" name="Picture 6">
            <a:extLst>
              <a:ext uri="{FF2B5EF4-FFF2-40B4-BE49-F238E27FC236}">
                <a16:creationId xmlns:a16="http://schemas.microsoft.com/office/drawing/2014/main" id="{1FCA25A4-C80D-FC44-8153-D8376A9E41FE}"/>
              </a:ext>
            </a:extLst>
          </p:cNvPr>
          <p:cNvPicPr>
            <a:picLocks noChangeAspect="1"/>
          </p:cNvPicPr>
          <p:nvPr/>
        </p:nvPicPr>
        <p:blipFill>
          <a:blip r:embed="rId3"/>
          <a:stretch>
            <a:fillRect/>
          </a:stretch>
        </p:blipFill>
        <p:spPr>
          <a:xfrm>
            <a:off x="9840052" y="365125"/>
            <a:ext cx="1910948"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Tree>
    <p:custDataLst>
      <p:tags r:id="rId1"/>
    </p:custDataLst>
    <p:extLst>
      <p:ext uri="{BB962C8B-B14F-4D97-AF65-F5344CB8AC3E}">
        <p14:creationId xmlns:p14="http://schemas.microsoft.com/office/powerpoint/2010/main" val="36594531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agram">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6ABE64-BC1B-D74A-AC1E-5232E3760A89}"/>
              </a:ext>
            </a:extLst>
          </p:cNvPr>
          <p:cNvPicPr>
            <a:picLocks noChangeAspect="1"/>
          </p:cNvPicPr>
          <p:nvPr/>
        </p:nvPicPr>
        <p:blipFill>
          <a:blip r:embed="rId3"/>
          <a:stretch>
            <a:fillRect/>
          </a:stretch>
        </p:blipFill>
        <p:spPr>
          <a:xfrm>
            <a:off x="10301048" y="6435724"/>
            <a:ext cx="878193" cy="206375"/>
          </a:xfrm>
          <a:prstGeom prst="rect">
            <a:avLst/>
          </a:prstGeom>
        </p:spPr>
      </p:pic>
      <p:sp>
        <p:nvSpPr>
          <p:cNvPr id="4"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
        <p:nvSpPr>
          <p:cNvPr id="6"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9FC43BFD-8FF7-A343-A8A6-E2338FCE8046}" type="slidenum">
              <a:rPr lang="en-US" smtClean="0"/>
              <a:t>‹#›</a:t>
            </a:fld>
            <a:endParaRPr lang="en-US" dirty="0"/>
          </a:p>
        </p:txBody>
      </p:sp>
    </p:spTree>
    <p:custDataLst>
      <p:tags r:id="rId1"/>
    </p:custDataLst>
    <p:extLst>
      <p:ext uri="{BB962C8B-B14F-4D97-AF65-F5344CB8AC3E}">
        <p14:creationId xmlns:p14="http://schemas.microsoft.com/office/powerpoint/2010/main" val="10829280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endParaRPr lang="en-US" dirty="0"/>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p>
            <a:fld id="{9FC43BFD-8FF7-A343-A8A6-E2338FCE8046}" type="slidenum">
              <a:rPr lang="en-US" smtClean="0"/>
              <a:t>‹#›</a:t>
            </a:fld>
            <a:endParaRPr lang="en-US" dirty="0"/>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076191" y="1803345"/>
            <a:ext cx="2656066" cy="1993048"/>
          </a:xfrm>
          <a:prstGeom prst="rect">
            <a:avLst/>
          </a:prstGeom>
        </p:spPr>
        <p:txBody>
          <a:bodyPr>
            <a:normAutofit/>
          </a:bodyPr>
          <a:lstStyle>
            <a:lvl1pPr marL="0" indent="0">
              <a:lnSpc>
                <a:spcPct val="100000"/>
              </a:lnSpc>
              <a:buNone/>
              <a:defRPr sz="1867"/>
            </a:lvl1pPr>
          </a:lstStyle>
          <a:p>
            <a:pPr lvl="0"/>
            <a:r>
              <a:rPr lang="en-US"/>
              <a:t>Edit Master text styles</a:t>
            </a:r>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51457" y="1803345"/>
            <a:ext cx="2656066" cy="1993048"/>
          </a:xfrm>
          <a:prstGeom prst="rect">
            <a:avLst/>
          </a:prstGeom>
        </p:spPr>
        <p:txBody>
          <a:bodyPr>
            <a:normAutofit/>
          </a:bodyPr>
          <a:lstStyle>
            <a:lvl1pPr marL="0" indent="0">
              <a:lnSpc>
                <a:spcPct val="100000"/>
              </a:lnSpc>
              <a:buNone/>
              <a:defRPr sz="1867"/>
            </a:lvl1pPr>
          </a:lstStyle>
          <a:p>
            <a:pPr lvl="0"/>
            <a:r>
              <a:rPr lang="en-US"/>
              <a:t>Edit Master text styles</a:t>
            </a:r>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19102" y="1803345"/>
            <a:ext cx="2656066" cy="1993048"/>
          </a:xfrm>
          <a:prstGeom prst="rect">
            <a:avLst/>
          </a:prstGeom>
        </p:spPr>
        <p:txBody>
          <a:bodyPr>
            <a:normAutofit/>
          </a:bodyPr>
          <a:lstStyle>
            <a:lvl1pPr marL="0" indent="0">
              <a:lnSpc>
                <a:spcPct val="100000"/>
              </a:lnSpc>
              <a:buNone/>
              <a:defRPr sz="1867"/>
            </a:lvl1pPr>
          </a:lstStyle>
          <a:p>
            <a:pPr lvl="0"/>
            <a:r>
              <a:rPr lang="en-US"/>
              <a:t>Edit Master text styles</a:t>
            </a:r>
          </a:p>
        </p:txBody>
      </p:sp>
      <p:sp>
        <p:nvSpPr>
          <p:cNvPr id="23" name="Rectangle 22">
            <a:extLst>
              <a:ext uri="{FF2B5EF4-FFF2-40B4-BE49-F238E27FC236}">
                <a16:creationId xmlns:a16="http://schemas.microsoft.com/office/drawing/2014/main" id="{95458110-5E55-0F46-BBF5-9C8F2C62151D}"/>
              </a:ext>
            </a:extLst>
          </p:cNvPr>
          <p:cNvSpPr/>
          <p:nvPr/>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Edit Master text styles</a:t>
            </a:r>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59838"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07619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90222" y="4444327"/>
            <a:ext cx="7455707" cy="1311187"/>
          </a:xfrm>
          <a:prstGeom prst="rect">
            <a:avLst/>
          </a:prstGeom>
        </p:spPr>
        <p:txBody>
          <a:bodyPr>
            <a:normAutofit/>
          </a:bodyPr>
          <a:lstStyle>
            <a:lvl1pPr marL="0" indent="0">
              <a:buNone/>
              <a:defRPr sz="2400"/>
            </a:lvl1pPr>
          </a:lstStyle>
          <a:p>
            <a:pPr lvl="0"/>
            <a:r>
              <a:rPr lang="en-US"/>
              <a:t>Edit Master text styles</a:t>
            </a:r>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90222" y="5870446"/>
            <a:ext cx="7455707" cy="413702"/>
          </a:xfrm>
          <a:prstGeom prst="rect">
            <a:avLst/>
          </a:prstGeom>
        </p:spPr>
        <p:txBody>
          <a:bodyPr>
            <a:noAutofit/>
          </a:bodyPr>
          <a:lstStyle>
            <a:lvl1pPr marL="0" indent="0">
              <a:buNone/>
              <a:defRPr sz="2000" b="0">
                <a:solidFill>
                  <a:schemeClr val="tx1"/>
                </a:solidFill>
              </a:defRPr>
            </a:lvl1pPr>
          </a:lstStyle>
          <a:p>
            <a:pPr lvl="0"/>
            <a:r>
              <a:rPr lang="en-US"/>
              <a:t>Edit Master text styles</a:t>
            </a:r>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p:nvPicPr>
        <p:blipFill>
          <a:blip r:embed="rId3"/>
          <a:stretch>
            <a:fillRect/>
          </a:stretch>
        </p:blipFill>
        <p:spPr>
          <a:xfrm>
            <a:off x="9327092" y="6089840"/>
            <a:ext cx="1910948" cy="449073"/>
          </a:xfrm>
          <a:prstGeom prst="rect">
            <a:avLst/>
          </a:prstGeom>
        </p:spPr>
      </p:pic>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600">
                <a:solidFill>
                  <a:schemeClr val="bg1"/>
                </a:solidFill>
              </a:defRPr>
            </a:lvl1pPr>
          </a:lstStyle>
          <a:p>
            <a:pPr lvl="0"/>
            <a:r>
              <a:rPr lang="en-US"/>
              <a:t>Edit Master text styles</a:t>
            </a:r>
          </a:p>
        </p:txBody>
      </p:sp>
      <p:sp>
        <p:nvSpPr>
          <p:cNvPr id="24" name="TextBox 23"/>
          <p:cNvSpPr txBox="1"/>
          <p:nvPr/>
        </p:nvSpPr>
        <p:spPr>
          <a:xfrm>
            <a:off x="290923" y="3889248"/>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600">
                <a:solidFill>
                  <a:schemeClr val="bg1"/>
                </a:solidFill>
              </a:defRPr>
            </a:lvl1pPr>
          </a:lstStyle>
          <a:p>
            <a:pPr lvl="0"/>
            <a:r>
              <a:rPr lang="en-US"/>
              <a:t>Edit Master text styles</a:t>
            </a:r>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21" name="TextBox 20"/>
          <p:cNvSpPr txBox="1"/>
          <p:nvPr/>
        </p:nvSpPr>
        <p:spPr>
          <a:xfrm>
            <a:off x="8171365" y="5105029"/>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5"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480086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endParaRPr lang="en-US" dirty="0"/>
          </a:p>
        </p:txBody>
      </p:sp>
      <p:sp>
        <p:nvSpPr>
          <p:cNvPr id="8" name="Rectangle 7">
            <a:extLst>
              <a:ext uri="{FF2B5EF4-FFF2-40B4-BE49-F238E27FC236}">
                <a16:creationId xmlns:a16="http://schemas.microsoft.com/office/drawing/2014/main" id="{A413BF5D-EF1D-5C42-8ED2-B1DC40150995}"/>
              </a:ext>
            </a:extLst>
          </p:cNvPr>
          <p:cNvSpPr/>
          <p:nvPr/>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p:nvPicPr>
        <p:blipFill>
          <a:blip r:embed="rId3"/>
          <a:stretch>
            <a:fillRect/>
          </a:stretch>
        </p:blipFill>
        <p:spPr>
          <a:xfrm>
            <a:off x="9861952" y="6089839"/>
            <a:ext cx="1910948" cy="449073"/>
          </a:xfrm>
          <a:prstGeom prst="rect">
            <a:avLst/>
          </a:prstGeom>
        </p:spPr>
      </p:pic>
      <p:sp>
        <p:nvSpPr>
          <p:cNvPr id="7"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47672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p:nvSpPr>
        <p:spPr>
          <a:xfrm>
            <a:off x="423968" y="6089839"/>
            <a:ext cx="8921913" cy="646331"/>
          </a:xfrm>
          <a:prstGeom prst="rect">
            <a:avLst/>
          </a:prstGeom>
          <a:noFill/>
        </p:spPr>
        <p:txBody>
          <a:bodyPr wrap="square" rtlCol="0">
            <a:noAutofit/>
          </a:bodyPr>
          <a:lstStyle/>
          <a:p>
            <a:pPr algn="just"/>
            <a:r>
              <a:rPr lang="en-US" sz="900" dirty="0">
                <a:solidFill>
                  <a:schemeClr val="bg1"/>
                </a:solidFill>
                <a:latin typeface="Amazon Ember Light" charset="0"/>
                <a:ea typeface="Amazon Ember Light" charset="0"/>
                <a:cs typeface="Amazon Ember Light" charset="0"/>
              </a:rPr>
              <a:t>© 2020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dirty="0">
                <a:solidFill>
                  <a:schemeClr val="bg1"/>
                </a:solidFill>
                <a:latin typeface="Amazon Ember Light" charset="0"/>
                <a:ea typeface="Amazon Ember Light" charset="0"/>
                <a:cs typeface="Amazon Ember Light" charset="0"/>
              </a:rPr>
              <a:t>aws-course-feedback@amazon.com</a:t>
            </a:r>
            <a:r>
              <a:rPr lang="en-US" sz="900" dirty="0">
                <a:solidFill>
                  <a:schemeClr val="bg1"/>
                </a:solidFill>
                <a:latin typeface="Amazon Ember Light" charset="0"/>
                <a:ea typeface="Amazon Ember Light" charset="0"/>
                <a:cs typeface="Amazon Ember Light" charset="0"/>
              </a:rPr>
              <a:t>. For all other questions, contact us at: </a:t>
            </a:r>
            <a:r>
              <a:rPr lang="en-US" sz="900" u="sng" dirty="0">
                <a:solidFill>
                  <a:schemeClr val="bg1"/>
                </a:solidFill>
                <a:latin typeface="Amazon Ember Light" charset="0"/>
                <a:ea typeface="Amazon Ember Light" charset="0"/>
                <a:cs typeface="Amazon Ember Light" charset="0"/>
              </a:rPr>
              <a:t>https://aws.amazon.com/contact-us/aws-training/</a:t>
            </a:r>
            <a:r>
              <a:rPr lang="en-US" sz="900" dirty="0">
                <a:solidFill>
                  <a:schemeClr val="bg1"/>
                </a:solidFill>
                <a:latin typeface="Amazon Ember Light" charset="0"/>
                <a:ea typeface="Amazon Ember Light" charset="0"/>
                <a:cs typeface="Amazon Ember Light" charset="0"/>
              </a:rPr>
              <a:t>. All trademarks are the property of their owners.</a:t>
            </a:r>
          </a:p>
          <a:p>
            <a:pPr algn="just"/>
            <a:endParaRPr lang="en-US" sz="900" dirty="0"/>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dirty="0"/>
              <a:t>Thank you</a:t>
            </a:r>
          </a:p>
        </p:txBody>
      </p:sp>
      <p:pic>
        <p:nvPicPr>
          <p:cNvPr id="6" name="Picture 5">
            <a:extLst>
              <a:ext uri="{FF2B5EF4-FFF2-40B4-BE49-F238E27FC236}">
                <a16:creationId xmlns:a16="http://schemas.microsoft.com/office/drawing/2014/main" id="{6A16C103-182D-5A4F-A1B6-033D37C57060}"/>
              </a:ext>
            </a:extLst>
          </p:cNvPr>
          <p:cNvPicPr>
            <a:picLocks noChangeAspect="1"/>
          </p:cNvPicPr>
          <p:nvPr/>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1461329778"/>
      </p:ext>
    </p:extLst>
  </p:cSld>
  <p:clrMapOvr>
    <a:masterClrMapping/>
  </p:clrMapOvr>
  <p:extLst mod="1">
    <p:ext uri="{DCECCB84-F9BA-43D5-87BE-67443E8EF086}">
      <p15:sldGuideLst xmlns:p15="http://schemas.microsoft.com/office/powerpoint/2012/main">
        <p15:guide id="1" orient="horz" pos="2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36732" y="2688719"/>
            <a:ext cx="6609493" cy="834496"/>
          </a:xfrm>
        </p:spPr>
        <p:txBody>
          <a:bodyPr anchor="b">
            <a:noAutofit/>
          </a:bodyPr>
          <a:lstStyle>
            <a:lvl1pPr algn="l">
              <a:defRPr sz="4000"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3" name="Subtitle 2"/>
          <p:cNvSpPr>
            <a:spLocks noGrp="1"/>
          </p:cNvSpPr>
          <p:nvPr>
            <p:ph type="subTitle" idx="1"/>
          </p:nvPr>
        </p:nvSpPr>
        <p:spPr>
          <a:xfrm>
            <a:off x="5436733" y="3523215"/>
            <a:ext cx="6056582" cy="418570"/>
          </a:xfrm>
        </p:spPr>
        <p:txBody>
          <a:bodyPr>
            <a:normAutofit/>
          </a:bodyPr>
          <a:lstStyle>
            <a:lvl1pPr marL="0" indent="0" algn="l">
              <a:buNone/>
              <a:defRPr sz="2000" b="0" i="0">
                <a:solidFill>
                  <a:schemeClr val="bg1"/>
                </a:solidFill>
                <a:latin typeface="Amazon Ember Light" charset="0"/>
                <a:ea typeface="Amazon Ember Light" charset="0"/>
                <a:cs typeface="Amazon Ember Light"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graphicFrame>
        <p:nvGraphicFramePr>
          <p:cNvPr id="12" name="Object 11">
            <a:extLst>
              <a:ext uri="{FF2B5EF4-FFF2-40B4-BE49-F238E27FC236}">
                <a16:creationId xmlns:a16="http://schemas.microsoft.com/office/drawing/2014/main" id="{80DEBD7B-5FA9-4992-A601-EB72CF549893}"/>
              </a:ext>
            </a:extLst>
          </p:cNvPr>
          <p:cNvGraphicFramePr>
            <a:graphicFrameLocks noChangeAspect="1"/>
          </p:cNvGraphicFramePr>
          <p:nvPr userDrawn="1">
            <p:extLst>
              <p:ext uri="{D42A27DB-BD31-4B8C-83A1-F6EECF244321}">
                <p14:modId xmlns:p14="http://schemas.microsoft.com/office/powerpoint/2010/main" val="3795127093"/>
              </p:ext>
            </p:extLst>
          </p:nvPr>
        </p:nvGraphicFramePr>
        <p:xfrm>
          <a:off x="12185650" y="25400"/>
          <a:ext cx="9525" cy="6858000"/>
        </p:xfrm>
        <a:graphic>
          <a:graphicData uri="http://schemas.openxmlformats.org/presentationml/2006/ole">
            <mc:AlternateContent xmlns:mc="http://schemas.openxmlformats.org/markup-compatibility/2006">
              <mc:Choice xmlns:v="urn:schemas-microsoft-com:vml" Requires="v">
                <p:oleObj spid="_x0000_s4164" name="Image" r:id="rId3" imgW="12600" imgH="9142560" progId="Photoshop.Image.17">
                  <p:embed/>
                </p:oleObj>
              </mc:Choice>
              <mc:Fallback>
                <p:oleObj name="Image" r:id="rId3" imgW="12600" imgH="9142560" progId="Photoshop.Image.17">
                  <p:embed/>
                  <p:pic>
                    <p:nvPicPr>
                      <p:cNvPr id="12" name="Object 11">
                        <a:extLst>
                          <a:ext uri="{FF2B5EF4-FFF2-40B4-BE49-F238E27FC236}">
                            <a16:creationId xmlns:a16="http://schemas.microsoft.com/office/drawing/2014/main" id="{80DEBD7B-5FA9-4992-A601-EB72CF549893}"/>
                          </a:ext>
                        </a:extLst>
                      </p:cNvPr>
                      <p:cNvPicPr/>
                      <p:nvPr/>
                    </p:nvPicPr>
                    <p:blipFill>
                      <a:blip r:embed="rId4"/>
                      <a:stretch>
                        <a:fillRect/>
                      </a:stretch>
                    </p:blipFill>
                    <p:spPr>
                      <a:xfrm>
                        <a:off x="12185650" y="25400"/>
                        <a:ext cx="9525" cy="6858000"/>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7120EA26-A6C6-4FDA-A6D6-DC0B8AAABE75}"/>
              </a:ext>
            </a:extLst>
          </p:cNvPr>
          <p:cNvGraphicFramePr>
            <a:graphicFrameLocks noChangeAspect="1"/>
          </p:cNvGraphicFramePr>
          <p:nvPr userDrawn="1">
            <p:extLst>
              <p:ext uri="{D42A27DB-BD31-4B8C-83A1-F6EECF244321}">
                <p14:modId xmlns:p14="http://schemas.microsoft.com/office/powerpoint/2010/main" val="4063715000"/>
              </p:ext>
            </p:extLst>
          </p:nvPr>
        </p:nvGraphicFramePr>
        <p:xfrm>
          <a:off x="12186206" y="0"/>
          <a:ext cx="9525" cy="6858000"/>
        </p:xfrm>
        <a:graphic>
          <a:graphicData uri="http://schemas.openxmlformats.org/presentationml/2006/ole">
            <mc:AlternateContent xmlns:mc="http://schemas.openxmlformats.org/markup-compatibility/2006">
              <mc:Choice xmlns:v="urn:schemas-microsoft-com:vml" Requires="v">
                <p:oleObj spid="_x0000_s4165" name="Image" r:id="rId5" imgW="12600" imgH="9142560" progId="Photoshop.Image.17">
                  <p:embed/>
                </p:oleObj>
              </mc:Choice>
              <mc:Fallback>
                <p:oleObj name="Image" r:id="rId5" imgW="12600" imgH="9142560" progId="Photoshop.Image.17">
                  <p:embed/>
                  <p:pic>
                    <p:nvPicPr>
                      <p:cNvPr id="13" name="Object 12">
                        <a:extLst>
                          <a:ext uri="{FF2B5EF4-FFF2-40B4-BE49-F238E27FC236}">
                            <a16:creationId xmlns:a16="http://schemas.microsoft.com/office/drawing/2014/main" id="{7120EA26-A6C6-4FDA-A6D6-DC0B8AAABE75}"/>
                          </a:ext>
                        </a:extLst>
                      </p:cNvPr>
                      <p:cNvPicPr/>
                      <p:nvPr/>
                    </p:nvPicPr>
                    <p:blipFill>
                      <a:blip r:embed="rId4"/>
                      <a:stretch>
                        <a:fillRect/>
                      </a:stretch>
                    </p:blipFill>
                    <p:spPr>
                      <a:xfrm>
                        <a:off x="12186206" y="0"/>
                        <a:ext cx="9525" cy="6858000"/>
                      </a:xfrm>
                      <a:prstGeom prst="rect">
                        <a:avLst/>
                      </a:prstGeom>
                    </p:spPr>
                  </p:pic>
                </p:oleObj>
              </mc:Fallback>
            </mc:AlternateContent>
          </a:graphicData>
        </a:graphic>
      </p:graphicFrame>
      <p:pic>
        <p:nvPicPr>
          <p:cNvPr id="4" name="Picture 3"/>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912306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62608" y="2770243"/>
            <a:ext cx="11115261" cy="779463"/>
          </a:xfrm>
        </p:spPr>
        <p:txBody>
          <a:bodyPr>
            <a:noAutofit/>
          </a:bodyPr>
          <a:lstStyle>
            <a:lvl1pPr>
              <a:defRPr sz="6000"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6" name="Slide Number Placeholder 5"/>
          <p:cNvSpPr>
            <a:spLocks noGrp="1"/>
          </p:cNvSpPr>
          <p:nvPr>
            <p:ph type="sldNum" sz="quarter" idx="12"/>
          </p:nvPr>
        </p:nvSpPr>
        <p:spPr/>
        <p:txBody>
          <a:bodyPr/>
          <a:lstStyle>
            <a:lvl1pPr>
              <a:defRPr b="0" i="0">
                <a:solidFill>
                  <a:schemeClr val="bg1"/>
                </a:solidFill>
                <a:latin typeface="Helvetica Neue LT Std 65 Medium" charset="0"/>
                <a:ea typeface="Helvetica Neue LT Std 65 Medium" charset="0"/>
                <a:cs typeface="Helvetica Neue LT Std 65 Medium" charset="0"/>
              </a:defRPr>
            </a:lvl1pPr>
          </a:lstStyle>
          <a:p>
            <a:fld id="{9FC43BFD-8FF7-A343-A8A6-E2338FCE8046}" type="slidenum">
              <a:rPr lang="en-US" smtClean="0"/>
              <a:pPr/>
              <a:t>‹#›</a:t>
            </a:fld>
            <a:endParaRPr lang="en-US" dirty="0"/>
          </a:p>
        </p:txBody>
      </p:sp>
    </p:spTree>
    <p:extLst>
      <p:ext uri="{BB962C8B-B14F-4D97-AF65-F5344CB8AC3E}">
        <p14:creationId xmlns:p14="http://schemas.microsoft.com/office/powerpoint/2010/main" val="22046219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
            <a:ext cx="12193268" cy="6858713"/>
          </a:xfrm>
          <a:prstGeom prst="rect">
            <a:avLst/>
          </a:prstGeom>
        </p:spPr>
      </p:pic>
      <p:sp>
        <p:nvSpPr>
          <p:cNvPr id="2" name="Title 1"/>
          <p:cNvSpPr>
            <a:spLocks noGrp="1"/>
          </p:cNvSpPr>
          <p:nvPr userDrawn="1">
            <p:ph type="title"/>
          </p:nvPr>
        </p:nvSpPr>
        <p:spPr>
          <a:xfrm>
            <a:off x="238539" y="263527"/>
            <a:ext cx="11115261" cy="779463"/>
          </a:xfrm>
        </p:spPr>
        <p:txBody>
          <a:bodyPr/>
          <a:lstStyle>
            <a:lvl1pPr>
              <a:defRPr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3" name="Content Placeholder 2"/>
          <p:cNvSpPr>
            <a:spLocks noGrp="1"/>
          </p:cNvSpPr>
          <p:nvPr userDrawn="1">
            <p:ph idx="1"/>
          </p:nvPr>
        </p:nvSpPr>
        <p:spPr>
          <a:xfrm>
            <a:off x="238539" y="1440305"/>
            <a:ext cx="5075583" cy="4913308"/>
          </a:xfrm>
        </p:spPr>
        <p:txBody>
          <a:bodyPr/>
          <a:lstStyle>
            <a:lvl1pPr marL="344488" indent="-344488">
              <a:buFontTx/>
              <a:buBlip>
                <a:blip r:embed="rId4"/>
              </a:buBlip>
              <a:defRPr b="0" i="0">
                <a:solidFill>
                  <a:schemeClr val="tx1"/>
                </a:solidFill>
                <a:latin typeface="Amazon Ember Light" charset="0"/>
                <a:ea typeface="Amazon Ember Light" charset="0"/>
                <a:cs typeface="Amazon Ember Light" charset="0"/>
              </a:defRPr>
            </a:lvl1pPr>
            <a:lvl2pPr marL="796925" indent="-339725">
              <a:buFontTx/>
              <a:buBlip>
                <a:blip r:embed="rId4"/>
              </a:buBlip>
              <a:defRPr b="0" i="0">
                <a:solidFill>
                  <a:schemeClr val="tx1"/>
                </a:solidFill>
                <a:latin typeface="Amazon Ember Light" charset="0"/>
                <a:ea typeface="Amazon Ember Light" charset="0"/>
                <a:cs typeface="Amazon Ember Light" charset="0"/>
              </a:defRPr>
            </a:lvl2pPr>
            <a:lvl3pPr marL="1258888" indent="-344488">
              <a:buFontTx/>
              <a:buBlip>
                <a:blip r:embed="rId4"/>
              </a:buBlip>
              <a:defRPr b="0" i="0">
                <a:solidFill>
                  <a:schemeClr val="tx1"/>
                </a:solidFill>
                <a:latin typeface="Amazon Ember Light" charset="0"/>
                <a:ea typeface="Amazon Ember Light" charset="0"/>
                <a:cs typeface="Amazon Ember Light" charset="0"/>
              </a:defRPr>
            </a:lvl3pPr>
            <a:lvl4pPr marL="1711325" indent="-336550">
              <a:buFontTx/>
              <a:buBlip>
                <a:blip r:embed="rId4"/>
              </a:buBlip>
              <a:defRPr b="0" i="0">
                <a:solidFill>
                  <a:schemeClr val="tx1"/>
                </a:solidFill>
                <a:latin typeface="Amazon Ember Light" charset="0"/>
                <a:ea typeface="Amazon Ember Light" charset="0"/>
                <a:cs typeface="Amazon Ember Light" charset="0"/>
              </a:defRPr>
            </a:lvl4pPr>
            <a:lvl5pPr marL="2173288" indent="-344488">
              <a:buFontTx/>
              <a:buBlip>
                <a:blip r:embed="rId4"/>
              </a:buBlip>
              <a:defRPr b="0" i="0">
                <a:solidFill>
                  <a:schemeClr val="tx1"/>
                </a:solidFill>
                <a:latin typeface="Amazon Ember Light" charset="0"/>
                <a:ea typeface="Amazon Ember Light" charset="0"/>
                <a:cs typeface="Amazon Ember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userDrawn="1">
            <p:ph type="sldNum" sz="quarter" idx="12"/>
          </p:nvPr>
        </p:nvSpPr>
        <p:spPr/>
        <p:txBody>
          <a:bodyPr/>
          <a:lstStyle>
            <a:lvl1pPr>
              <a:defRPr b="0" i="0">
                <a:solidFill>
                  <a:schemeClr val="tx1"/>
                </a:solidFill>
                <a:latin typeface="Helvetica Neue LT Std 65 Medium" charset="0"/>
                <a:ea typeface="Helvetica Neue LT Std 65 Medium" charset="0"/>
                <a:cs typeface="Helvetica Neue LT Std 65 Medium" charset="0"/>
              </a:defRPr>
            </a:lvl1pPr>
          </a:lstStyle>
          <a:p>
            <a:fld id="{9FC43BFD-8FF7-A343-A8A6-E2338FCE8046}" type="slidenum">
              <a:rPr lang="en-US" smtClean="0"/>
              <a:pPr/>
              <a:t>‹#›</a:t>
            </a:fld>
            <a:endParaRPr lang="en-US" dirty="0"/>
          </a:p>
        </p:txBody>
      </p:sp>
      <p:graphicFrame>
        <p:nvGraphicFramePr>
          <p:cNvPr id="11" name="Object 10">
            <a:extLst>
              <a:ext uri="{FF2B5EF4-FFF2-40B4-BE49-F238E27FC236}">
                <a16:creationId xmlns:a16="http://schemas.microsoft.com/office/drawing/2014/main" id="{203EF237-8DE6-4679-839B-F52D6B83D301}"/>
              </a:ext>
            </a:extLst>
          </p:cNvPr>
          <p:cNvGraphicFramePr>
            <a:graphicFrameLocks noChangeAspect="1"/>
          </p:cNvGraphicFramePr>
          <p:nvPr userDrawn="1">
            <p:extLst/>
          </p:nvPr>
        </p:nvGraphicFramePr>
        <p:xfrm>
          <a:off x="12175800" y="-31440"/>
          <a:ext cx="9525" cy="6858000"/>
        </p:xfrm>
        <a:graphic>
          <a:graphicData uri="http://schemas.openxmlformats.org/presentationml/2006/ole">
            <mc:AlternateContent xmlns:mc="http://schemas.openxmlformats.org/markup-compatibility/2006">
              <mc:Choice xmlns:v="urn:schemas-microsoft-com:vml" Requires="v">
                <p:oleObj spid="_x0000_s3414" name="Image" r:id="rId5" imgW="12600" imgH="9142560" progId="Photoshop.Image.17">
                  <p:embed/>
                </p:oleObj>
              </mc:Choice>
              <mc:Fallback>
                <p:oleObj name="Image" r:id="rId5" imgW="12600" imgH="9142560" progId="Photoshop.Image.17">
                  <p:embed/>
                  <p:pic>
                    <p:nvPicPr>
                      <p:cNvPr id="0" name=""/>
                      <p:cNvPicPr/>
                      <p:nvPr/>
                    </p:nvPicPr>
                    <p:blipFill>
                      <a:blip r:embed="rId6"/>
                      <a:stretch>
                        <a:fillRect/>
                      </a:stretch>
                    </p:blipFill>
                    <p:spPr>
                      <a:xfrm>
                        <a:off x="12175800" y="-31440"/>
                        <a:ext cx="9525" cy="6858000"/>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96387C53-21CC-4861-A773-CA9C4A46D5DF}"/>
              </a:ext>
            </a:extLst>
          </p:cNvPr>
          <p:cNvSpPr/>
          <p:nvPr userDrawn="1"/>
        </p:nvSpPr>
        <p:spPr>
          <a:xfrm>
            <a:off x="12099313" y="6815016"/>
            <a:ext cx="9395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ntent Placeholder 2"/>
          <p:cNvSpPr>
            <a:spLocks noGrp="1"/>
          </p:cNvSpPr>
          <p:nvPr>
            <p:ph idx="13"/>
          </p:nvPr>
        </p:nvSpPr>
        <p:spPr>
          <a:xfrm>
            <a:off x="5796169" y="1440305"/>
            <a:ext cx="5075583" cy="4913308"/>
          </a:xfrm>
        </p:spPr>
        <p:txBody>
          <a:bodyPr/>
          <a:lstStyle>
            <a:lvl1pPr marL="344488" indent="-344488">
              <a:buFontTx/>
              <a:buBlip>
                <a:blip r:embed="rId4"/>
              </a:buBlip>
              <a:defRPr b="0" i="0">
                <a:solidFill>
                  <a:schemeClr val="tx1"/>
                </a:solidFill>
                <a:latin typeface="Amazon Ember Light" charset="0"/>
                <a:ea typeface="Amazon Ember Light" charset="0"/>
                <a:cs typeface="Amazon Ember Light" charset="0"/>
              </a:defRPr>
            </a:lvl1pPr>
            <a:lvl2pPr marL="796925" indent="-339725">
              <a:buFontTx/>
              <a:buBlip>
                <a:blip r:embed="rId4"/>
              </a:buBlip>
              <a:defRPr b="0" i="0">
                <a:solidFill>
                  <a:schemeClr val="tx1"/>
                </a:solidFill>
                <a:latin typeface="Amazon Ember Light" charset="0"/>
                <a:ea typeface="Amazon Ember Light" charset="0"/>
                <a:cs typeface="Amazon Ember Light" charset="0"/>
              </a:defRPr>
            </a:lvl2pPr>
            <a:lvl3pPr marL="1258888" indent="-344488">
              <a:buFontTx/>
              <a:buBlip>
                <a:blip r:embed="rId4"/>
              </a:buBlip>
              <a:defRPr b="0" i="0">
                <a:solidFill>
                  <a:schemeClr val="tx1"/>
                </a:solidFill>
                <a:latin typeface="Amazon Ember Light" charset="0"/>
                <a:ea typeface="Amazon Ember Light" charset="0"/>
                <a:cs typeface="Amazon Ember Light" charset="0"/>
              </a:defRPr>
            </a:lvl3pPr>
            <a:lvl4pPr marL="1711325" indent="-339725">
              <a:buFontTx/>
              <a:buBlip>
                <a:blip r:embed="rId4"/>
              </a:buBlip>
              <a:defRPr b="0" i="0">
                <a:solidFill>
                  <a:schemeClr val="tx1"/>
                </a:solidFill>
                <a:latin typeface="Amazon Ember Light" charset="0"/>
                <a:ea typeface="Amazon Ember Light" charset="0"/>
                <a:cs typeface="Amazon Ember Light" charset="0"/>
              </a:defRPr>
            </a:lvl4pPr>
            <a:lvl5pPr marL="2117725" indent="-288925">
              <a:buFontTx/>
              <a:buBlip>
                <a:blip r:embed="rId4"/>
              </a:buBlip>
              <a:defRPr b="0" i="0">
                <a:solidFill>
                  <a:schemeClr val="tx1"/>
                </a:solidFill>
                <a:latin typeface="Amazon Ember Light" charset="0"/>
                <a:ea typeface="Amazon Ember Light" charset="0"/>
                <a:cs typeface="Amazon Ember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Box 11"/>
          <p:cNvSpPr txBox="1"/>
          <p:nvPr userDrawn="1"/>
        </p:nvSpPr>
        <p:spPr>
          <a:xfrm>
            <a:off x="251791" y="6480313"/>
            <a:ext cx="4108174" cy="230832"/>
          </a:xfrm>
          <a:prstGeom prst="rect">
            <a:avLst/>
          </a:prstGeom>
          <a:noFill/>
        </p:spPr>
        <p:txBody>
          <a:bodyPr wrap="square" rtlCol="0">
            <a:spAutoFit/>
          </a:bodyPr>
          <a:lstStyle/>
          <a:p>
            <a:r>
              <a:rPr lang="en-US" sz="900" b="0" i="0" dirty="0">
                <a:solidFill>
                  <a:schemeClr val="tx1">
                    <a:lumMod val="85000"/>
                    <a:lumOff val="15000"/>
                  </a:schemeClr>
                </a:solidFill>
                <a:latin typeface="Amazon Ember Light" charset="0"/>
                <a:ea typeface="Amazon Ember Light" charset="0"/>
                <a:cs typeface="Amazon Ember Light" charset="0"/>
              </a:rPr>
              <a:t>© 2020, Amazon Web Services, Inc. or its Affiliates. All rights reserved.</a:t>
            </a:r>
          </a:p>
        </p:txBody>
      </p:sp>
    </p:spTree>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One Colum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85D7E4-B6B6-1943-8262-63D8CB9E7680}"/>
              </a:ext>
            </a:extLst>
          </p:cNvPr>
          <p:cNvPicPr>
            <a:picLocks noChangeAspect="1"/>
          </p:cNvPicPr>
          <p:nvPr userDrawn="1"/>
        </p:nvPicPr>
        <p:blipFill>
          <a:blip r:embed="rId2"/>
          <a:stretch>
            <a:fillRect/>
          </a:stretch>
        </p:blipFill>
        <p:spPr>
          <a:xfrm>
            <a:off x="2471" y="895"/>
            <a:ext cx="12187065" cy="6856213"/>
          </a:xfrm>
          <a:prstGeom prst="rect">
            <a:avLst/>
          </a:prstGeom>
        </p:spPr>
      </p:pic>
      <p:sp>
        <p:nvSpPr>
          <p:cNvPr id="2" name="Title 1"/>
          <p:cNvSpPr>
            <a:spLocks noGrp="1"/>
          </p:cNvSpPr>
          <p:nvPr userDrawn="1">
            <p:ph type="title"/>
          </p:nvPr>
        </p:nvSpPr>
        <p:spPr>
          <a:xfrm>
            <a:off x="419100" y="263532"/>
            <a:ext cx="9092762" cy="779463"/>
          </a:xfrm>
        </p:spPr>
        <p:txBody>
          <a:bodyPr/>
          <a:lstStyle>
            <a:lvl1pPr>
              <a:defRPr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12" name="TextBox 11"/>
          <p:cNvSpPr txBox="1"/>
          <p:nvPr userDrawn="1"/>
        </p:nvSpPr>
        <p:spPr>
          <a:xfrm>
            <a:off x="419100" y="6480313"/>
            <a:ext cx="4108174" cy="230832"/>
          </a:xfrm>
          <a:prstGeom prst="rect">
            <a:avLst/>
          </a:prstGeom>
          <a:noFill/>
        </p:spPr>
        <p:txBody>
          <a:bodyPr wrap="square" rtlCol="0">
            <a:spAutoFit/>
          </a:bodyPr>
          <a:lstStyle/>
          <a:p>
            <a:r>
              <a:rPr lang="en-US" sz="900" b="0" i="0" dirty="0">
                <a:solidFill>
                  <a:schemeClr val="tx1">
                    <a:lumMod val="85000"/>
                    <a:lumOff val="15000"/>
                  </a:schemeClr>
                </a:solidFill>
                <a:latin typeface="Amazon Ember Light" charset="0"/>
                <a:ea typeface="Amazon Ember Light" charset="0"/>
                <a:cs typeface="Amazon Ember Light" charset="0"/>
              </a:rPr>
              <a:t>© 2020, Amazon Web Services, Inc. or its Affiliates. All rights reserved.</a:t>
            </a:r>
          </a:p>
        </p:txBody>
      </p:sp>
      <p:sp>
        <p:nvSpPr>
          <p:cNvPr id="11" name="Slide Number Placeholder 5">
            <a:extLst>
              <a:ext uri="{FF2B5EF4-FFF2-40B4-BE49-F238E27FC236}">
                <a16:creationId xmlns:a16="http://schemas.microsoft.com/office/drawing/2014/main" id="{621D42AA-576A-CF49-8722-A41914DE957D}"/>
              </a:ext>
            </a:extLst>
          </p:cNvPr>
          <p:cNvSpPr>
            <a:spLocks noGrp="1"/>
          </p:cNvSpPr>
          <p:nvPr>
            <p:ph type="sldNum" sz="quarter" idx="4"/>
          </p:nvPr>
        </p:nvSpPr>
        <p:spPr>
          <a:xfrm>
            <a:off x="9007365" y="6415344"/>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A3D2F37-7CDD-994A-90F6-DC311907F511}" type="slidenum">
              <a:rPr lang="en-US" smtClean="0"/>
              <a:pPr/>
              <a:t>‹#›</a:t>
            </a:fld>
            <a:endParaRPr lang="en-US" dirty="0"/>
          </a:p>
        </p:txBody>
      </p:sp>
      <p:sp>
        <p:nvSpPr>
          <p:cNvPr id="5" name="Content Placeholder 4">
            <a:extLst>
              <a:ext uri="{FF2B5EF4-FFF2-40B4-BE49-F238E27FC236}">
                <a16:creationId xmlns:a16="http://schemas.microsoft.com/office/drawing/2014/main" id="{8445D985-8542-3D40-BE34-01A0B692B60F}"/>
              </a:ext>
            </a:extLst>
          </p:cNvPr>
          <p:cNvSpPr>
            <a:spLocks noGrp="1"/>
          </p:cNvSpPr>
          <p:nvPr>
            <p:ph sz="quarter" idx="10"/>
          </p:nvPr>
        </p:nvSpPr>
        <p:spPr>
          <a:xfrm>
            <a:off x="419210" y="1425040"/>
            <a:ext cx="11353582" cy="4785261"/>
          </a:xfrm>
        </p:spPr>
        <p:txBody>
          <a:bodyPr lIns="91440"/>
          <a:lstStyle>
            <a:lvl1pPr>
              <a:buClr>
                <a:srgbClr val="FF9900"/>
              </a:buClr>
              <a:defRPr/>
            </a:lvl1pPr>
            <a:lvl2pPr>
              <a:buClr>
                <a:srgbClr val="FF9900"/>
              </a:buClr>
              <a:defRPr/>
            </a:lvl2pPr>
            <a:lvl3pPr>
              <a:buClr>
                <a:srgbClr val="FF9900"/>
              </a:buClr>
              <a:defRPr/>
            </a:lvl3pPr>
            <a:lvl4pPr>
              <a:buClr>
                <a:srgbClr val="FF9900"/>
              </a:buClr>
              <a:defRPr/>
            </a:lvl4pPr>
            <a:lvl5pPr>
              <a:buClr>
                <a:srgbClr val="FF9900"/>
              </a:buCl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60400263"/>
      </p:ext>
    </p:extLst>
  </p:cSld>
  <p:clrMapOvr>
    <a:masterClrMapping/>
  </p:clrMapOvr>
  <p:extLst mod="1">
    <p:ext uri="{DCECCB84-F9BA-43D5-87BE-67443E8EF086}">
      <p15:sldGuideLst xmlns:p15="http://schemas.microsoft.com/office/powerpoint/2012/main">
        <p15:guide id="1" pos="264">
          <p15:clr>
            <a:srgbClr val="FBAE40"/>
          </p15:clr>
        </p15:guide>
        <p15:guide id="2" pos="7414">
          <p15:clr>
            <a:srgbClr val="FBAE40"/>
          </p15:clr>
        </p15:guide>
        <p15:guide id="3" orient="horz" pos="417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wo Colum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D7B7379-CAB7-4F4B-B402-A6B7640F364A}"/>
              </a:ext>
            </a:extLst>
          </p:cNvPr>
          <p:cNvPicPr>
            <a:picLocks noChangeAspect="1"/>
          </p:cNvPicPr>
          <p:nvPr userDrawn="1"/>
        </p:nvPicPr>
        <p:blipFill>
          <a:blip r:embed="rId2"/>
          <a:stretch>
            <a:fillRect/>
          </a:stretch>
        </p:blipFill>
        <p:spPr>
          <a:xfrm>
            <a:off x="2471" y="895"/>
            <a:ext cx="12187065" cy="6856213"/>
          </a:xfrm>
          <a:prstGeom prst="rect">
            <a:avLst/>
          </a:prstGeom>
        </p:spPr>
      </p:pic>
      <p:sp>
        <p:nvSpPr>
          <p:cNvPr id="9" name="Content Placeholder 4">
            <a:extLst>
              <a:ext uri="{FF2B5EF4-FFF2-40B4-BE49-F238E27FC236}">
                <a16:creationId xmlns:a16="http://schemas.microsoft.com/office/drawing/2014/main" id="{FAE55676-65CC-6446-93DB-6F9F4F6AB6C8}"/>
              </a:ext>
            </a:extLst>
          </p:cNvPr>
          <p:cNvSpPr>
            <a:spLocks noGrp="1"/>
          </p:cNvSpPr>
          <p:nvPr>
            <p:ph sz="quarter" idx="10"/>
          </p:nvPr>
        </p:nvSpPr>
        <p:spPr>
          <a:xfrm>
            <a:off x="419209" y="1425040"/>
            <a:ext cx="5484364" cy="4785261"/>
          </a:xfrm>
        </p:spPr>
        <p:txBody>
          <a:bodyPr lIns="91440"/>
          <a:lstStyle>
            <a:lvl1pPr>
              <a:buClr>
                <a:srgbClr val="FF9900"/>
              </a:buClr>
              <a:defRPr/>
            </a:lvl1pPr>
            <a:lvl2pPr>
              <a:buClr>
                <a:srgbClr val="FF9900"/>
              </a:buClr>
              <a:defRPr/>
            </a:lvl2pPr>
            <a:lvl3pPr>
              <a:buClr>
                <a:srgbClr val="FF9900"/>
              </a:buClr>
              <a:defRPr/>
            </a:lvl3pPr>
            <a:lvl4pPr>
              <a:buClr>
                <a:srgbClr val="FF9900"/>
              </a:buClr>
              <a:defRPr/>
            </a:lvl4pPr>
            <a:lvl5pPr>
              <a:buClr>
                <a:srgbClr val="FF9900"/>
              </a:buCl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userDrawn="1">
            <p:ph type="title"/>
          </p:nvPr>
        </p:nvSpPr>
        <p:spPr>
          <a:xfrm>
            <a:off x="419100" y="263532"/>
            <a:ext cx="9092762" cy="779463"/>
          </a:xfrm>
        </p:spPr>
        <p:txBody>
          <a:bodyPr/>
          <a:lstStyle>
            <a:lvl1pPr>
              <a:defRPr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12" name="TextBox 11"/>
          <p:cNvSpPr txBox="1"/>
          <p:nvPr userDrawn="1"/>
        </p:nvSpPr>
        <p:spPr>
          <a:xfrm>
            <a:off x="419100" y="6480313"/>
            <a:ext cx="4108174" cy="230832"/>
          </a:xfrm>
          <a:prstGeom prst="rect">
            <a:avLst/>
          </a:prstGeom>
          <a:noFill/>
        </p:spPr>
        <p:txBody>
          <a:bodyPr wrap="square" rtlCol="0">
            <a:spAutoFit/>
          </a:bodyPr>
          <a:lstStyle/>
          <a:p>
            <a:r>
              <a:rPr lang="en-US" sz="900" b="0" i="0" dirty="0">
                <a:solidFill>
                  <a:schemeClr val="tx1">
                    <a:lumMod val="85000"/>
                    <a:lumOff val="15000"/>
                  </a:schemeClr>
                </a:solidFill>
                <a:latin typeface="Amazon Ember Light" charset="0"/>
                <a:ea typeface="Amazon Ember Light" charset="0"/>
                <a:cs typeface="Amazon Ember Light" charset="0"/>
              </a:rPr>
              <a:t>© 2020, Amazon Web Services, Inc. or its Affiliates. All rights reserved.</a:t>
            </a:r>
          </a:p>
        </p:txBody>
      </p:sp>
      <p:sp>
        <p:nvSpPr>
          <p:cNvPr id="11" name="Slide Number Placeholder 5">
            <a:extLst>
              <a:ext uri="{FF2B5EF4-FFF2-40B4-BE49-F238E27FC236}">
                <a16:creationId xmlns:a16="http://schemas.microsoft.com/office/drawing/2014/main" id="{621D42AA-576A-CF49-8722-A41914DE957D}"/>
              </a:ext>
            </a:extLst>
          </p:cNvPr>
          <p:cNvSpPr>
            <a:spLocks noGrp="1"/>
          </p:cNvSpPr>
          <p:nvPr>
            <p:ph type="sldNum" sz="quarter" idx="4"/>
          </p:nvPr>
        </p:nvSpPr>
        <p:spPr>
          <a:xfrm>
            <a:off x="9007365" y="6415344"/>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A3D2F37-7CDD-994A-90F6-DC311907F511}" type="slidenum">
              <a:rPr lang="en-US" smtClean="0"/>
              <a:pPr/>
              <a:t>‹#›</a:t>
            </a:fld>
            <a:endParaRPr lang="en-US" dirty="0"/>
          </a:p>
        </p:txBody>
      </p:sp>
      <p:sp>
        <p:nvSpPr>
          <p:cNvPr id="13" name="Content Placeholder 4">
            <a:extLst>
              <a:ext uri="{FF2B5EF4-FFF2-40B4-BE49-F238E27FC236}">
                <a16:creationId xmlns:a16="http://schemas.microsoft.com/office/drawing/2014/main" id="{FF9A79C8-7B01-D943-A21E-809A6F80EF0E}"/>
              </a:ext>
            </a:extLst>
          </p:cNvPr>
          <p:cNvSpPr>
            <a:spLocks noGrp="1"/>
          </p:cNvSpPr>
          <p:nvPr>
            <p:ph sz="quarter" idx="11"/>
          </p:nvPr>
        </p:nvSpPr>
        <p:spPr>
          <a:xfrm>
            <a:off x="6153020" y="1425040"/>
            <a:ext cx="5608921" cy="4785261"/>
          </a:xfrm>
        </p:spPr>
        <p:txBody>
          <a:bodyPr lIns="91440"/>
          <a:lstStyle>
            <a:lvl1pPr>
              <a:buClr>
                <a:srgbClr val="FF9900"/>
              </a:buClr>
              <a:defRPr/>
            </a:lvl1pPr>
            <a:lvl2pPr>
              <a:buClr>
                <a:srgbClr val="FF9900"/>
              </a:buClr>
              <a:defRPr/>
            </a:lvl2pPr>
            <a:lvl3pPr>
              <a:buClr>
                <a:srgbClr val="FF9900"/>
              </a:buClr>
              <a:defRPr/>
            </a:lvl3pPr>
            <a:lvl4pPr>
              <a:buClr>
                <a:srgbClr val="FF9900"/>
              </a:buClr>
              <a:defRPr/>
            </a:lvl4pPr>
            <a:lvl5pPr>
              <a:buClr>
                <a:srgbClr val="FF9900"/>
              </a:buCl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30278711"/>
      </p:ext>
    </p:extLst>
  </p:cSld>
  <p:clrMapOvr>
    <a:masterClrMapping/>
  </p:clrMapOvr>
  <p:extLst mod="1">
    <p:ext uri="{DCECCB84-F9BA-43D5-87BE-67443E8EF086}">
      <p15:sldGuideLst xmlns:p15="http://schemas.microsoft.com/office/powerpoint/2012/main">
        <p15:guide id="1" pos="264">
          <p15:clr>
            <a:srgbClr val="FBAE40"/>
          </p15:clr>
        </p15:guide>
        <p15:guide id="2" pos="7414">
          <p15:clr>
            <a:srgbClr val="FBAE40"/>
          </p15:clr>
        </p15:guide>
        <p15:guide id="3" orient="horz" pos="417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fld id="{9FC43BFD-8FF7-A343-A8A6-E2338FCE8046}" type="slidenum">
              <a:rPr lang="en-US" smtClean="0"/>
              <a:t>‹#›</a:t>
            </a:fld>
            <a:endParaRPr lang="en-US" dirty="0"/>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endParaRPr lang="en-US" dirty="0"/>
          </a:p>
        </p:txBody>
      </p:sp>
    </p:spTree>
    <p:custDataLst>
      <p:tags r:id="rId29"/>
    </p:custDataLst>
    <p:extLst>
      <p:ext uri="{BB962C8B-B14F-4D97-AF65-F5344CB8AC3E}">
        <p14:creationId xmlns:p14="http://schemas.microsoft.com/office/powerpoint/2010/main" val="4289123633"/>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 id="2147483705" r:id="rId24"/>
    <p:sldLayoutId id="2147483674" r:id="rId25"/>
    <p:sldLayoutId id="2147483679" r:id="rId26"/>
    <p:sldLayoutId id="2147483680" r:id="rId27"/>
  </p:sldLayoutIdLst>
  <p:hf hdr="0" dt="0"/>
  <p:txStyles>
    <p:titleStyle>
      <a:lvl1pPr algn="l" defTabSz="914400" rtl="0" eaLnBrk="1" latinLnBrk="0" hangingPunct="1">
        <a:lnSpc>
          <a:spcPct val="90000"/>
        </a:lnSpc>
        <a:spcBef>
          <a:spcPct val="0"/>
        </a:spcBef>
        <a:buNone/>
        <a:defRPr sz="4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5.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2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7.xml"/><Relationship Id="rId1" Type="http://schemas.openxmlformats.org/officeDocument/2006/relationships/tags" Target="../tags/tag29.xml"/><Relationship Id="rId6" Type="http://schemas.openxmlformats.org/officeDocument/2006/relationships/image" Target="../media/image12.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19.png"/><Relationship Id="rId2" Type="http://schemas.openxmlformats.org/officeDocument/2006/relationships/slideLayout" Target="../slideLayouts/slideLayout17.xml"/><Relationship Id="rId1" Type="http://schemas.openxmlformats.org/officeDocument/2006/relationships/tags" Target="../tags/tag3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7.xml"/><Relationship Id="rId1" Type="http://schemas.openxmlformats.org/officeDocument/2006/relationships/tags" Target="../tags/tag31.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7.xml"/><Relationship Id="rId1" Type="http://schemas.openxmlformats.org/officeDocument/2006/relationships/tags" Target="../tags/tag32.xml"/><Relationship Id="rId5" Type="http://schemas.openxmlformats.org/officeDocument/2006/relationships/image" Target="../media/image19.png"/><Relationship Id="rId4" Type="http://schemas.openxmlformats.org/officeDocument/2006/relationships/hyperlink" Target="http://sqs.us-east-1.amazonaws.com/123456789012/Queue1"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7.xml"/><Relationship Id="rId1" Type="http://schemas.openxmlformats.org/officeDocument/2006/relationships/tags" Target="../tags/tag33.xml"/><Relationship Id="rId5" Type="http://schemas.openxmlformats.org/officeDocument/2006/relationships/image" Target="../media/image18.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3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7.xml"/><Relationship Id="rId1" Type="http://schemas.openxmlformats.org/officeDocument/2006/relationships/tags" Target="../tags/tag35.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3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3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3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39.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7.xml"/><Relationship Id="rId1" Type="http://schemas.openxmlformats.org/officeDocument/2006/relationships/tags" Target="../tags/tag40.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4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4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4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7.xml"/><Relationship Id="rId1" Type="http://schemas.openxmlformats.org/officeDocument/2006/relationships/tags" Target="../tags/tag44.xml"/></Relationships>
</file>

<file path=ppt/slides/_rels/slide2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notesSlide" Target="../notesSlides/notesSlide26.xml"/><Relationship Id="rId7" Type="http://schemas.openxmlformats.org/officeDocument/2006/relationships/image" Target="../media/image22.png"/><Relationship Id="rId2" Type="http://schemas.openxmlformats.org/officeDocument/2006/relationships/slideLayout" Target="../slideLayouts/slideLayout17.xml"/><Relationship Id="rId1" Type="http://schemas.openxmlformats.org/officeDocument/2006/relationships/tags" Target="../tags/tag45.xml"/><Relationship Id="rId6" Type="http://schemas.openxmlformats.org/officeDocument/2006/relationships/image" Target="../media/image18.png"/><Relationship Id="rId5" Type="http://schemas.openxmlformats.org/officeDocument/2006/relationships/image" Target="../media/image21.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7.xml"/><Relationship Id="rId1" Type="http://schemas.openxmlformats.org/officeDocument/2006/relationships/tags" Target="../tags/tag47.xml"/><Relationship Id="rId5" Type="http://schemas.openxmlformats.org/officeDocument/2006/relationships/image" Target="../media/image19.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7" Type="http://schemas.openxmlformats.org/officeDocument/2006/relationships/image" Target="../media/image23.png"/><Relationship Id="rId2" Type="http://schemas.openxmlformats.org/officeDocument/2006/relationships/slideLayout" Target="../slideLayouts/slideLayout5.xml"/><Relationship Id="rId1" Type="http://schemas.openxmlformats.org/officeDocument/2006/relationships/tags" Target="../tags/tag48.xml"/><Relationship Id="rId6" Type="http://schemas.openxmlformats.org/officeDocument/2006/relationships/image" Target="../media/image19.png"/><Relationship Id="rId5" Type="http://schemas.openxmlformats.org/officeDocument/2006/relationships/image" Target="../media/image24.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49.xml"/></Relationships>
</file>

<file path=ppt/slides/_rels/slide3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notesSlide" Target="../notesSlides/notesSlide31.xml"/><Relationship Id="rId7" Type="http://schemas.openxmlformats.org/officeDocument/2006/relationships/image" Target="../media/image24.png"/><Relationship Id="rId2" Type="http://schemas.openxmlformats.org/officeDocument/2006/relationships/slideLayout" Target="../slideLayouts/slideLayout17.xml"/><Relationship Id="rId1" Type="http://schemas.openxmlformats.org/officeDocument/2006/relationships/tags" Target="../tags/tag50.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16.png"/><Relationship Id="rId4" Type="http://schemas.openxmlformats.org/officeDocument/2006/relationships/image" Target="../media/image25.png"/><Relationship Id="rId9"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7.xml"/><Relationship Id="rId1" Type="http://schemas.openxmlformats.org/officeDocument/2006/relationships/tags" Target="../tags/tag51.xml"/></Relationships>
</file>

<file path=ppt/slides/_rels/slide3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notesSlide" Target="../notesSlides/notesSlide33.xml"/><Relationship Id="rId7" Type="http://schemas.openxmlformats.org/officeDocument/2006/relationships/image" Target="../media/image24.png"/><Relationship Id="rId2" Type="http://schemas.openxmlformats.org/officeDocument/2006/relationships/slideLayout" Target="../slideLayouts/slideLayout17.xml"/><Relationship Id="rId1" Type="http://schemas.openxmlformats.org/officeDocument/2006/relationships/tags" Target="../tags/tag52.xml"/><Relationship Id="rId6" Type="http://schemas.openxmlformats.org/officeDocument/2006/relationships/image" Target="../media/image16.png"/><Relationship Id="rId5" Type="http://schemas.openxmlformats.org/officeDocument/2006/relationships/image" Target="../media/image23.png"/><Relationship Id="rId4" Type="http://schemas.openxmlformats.org/officeDocument/2006/relationships/image" Target="../media/image26.png"/><Relationship Id="rId9"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7.xml"/><Relationship Id="rId1" Type="http://schemas.openxmlformats.org/officeDocument/2006/relationships/tags" Target="../tags/tag5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1.xml"/><Relationship Id="rId1" Type="http://schemas.openxmlformats.org/officeDocument/2006/relationships/tags" Target="../tags/tag5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5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56.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57.xml"/><Relationship Id="rId4" Type="http://schemas.openxmlformats.org/officeDocument/2006/relationships/comments" Target="../comments/comment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59.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tags" Target="../tags/tag60.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16.png"/></Relationships>
</file>

<file path=ppt/slides/_rels/slide4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notesSlide" Target="../notesSlides/notesSlide42.xml"/><Relationship Id="rId7" Type="http://schemas.openxmlformats.org/officeDocument/2006/relationships/image" Target="../media/image32.png"/><Relationship Id="rId2" Type="http://schemas.openxmlformats.org/officeDocument/2006/relationships/slideLayout" Target="../slideLayouts/slideLayout17.xml"/><Relationship Id="rId1" Type="http://schemas.openxmlformats.org/officeDocument/2006/relationships/tags" Target="../tags/tag61.xml"/><Relationship Id="rId6" Type="http://schemas.openxmlformats.org/officeDocument/2006/relationships/image" Target="../media/image31.png"/><Relationship Id="rId5" Type="http://schemas.openxmlformats.org/officeDocument/2006/relationships/image" Target="../media/image29.png"/><Relationship Id="rId4" Type="http://schemas.openxmlformats.org/officeDocument/2006/relationships/image" Target="../media/image16.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tags" Target="../tags/tag6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tags" Target="../tags/tag64.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4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notesSlide" Target="../notesSlides/notesSlide47.xml"/><Relationship Id="rId7" Type="http://schemas.openxmlformats.org/officeDocument/2006/relationships/image" Target="../media/image18.png"/><Relationship Id="rId2" Type="http://schemas.openxmlformats.org/officeDocument/2006/relationships/slideLayout" Target="../slideLayouts/slideLayout5.xml"/><Relationship Id="rId1" Type="http://schemas.openxmlformats.org/officeDocument/2006/relationships/tags" Target="../tags/tag66.xml"/><Relationship Id="rId6" Type="http://schemas.openxmlformats.org/officeDocument/2006/relationships/image" Target="../media/image23.png"/><Relationship Id="rId5" Type="http://schemas.openxmlformats.org/officeDocument/2006/relationships/image" Target="../media/image16.png"/><Relationship Id="rId4" Type="http://schemas.openxmlformats.org/officeDocument/2006/relationships/image" Target="../media/image33.png"/><Relationship Id="rId9" Type="http://schemas.openxmlformats.org/officeDocument/2006/relationships/image" Target="../media/image34.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xml"/><Relationship Id="rId1" Type="http://schemas.openxmlformats.org/officeDocument/2006/relationships/tags" Target="../tags/tag67.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2.xml"/><Relationship Id="rId1" Type="http://schemas.openxmlformats.org/officeDocument/2006/relationships/tags" Target="../tags/tag68.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5.xml"/><Relationship Id="rId1" Type="http://schemas.openxmlformats.org/officeDocument/2006/relationships/tags" Target="../tags/tag7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j-lt"/>
                <a:ea typeface="Amazon Ember" panose="02000000000000000000" pitchFamily="2" charset="0"/>
              </a:rPr>
              <a:t>Module 9:</a:t>
            </a:r>
            <a:r>
              <a:rPr lang="en-US" dirty="0">
                <a:latin typeface="+mj-lt"/>
              </a:rPr>
              <a:t> Developing </a:t>
            </a:r>
            <a:r>
              <a:rPr lang="en-US" dirty="0">
                <a:solidFill>
                  <a:srgbClr val="FFFFFF"/>
                </a:solidFill>
                <a:latin typeface="+mj-lt"/>
              </a:rPr>
              <a:t>solutions</a:t>
            </a:r>
            <a:r>
              <a:rPr lang="en-US" dirty="0">
                <a:latin typeface="+mj-lt"/>
              </a:rPr>
              <a:t> with Amazon SQS and</a:t>
            </a:r>
            <a:br>
              <a:rPr lang="en-US" dirty="0">
                <a:latin typeface="+mj-lt"/>
              </a:rPr>
            </a:br>
            <a:r>
              <a:rPr lang="en-US" dirty="0">
                <a:latin typeface="+mj-lt"/>
              </a:rPr>
              <a:t>Amazon SNS</a:t>
            </a:r>
          </a:p>
        </p:txBody>
      </p:sp>
    </p:spTree>
    <p:custDataLst>
      <p:tags r:id="rId1"/>
    </p:custDataLst>
    <p:extLst>
      <p:ext uri="{BB962C8B-B14F-4D97-AF65-F5344CB8AC3E}">
        <p14:creationId xmlns:p14="http://schemas.microsoft.com/office/powerpoint/2010/main" val="25898718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overview</a:t>
            </a:r>
          </a:p>
        </p:txBody>
      </p:sp>
      <p:sp>
        <p:nvSpPr>
          <p:cNvPr id="3" name="Content Placeholder 2"/>
          <p:cNvSpPr>
            <a:spLocks noGrp="1"/>
          </p:cNvSpPr>
          <p:nvPr>
            <p:ph idx="1"/>
          </p:nvPr>
        </p:nvSpPr>
        <p:spPr/>
        <p:txBody>
          <a:bodyPr/>
          <a:lstStyle/>
          <a:p>
            <a:r>
              <a:rPr lang="en-US" dirty="0">
                <a:latin typeface="+mj-lt"/>
              </a:rPr>
              <a:t>Why </a:t>
            </a:r>
            <a:r>
              <a:rPr lang="en-US" dirty="0" smtClean="0">
                <a:latin typeface="+mj-lt"/>
              </a:rPr>
              <a:t>use </a:t>
            </a:r>
            <a:r>
              <a:rPr lang="en-US" dirty="0">
                <a:latin typeface="+mj-lt"/>
              </a:rPr>
              <a:t>a q</a:t>
            </a:r>
            <a:r>
              <a:rPr lang="en-US" dirty="0" smtClean="0">
                <a:latin typeface="+mj-lt"/>
              </a:rPr>
              <a:t>ueueing </a:t>
            </a:r>
            <a:r>
              <a:rPr lang="en-US" dirty="0">
                <a:solidFill>
                  <a:srgbClr val="000000"/>
                </a:solidFill>
                <a:latin typeface="+mj-lt"/>
              </a:rPr>
              <a:t>s</a:t>
            </a:r>
            <a:r>
              <a:rPr lang="en-US" dirty="0" smtClean="0">
                <a:solidFill>
                  <a:srgbClr val="000000"/>
                </a:solidFill>
                <a:latin typeface="+mj-lt"/>
              </a:rPr>
              <a:t>ervice</a:t>
            </a:r>
            <a:r>
              <a:rPr lang="en-US" dirty="0">
                <a:latin typeface="+mj-lt"/>
              </a:rPr>
              <a:t>?</a:t>
            </a:r>
          </a:p>
          <a:p>
            <a:r>
              <a:rPr lang="en-US" dirty="0">
                <a:latin typeface="+mj-lt"/>
              </a:rPr>
              <a:t>Developing with </a:t>
            </a:r>
            <a:r>
              <a:rPr lang="en-US" dirty="0">
                <a:solidFill>
                  <a:srgbClr val="000000"/>
                </a:solidFill>
                <a:latin typeface="+mj-lt"/>
              </a:rPr>
              <a:t>Amazon Simple Queue </a:t>
            </a:r>
            <a:r>
              <a:rPr lang="en-US" dirty="0" smtClean="0">
                <a:solidFill>
                  <a:srgbClr val="000000"/>
                </a:solidFill>
                <a:latin typeface="+mj-lt"/>
              </a:rPr>
              <a:t>Service</a:t>
            </a:r>
            <a:endParaRPr lang="en-US" dirty="0">
              <a:latin typeface="+mj-lt"/>
            </a:endParaRPr>
          </a:p>
          <a:p>
            <a:r>
              <a:rPr lang="en-US" dirty="0">
                <a:latin typeface="+mj-lt"/>
              </a:rPr>
              <a:t>Developing with </a:t>
            </a:r>
            <a:r>
              <a:rPr lang="en-US" dirty="0">
                <a:solidFill>
                  <a:srgbClr val="000000"/>
                </a:solidFill>
                <a:latin typeface="+mj-lt"/>
              </a:rPr>
              <a:t>Amazon Simple Notification </a:t>
            </a:r>
            <a:r>
              <a:rPr lang="en-US" dirty="0" smtClean="0">
                <a:solidFill>
                  <a:srgbClr val="000000"/>
                </a:solidFill>
                <a:latin typeface="+mj-lt"/>
              </a:rPr>
              <a:t>Service</a:t>
            </a:r>
            <a:endParaRPr lang="en-US" dirty="0">
              <a:latin typeface="+mj-lt"/>
            </a:endParaRPr>
          </a:p>
          <a:p>
            <a:r>
              <a:rPr lang="en-US" dirty="0">
                <a:latin typeface="+mj-lt"/>
              </a:rPr>
              <a:t>Developing with Amazon MQ</a:t>
            </a:r>
          </a:p>
          <a:p>
            <a:r>
              <a:rPr lang="en-US" dirty="0" smtClean="0">
                <a:latin typeface="+mj-lt"/>
              </a:rPr>
              <a:t>Wrap-up</a:t>
            </a:r>
            <a:endParaRPr lang="en-US" dirty="0">
              <a:latin typeface="+mj-lt"/>
            </a:endParaRPr>
          </a:p>
          <a:p>
            <a:pPr marL="0" indent="0">
              <a:buNone/>
            </a:pPr>
            <a:endParaRPr lang="en-US" i="1" dirty="0">
              <a:latin typeface="+mj-lt"/>
            </a:endParaRPr>
          </a:p>
          <a:p>
            <a:pPr marL="0" indent="0">
              <a:buNone/>
            </a:pPr>
            <a:r>
              <a:rPr lang="en-US" dirty="0">
                <a:latin typeface="+mj-lt"/>
              </a:rPr>
              <a:t>Lab</a:t>
            </a:r>
          </a:p>
          <a:p>
            <a:r>
              <a:rPr lang="en-US" dirty="0">
                <a:latin typeface="+mj-lt"/>
              </a:rPr>
              <a:t>Developing </a:t>
            </a:r>
            <a:r>
              <a:rPr lang="en-US" dirty="0" smtClean="0">
                <a:latin typeface="+mj-lt"/>
              </a:rPr>
              <a:t>messaging </a:t>
            </a:r>
            <a:r>
              <a:rPr lang="en-US" dirty="0">
                <a:solidFill>
                  <a:srgbClr val="000000"/>
                </a:solidFill>
                <a:latin typeface="+mj-lt"/>
              </a:rPr>
              <a:t>s</a:t>
            </a:r>
            <a:r>
              <a:rPr lang="en-US" dirty="0" smtClean="0">
                <a:solidFill>
                  <a:srgbClr val="000000"/>
                </a:solidFill>
                <a:latin typeface="+mj-lt"/>
              </a:rPr>
              <a:t>olutions</a:t>
            </a:r>
            <a:r>
              <a:rPr lang="en-US" dirty="0" smtClean="0">
                <a:latin typeface="+mj-lt"/>
              </a:rPr>
              <a:t> </a:t>
            </a:r>
            <a:r>
              <a:rPr lang="en-US" dirty="0">
                <a:latin typeface="+mj-lt"/>
              </a:rPr>
              <a:t>with </a:t>
            </a:r>
            <a:r>
              <a:rPr lang="en-US" dirty="0" smtClean="0">
                <a:latin typeface="+mj-lt"/>
              </a:rPr>
              <a:t>Amazon </a:t>
            </a:r>
            <a:r>
              <a:rPr lang="en-US" dirty="0" smtClean="0">
                <a:solidFill>
                  <a:srgbClr val="000000"/>
                </a:solidFill>
                <a:latin typeface="+mj-lt"/>
              </a:rPr>
              <a:t>SQS</a:t>
            </a:r>
            <a:r>
              <a:rPr lang="en-US" dirty="0" smtClean="0">
                <a:latin typeface="+mj-lt"/>
              </a:rPr>
              <a:t> </a:t>
            </a:r>
            <a:r>
              <a:rPr lang="en-US" dirty="0">
                <a:latin typeface="+mj-lt"/>
              </a:rPr>
              <a:t>and </a:t>
            </a:r>
            <a:r>
              <a:rPr lang="en-US" dirty="0" smtClean="0">
                <a:latin typeface="+mj-lt"/>
              </a:rPr>
              <a:t>Amazon </a:t>
            </a:r>
            <a:r>
              <a:rPr lang="en-US" dirty="0" smtClean="0">
                <a:solidFill>
                  <a:srgbClr val="000000"/>
                </a:solidFill>
                <a:latin typeface="+mj-lt"/>
              </a:rPr>
              <a:t>SNS</a:t>
            </a:r>
            <a:endParaRPr lang="en-US" dirty="0">
              <a:solidFill>
                <a:srgbClr val="000000"/>
              </a:solidFill>
              <a:latin typeface="+mj-lt"/>
            </a:endParaRPr>
          </a:p>
          <a:p>
            <a:endParaRPr lang="en-US" dirty="0"/>
          </a:p>
          <a:p>
            <a:endParaRPr lang="en-US" i="1"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9FC43BFD-8FF7-A343-A8A6-E2338FCE8046}" type="slidenum">
              <a:rPr lang="en-US" smtClean="0"/>
              <a:pPr/>
              <a:t>2</a:t>
            </a:fld>
            <a:endParaRPr lang="en-US" dirty="0"/>
          </a:p>
        </p:txBody>
      </p:sp>
      <p:sp>
        <p:nvSpPr>
          <p:cNvPr id="6" name="Rounded Rectangle 5"/>
          <p:cNvSpPr/>
          <p:nvPr/>
        </p:nvSpPr>
        <p:spPr>
          <a:xfrm>
            <a:off x="9982200" y="5416745"/>
            <a:ext cx="1848473" cy="730327"/>
          </a:xfrm>
          <a:prstGeom prst="roundRect">
            <a:avLst/>
          </a:prstGeom>
          <a:ln>
            <a:noFill/>
          </a:ln>
        </p:spPr>
        <p:style>
          <a:lnRef idx="1">
            <a:schemeClr val="dk1"/>
          </a:lnRef>
          <a:fillRef idx="3">
            <a:schemeClr val="dk1"/>
          </a:fillRef>
          <a:effectRef idx="2">
            <a:schemeClr val="dk1"/>
          </a:effectRef>
          <a:fontRef idx="minor">
            <a:schemeClr val="lt1"/>
          </a:fontRef>
        </p:style>
        <p:txBody>
          <a:bodyPr rot="0" spcFirstLastPara="0" vert="horz" wrap="square" lIns="121920" tIns="60960" rIns="121920" bIns="6096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400" dirty="0">
                <a:latin typeface="Amazon Ember" charset="0"/>
              </a:rPr>
              <a:t>Labs</a:t>
            </a:r>
          </a:p>
        </p:txBody>
      </p:sp>
      <p:sp>
        <p:nvSpPr>
          <p:cNvPr id="8" name="Footer Placeholder 7"/>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6376455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Why use a queueing </a:t>
            </a:r>
            <a:r>
              <a:rPr lang="en-US" dirty="0">
                <a:solidFill>
                  <a:srgbClr val="FFFFFF"/>
                </a:solidFill>
              </a:rPr>
              <a:t>service</a:t>
            </a:r>
            <a:r>
              <a:rPr lang="en-US" dirty="0"/>
              <a:t>?</a:t>
            </a:r>
          </a:p>
        </p:txBody>
      </p:sp>
      <p:sp>
        <p:nvSpPr>
          <p:cNvPr id="3" name="Slide Number Placeholder 2"/>
          <p:cNvSpPr>
            <a:spLocks noGrp="1"/>
          </p:cNvSpPr>
          <p:nvPr>
            <p:ph type="sldNum" sz="quarter" idx="4294967295"/>
          </p:nvPr>
        </p:nvSpPr>
        <p:spPr>
          <a:xfrm>
            <a:off x="9448800" y="6356350"/>
            <a:ext cx="2743200" cy="365125"/>
          </a:xfrm>
        </p:spPr>
        <p:txBody>
          <a:bodyPr/>
          <a:lstStyle/>
          <a:p>
            <a:fld id="{9FC43BFD-8FF7-A343-A8A6-E2338FCE8046}" type="slidenum">
              <a:rPr lang="en-US" smtClean="0"/>
              <a:pPr/>
              <a:t>3</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5531417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7" name="Straight Connector 56"/>
          <p:cNvCxnSpPr/>
          <p:nvPr/>
        </p:nvCxnSpPr>
        <p:spPr>
          <a:xfrm flipV="1">
            <a:off x="6804766" y="5198387"/>
            <a:ext cx="3496710" cy="1440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6810450" y="2785998"/>
            <a:ext cx="3496710" cy="1440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Synchronous process</a:t>
            </a:r>
          </a:p>
        </p:txBody>
      </p:sp>
      <p:sp>
        <p:nvSpPr>
          <p:cNvPr id="3" name="Slide Number Placeholder 2"/>
          <p:cNvSpPr>
            <a:spLocks noGrp="1"/>
          </p:cNvSpPr>
          <p:nvPr>
            <p:ph type="sldNum" sz="quarter" idx="12"/>
          </p:nvPr>
        </p:nvSpPr>
        <p:spPr/>
        <p:txBody>
          <a:bodyPr/>
          <a:lstStyle/>
          <a:p>
            <a:fld id="{B6A95138-A96E-2F42-A959-2EFD44FE4AB7}" type="slidenum">
              <a:rPr lang="en-US" smtClean="0"/>
              <a:t>4</a:t>
            </a:fld>
            <a:endParaRPr lang="en-US"/>
          </a:p>
        </p:txBody>
      </p:sp>
      <p:sp>
        <p:nvSpPr>
          <p:cNvPr id="4" name="Footer Placeholder 3"/>
          <p:cNvSpPr>
            <a:spLocks noGrp="1"/>
          </p:cNvSpPr>
          <p:nvPr>
            <p:ph type="ftr" sz="quarter" idx="3"/>
          </p:nvPr>
        </p:nvSpPr>
        <p:spPr/>
        <p:txBody>
          <a:bodyPr/>
          <a:lstStyle/>
          <a:p>
            <a:r>
              <a:rPr lang="en-US"/>
              <a:t>© 2020 Amazon Web Services, Inc. or its Affiliates. All rights reserved.</a:t>
            </a:r>
            <a:endParaRPr lang="en-US" dirty="0"/>
          </a:p>
        </p:txBody>
      </p:sp>
      <p:sp>
        <p:nvSpPr>
          <p:cNvPr id="7" name="Rectangle 6"/>
          <p:cNvSpPr/>
          <p:nvPr/>
        </p:nvSpPr>
        <p:spPr>
          <a:xfrm>
            <a:off x="1372278" y="4918665"/>
            <a:ext cx="2138767" cy="57146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1"/>
                </a:solidFill>
              </a:rPr>
              <a:t>Consumer</a:t>
            </a:r>
          </a:p>
        </p:txBody>
      </p:sp>
      <p:sp>
        <p:nvSpPr>
          <p:cNvPr id="8" name="Rectangle 7"/>
          <p:cNvSpPr/>
          <p:nvPr/>
        </p:nvSpPr>
        <p:spPr>
          <a:xfrm>
            <a:off x="1372278" y="2499123"/>
            <a:ext cx="2138767" cy="57146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1"/>
                </a:solidFill>
                <a:latin typeface="+mj-lt"/>
                <a:ea typeface="Amazon Ember" panose="02000000000000000000" pitchFamily="2" charset="0"/>
              </a:rPr>
              <a:t>Producer</a:t>
            </a:r>
          </a:p>
        </p:txBody>
      </p:sp>
      <p:sp>
        <p:nvSpPr>
          <p:cNvPr id="10" name="TextBox 9"/>
          <p:cNvSpPr txBox="1"/>
          <p:nvPr/>
        </p:nvSpPr>
        <p:spPr>
          <a:xfrm>
            <a:off x="5539056" y="5397399"/>
            <a:ext cx="987771" cy="584775"/>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rPr>
              <a:t>Process</a:t>
            </a:r>
            <a:br>
              <a:rPr lang="en-US" sz="1600" dirty="0">
                <a:latin typeface="Amazon Ember" panose="02000000000000000000" pitchFamily="2" charset="0"/>
                <a:ea typeface="Amazon Ember" panose="02000000000000000000" pitchFamily="2" charset="0"/>
              </a:rPr>
            </a:br>
            <a:r>
              <a:rPr lang="en-US" sz="1600" dirty="0">
                <a:latin typeface="Amazon Ember" panose="02000000000000000000" pitchFamily="2" charset="0"/>
                <a:ea typeface="Amazon Ember" panose="02000000000000000000" pitchFamily="2" charset="0"/>
              </a:rPr>
              <a:t>message</a:t>
            </a:r>
          </a:p>
        </p:txBody>
      </p:sp>
      <p:sp>
        <p:nvSpPr>
          <p:cNvPr id="11" name="TextBox 10"/>
          <p:cNvSpPr txBox="1"/>
          <p:nvPr/>
        </p:nvSpPr>
        <p:spPr>
          <a:xfrm>
            <a:off x="5350129" y="1975180"/>
            <a:ext cx="1495124" cy="830997"/>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rPr>
              <a:t>Wait for</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message</a:t>
            </a:r>
            <a:r>
              <a:rPr lang="en-US" sz="1600" dirty="0">
                <a:latin typeface="Amazon Ember" panose="02000000000000000000" pitchFamily="2" charset="0"/>
                <a:ea typeface="Amazon Ember" panose="02000000000000000000" pitchFamily="2" charset="0"/>
              </a:rPr>
              <a:t> </a:t>
            </a:r>
            <a:r>
              <a:rPr lang="en-US" sz="1600" dirty="0">
                <a:solidFill>
                  <a:srgbClr val="000000"/>
                </a:solidFill>
                <a:latin typeface="Amazon Ember" panose="02000000000000000000" pitchFamily="2" charset="0"/>
                <a:ea typeface="Amazon Ember" panose="02000000000000000000" pitchFamily="2" charset="0"/>
              </a:rPr>
              <a:t>to</a:t>
            </a:r>
            <a:r>
              <a:rPr lang="en-US" sz="1600" dirty="0">
                <a:latin typeface="Amazon Ember" panose="02000000000000000000" pitchFamily="2" charset="0"/>
                <a:ea typeface="Amazon Ember" panose="02000000000000000000" pitchFamily="2" charset="0"/>
              </a:rPr>
              <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be</a:t>
            </a:r>
            <a:r>
              <a:rPr lang="en-US" sz="1600" dirty="0">
                <a:latin typeface="Amazon Ember" panose="02000000000000000000" pitchFamily="2" charset="0"/>
                <a:ea typeface="Amazon Ember" panose="02000000000000000000" pitchFamily="2" charset="0"/>
              </a:rPr>
              <a:t> processed</a:t>
            </a:r>
          </a:p>
        </p:txBody>
      </p:sp>
      <p:sp>
        <p:nvSpPr>
          <p:cNvPr id="13" name="TextBox 12"/>
          <p:cNvSpPr txBox="1"/>
          <p:nvPr/>
        </p:nvSpPr>
        <p:spPr>
          <a:xfrm>
            <a:off x="9212637" y="5384823"/>
            <a:ext cx="987771" cy="584775"/>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rPr>
              <a:t>Process</a:t>
            </a:r>
            <a:br>
              <a:rPr lang="en-US" sz="1600" dirty="0">
                <a:latin typeface="Amazon Ember" panose="02000000000000000000" pitchFamily="2" charset="0"/>
                <a:ea typeface="Amazon Ember" panose="02000000000000000000" pitchFamily="2" charset="0"/>
              </a:rPr>
            </a:br>
            <a:r>
              <a:rPr lang="en-US" sz="1600" dirty="0">
                <a:latin typeface="Amazon Ember" panose="02000000000000000000" pitchFamily="2" charset="0"/>
                <a:ea typeface="Amazon Ember" panose="02000000000000000000" pitchFamily="2" charset="0"/>
              </a:rPr>
              <a:t>message</a:t>
            </a:r>
          </a:p>
        </p:txBody>
      </p:sp>
      <p:sp>
        <p:nvSpPr>
          <p:cNvPr id="15" name="TextBox 14"/>
          <p:cNvSpPr txBox="1"/>
          <p:nvPr/>
        </p:nvSpPr>
        <p:spPr>
          <a:xfrm>
            <a:off x="3868660" y="1975180"/>
            <a:ext cx="1091967" cy="584775"/>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rPr>
              <a:t>Generate </a:t>
            </a:r>
          </a:p>
          <a:p>
            <a:pPr algn="ctr"/>
            <a:r>
              <a:rPr lang="en-US" sz="1600" dirty="0">
                <a:solidFill>
                  <a:srgbClr val="000000"/>
                </a:solidFill>
                <a:latin typeface="Amazon Ember" panose="02000000000000000000" pitchFamily="2" charset="0"/>
                <a:ea typeface="Amazon Ember" panose="02000000000000000000" pitchFamily="2" charset="0"/>
              </a:rPr>
              <a:t>message</a:t>
            </a:r>
            <a:endParaRPr lang="en-US" sz="1600" dirty="0">
              <a:solidFill>
                <a:srgbClr val="000000"/>
              </a:solidFill>
              <a:latin typeface="Amazon Ember" panose="02000000000000000000"/>
              <a:ea typeface="Amazon Ember" panose="02000000000000000000" pitchFamily="2" charset="0"/>
            </a:endParaRPr>
          </a:p>
        </p:txBody>
      </p:sp>
      <p:sp>
        <p:nvSpPr>
          <p:cNvPr id="16" name="TextBox 15"/>
          <p:cNvSpPr txBox="1"/>
          <p:nvPr/>
        </p:nvSpPr>
        <p:spPr>
          <a:xfrm>
            <a:off x="7345804" y="5384823"/>
            <a:ext cx="987771" cy="584775"/>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rPr>
              <a:t>Wait for</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message</a:t>
            </a:r>
            <a:endParaRPr lang="en-US" sz="1600" dirty="0">
              <a:solidFill>
                <a:srgbClr val="000000"/>
              </a:solidFill>
              <a:latin typeface="Amazon Ember" panose="02000000000000000000"/>
              <a:ea typeface="Amazon Ember" panose="02000000000000000000" pitchFamily="2" charset="0"/>
            </a:endParaRPr>
          </a:p>
        </p:txBody>
      </p:sp>
      <p:sp>
        <p:nvSpPr>
          <p:cNvPr id="20" name="TextBox 19"/>
          <p:cNvSpPr txBox="1"/>
          <p:nvPr/>
        </p:nvSpPr>
        <p:spPr>
          <a:xfrm>
            <a:off x="8040745" y="1558579"/>
            <a:ext cx="1273105" cy="369332"/>
          </a:xfrm>
          <a:prstGeom prst="rect">
            <a:avLst/>
          </a:prstGeom>
          <a:noFill/>
        </p:spPr>
        <p:txBody>
          <a:bodyPr wrap="none" rtlCol="0">
            <a:spAutoFit/>
          </a:bodyPr>
          <a:lstStyle/>
          <a:p>
            <a:r>
              <a:rPr lang="en-US" dirty="0">
                <a:solidFill>
                  <a:schemeClr val="accent1"/>
                </a:solidFill>
                <a:latin typeface="Amazon Ember" panose="02000000000000000000" pitchFamily="2" charset="0"/>
                <a:ea typeface="Amazon Ember" panose="02000000000000000000" pitchFamily="2" charset="0"/>
              </a:rPr>
              <a:t>Message 2</a:t>
            </a:r>
          </a:p>
        </p:txBody>
      </p:sp>
      <p:sp>
        <p:nvSpPr>
          <p:cNvPr id="21" name="TextBox 20"/>
          <p:cNvSpPr txBox="1"/>
          <p:nvPr/>
        </p:nvSpPr>
        <p:spPr>
          <a:xfrm>
            <a:off x="4507154" y="1558579"/>
            <a:ext cx="1273105" cy="369332"/>
          </a:xfrm>
          <a:prstGeom prst="rect">
            <a:avLst/>
          </a:prstGeom>
          <a:noFill/>
        </p:spPr>
        <p:txBody>
          <a:bodyPr wrap="none" rtlCol="0">
            <a:spAutoFit/>
          </a:bodyPr>
          <a:lstStyle/>
          <a:p>
            <a:r>
              <a:rPr lang="en-US" dirty="0">
                <a:solidFill>
                  <a:schemeClr val="accent1"/>
                </a:solidFill>
                <a:latin typeface="Amazon Ember" panose="02000000000000000000" pitchFamily="2" charset="0"/>
                <a:ea typeface="Amazon Ember" panose="02000000000000000000" pitchFamily="2" charset="0"/>
              </a:rPr>
              <a:t>Message 1</a:t>
            </a:r>
          </a:p>
        </p:txBody>
      </p:sp>
      <p:cxnSp>
        <p:nvCxnSpPr>
          <p:cNvPr id="22" name="Straight Connector 21"/>
          <p:cNvCxnSpPr/>
          <p:nvPr/>
        </p:nvCxnSpPr>
        <p:spPr>
          <a:xfrm flipV="1">
            <a:off x="3500377" y="2800733"/>
            <a:ext cx="3280127" cy="1351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3523237" y="5205590"/>
            <a:ext cx="3287213"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Bent Arrow 24"/>
          <p:cNvSpPr/>
          <p:nvPr/>
        </p:nvSpPr>
        <p:spPr>
          <a:xfrm rot="5400000">
            <a:off x="3205845" y="3034782"/>
            <a:ext cx="2446077" cy="1857013"/>
          </a:xfrm>
          <a:prstGeom prst="bentArrow">
            <a:avLst>
              <a:gd name="adj1" fmla="val 4896"/>
              <a:gd name="adj2" fmla="val 10930"/>
              <a:gd name="adj3" fmla="val 11924"/>
              <a:gd name="adj4"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Bent Arrow 27"/>
          <p:cNvSpPr/>
          <p:nvPr/>
        </p:nvSpPr>
        <p:spPr>
          <a:xfrm rot="5400000" flipH="1">
            <a:off x="4962556" y="3239532"/>
            <a:ext cx="2439908" cy="1609344"/>
          </a:xfrm>
          <a:prstGeom prst="bentArrow">
            <a:avLst>
              <a:gd name="adj1" fmla="val 4896"/>
              <a:gd name="adj2" fmla="val 10930"/>
              <a:gd name="adj3" fmla="val 11924"/>
              <a:gd name="adj4"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1" name="Straight Connector 30"/>
          <p:cNvCxnSpPr/>
          <p:nvPr/>
        </p:nvCxnSpPr>
        <p:spPr>
          <a:xfrm>
            <a:off x="3511045" y="1597299"/>
            <a:ext cx="0" cy="363148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8813080" y="1975180"/>
            <a:ext cx="1495124" cy="830997"/>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rPr>
              <a:t>Wait for</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message</a:t>
            </a:r>
            <a:r>
              <a:rPr lang="en-US" sz="1600" dirty="0">
                <a:latin typeface="Amazon Ember" panose="02000000000000000000" pitchFamily="2" charset="0"/>
                <a:ea typeface="Amazon Ember" panose="02000000000000000000" pitchFamily="2" charset="0"/>
              </a:rPr>
              <a:t> </a:t>
            </a:r>
            <a:r>
              <a:rPr lang="en-US" sz="1600" dirty="0">
                <a:solidFill>
                  <a:srgbClr val="000000"/>
                </a:solidFill>
                <a:latin typeface="Amazon Ember" panose="02000000000000000000" pitchFamily="2" charset="0"/>
                <a:ea typeface="Amazon Ember" panose="02000000000000000000" pitchFamily="2" charset="0"/>
              </a:rPr>
              <a:t>to</a:t>
            </a:r>
            <a:r>
              <a:rPr lang="en-US" sz="1600" dirty="0">
                <a:latin typeface="Amazon Ember" panose="02000000000000000000" pitchFamily="2" charset="0"/>
                <a:ea typeface="Amazon Ember" panose="02000000000000000000" pitchFamily="2" charset="0"/>
              </a:rPr>
              <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be</a:t>
            </a:r>
            <a:r>
              <a:rPr lang="en-US" sz="1600" dirty="0">
                <a:latin typeface="Amazon Ember" panose="02000000000000000000" pitchFamily="2" charset="0"/>
                <a:ea typeface="Amazon Ember" panose="02000000000000000000" pitchFamily="2" charset="0"/>
              </a:rPr>
              <a:t> processed</a:t>
            </a:r>
          </a:p>
        </p:txBody>
      </p:sp>
      <p:sp>
        <p:nvSpPr>
          <p:cNvPr id="49" name="TextBox 48"/>
          <p:cNvSpPr txBox="1"/>
          <p:nvPr/>
        </p:nvSpPr>
        <p:spPr>
          <a:xfrm>
            <a:off x="7396360" y="1975180"/>
            <a:ext cx="1091967" cy="584775"/>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rPr>
              <a:t>Generate </a:t>
            </a:r>
          </a:p>
          <a:p>
            <a:pPr algn="ctr"/>
            <a:r>
              <a:rPr lang="en-US" sz="1600" dirty="0">
                <a:solidFill>
                  <a:srgbClr val="000000"/>
                </a:solidFill>
                <a:latin typeface="Amazon Ember" panose="02000000000000000000" pitchFamily="2" charset="0"/>
                <a:ea typeface="Amazon Ember" panose="02000000000000000000" pitchFamily="2" charset="0"/>
              </a:rPr>
              <a:t>message</a:t>
            </a:r>
            <a:endParaRPr lang="en-US" sz="1600" dirty="0">
              <a:solidFill>
                <a:srgbClr val="000000"/>
              </a:solidFill>
              <a:latin typeface="Amazon Ember" panose="02000000000000000000"/>
              <a:ea typeface="Amazon Ember" panose="02000000000000000000" pitchFamily="2" charset="0"/>
            </a:endParaRPr>
          </a:p>
        </p:txBody>
      </p:sp>
      <p:sp>
        <p:nvSpPr>
          <p:cNvPr id="50" name="Bent Arrow 49"/>
          <p:cNvSpPr/>
          <p:nvPr/>
        </p:nvSpPr>
        <p:spPr>
          <a:xfrm rot="5400000">
            <a:off x="6704061" y="3025745"/>
            <a:ext cx="2464150" cy="1857014"/>
          </a:xfrm>
          <a:prstGeom prst="bentArrow">
            <a:avLst>
              <a:gd name="adj1" fmla="val 4896"/>
              <a:gd name="adj2" fmla="val 10930"/>
              <a:gd name="adj3" fmla="val 11924"/>
              <a:gd name="adj4"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Bent Arrow 50"/>
          <p:cNvSpPr/>
          <p:nvPr/>
        </p:nvSpPr>
        <p:spPr>
          <a:xfrm rot="5400000" flipH="1">
            <a:off x="8469809" y="3221459"/>
            <a:ext cx="2439908" cy="1609344"/>
          </a:xfrm>
          <a:prstGeom prst="bentArrow">
            <a:avLst>
              <a:gd name="adj1" fmla="val 4896"/>
              <a:gd name="adj2" fmla="val 10930"/>
              <a:gd name="adj3" fmla="val 11924"/>
              <a:gd name="adj4"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60" name="Group 59"/>
          <p:cNvGrpSpPr/>
          <p:nvPr/>
        </p:nvGrpSpPr>
        <p:grpSpPr>
          <a:xfrm>
            <a:off x="4851902" y="2585864"/>
            <a:ext cx="516156" cy="2618534"/>
            <a:chOff x="4851902" y="2585397"/>
            <a:chExt cx="516156" cy="2618534"/>
          </a:xfrm>
        </p:grpSpPr>
        <p:sp>
          <p:nvSpPr>
            <p:cNvPr id="59" name="Rectangle 58"/>
            <p:cNvSpPr/>
            <p:nvPr/>
          </p:nvSpPr>
          <p:spPr>
            <a:xfrm>
              <a:off x="4851902" y="2837763"/>
              <a:ext cx="516156" cy="236616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5157037" y="2585397"/>
              <a:ext cx="45719" cy="3983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p:cNvGrpSpPr/>
          <p:nvPr/>
        </p:nvGrpSpPr>
        <p:grpSpPr>
          <a:xfrm>
            <a:off x="8337880" y="2568910"/>
            <a:ext cx="541527" cy="2634061"/>
            <a:chOff x="4820949" y="2580635"/>
            <a:chExt cx="541527" cy="2634061"/>
          </a:xfrm>
        </p:grpSpPr>
        <p:sp>
          <p:nvSpPr>
            <p:cNvPr id="62" name="Rectangle 61"/>
            <p:cNvSpPr/>
            <p:nvPr/>
          </p:nvSpPr>
          <p:spPr>
            <a:xfrm>
              <a:off x="4820949" y="2832166"/>
              <a:ext cx="541527" cy="238253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5157037" y="2580635"/>
              <a:ext cx="45719" cy="3983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 name="Group 63"/>
          <p:cNvGrpSpPr/>
          <p:nvPr/>
        </p:nvGrpSpPr>
        <p:grpSpPr>
          <a:xfrm rot="10800000">
            <a:off x="6616420" y="2823029"/>
            <a:ext cx="537614" cy="2601042"/>
            <a:chOff x="4851902" y="2609207"/>
            <a:chExt cx="537614" cy="2601042"/>
          </a:xfrm>
        </p:grpSpPr>
        <p:sp>
          <p:nvSpPr>
            <p:cNvPr id="65" name="Rectangle 64"/>
            <p:cNvSpPr/>
            <p:nvPr/>
          </p:nvSpPr>
          <p:spPr>
            <a:xfrm>
              <a:off x="4851902" y="2851536"/>
              <a:ext cx="537614" cy="235871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p:cNvSpPr/>
            <p:nvPr/>
          </p:nvSpPr>
          <p:spPr>
            <a:xfrm>
              <a:off x="5152275" y="2609207"/>
              <a:ext cx="45719" cy="3983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p:cNvGrpSpPr/>
          <p:nvPr/>
        </p:nvGrpSpPr>
        <p:grpSpPr>
          <a:xfrm rot="10800000">
            <a:off x="10127751" y="2798023"/>
            <a:ext cx="537614" cy="2616073"/>
            <a:chOff x="4869299" y="2609207"/>
            <a:chExt cx="537614" cy="2616073"/>
          </a:xfrm>
        </p:grpSpPr>
        <p:sp>
          <p:nvSpPr>
            <p:cNvPr id="68" name="Rectangle 67"/>
            <p:cNvSpPr/>
            <p:nvPr/>
          </p:nvSpPr>
          <p:spPr>
            <a:xfrm>
              <a:off x="4869299" y="2860589"/>
              <a:ext cx="537614" cy="236469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p:cNvSpPr/>
            <p:nvPr/>
          </p:nvSpPr>
          <p:spPr>
            <a:xfrm>
              <a:off x="5157037" y="2609207"/>
              <a:ext cx="45719" cy="3983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p:cNvSpPr/>
          <p:nvPr/>
        </p:nvSpPr>
        <p:spPr>
          <a:xfrm>
            <a:off x="4491110" y="3627786"/>
            <a:ext cx="1305194" cy="640080"/>
          </a:xfrm>
          <a:prstGeom prst="rect">
            <a:avLst/>
          </a:prstGeom>
          <a:solidFill>
            <a:schemeClr val="bg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latin typeface="Amazon Ember" panose="02000000000000000000" pitchFamily="2" charset="0"/>
                <a:ea typeface="Amazon Ember" panose="02000000000000000000" pitchFamily="2" charset="0"/>
              </a:rPr>
              <a:t>Notify </a:t>
            </a:r>
            <a:r>
              <a:rPr lang="en-US" sz="1600" dirty="0" smtClean="0">
                <a:solidFill>
                  <a:schemeClr val="accent1"/>
                </a:solidFill>
                <a:latin typeface="Amazon Ember" panose="02000000000000000000" pitchFamily="2" charset="0"/>
                <a:ea typeface="Amazon Ember" panose="02000000000000000000" pitchFamily="2" charset="0"/>
              </a:rPr>
              <a:t>consumer</a:t>
            </a:r>
            <a:endParaRPr lang="en-US" sz="1600" dirty="0">
              <a:solidFill>
                <a:schemeClr val="accent1"/>
              </a:solidFill>
              <a:latin typeface="Amazon Ember" panose="02000000000000000000" pitchFamily="2" charset="0"/>
              <a:ea typeface="Amazon Ember" panose="02000000000000000000" pitchFamily="2" charset="0"/>
            </a:endParaRPr>
          </a:p>
        </p:txBody>
      </p:sp>
      <p:cxnSp>
        <p:nvCxnSpPr>
          <p:cNvPr id="35" name="Straight Connector 34"/>
          <p:cNvCxnSpPr/>
          <p:nvPr/>
        </p:nvCxnSpPr>
        <p:spPr>
          <a:xfrm>
            <a:off x="6803844" y="1591828"/>
            <a:ext cx="0" cy="364373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298932" y="3627786"/>
            <a:ext cx="1023037" cy="640080"/>
          </a:xfrm>
          <a:prstGeom prst="rect">
            <a:avLst/>
          </a:prstGeom>
          <a:solidFill>
            <a:schemeClr val="bg1"/>
          </a:solidFill>
        </p:spPr>
        <p:txBody>
          <a:bodyPr wrap="none" rtlCol="0">
            <a:spAutoFit/>
          </a:bodyPr>
          <a:lstStyle/>
          <a:p>
            <a:pPr algn="ctr"/>
            <a:r>
              <a:rPr lang="en-US" sz="1600" dirty="0">
                <a:latin typeface="Amazon Ember" panose="02000000000000000000" pitchFamily="2" charset="0"/>
                <a:ea typeface="Amazon Ember" panose="02000000000000000000" pitchFamily="2" charset="0"/>
              </a:rPr>
              <a:t>   Notify </a:t>
            </a:r>
          </a:p>
          <a:p>
            <a:pPr algn="ctr"/>
            <a:r>
              <a:rPr lang="en-US" sz="1600" dirty="0">
                <a:solidFill>
                  <a:srgbClr val="000000"/>
                </a:solidFill>
                <a:latin typeface="Amazon Ember" panose="02000000000000000000" pitchFamily="2" charset="0"/>
                <a:ea typeface="Amazon Ember" panose="02000000000000000000" pitchFamily="2" charset="0"/>
              </a:rPr>
              <a:t>producer</a:t>
            </a:r>
            <a:endParaRPr lang="en-US" sz="1600" dirty="0">
              <a:solidFill>
                <a:srgbClr val="000000"/>
              </a:solidFill>
              <a:latin typeface="Amazon Ember" panose="02000000000000000000"/>
              <a:ea typeface="Amazon Ember" panose="02000000000000000000" pitchFamily="2" charset="0"/>
            </a:endParaRPr>
          </a:p>
        </p:txBody>
      </p:sp>
      <p:sp>
        <p:nvSpPr>
          <p:cNvPr id="18" name="TextBox 17"/>
          <p:cNvSpPr txBox="1"/>
          <p:nvPr/>
        </p:nvSpPr>
        <p:spPr>
          <a:xfrm>
            <a:off x="8110677" y="3627786"/>
            <a:ext cx="1093569" cy="640080"/>
          </a:xfrm>
          <a:prstGeom prst="rect">
            <a:avLst/>
          </a:prstGeom>
          <a:solidFill>
            <a:schemeClr val="bg1"/>
          </a:solidFill>
        </p:spPr>
        <p:txBody>
          <a:bodyPr wrap="none" rtlCol="0">
            <a:spAutoFit/>
          </a:bodyPr>
          <a:lstStyle/>
          <a:p>
            <a:pPr algn="ctr"/>
            <a:r>
              <a:rPr lang="en-US" sz="1600" dirty="0">
                <a:latin typeface="Amazon Ember" panose="02000000000000000000" pitchFamily="2" charset="0"/>
                <a:ea typeface="Amazon Ember" panose="02000000000000000000" pitchFamily="2" charset="0"/>
              </a:rPr>
              <a:t>   Notify </a:t>
            </a:r>
          </a:p>
          <a:p>
            <a:pPr algn="ctr"/>
            <a:r>
              <a:rPr lang="en-US" sz="1600" dirty="0">
                <a:solidFill>
                  <a:srgbClr val="000000"/>
                </a:solidFill>
                <a:latin typeface="Amazon Ember" panose="02000000000000000000" pitchFamily="2" charset="0"/>
                <a:ea typeface="Amazon Ember" panose="02000000000000000000" pitchFamily="2" charset="0"/>
              </a:rPr>
              <a:t>consumer</a:t>
            </a:r>
            <a:endParaRPr lang="en-US" sz="1600" dirty="0">
              <a:solidFill>
                <a:srgbClr val="000000"/>
              </a:solidFill>
              <a:latin typeface="Amazon Ember" panose="02000000000000000000"/>
              <a:ea typeface="Amazon Ember" panose="02000000000000000000" pitchFamily="2" charset="0"/>
            </a:endParaRPr>
          </a:p>
        </p:txBody>
      </p:sp>
      <p:cxnSp>
        <p:nvCxnSpPr>
          <p:cNvPr id="47" name="Straight Connector 46"/>
          <p:cNvCxnSpPr/>
          <p:nvPr/>
        </p:nvCxnSpPr>
        <p:spPr>
          <a:xfrm>
            <a:off x="10307160" y="1573755"/>
            <a:ext cx="0" cy="364373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9796685" y="3627786"/>
            <a:ext cx="1023037" cy="640080"/>
          </a:xfrm>
          <a:prstGeom prst="rect">
            <a:avLst/>
          </a:prstGeom>
          <a:solidFill>
            <a:schemeClr val="bg1"/>
          </a:solidFill>
        </p:spPr>
        <p:txBody>
          <a:bodyPr wrap="none" rtlCol="0">
            <a:spAutoFit/>
          </a:bodyPr>
          <a:lstStyle/>
          <a:p>
            <a:pPr algn="ctr"/>
            <a:r>
              <a:rPr lang="en-US" sz="1600" dirty="0">
                <a:latin typeface="Amazon Ember" panose="02000000000000000000" pitchFamily="2" charset="0"/>
                <a:ea typeface="Amazon Ember" panose="02000000000000000000" pitchFamily="2" charset="0"/>
              </a:rPr>
              <a:t>   Notify </a:t>
            </a:r>
          </a:p>
          <a:p>
            <a:pPr algn="ctr"/>
            <a:r>
              <a:rPr lang="en-US" sz="1600" dirty="0">
                <a:solidFill>
                  <a:srgbClr val="000000"/>
                </a:solidFill>
                <a:latin typeface="Amazon Ember" panose="02000000000000000000" pitchFamily="2" charset="0"/>
                <a:ea typeface="Amazon Ember" panose="02000000000000000000" pitchFamily="2" charset="0"/>
              </a:rPr>
              <a:t>producer</a:t>
            </a:r>
            <a:endParaRPr lang="en-US" sz="1600" dirty="0">
              <a:solidFill>
                <a:srgbClr val="000000"/>
              </a:solidFill>
              <a:latin typeface="Amazon Ember" panose="02000000000000000000"/>
              <a:ea typeface="Amazon Ember" panose="02000000000000000000" pitchFamily="2" charset="0"/>
            </a:endParaRPr>
          </a:p>
        </p:txBody>
      </p:sp>
    </p:spTree>
    <p:extLst>
      <p:ext uri="{BB962C8B-B14F-4D97-AF65-F5344CB8AC3E}">
        <p14:creationId xmlns:p14="http://schemas.microsoft.com/office/powerpoint/2010/main" val="124566532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60"/>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60"/>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64"/>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61"/>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nodeType="clickEffect">
                                  <p:stCondLst>
                                    <p:cond delay="0"/>
                                  </p:stCondLst>
                                  <p:childTnLst>
                                    <p:set>
                                      <p:cBhvr>
                                        <p:cTn id="80" dur="1" fill="hold">
                                          <p:stCondLst>
                                            <p:cond delay="0"/>
                                          </p:stCondLst>
                                        </p:cTn>
                                        <p:tgtEl>
                                          <p:spTgt spid="67"/>
                                        </p:tgtEl>
                                        <p:attrNameLst>
                                          <p:attrName>style.visibility</p:attrName>
                                        </p:attrNameLst>
                                      </p:cBhvr>
                                      <p:to>
                                        <p:strVal val="hidden"/>
                                      </p:to>
                                    </p:set>
                                  </p:childTnLst>
                                </p:cTn>
                              </p:par>
                              <p:par>
                                <p:cTn id="81" presetID="1" presetClass="entr" presetSubtype="0" fill="hold" grpId="0" nodeType="withEffect">
                                  <p:stCondLst>
                                    <p:cond delay="0"/>
                                  </p:stCondLst>
                                  <p:childTnLst>
                                    <p:set>
                                      <p:cBhvr>
                                        <p:cTn id="8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15" grpId="0"/>
      <p:bldP spid="16" grpId="0"/>
      <p:bldP spid="20" grpId="0"/>
      <p:bldP spid="21" grpId="0"/>
      <p:bldP spid="25" grpId="0" animBg="1"/>
      <p:bldP spid="28" grpId="0" animBg="1"/>
      <p:bldP spid="48" grpId="0"/>
      <p:bldP spid="49" grpId="0"/>
      <p:bldP spid="50" grpId="0" animBg="1"/>
      <p:bldP spid="51" grpId="0" animBg="1"/>
      <p:bldP spid="9" grpId="0" animBg="1"/>
      <p:bldP spid="17" grpId="0" animBg="1"/>
      <p:bldP spid="18"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57" name="Straight Connector 56"/>
          <p:cNvCxnSpPr/>
          <p:nvPr/>
        </p:nvCxnSpPr>
        <p:spPr>
          <a:xfrm flipV="1">
            <a:off x="6804766" y="5198387"/>
            <a:ext cx="3496710" cy="1440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6810450" y="2785998"/>
            <a:ext cx="3496710" cy="1440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Synchronous process</a:t>
            </a:r>
          </a:p>
        </p:txBody>
      </p:sp>
      <p:sp>
        <p:nvSpPr>
          <p:cNvPr id="3" name="Slide Number Placeholder 2"/>
          <p:cNvSpPr>
            <a:spLocks noGrp="1"/>
          </p:cNvSpPr>
          <p:nvPr>
            <p:ph type="sldNum" sz="quarter" idx="12"/>
          </p:nvPr>
        </p:nvSpPr>
        <p:spPr/>
        <p:txBody>
          <a:bodyPr/>
          <a:lstStyle/>
          <a:p>
            <a:fld id="{B6A95138-A96E-2F42-A959-2EFD44FE4AB7}" type="slidenum">
              <a:rPr lang="en-US" smtClean="0"/>
              <a:t>5</a:t>
            </a:fld>
            <a:endParaRPr lang="en-US"/>
          </a:p>
        </p:txBody>
      </p:sp>
      <p:sp>
        <p:nvSpPr>
          <p:cNvPr id="4" name="Footer Placeholder 3"/>
          <p:cNvSpPr>
            <a:spLocks noGrp="1"/>
          </p:cNvSpPr>
          <p:nvPr>
            <p:ph type="ftr" sz="quarter" idx="3"/>
          </p:nvPr>
        </p:nvSpPr>
        <p:spPr/>
        <p:txBody>
          <a:bodyPr/>
          <a:lstStyle/>
          <a:p>
            <a:r>
              <a:rPr lang="en-US"/>
              <a:t>© 2020 Amazon Web Services, Inc. or its Affiliates. All rights reserved.</a:t>
            </a:r>
            <a:endParaRPr lang="en-US" dirty="0"/>
          </a:p>
        </p:txBody>
      </p:sp>
      <p:sp>
        <p:nvSpPr>
          <p:cNvPr id="7" name="Rectangle 6"/>
          <p:cNvSpPr/>
          <p:nvPr/>
        </p:nvSpPr>
        <p:spPr>
          <a:xfrm>
            <a:off x="1372278" y="4918665"/>
            <a:ext cx="2138767" cy="57146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1"/>
                </a:solidFill>
              </a:rPr>
              <a:t>Consumer</a:t>
            </a:r>
          </a:p>
        </p:txBody>
      </p:sp>
      <p:sp>
        <p:nvSpPr>
          <p:cNvPr id="8" name="Rectangle 7"/>
          <p:cNvSpPr/>
          <p:nvPr/>
        </p:nvSpPr>
        <p:spPr>
          <a:xfrm>
            <a:off x="1372278" y="2499123"/>
            <a:ext cx="2138767" cy="57146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1"/>
                </a:solidFill>
                <a:latin typeface="+mj-lt"/>
                <a:ea typeface="Amazon Ember" panose="02000000000000000000" pitchFamily="2" charset="0"/>
              </a:rPr>
              <a:t>Producer</a:t>
            </a:r>
          </a:p>
        </p:txBody>
      </p:sp>
      <p:sp>
        <p:nvSpPr>
          <p:cNvPr id="10" name="TextBox 9"/>
          <p:cNvSpPr txBox="1"/>
          <p:nvPr/>
        </p:nvSpPr>
        <p:spPr>
          <a:xfrm>
            <a:off x="5539056" y="5397399"/>
            <a:ext cx="987771" cy="584775"/>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rPr>
              <a:t>Process</a:t>
            </a:r>
            <a:br>
              <a:rPr lang="en-US" sz="1600" dirty="0">
                <a:latin typeface="Amazon Ember" panose="02000000000000000000" pitchFamily="2" charset="0"/>
                <a:ea typeface="Amazon Ember" panose="02000000000000000000" pitchFamily="2" charset="0"/>
              </a:rPr>
            </a:br>
            <a:r>
              <a:rPr lang="en-US" sz="1600" dirty="0">
                <a:latin typeface="Amazon Ember" panose="02000000000000000000" pitchFamily="2" charset="0"/>
                <a:ea typeface="Amazon Ember" panose="02000000000000000000" pitchFamily="2" charset="0"/>
              </a:rPr>
              <a:t>message</a:t>
            </a:r>
          </a:p>
        </p:txBody>
      </p:sp>
      <p:sp>
        <p:nvSpPr>
          <p:cNvPr id="11" name="TextBox 10"/>
          <p:cNvSpPr txBox="1"/>
          <p:nvPr/>
        </p:nvSpPr>
        <p:spPr>
          <a:xfrm>
            <a:off x="5350129" y="1975180"/>
            <a:ext cx="1495124" cy="830997"/>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rPr>
              <a:t>Wait for</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message</a:t>
            </a:r>
            <a:r>
              <a:rPr lang="en-US" sz="1600" dirty="0">
                <a:latin typeface="Amazon Ember" panose="02000000000000000000" pitchFamily="2" charset="0"/>
                <a:ea typeface="Amazon Ember" panose="02000000000000000000" pitchFamily="2" charset="0"/>
              </a:rPr>
              <a:t> </a:t>
            </a:r>
            <a:r>
              <a:rPr lang="en-US" sz="1600" dirty="0">
                <a:solidFill>
                  <a:srgbClr val="000000"/>
                </a:solidFill>
                <a:latin typeface="Amazon Ember" panose="02000000000000000000" pitchFamily="2" charset="0"/>
                <a:ea typeface="Amazon Ember" panose="02000000000000000000" pitchFamily="2" charset="0"/>
              </a:rPr>
              <a:t>to</a:t>
            </a:r>
            <a:r>
              <a:rPr lang="en-US" sz="1600" dirty="0">
                <a:latin typeface="Amazon Ember" panose="02000000000000000000" pitchFamily="2" charset="0"/>
                <a:ea typeface="Amazon Ember" panose="02000000000000000000" pitchFamily="2" charset="0"/>
              </a:rPr>
              <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be</a:t>
            </a:r>
            <a:r>
              <a:rPr lang="en-US" sz="1600" dirty="0">
                <a:latin typeface="Amazon Ember" panose="02000000000000000000" pitchFamily="2" charset="0"/>
                <a:ea typeface="Amazon Ember" panose="02000000000000000000" pitchFamily="2" charset="0"/>
              </a:rPr>
              <a:t> processed</a:t>
            </a:r>
          </a:p>
        </p:txBody>
      </p:sp>
      <p:sp>
        <p:nvSpPr>
          <p:cNvPr id="13" name="TextBox 12"/>
          <p:cNvSpPr txBox="1"/>
          <p:nvPr/>
        </p:nvSpPr>
        <p:spPr>
          <a:xfrm>
            <a:off x="9212637" y="5384823"/>
            <a:ext cx="987771" cy="584775"/>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rPr>
              <a:t>Process</a:t>
            </a:r>
            <a:br>
              <a:rPr lang="en-US" sz="1600" dirty="0">
                <a:latin typeface="Amazon Ember" panose="02000000000000000000" pitchFamily="2" charset="0"/>
                <a:ea typeface="Amazon Ember" panose="02000000000000000000" pitchFamily="2" charset="0"/>
              </a:rPr>
            </a:br>
            <a:r>
              <a:rPr lang="en-US" sz="1600" dirty="0">
                <a:latin typeface="Amazon Ember" panose="02000000000000000000" pitchFamily="2" charset="0"/>
                <a:ea typeface="Amazon Ember" panose="02000000000000000000" pitchFamily="2" charset="0"/>
              </a:rPr>
              <a:t>message</a:t>
            </a:r>
          </a:p>
        </p:txBody>
      </p:sp>
      <p:sp>
        <p:nvSpPr>
          <p:cNvPr id="15" name="TextBox 14"/>
          <p:cNvSpPr txBox="1"/>
          <p:nvPr/>
        </p:nvSpPr>
        <p:spPr>
          <a:xfrm>
            <a:off x="3868660" y="1975180"/>
            <a:ext cx="1091967" cy="584775"/>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rPr>
              <a:t>Generate </a:t>
            </a:r>
          </a:p>
          <a:p>
            <a:pPr algn="ctr"/>
            <a:r>
              <a:rPr lang="en-US" sz="1600" dirty="0">
                <a:solidFill>
                  <a:srgbClr val="000000"/>
                </a:solidFill>
                <a:latin typeface="Amazon Ember" panose="02000000000000000000" pitchFamily="2" charset="0"/>
                <a:ea typeface="Amazon Ember" panose="02000000000000000000" pitchFamily="2" charset="0"/>
              </a:rPr>
              <a:t>message</a:t>
            </a:r>
            <a:endParaRPr lang="en-US" sz="1600" dirty="0">
              <a:solidFill>
                <a:srgbClr val="000000"/>
              </a:solidFill>
              <a:latin typeface="Amazon Ember" panose="02000000000000000000"/>
              <a:ea typeface="Amazon Ember" panose="02000000000000000000" pitchFamily="2" charset="0"/>
            </a:endParaRPr>
          </a:p>
        </p:txBody>
      </p:sp>
      <p:sp>
        <p:nvSpPr>
          <p:cNvPr id="16" name="TextBox 15"/>
          <p:cNvSpPr txBox="1"/>
          <p:nvPr/>
        </p:nvSpPr>
        <p:spPr>
          <a:xfrm>
            <a:off x="7345804" y="5384823"/>
            <a:ext cx="987771" cy="584775"/>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rPr>
              <a:t>Wait for</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message</a:t>
            </a:r>
            <a:endParaRPr lang="en-US" sz="1600" dirty="0">
              <a:solidFill>
                <a:srgbClr val="000000"/>
              </a:solidFill>
              <a:latin typeface="Amazon Ember" panose="02000000000000000000"/>
              <a:ea typeface="Amazon Ember" panose="02000000000000000000" pitchFamily="2" charset="0"/>
            </a:endParaRPr>
          </a:p>
        </p:txBody>
      </p:sp>
      <p:sp>
        <p:nvSpPr>
          <p:cNvPr id="20" name="TextBox 19"/>
          <p:cNvSpPr txBox="1"/>
          <p:nvPr/>
        </p:nvSpPr>
        <p:spPr>
          <a:xfrm>
            <a:off x="8040745" y="1558579"/>
            <a:ext cx="1273105" cy="369332"/>
          </a:xfrm>
          <a:prstGeom prst="rect">
            <a:avLst/>
          </a:prstGeom>
          <a:noFill/>
        </p:spPr>
        <p:txBody>
          <a:bodyPr wrap="none" rtlCol="0">
            <a:spAutoFit/>
          </a:bodyPr>
          <a:lstStyle/>
          <a:p>
            <a:r>
              <a:rPr lang="en-US" dirty="0">
                <a:solidFill>
                  <a:schemeClr val="accent1"/>
                </a:solidFill>
                <a:latin typeface="Amazon Ember" panose="02000000000000000000" pitchFamily="2" charset="0"/>
                <a:ea typeface="Amazon Ember" panose="02000000000000000000" pitchFamily="2" charset="0"/>
              </a:rPr>
              <a:t>Message 2</a:t>
            </a:r>
          </a:p>
        </p:txBody>
      </p:sp>
      <p:sp>
        <p:nvSpPr>
          <p:cNvPr id="21" name="TextBox 20"/>
          <p:cNvSpPr txBox="1"/>
          <p:nvPr/>
        </p:nvSpPr>
        <p:spPr>
          <a:xfrm>
            <a:off x="4507154" y="1558579"/>
            <a:ext cx="1273105" cy="369332"/>
          </a:xfrm>
          <a:prstGeom prst="rect">
            <a:avLst/>
          </a:prstGeom>
          <a:noFill/>
        </p:spPr>
        <p:txBody>
          <a:bodyPr wrap="none" rtlCol="0">
            <a:spAutoFit/>
          </a:bodyPr>
          <a:lstStyle/>
          <a:p>
            <a:r>
              <a:rPr lang="en-US" dirty="0">
                <a:solidFill>
                  <a:schemeClr val="accent1"/>
                </a:solidFill>
                <a:latin typeface="Amazon Ember" panose="02000000000000000000" pitchFamily="2" charset="0"/>
                <a:ea typeface="Amazon Ember" panose="02000000000000000000" pitchFamily="2" charset="0"/>
              </a:rPr>
              <a:t>Message 1</a:t>
            </a:r>
          </a:p>
        </p:txBody>
      </p:sp>
      <p:cxnSp>
        <p:nvCxnSpPr>
          <p:cNvPr id="22" name="Straight Connector 21"/>
          <p:cNvCxnSpPr/>
          <p:nvPr/>
        </p:nvCxnSpPr>
        <p:spPr>
          <a:xfrm flipV="1">
            <a:off x="3500377" y="2800733"/>
            <a:ext cx="3280127" cy="1351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3523237" y="5205590"/>
            <a:ext cx="3287213"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Bent Arrow 24"/>
          <p:cNvSpPr/>
          <p:nvPr/>
        </p:nvSpPr>
        <p:spPr>
          <a:xfrm rot="5400000">
            <a:off x="3205845" y="3034782"/>
            <a:ext cx="2446077" cy="1857013"/>
          </a:xfrm>
          <a:prstGeom prst="bentArrow">
            <a:avLst>
              <a:gd name="adj1" fmla="val 4896"/>
              <a:gd name="adj2" fmla="val 10930"/>
              <a:gd name="adj3" fmla="val 11924"/>
              <a:gd name="adj4"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Bent Arrow 27"/>
          <p:cNvSpPr/>
          <p:nvPr/>
        </p:nvSpPr>
        <p:spPr>
          <a:xfrm rot="5400000" flipH="1">
            <a:off x="4962556" y="3239532"/>
            <a:ext cx="2439908" cy="1609344"/>
          </a:xfrm>
          <a:prstGeom prst="bentArrow">
            <a:avLst>
              <a:gd name="adj1" fmla="val 4896"/>
              <a:gd name="adj2" fmla="val 10930"/>
              <a:gd name="adj3" fmla="val 11924"/>
              <a:gd name="adj4"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1" name="Straight Connector 30"/>
          <p:cNvCxnSpPr/>
          <p:nvPr/>
        </p:nvCxnSpPr>
        <p:spPr>
          <a:xfrm>
            <a:off x="3511045" y="1597299"/>
            <a:ext cx="0" cy="363148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8813080" y="1975180"/>
            <a:ext cx="1495124" cy="830997"/>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rPr>
              <a:t>Wait for</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message</a:t>
            </a:r>
            <a:r>
              <a:rPr lang="en-US" sz="1600" dirty="0">
                <a:latin typeface="Amazon Ember" panose="02000000000000000000" pitchFamily="2" charset="0"/>
                <a:ea typeface="Amazon Ember" panose="02000000000000000000" pitchFamily="2" charset="0"/>
              </a:rPr>
              <a:t> </a:t>
            </a:r>
            <a:r>
              <a:rPr lang="en-US" sz="1600" dirty="0">
                <a:solidFill>
                  <a:srgbClr val="000000"/>
                </a:solidFill>
                <a:latin typeface="Amazon Ember" panose="02000000000000000000" pitchFamily="2" charset="0"/>
                <a:ea typeface="Amazon Ember" panose="02000000000000000000" pitchFamily="2" charset="0"/>
              </a:rPr>
              <a:t>to</a:t>
            </a:r>
            <a:r>
              <a:rPr lang="en-US" sz="1600" dirty="0">
                <a:latin typeface="Amazon Ember" panose="02000000000000000000" pitchFamily="2" charset="0"/>
                <a:ea typeface="Amazon Ember" panose="02000000000000000000" pitchFamily="2" charset="0"/>
              </a:rPr>
              <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be</a:t>
            </a:r>
            <a:r>
              <a:rPr lang="en-US" sz="1600" dirty="0">
                <a:latin typeface="Amazon Ember" panose="02000000000000000000" pitchFamily="2" charset="0"/>
                <a:ea typeface="Amazon Ember" panose="02000000000000000000" pitchFamily="2" charset="0"/>
              </a:rPr>
              <a:t> processed</a:t>
            </a:r>
          </a:p>
        </p:txBody>
      </p:sp>
      <p:sp>
        <p:nvSpPr>
          <p:cNvPr id="49" name="TextBox 48"/>
          <p:cNvSpPr txBox="1"/>
          <p:nvPr/>
        </p:nvSpPr>
        <p:spPr>
          <a:xfrm>
            <a:off x="7396360" y="1975180"/>
            <a:ext cx="1091967" cy="584775"/>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rPr>
              <a:t>Generate </a:t>
            </a:r>
          </a:p>
          <a:p>
            <a:pPr algn="ctr"/>
            <a:r>
              <a:rPr lang="en-US" sz="1600" dirty="0">
                <a:solidFill>
                  <a:srgbClr val="000000"/>
                </a:solidFill>
                <a:latin typeface="Amazon Ember" panose="02000000000000000000" pitchFamily="2" charset="0"/>
                <a:ea typeface="Amazon Ember" panose="02000000000000000000" pitchFamily="2" charset="0"/>
              </a:rPr>
              <a:t>message</a:t>
            </a:r>
            <a:endParaRPr lang="en-US" sz="1600" dirty="0">
              <a:solidFill>
                <a:srgbClr val="000000"/>
              </a:solidFill>
              <a:latin typeface="Amazon Ember" panose="02000000000000000000"/>
              <a:ea typeface="Amazon Ember" panose="02000000000000000000" pitchFamily="2" charset="0"/>
            </a:endParaRPr>
          </a:p>
        </p:txBody>
      </p:sp>
      <p:sp>
        <p:nvSpPr>
          <p:cNvPr id="50" name="Bent Arrow 49"/>
          <p:cNvSpPr/>
          <p:nvPr/>
        </p:nvSpPr>
        <p:spPr>
          <a:xfrm rot="5400000">
            <a:off x="6704061" y="3025745"/>
            <a:ext cx="2464150" cy="1857014"/>
          </a:xfrm>
          <a:prstGeom prst="bentArrow">
            <a:avLst>
              <a:gd name="adj1" fmla="val 4896"/>
              <a:gd name="adj2" fmla="val 10930"/>
              <a:gd name="adj3" fmla="val 11924"/>
              <a:gd name="adj4"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Bent Arrow 50"/>
          <p:cNvSpPr/>
          <p:nvPr/>
        </p:nvSpPr>
        <p:spPr>
          <a:xfrm rot="5400000" flipH="1">
            <a:off x="8469809" y="3221459"/>
            <a:ext cx="2439908" cy="1609344"/>
          </a:xfrm>
          <a:prstGeom prst="bentArrow">
            <a:avLst>
              <a:gd name="adj1" fmla="val 4896"/>
              <a:gd name="adj2" fmla="val 10930"/>
              <a:gd name="adj3" fmla="val 11924"/>
              <a:gd name="adj4"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ectangle 8"/>
          <p:cNvSpPr/>
          <p:nvPr/>
        </p:nvSpPr>
        <p:spPr>
          <a:xfrm>
            <a:off x="4491110" y="3627786"/>
            <a:ext cx="1305194" cy="640080"/>
          </a:xfrm>
          <a:prstGeom prst="rect">
            <a:avLst/>
          </a:prstGeom>
          <a:solidFill>
            <a:schemeClr val="bg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latin typeface="Amazon Ember" panose="02000000000000000000" pitchFamily="2" charset="0"/>
                <a:ea typeface="Amazon Ember" panose="02000000000000000000" pitchFamily="2" charset="0"/>
              </a:rPr>
              <a:t>Notify </a:t>
            </a:r>
            <a:r>
              <a:rPr lang="en-US" sz="1600" dirty="0" smtClean="0">
                <a:solidFill>
                  <a:schemeClr val="accent1"/>
                </a:solidFill>
                <a:latin typeface="Amazon Ember" panose="02000000000000000000" pitchFamily="2" charset="0"/>
                <a:ea typeface="Amazon Ember" panose="02000000000000000000" pitchFamily="2" charset="0"/>
              </a:rPr>
              <a:t>consumer</a:t>
            </a:r>
            <a:endParaRPr lang="en-US" sz="1600" dirty="0">
              <a:solidFill>
                <a:schemeClr val="accent1"/>
              </a:solidFill>
              <a:latin typeface="Amazon Ember" panose="02000000000000000000" pitchFamily="2" charset="0"/>
              <a:ea typeface="Amazon Ember" panose="02000000000000000000" pitchFamily="2" charset="0"/>
            </a:endParaRPr>
          </a:p>
        </p:txBody>
      </p:sp>
      <p:cxnSp>
        <p:nvCxnSpPr>
          <p:cNvPr id="35" name="Straight Connector 34"/>
          <p:cNvCxnSpPr/>
          <p:nvPr/>
        </p:nvCxnSpPr>
        <p:spPr>
          <a:xfrm>
            <a:off x="6803844" y="1591828"/>
            <a:ext cx="0" cy="364373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298932" y="3627786"/>
            <a:ext cx="1023037" cy="640080"/>
          </a:xfrm>
          <a:prstGeom prst="rect">
            <a:avLst/>
          </a:prstGeom>
          <a:solidFill>
            <a:schemeClr val="bg1"/>
          </a:solidFill>
        </p:spPr>
        <p:txBody>
          <a:bodyPr wrap="none" rtlCol="0">
            <a:spAutoFit/>
          </a:bodyPr>
          <a:lstStyle/>
          <a:p>
            <a:pPr algn="ctr"/>
            <a:r>
              <a:rPr lang="en-US" sz="1600" dirty="0">
                <a:latin typeface="Amazon Ember" panose="02000000000000000000" pitchFamily="2" charset="0"/>
                <a:ea typeface="Amazon Ember" panose="02000000000000000000" pitchFamily="2" charset="0"/>
              </a:rPr>
              <a:t>   Notify </a:t>
            </a:r>
          </a:p>
          <a:p>
            <a:pPr algn="ctr"/>
            <a:r>
              <a:rPr lang="en-US" sz="1600" dirty="0">
                <a:solidFill>
                  <a:srgbClr val="000000"/>
                </a:solidFill>
                <a:latin typeface="Amazon Ember" panose="02000000000000000000" pitchFamily="2" charset="0"/>
                <a:ea typeface="Amazon Ember" panose="02000000000000000000" pitchFamily="2" charset="0"/>
              </a:rPr>
              <a:t>producer</a:t>
            </a:r>
            <a:endParaRPr lang="en-US" sz="1600" dirty="0">
              <a:solidFill>
                <a:srgbClr val="000000"/>
              </a:solidFill>
              <a:latin typeface="Amazon Ember" panose="02000000000000000000"/>
              <a:ea typeface="Amazon Ember" panose="02000000000000000000" pitchFamily="2" charset="0"/>
            </a:endParaRPr>
          </a:p>
        </p:txBody>
      </p:sp>
      <p:sp>
        <p:nvSpPr>
          <p:cNvPr id="18" name="TextBox 17"/>
          <p:cNvSpPr txBox="1"/>
          <p:nvPr/>
        </p:nvSpPr>
        <p:spPr>
          <a:xfrm>
            <a:off x="8110677" y="3627786"/>
            <a:ext cx="1093569" cy="640080"/>
          </a:xfrm>
          <a:prstGeom prst="rect">
            <a:avLst/>
          </a:prstGeom>
          <a:solidFill>
            <a:schemeClr val="bg1"/>
          </a:solidFill>
        </p:spPr>
        <p:txBody>
          <a:bodyPr wrap="none" rtlCol="0">
            <a:spAutoFit/>
          </a:bodyPr>
          <a:lstStyle/>
          <a:p>
            <a:pPr algn="ctr"/>
            <a:r>
              <a:rPr lang="en-US" sz="1600" dirty="0">
                <a:latin typeface="Amazon Ember" panose="02000000000000000000" pitchFamily="2" charset="0"/>
                <a:ea typeface="Amazon Ember" panose="02000000000000000000" pitchFamily="2" charset="0"/>
              </a:rPr>
              <a:t>   Notify </a:t>
            </a:r>
          </a:p>
          <a:p>
            <a:pPr algn="ctr"/>
            <a:r>
              <a:rPr lang="en-US" sz="1600" dirty="0">
                <a:solidFill>
                  <a:srgbClr val="000000"/>
                </a:solidFill>
                <a:latin typeface="Amazon Ember" panose="02000000000000000000" pitchFamily="2" charset="0"/>
                <a:ea typeface="Amazon Ember" panose="02000000000000000000" pitchFamily="2" charset="0"/>
              </a:rPr>
              <a:t>consumer</a:t>
            </a:r>
            <a:endParaRPr lang="en-US" sz="1600" dirty="0">
              <a:solidFill>
                <a:srgbClr val="000000"/>
              </a:solidFill>
              <a:latin typeface="Amazon Ember" panose="02000000000000000000"/>
              <a:ea typeface="Amazon Ember" panose="02000000000000000000" pitchFamily="2" charset="0"/>
            </a:endParaRPr>
          </a:p>
        </p:txBody>
      </p:sp>
      <p:cxnSp>
        <p:nvCxnSpPr>
          <p:cNvPr id="47" name="Straight Connector 46"/>
          <p:cNvCxnSpPr/>
          <p:nvPr/>
        </p:nvCxnSpPr>
        <p:spPr>
          <a:xfrm>
            <a:off x="10307160" y="1573755"/>
            <a:ext cx="0" cy="364373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9796685" y="3627786"/>
            <a:ext cx="1023037" cy="640080"/>
          </a:xfrm>
          <a:prstGeom prst="rect">
            <a:avLst/>
          </a:prstGeom>
          <a:solidFill>
            <a:schemeClr val="bg1"/>
          </a:solidFill>
        </p:spPr>
        <p:txBody>
          <a:bodyPr wrap="none" rtlCol="0">
            <a:spAutoFit/>
          </a:bodyPr>
          <a:lstStyle/>
          <a:p>
            <a:pPr algn="ctr"/>
            <a:r>
              <a:rPr lang="en-US" sz="1600" dirty="0">
                <a:latin typeface="Amazon Ember" panose="02000000000000000000" pitchFamily="2" charset="0"/>
                <a:ea typeface="Amazon Ember" panose="02000000000000000000" pitchFamily="2" charset="0"/>
              </a:rPr>
              <a:t>   Notify </a:t>
            </a:r>
          </a:p>
          <a:p>
            <a:pPr algn="ctr"/>
            <a:r>
              <a:rPr lang="en-US" sz="1600" dirty="0">
                <a:solidFill>
                  <a:srgbClr val="000000"/>
                </a:solidFill>
                <a:latin typeface="Amazon Ember" panose="02000000000000000000" pitchFamily="2" charset="0"/>
                <a:ea typeface="Amazon Ember" panose="02000000000000000000" pitchFamily="2" charset="0"/>
              </a:rPr>
              <a:t>producer</a:t>
            </a:r>
            <a:endParaRPr lang="en-US" sz="1600" dirty="0">
              <a:solidFill>
                <a:srgbClr val="000000"/>
              </a:solidFill>
              <a:latin typeface="Amazon Ember" panose="02000000000000000000"/>
              <a:ea typeface="Amazon Ember" panose="02000000000000000000" pitchFamily="2" charset="0"/>
            </a:endParaRPr>
          </a:p>
        </p:txBody>
      </p:sp>
    </p:spTree>
    <p:extLst>
      <p:ext uri="{BB962C8B-B14F-4D97-AF65-F5344CB8AC3E}">
        <p14:creationId xmlns:p14="http://schemas.microsoft.com/office/powerpoint/2010/main" val="186405302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Synchronous process disadvantage</a:t>
            </a:r>
          </a:p>
        </p:txBody>
      </p:sp>
      <p:sp>
        <p:nvSpPr>
          <p:cNvPr id="3" name="Slide Number Placeholder 2"/>
          <p:cNvSpPr>
            <a:spLocks noGrp="1"/>
          </p:cNvSpPr>
          <p:nvPr>
            <p:ph type="sldNum" sz="quarter" idx="12"/>
          </p:nvPr>
        </p:nvSpPr>
        <p:spPr/>
        <p:txBody>
          <a:bodyPr/>
          <a:lstStyle/>
          <a:p>
            <a:fld id="{B6A95138-A96E-2F42-A959-2EFD44FE4AB7}" type="slidenum">
              <a:rPr lang="en-US" smtClean="0"/>
              <a:t>6</a:t>
            </a:fld>
            <a:endParaRPr lang="en-US"/>
          </a:p>
        </p:txBody>
      </p:sp>
      <p:sp>
        <p:nvSpPr>
          <p:cNvPr id="4" name="Footer Placeholder 3"/>
          <p:cNvSpPr>
            <a:spLocks noGrp="1"/>
          </p:cNvSpPr>
          <p:nvPr>
            <p:ph type="ftr" sz="quarter" idx="3"/>
          </p:nvPr>
        </p:nvSpPr>
        <p:spPr/>
        <p:txBody>
          <a:bodyPr/>
          <a:lstStyle/>
          <a:p>
            <a:r>
              <a:rPr lang="en-US"/>
              <a:t>© 2020 Amazon Web Services, Inc. or its Affiliates. All rights reserved.</a:t>
            </a:r>
            <a:endParaRPr lang="en-US" dirty="0"/>
          </a:p>
        </p:txBody>
      </p:sp>
      <p:cxnSp>
        <p:nvCxnSpPr>
          <p:cNvPr id="5" name="Straight Connector 4"/>
          <p:cNvCxnSpPr/>
          <p:nvPr/>
        </p:nvCxnSpPr>
        <p:spPr>
          <a:xfrm flipV="1">
            <a:off x="6804766" y="5198387"/>
            <a:ext cx="3496710" cy="1440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6810450" y="2785998"/>
            <a:ext cx="3496710" cy="1440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1372278" y="4918665"/>
            <a:ext cx="2138767" cy="571467"/>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1"/>
                </a:solidFill>
              </a:rPr>
              <a:t>Consumer</a:t>
            </a:r>
          </a:p>
        </p:txBody>
      </p:sp>
      <p:sp>
        <p:nvSpPr>
          <p:cNvPr id="9" name="TextBox 8"/>
          <p:cNvSpPr txBox="1"/>
          <p:nvPr/>
        </p:nvSpPr>
        <p:spPr>
          <a:xfrm>
            <a:off x="5539056" y="5397399"/>
            <a:ext cx="987771" cy="584775"/>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rPr>
              <a:t>Process</a:t>
            </a:r>
            <a:br>
              <a:rPr lang="en-US" sz="1600" dirty="0">
                <a:latin typeface="Amazon Ember" panose="02000000000000000000" pitchFamily="2" charset="0"/>
                <a:ea typeface="Amazon Ember" panose="02000000000000000000" pitchFamily="2" charset="0"/>
              </a:rPr>
            </a:br>
            <a:r>
              <a:rPr lang="en-US" sz="1600" dirty="0">
                <a:latin typeface="Amazon Ember" panose="02000000000000000000" pitchFamily="2" charset="0"/>
                <a:ea typeface="Amazon Ember" panose="02000000000000000000" pitchFamily="2" charset="0"/>
              </a:rPr>
              <a:t>message</a:t>
            </a:r>
          </a:p>
        </p:txBody>
      </p:sp>
      <p:sp>
        <p:nvSpPr>
          <p:cNvPr id="10" name="TextBox 9"/>
          <p:cNvSpPr txBox="1"/>
          <p:nvPr/>
        </p:nvSpPr>
        <p:spPr>
          <a:xfrm>
            <a:off x="5350129" y="1975180"/>
            <a:ext cx="1495124" cy="830997"/>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rPr>
              <a:t>Wait for</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message</a:t>
            </a:r>
            <a:r>
              <a:rPr lang="en-US" sz="1600" dirty="0">
                <a:latin typeface="Amazon Ember" panose="02000000000000000000" pitchFamily="2" charset="0"/>
                <a:ea typeface="Amazon Ember" panose="02000000000000000000" pitchFamily="2" charset="0"/>
              </a:rPr>
              <a:t> </a:t>
            </a:r>
            <a:r>
              <a:rPr lang="en-US" sz="1600" dirty="0">
                <a:solidFill>
                  <a:srgbClr val="000000"/>
                </a:solidFill>
                <a:latin typeface="Amazon Ember" panose="02000000000000000000" pitchFamily="2" charset="0"/>
                <a:ea typeface="Amazon Ember" panose="02000000000000000000" pitchFamily="2" charset="0"/>
              </a:rPr>
              <a:t>to</a:t>
            </a:r>
            <a:r>
              <a:rPr lang="en-US" sz="1600" dirty="0">
                <a:latin typeface="Amazon Ember" panose="02000000000000000000" pitchFamily="2" charset="0"/>
                <a:ea typeface="Amazon Ember" panose="02000000000000000000" pitchFamily="2" charset="0"/>
              </a:rPr>
              <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be</a:t>
            </a:r>
            <a:r>
              <a:rPr lang="en-US" sz="1600" dirty="0">
                <a:latin typeface="Amazon Ember" panose="02000000000000000000" pitchFamily="2" charset="0"/>
                <a:ea typeface="Amazon Ember" panose="02000000000000000000" pitchFamily="2" charset="0"/>
              </a:rPr>
              <a:t> processed</a:t>
            </a:r>
          </a:p>
        </p:txBody>
      </p:sp>
      <p:sp>
        <p:nvSpPr>
          <p:cNvPr id="12" name="TextBox 11"/>
          <p:cNvSpPr txBox="1"/>
          <p:nvPr/>
        </p:nvSpPr>
        <p:spPr>
          <a:xfrm>
            <a:off x="3868660" y="1975180"/>
            <a:ext cx="1091967" cy="584775"/>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rPr>
              <a:t>Generate </a:t>
            </a:r>
          </a:p>
          <a:p>
            <a:pPr algn="ctr"/>
            <a:r>
              <a:rPr lang="en-US" sz="1600" dirty="0">
                <a:solidFill>
                  <a:srgbClr val="000000"/>
                </a:solidFill>
                <a:latin typeface="Amazon Ember" panose="02000000000000000000" pitchFamily="2" charset="0"/>
                <a:ea typeface="Amazon Ember" panose="02000000000000000000" pitchFamily="2" charset="0"/>
              </a:rPr>
              <a:t>message</a:t>
            </a:r>
            <a:endParaRPr lang="en-US" sz="1600" dirty="0">
              <a:solidFill>
                <a:srgbClr val="000000"/>
              </a:solidFill>
              <a:latin typeface="Amazon Ember" panose="02000000000000000000"/>
              <a:ea typeface="Amazon Ember" panose="02000000000000000000" pitchFamily="2" charset="0"/>
            </a:endParaRPr>
          </a:p>
        </p:txBody>
      </p:sp>
      <p:sp>
        <p:nvSpPr>
          <p:cNvPr id="15" name="TextBox 14"/>
          <p:cNvSpPr txBox="1"/>
          <p:nvPr/>
        </p:nvSpPr>
        <p:spPr>
          <a:xfrm>
            <a:off x="4507154" y="1558579"/>
            <a:ext cx="1273105" cy="369332"/>
          </a:xfrm>
          <a:prstGeom prst="rect">
            <a:avLst/>
          </a:prstGeom>
          <a:noFill/>
        </p:spPr>
        <p:txBody>
          <a:bodyPr wrap="none" rtlCol="0">
            <a:spAutoFit/>
          </a:bodyPr>
          <a:lstStyle/>
          <a:p>
            <a:r>
              <a:rPr lang="en-US" dirty="0">
                <a:solidFill>
                  <a:schemeClr val="accent1"/>
                </a:solidFill>
                <a:latin typeface="Amazon Ember" panose="02000000000000000000" pitchFamily="2" charset="0"/>
                <a:ea typeface="Amazon Ember" panose="02000000000000000000" pitchFamily="2" charset="0"/>
              </a:rPr>
              <a:t>Message 1</a:t>
            </a:r>
          </a:p>
        </p:txBody>
      </p:sp>
      <p:cxnSp>
        <p:nvCxnSpPr>
          <p:cNvPr id="16" name="Straight Connector 15"/>
          <p:cNvCxnSpPr/>
          <p:nvPr/>
        </p:nvCxnSpPr>
        <p:spPr>
          <a:xfrm flipV="1">
            <a:off x="3500377" y="2800733"/>
            <a:ext cx="3280127" cy="1351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523237" y="5205590"/>
            <a:ext cx="3287213"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 name="Bent Arrow 17"/>
          <p:cNvSpPr/>
          <p:nvPr/>
        </p:nvSpPr>
        <p:spPr>
          <a:xfrm rot="5400000">
            <a:off x="3205845" y="3034782"/>
            <a:ext cx="2446077" cy="1857013"/>
          </a:xfrm>
          <a:prstGeom prst="bentArrow">
            <a:avLst>
              <a:gd name="adj1" fmla="val 4896"/>
              <a:gd name="adj2" fmla="val 10930"/>
              <a:gd name="adj3" fmla="val 11924"/>
              <a:gd name="adj4"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Bent Arrow 18"/>
          <p:cNvSpPr/>
          <p:nvPr/>
        </p:nvSpPr>
        <p:spPr>
          <a:xfrm rot="5400000" flipH="1">
            <a:off x="4962556" y="3239532"/>
            <a:ext cx="2439908" cy="1609344"/>
          </a:xfrm>
          <a:prstGeom prst="bentArrow">
            <a:avLst>
              <a:gd name="adj1" fmla="val 4896"/>
              <a:gd name="adj2" fmla="val 10930"/>
              <a:gd name="adj3" fmla="val 11924"/>
              <a:gd name="adj4"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0" name="Straight Connector 19"/>
          <p:cNvCxnSpPr/>
          <p:nvPr/>
        </p:nvCxnSpPr>
        <p:spPr>
          <a:xfrm>
            <a:off x="3511045" y="1597299"/>
            <a:ext cx="0" cy="363148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rot="10800000">
            <a:off x="6616420" y="2823029"/>
            <a:ext cx="537614" cy="235871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a:off x="4491110" y="3627786"/>
            <a:ext cx="1305194" cy="640080"/>
          </a:xfrm>
          <a:prstGeom prst="rect">
            <a:avLst/>
          </a:prstGeom>
          <a:solidFill>
            <a:schemeClr val="bg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latin typeface="Amazon Ember" panose="02000000000000000000" pitchFamily="2" charset="0"/>
                <a:ea typeface="Amazon Ember" panose="02000000000000000000" pitchFamily="2" charset="0"/>
              </a:rPr>
              <a:t>Notify </a:t>
            </a:r>
            <a:r>
              <a:rPr lang="en-US" sz="1600" dirty="0" smtClean="0">
                <a:solidFill>
                  <a:schemeClr val="accent1"/>
                </a:solidFill>
                <a:latin typeface="Amazon Ember" panose="02000000000000000000" pitchFamily="2" charset="0"/>
                <a:ea typeface="Amazon Ember" panose="02000000000000000000" pitchFamily="2" charset="0"/>
              </a:rPr>
              <a:t>consumer</a:t>
            </a:r>
            <a:endParaRPr lang="en-US" sz="1600" dirty="0">
              <a:solidFill>
                <a:schemeClr val="accent1"/>
              </a:solidFill>
              <a:latin typeface="Amazon Ember" panose="02000000000000000000" pitchFamily="2" charset="0"/>
              <a:ea typeface="Amazon Ember" panose="02000000000000000000" pitchFamily="2" charset="0"/>
            </a:endParaRPr>
          </a:p>
        </p:txBody>
      </p:sp>
      <p:cxnSp>
        <p:nvCxnSpPr>
          <p:cNvPr id="38" name="Straight Connector 37"/>
          <p:cNvCxnSpPr/>
          <p:nvPr/>
        </p:nvCxnSpPr>
        <p:spPr>
          <a:xfrm>
            <a:off x="6803844" y="1591828"/>
            <a:ext cx="0" cy="364373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10307160" y="1573755"/>
            <a:ext cx="0" cy="364373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rot="10800000">
            <a:off x="6807942" y="5025735"/>
            <a:ext cx="45719" cy="39833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a:off x="7003381" y="1975180"/>
            <a:ext cx="1495124" cy="830997"/>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rPr>
              <a:t>Wait for</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message</a:t>
            </a:r>
            <a:r>
              <a:rPr lang="en-US" sz="1600" dirty="0">
                <a:latin typeface="Amazon Ember" panose="02000000000000000000" pitchFamily="2" charset="0"/>
                <a:ea typeface="Amazon Ember" panose="02000000000000000000" pitchFamily="2" charset="0"/>
              </a:rPr>
              <a:t> </a:t>
            </a:r>
            <a:r>
              <a:rPr lang="en-US" sz="1600" dirty="0">
                <a:solidFill>
                  <a:srgbClr val="000000"/>
                </a:solidFill>
                <a:latin typeface="Amazon Ember" panose="02000000000000000000" pitchFamily="2" charset="0"/>
                <a:ea typeface="Amazon Ember" panose="02000000000000000000" pitchFamily="2" charset="0"/>
              </a:rPr>
              <a:t>to</a:t>
            </a:r>
            <a:r>
              <a:rPr lang="en-US" sz="1600" dirty="0">
                <a:latin typeface="Amazon Ember" panose="02000000000000000000" pitchFamily="2" charset="0"/>
                <a:ea typeface="Amazon Ember" panose="02000000000000000000" pitchFamily="2" charset="0"/>
              </a:rPr>
              <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be</a:t>
            </a:r>
            <a:r>
              <a:rPr lang="en-US" sz="1600" dirty="0">
                <a:latin typeface="Amazon Ember" panose="02000000000000000000" pitchFamily="2" charset="0"/>
                <a:ea typeface="Amazon Ember" panose="02000000000000000000" pitchFamily="2" charset="0"/>
              </a:rPr>
              <a:t> processed</a:t>
            </a:r>
          </a:p>
        </p:txBody>
      </p:sp>
      <p:sp>
        <p:nvSpPr>
          <p:cNvPr id="25" name="TextBox 24"/>
          <p:cNvSpPr txBox="1"/>
          <p:nvPr/>
        </p:nvSpPr>
        <p:spPr>
          <a:xfrm>
            <a:off x="8813080" y="1975180"/>
            <a:ext cx="1495124" cy="830997"/>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rPr>
              <a:t>Wait for</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message</a:t>
            </a:r>
            <a:r>
              <a:rPr lang="en-US" sz="1600" dirty="0">
                <a:latin typeface="Amazon Ember" panose="02000000000000000000" pitchFamily="2" charset="0"/>
                <a:ea typeface="Amazon Ember" panose="02000000000000000000" pitchFamily="2" charset="0"/>
              </a:rPr>
              <a:t> </a:t>
            </a:r>
            <a:r>
              <a:rPr lang="en-US" sz="1600" dirty="0">
                <a:solidFill>
                  <a:srgbClr val="000000"/>
                </a:solidFill>
                <a:latin typeface="Amazon Ember" panose="02000000000000000000" pitchFamily="2" charset="0"/>
                <a:ea typeface="Amazon Ember" panose="02000000000000000000" pitchFamily="2" charset="0"/>
              </a:rPr>
              <a:t>to</a:t>
            </a:r>
            <a:r>
              <a:rPr lang="en-US" sz="1600" dirty="0">
                <a:latin typeface="Amazon Ember" panose="02000000000000000000" pitchFamily="2" charset="0"/>
                <a:ea typeface="Amazon Ember" panose="02000000000000000000" pitchFamily="2" charset="0"/>
              </a:rPr>
              <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be</a:t>
            </a:r>
            <a:r>
              <a:rPr lang="en-US" sz="1600" dirty="0">
                <a:latin typeface="Amazon Ember" panose="02000000000000000000" pitchFamily="2" charset="0"/>
                <a:ea typeface="Amazon Ember" panose="02000000000000000000" pitchFamily="2" charset="0"/>
              </a:rPr>
              <a:t> processed</a:t>
            </a:r>
          </a:p>
        </p:txBody>
      </p:sp>
      <p:sp>
        <p:nvSpPr>
          <p:cNvPr id="26" name="Rectangle 25"/>
          <p:cNvSpPr/>
          <p:nvPr/>
        </p:nvSpPr>
        <p:spPr>
          <a:xfrm>
            <a:off x="1372278" y="2499123"/>
            <a:ext cx="2138767" cy="57146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1"/>
                </a:solidFill>
                <a:latin typeface="+mj-lt"/>
                <a:ea typeface="Amazon Ember" panose="02000000000000000000" pitchFamily="2" charset="0"/>
              </a:rPr>
              <a:t>Producer</a:t>
            </a:r>
          </a:p>
        </p:txBody>
      </p:sp>
    </p:spTree>
    <p:extLst>
      <p:ext uri="{BB962C8B-B14F-4D97-AF65-F5344CB8AC3E}">
        <p14:creationId xmlns:p14="http://schemas.microsoft.com/office/powerpoint/2010/main" val="54932385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100" fill="hold"/>
                                        <p:tgtEl>
                                          <p:spTgt spid="7"/>
                                        </p:tgtEl>
                                        <p:attrNameLst>
                                          <p:attrName>stroke.color</p:attrName>
                                        </p:attrNameLst>
                                      </p:cBhvr>
                                      <p:to>
                                        <a:srgbClr val="FF0000"/>
                                      </p:to>
                                    </p:animClr>
                                    <p:set>
                                      <p:cBhvr>
                                        <p:cTn id="7" dur="100" fill="hold"/>
                                        <p:tgtEl>
                                          <p:spTgt spid="7"/>
                                        </p:tgtEl>
                                        <p:attrNameLst>
                                          <p:attrName>stroke.on</p:attrName>
                                        </p:attrNameLst>
                                      </p:cBhvr>
                                      <p:to>
                                        <p:strVal val="true"/>
                                      </p:to>
                                    </p:set>
                                  </p:childTnLst>
                                </p:cTn>
                              </p:par>
                              <p:par>
                                <p:cTn id="8" presetID="3" presetClass="emph" presetSubtype="2" fill="hold" nodeType="withEffect">
                                  <p:stCondLst>
                                    <p:cond delay="0"/>
                                  </p:stCondLst>
                                  <p:childTnLst>
                                    <p:animClr clrSpc="rgb" dir="cw">
                                      <p:cBhvr override="childStyle">
                                        <p:cTn id="9" dur="100" fill="hold"/>
                                        <p:tgtEl>
                                          <p:spTgt spid="7">
                                            <p:txEl>
                                              <p:pRg st="0" end="0"/>
                                            </p:txEl>
                                          </p:spTgt>
                                        </p:tgtEl>
                                        <p:attrNameLst>
                                          <p:attrName>style.color</p:attrName>
                                        </p:attrNameLst>
                                      </p:cBhvr>
                                      <p:to>
                                        <a:srgbClr val="FF0000"/>
                                      </p:to>
                                    </p:animClr>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grpId="0" nodeType="clickEffect">
                                  <p:stCondLst>
                                    <p:cond delay="0"/>
                                  </p:stCondLst>
                                  <p:childTnLst>
                                    <p:animClr clrSpc="rgb" dir="cw">
                                      <p:cBhvr override="childStyle">
                                        <p:cTn id="13" dur="100" fill="hold"/>
                                        <p:tgtEl>
                                          <p:spTgt spid="19"/>
                                        </p:tgtEl>
                                        <p:attrNameLst>
                                          <p:attrName>style.color</p:attrName>
                                        </p:attrNameLst>
                                      </p:cBhvr>
                                      <p:to>
                                        <a:srgbClr val="FF0000"/>
                                      </p:to>
                                    </p:animClr>
                                    <p:animClr clrSpc="rgb" dir="cw">
                                      <p:cBhvr>
                                        <p:cTn id="14" dur="100" fill="hold"/>
                                        <p:tgtEl>
                                          <p:spTgt spid="19"/>
                                        </p:tgtEl>
                                        <p:attrNameLst>
                                          <p:attrName>fillcolor</p:attrName>
                                        </p:attrNameLst>
                                      </p:cBhvr>
                                      <p:to>
                                        <a:srgbClr val="FF0000"/>
                                      </p:to>
                                    </p:animClr>
                                    <p:set>
                                      <p:cBhvr>
                                        <p:cTn id="15" dur="100" fill="hold"/>
                                        <p:tgtEl>
                                          <p:spTgt spid="19"/>
                                        </p:tgtEl>
                                        <p:attrNameLst>
                                          <p:attrName>fill.type</p:attrName>
                                        </p:attrNameLst>
                                      </p:cBhvr>
                                      <p:to>
                                        <p:strVal val="solid"/>
                                      </p:to>
                                    </p:set>
                                    <p:set>
                                      <p:cBhvr>
                                        <p:cTn id="16" dur="100" fill="hold"/>
                                        <p:tgtEl>
                                          <p:spTgt spid="19"/>
                                        </p:tgtEl>
                                        <p:attrNameLst>
                                          <p:attrName>fill.on</p:attrName>
                                        </p:attrNameLst>
                                      </p:cBhvr>
                                      <p:to>
                                        <p:strVal val="true"/>
                                      </p:to>
                                    </p:set>
                                  </p:childTnLst>
                                </p:cTn>
                              </p:par>
                              <p:par>
                                <p:cTn id="17" presetID="19" presetClass="emph" presetSubtype="0" fill="hold" grpId="0" nodeType="withEffect">
                                  <p:stCondLst>
                                    <p:cond delay="0"/>
                                  </p:stCondLst>
                                  <p:childTnLst>
                                    <p:animClr clrSpc="rgb" dir="cw">
                                      <p:cBhvr override="childStyle">
                                        <p:cTn id="18" dur="100" fill="hold"/>
                                        <p:tgtEl>
                                          <p:spTgt spid="33"/>
                                        </p:tgtEl>
                                        <p:attrNameLst>
                                          <p:attrName>style.color</p:attrName>
                                        </p:attrNameLst>
                                      </p:cBhvr>
                                      <p:to>
                                        <a:srgbClr val="FF0000"/>
                                      </p:to>
                                    </p:animClr>
                                    <p:animClr clrSpc="rgb" dir="cw">
                                      <p:cBhvr>
                                        <p:cTn id="19" dur="100" fill="hold"/>
                                        <p:tgtEl>
                                          <p:spTgt spid="33"/>
                                        </p:tgtEl>
                                        <p:attrNameLst>
                                          <p:attrName>fillcolor</p:attrName>
                                        </p:attrNameLst>
                                      </p:cBhvr>
                                      <p:to>
                                        <a:srgbClr val="FF0000"/>
                                      </p:to>
                                    </p:animClr>
                                    <p:set>
                                      <p:cBhvr>
                                        <p:cTn id="20" dur="100" fill="hold"/>
                                        <p:tgtEl>
                                          <p:spTgt spid="33"/>
                                        </p:tgtEl>
                                        <p:attrNameLst>
                                          <p:attrName>fill.type</p:attrName>
                                        </p:attrNameLst>
                                      </p:cBhvr>
                                      <p:to>
                                        <p:strVal val="solid"/>
                                      </p:to>
                                    </p:set>
                                    <p:set>
                                      <p:cBhvr>
                                        <p:cTn id="21" dur="100" fill="hold"/>
                                        <p:tgtEl>
                                          <p:spTgt spid="33"/>
                                        </p:tgtEl>
                                        <p:attrNameLst>
                                          <p:attrName>fill.on</p:attrName>
                                        </p:attrNameLst>
                                      </p:cBhvr>
                                      <p:to>
                                        <p:strVal val="true"/>
                                      </p:to>
                                    </p:set>
                                  </p:childTnLst>
                                </p:cTn>
                              </p:par>
                              <p:par>
                                <p:cTn id="22" presetID="3" presetClass="emph" presetSubtype="2" fill="hold" grpId="0" nodeType="withEffect">
                                  <p:stCondLst>
                                    <p:cond delay="0"/>
                                  </p:stCondLst>
                                  <p:childTnLst>
                                    <p:animClr clrSpc="rgb" dir="cw">
                                      <p:cBhvr override="childStyle">
                                        <p:cTn id="23" dur="100" fill="hold"/>
                                        <p:tgtEl>
                                          <p:spTgt spid="9"/>
                                        </p:tgtEl>
                                        <p:attrNameLst>
                                          <p:attrName>style.color</p:attrName>
                                        </p:attrNameLst>
                                      </p:cBhvr>
                                      <p:to>
                                        <a:srgbClr val="FF0000"/>
                                      </p:to>
                                    </p:animClr>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9" grpId="0" animBg="1"/>
      <p:bldP spid="33" grpId="0" animBg="1"/>
      <p:bldP spid="43" grpId="0"/>
      <p:bldP spid="25" grpId="0"/>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Synchronous process disadvantage</a:t>
            </a:r>
          </a:p>
        </p:txBody>
      </p:sp>
      <p:sp>
        <p:nvSpPr>
          <p:cNvPr id="3" name="Slide Number Placeholder 2"/>
          <p:cNvSpPr>
            <a:spLocks noGrp="1"/>
          </p:cNvSpPr>
          <p:nvPr>
            <p:ph type="sldNum" sz="quarter" idx="12"/>
          </p:nvPr>
        </p:nvSpPr>
        <p:spPr/>
        <p:txBody>
          <a:bodyPr/>
          <a:lstStyle/>
          <a:p>
            <a:fld id="{B6A95138-A96E-2F42-A959-2EFD44FE4AB7}" type="slidenum">
              <a:rPr lang="en-US" smtClean="0"/>
              <a:t>7</a:t>
            </a:fld>
            <a:endParaRPr lang="en-US"/>
          </a:p>
        </p:txBody>
      </p:sp>
      <p:sp>
        <p:nvSpPr>
          <p:cNvPr id="4" name="Footer Placeholder 3"/>
          <p:cNvSpPr>
            <a:spLocks noGrp="1"/>
          </p:cNvSpPr>
          <p:nvPr>
            <p:ph type="ftr" sz="quarter" idx="3"/>
          </p:nvPr>
        </p:nvSpPr>
        <p:spPr/>
        <p:txBody>
          <a:bodyPr/>
          <a:lstStyle/>
          <a:p>
            <a:r>
              <a:rPr lang="en-US"/>
              <a:t>© 2020 Amazon Web Services, Inc. or its Affiliates. All rights reserved.</a:t>
            </a:r>
            <a:endParaRPr lang="en-US" dirty="0"/>
          </a:p>
        </p:txBody>
      </p:sp>
      <p:cxnSp>
        <p:nvCxnSpPr>
          <p:cNvPr id="5" name="Straight Connector 4"/>
          <p:cNvCxnSpPr/>
          <p:nvPr/>
        </p:nvCxnSpPr>
        <p:spPr>
          <a:xfrm flipV="1">
            <a:off x="6804766" y="5198387"/>
            <a:ext cx="3496710" cy="1440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6810450" y="2785998"/>
            <a:ext cx="3496710" cy="1440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1372278" y="4918665"/>
            <a:ext cx="2138767" cy="57146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1"/>
                </a:solidFill>
              </a:rPr>
              <a:t>Consumer</a:t>
            </a:r>
          </a:p>
        </p:txBody>
      </p:sp>
      <p:sp>
        <p:nvSpPr>
          <p:cNvPr id="9" name="TextBox 8"/>
          <p:cNvSpPr txBox="1"/>
          <p:nvPr/>
        </p:nvSpPr>
        <p:spPr>
          <a:xfrm>
            <a:off x="5539056" y="5397399"/>
            <a:ext cx="987771" cy="584775"/>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rPr>
              <a:t>Process</a:t>
            </a:r>
            <a:br>
              <a:rPr lang="en-US" sz="1600" dirty="0">
                <a:latin typeface="Amazon Ember" panose="02000000000000000000" pitchFamily="2" charset="0"/>
                <a:ea typeface="Amazon Ember" panose="02000000000000000000" pitchFamily="2" charset="0"/>
              </a:rPr>
            </a:br>
            <a:r>
              <a:rPr lang="en-US" sz="1600" dirty="0">
                <a:latin typeface="Amazon Ember" panose="02000000000000000000" pitchFamily="2" charset="0"/>
                <a:ea typeface="Amazon Ember" panose="02000000000000000000" pitchFamily="2" charset="0"/>
              </a:rPr>
              <a:t>message</a:t>
            </a:r>
          </a:p>
        </p:txBody>
      </p:sp>
      <p:sp>
        <p:nvSpPr>
          <p:cNvPr id="10" name="TextBox 9"/>
          <p:cNvSpPr txBox="1"/>
          <p:nvPr/>
        </p:nvSpPr>
        <p:spPr>
          <a:xfrm>
            <a:off x="5350129" y="1975180"/>
            <a:ext cx="1495124" cy="830997"/>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rPr>
              <a:t>Wait for</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message</a:t>
            </a:r>
            <a:r>
              <a:rPr lang="en-US" sz="1600" dirty="0">
                <a:latin typeface="Amazon Ember" panose="02000000000000000000" pitchFamily="2" charset="0"/>
                <a:ea typeface="Amazon Ember" panose="02000000000000000000" pitchFamily="2" charset="0"/>
              </a:rPr>
              <a:t> </a:t>
            </a:r>
            <a:r>
              <a:rPr lang="en-US" sz="1600" dirty="0">
                <a:solidFill>
                  <a:srgbClr val="000000"/>
                </a:solidFill>
                <a:latin typeface="Amazon Ember" panose="02000000000000000000" pitchFamily="2" charset="0"/>
                <a:ea typeface="Amazon Ember" panose="02000000000000000000" pitchFamily="2" charset="0"/>
              </a:rPr>
              <a:t>to</a:t>
            </a:r>
            <a:r>
              <a:rPr lang="en-US" sz="1600" dirty="0">
                <a:latin typeface="Amazon Ember" panose="02000000000000000000" pitchFamily="2" charset="0"/>
                <a:ea typeface="Amazon Ember" panose="02000000000000000000" pitchFamily="2" charset="0"/>
              </a:rPr>
              <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be</a:t>
            </a:r>
            <a:r>
              <a:rPr lang="en-US" sz="1600" dirty="0">
                <a:latin typeface="Amazon Ember" panose="02000000000000000000" pitchFamily="2" charset="0"/>
                <a:ea typeface="Amazon Ember" panose="02000000000000000000" pitchFamily="2" charset="0"/>
              </a:rPr>
              <a:t> processed</a:t>
            </a:r>
          </a:p>
        </p:txBody>
      </p:sp>
      <p:sp>
        <p:nvSpPr>
          <p:cNvPr id="12" name="TextBox 11"/>
          <p:cNvSpPr txBox="1"/>
          <p:nvPr/>
        </p:nvSpPr>
        <p:spPr>
          <a:xfrm>
            <a:off x="3868660" y="1975180"/>
            <a:ext cx="1091967" cy="584775"/>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rPr>
              <a:t>Generate </a:t>
            </a:r>
          </a:p>
          <a:p>
            <a:pPr algn="ctr"/>
            <a:r>
              <a:rPr lang="en-US" sz="1600" dirty="0">
                <a:solidFill>
                  <a:srgbClr val="000000"/>
                </a:solidFill>
                <a:latin typeface="Amazon Ember" panose="02000000000000000000" pitchFamily="2" charset="0"/>
                <a:ea typeface="Amazon Ember" panose="02000000000000000000" pitchFamily="2" charset="0"/>
              </a:rPr>
              <a:t>message</a:t>
            </a:r>
            <a:endParaRPr lang="en-US" sz="1600" dirty="0">
              <a:solidFill>
                <a:srgbClr val="000000"/>
              </a:solidFill>
              <a:latin typeface="Amazon Ember" panose="02000000000000000000"/>
              <a:ea typeface="Amazon Ember" panose="02000000000000000000" pitchFamily="2" charset="0"/>
            </a:endParaRPr>
          </a:p>
        </p:txBody>
      </p:sp>
      <p:sp>
        <p:nvSpPr>
          <p:cNvPr id="15" name="TextBox 14"/>
          <p:cNvSpPr txBox="1"/>
          <p:nvPr/>
        </p:nvSpPr>
        <p:spPr>
          <a:xfrm>
            <a:off x="4507154" y="1558579"/>
            <a:ext cx="1273105" cy="369332"/>
          </a:xfrm>
          <a:prstGeom prst="rect">
            <a:avLst/>
          </a:prstGeom>
          <a:noFill/>
        </p:spPr>
        <p:txBody>
          <a:bodyPr wrap="none" rtlCol="0">
            <a:spAutoFit/>
          </a:bodyPr>
          <a:lstStyle/>
          <a:p>
            <a:r>
              <a:rPr lang="en-US" dirty="0">
                <a:solidFill>
                  <a:schemeClr val="accent1"/>
                </a:solidFill>
                <a:latin typeface="Amazon Ember" panose="02000000000000000000" pitchFamily="2" charset="0"/>
                <a:ea typeface="Amazon Ember" panose="02000000000000000000" pitchFamily="2" charset="0"/>
              </a:rPr>
              <a:t>Message 1</a:t>
            </a:r>
          </a:p>
        </p:txBody>
      </p:sp>
      <p:cxnSp>
        <p:nvCxnSpPr>
          <p:cNvPr id="16" name="Straight Connector 15"/>
          <p:cNvCxnSpPr/>
          <p:nvPr/>
        </p:nvCxnSpPr>
        <p:spPr>
          <a:xfrm flipV="1">
            <a:off x="3500377" y="2800733"/>
            <a:ext cx="3280127" cy="1351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523237" y="5205590"/>
            <a:ext cx="3287213"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 name="Bent Arrow 17"/>
          <p:cNvSpPr/>
          <p:nvPr/>
        </p:nvSpPr>
        <p:spPr>
          <a:xfrm rot="5400000">
            <a:off x="3205845" y="3034782"/>
            <a:ext cx="2446077" cy="1857013"/>
          </a:xfrm>
          <a:prstGeom prst="bentArrow">
            <a:avLst>
              <a:gd name="adj1" fmla="val 4896"/>
              <a:gd name="adj2" fmla="val 10930"/>
              <a:gd name="adj3" fmla="val 11924"/>
              <a:gd name="adj4"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Bent Arrow 18"/>
          <p:cNvSpPr/>
          <p:nvPr/>
        </p:nvSpPr>
        <p:spPr>
          <a:xfrm rot="5400000" flipH="1">
            <a:off x="4962556" y="3239532"/>
            <a:ext cx="2439908" cy="1609344"/>
          </a:xfrm>
          <a:prstGeom prst="bentArrow">
            <a:avLst>
              <a:gd name="adj1" fmla="val 4896"/>
              <a:gd name="adj2" fmla="val 10930"/>
              <a:gd name="adj3" fmla="val 11924"/>
              <a:gd name="adj4"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0" name="Straight Connector 19"/>
          <p:cNvCxnSpPr/>
          <p:nvPr/>
        </p:nvCxnSpPr>
        <p:spPr>
          <a:xfrm>
            <a:off x="3511045" y="1597299"/>
            <a:ext cx="0" cy="363148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rot="10800000">
            <a:off x="6616420" y="2823029"/>
            <a:ext cx="537614" cy="235871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a:off x="4491110" y="3627786"/>
            <a:ext cx="1305194" cy="640080"/>
          </a:xfrm>
          <a:prstGeom prst="rect">
            <a:avLst/>
          </a:prstGeom>
          <a:solidFill>
            <a:schemeClr val="bg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latin typeface="Amazon Ember" panose="02000000000000000000" pitchFamily="2" charset="0"/>
                <a:ea typeface="Amazon Ember" panose="02000000000000000000" pitchFamily="2" charset="0"/>
              </a:rPr>
              <a:t>Notify </a:t>
            </a:r>
            <a:r>
              <a:rPr lang="en-US" sz="1600" dirty="0" smtClean="0">
                <a:solidFill>
                  <a:schemeClr val="accent1"/>
                </a:solidFill>
                <a:latin typeface="Amazon Ember" panose="02000000000000000000" pitchFamily="2" charset="0"/>
                <a:ea typeface="Amazon Ember" panose="02000000000000000000" pitchFamily="2" charset="0"/>
              </a:rPr>
              <a:t>consumer</a:t>
            </a:r>
            <a:endParaRPr lang="en-US" sz="1600" dirty="0">
              <a:solidFill>
                <a:schemeClr val="accent1"/>
              </a:solidFill>
              <a:latin typeface="Amazon Ember" panose="02000000000000000000" pitchFamily="2" charset="0"/>
              <a:ea typeface="Amazon Ember" panose="02000000000000000000" pitchFamily="2" charset="0"/>
            </a:endParaRPr>
          </a:p>
        </p:txBody>
      </p:sp>
      <p:cxnSp>
        <p:nvCxnSpPr>
          <p:cNvPr id="38" name="Straight Connector 37"/>
          <p:cNvCxnSpPr/>
          <p:nvPr/>
        </p:nvCxnSpPr>
        <p:spPr>
          <a:xfrm>
            <a:off x="6803844" y="1591828"/>
            <a:ext cx="0" cy="364373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10307160" y="1573755"/>
            <a:ext cx="0" cy="364373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rot="10800000">
            <a:off x="6807942" y="5025735"/>
            <a:ext cx="45719" cy="39833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a:off x="7003381" y="1975180"/>
            <a:ext cx="1495124" cy="830997"/>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rPr>
              <a:t>Wait for</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message</a:t>
            </a:r>
            <a:r>
              <a:rPr lang="en-US" sz="1600" dirty="0">
                <a:latin typeface="Amazon Ember" panose="02000000000000000000" pitchFamily="2" charset="0"/>
                <a:ea typeface="Amazon Ember" panose="02000000000000000000" pitchFamily="2" charset="0"/>
              </a:rPr>
              <a:t> </a:t>
            </a:r>
            <a:r>
              <a:rPr lang="en-US" sz="1600" dirty="0">
                <a:solidFill>
                  <a:srgbClr val="000000"/>
                </a:solidFill>
                <a:latin typeface="Amazon Ember" panose="02000000000000000000" pitchFamily="2" charset="0"/>
                <a:ea typeface="Amazon Ember" panose="02000000000000000000" pitchFamily="2" charset="0"/>
              </a:rPr>
              <a:t>to</a:t>
            </a:r>
            <a:r>
              <a:rPr lang="en-US" sz="1600" dirty="0">
                <a:latin typeface="Amazon Ember" panose="02000000000000000000" pitchFamily="2" charset="0"/>
                <a:ea typeface="Amazon Ember" panose="02000000000000000000" pitchFamily="2" charset="0"/>
              </a:rPr>
              <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be</a:t>
            </a:r>
            <a:r>
              <a:rPr lang="en-US" sz="1600" dirty="0">
                <a:latin typeface="Amazon Ember" panose="02000000000000000000" pitchFamily="2" charset="0"/>
                <a:ea typeface="Amazon Ember" panose="02000000000000000000" pitchFamily="2" charset="0"/>
              </a:rPr>
              <a:t> processed</a:t>
            </a:r>
          </a:p>
        </p:txBody>
      </p:sp>
      <p:sp>
        <p:nvSpPr>
          <p:cNvPr id="25" name="TextBox 24"/>
          <p:cNvSpPr txBox="1"/>
          <p:nvPr/>
        </p:nvSpPr>
        <p:spPr>
          <a:xfrm>
            <a:off x="8813080" y="1975180"/>
            <a:ext cx="1495124" cy="830997"/>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rPr>
              <a:t>Wait for</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message</a:t>
            </a:r>
            <a:r>
              <a:rPr lang="en-US" sz="1600" dirty="0">
                <a:latin typeface="Amazon Ember" panose="02000000000000000000" pitchFamily="2" charset="0"/>
                <a:ea typeface="Amazon Ember" panose="02000000000000000000" pitchFamily="2" charset="0"/>
              </a:rPr>
              <a:t> </a:t>
            </a:r>
            <a:r>
              <a:rPr lang="en-US" sz="1600" dirty="0">
                <a:solidFill>
                  <a:srgbClr val="000000"/>
                </a:solidFill>
                <a:latin typeface="Amazon Ember" panose="02000000000000000000" pitchFamily="2" charset="0"/>
                <a:ea typeface="Amazon Ember" panose="02000000000000000000" pitchFamily="2" charset="0"/>
              </a:rPr>
              <a:t>to</a:t>
            </a:r>
            <a:r>
              <a:rPr lang="en-US" sz="1600" dirty="0">
                <a:latin typeface="Amazon Ember" panose="02000000000000000000" pitchFamily="2" charset="0"/>
                <a:ea typeface="Amazon Ember" panose="02000000000000000000" pitchFamily="2" charset="0"/>
              </a:rPr>
              <a:t/>
            </a:r>
            <a:br>
              <a:rPr lang="en-US" sz="1600" dirty="0">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be</a:t>
            </a:r>
            <a:r>
              <a:rPr lang="en-US" sz="1600" dirty="0">
                <a:latin typeface="Amazon Ember" panose="02000000000000000000" pitchFamily="2" charset="0"/>
                <a:ea typeface="Amazon Ember" panose="02000000000000000000" pitchFamily="2" charset="0"/>
              </a:rPr>
              <a:t> processed</a:t>
            </a:r>
          </a:p>
        </p:txBody>
      </p:sp>
      <p:sp>
        <p:nvSpPr>
          <p:cNvPr id="26" name="Rectangle 25"/>
          <p:cNvSpPr/>
          <p:nvPr/>
        </p:nvSpPr>
        <p:spPr>
          <a:xfrm>
            <a:off x="1372278" y="2499123"/>
            <a:ext cx="2138767" cy="57146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1"/>
                </a:solidFill>
                <a:latin typeface="+mj-lt"/>
                <a:ea typeface="Amazon Ember" panose="02000000000000000000" pitchFamily="2" charset="0"/>
              </a:rPr>
              <a:t>Producer</a:t>
            </a:r>
          </a:p>
        </p:txBody>
      </p:sp>
    </p:spTree>
    <p:extLst>
      <p:ext uri="{BB962C8B-B14F-4D97-AF65-F5344CB8AC3E}">
        <p14:creationId xmlns:p14="http://schemas.microsoft.com/office/powerpoint/2010/main" val="169423770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mph" presetSubtype="0" fill="hold" grpId="0" nodeType="withEffect">
                                  <p:stCondLst>
                                    <p:cond delay="0"/>
                                  </p:stCondLst>
                                  <p:childTnLst>
                                    <p:animClr clrSpc="rgb" dir="cw">
                                      <p:cBhvr override="childStyle">
                                        <p:cTn id="6" dur="100" fill="hold"/>
                                        <p:tgtEl>
                                          <p:spTgt spid="33"/>
                                        </p:tgtEl>
                                        <p:attrNameLst>
                                          <p:attrName>style.color</p:attrName>
                                        </p:attrNameLst>
                                      </p:cBhvr>
                                      <p:to>
                                        <a:srgbClr val="FF0000"/>
                                      </p:to>
                                    </p:animClr>
                                    <p:animClr clrSpc="rgb" dir="cw">
                                      <p:cBhvr>
                                        <p:cTn id="7" dur="100" fill="hold"/>
                                        <p:tgtEl>
                                          <p:spTgt spid="33"/>
                                        </p:tgtEl>
                                        <p:attrNameLst>
                                          <p:attrName>fillcolor</p:attrName>
                                        </p:attrNameLst>
                                      </p:cBhvr>
                                      <p:to>
                                        <a:srgbClr val="FF0000"/>
                                      </p:to>
                                    </p:animClr>
                                    <p:set>
                                      <p:cBhvr>
                                        <p:cTn id="8" dur="100" fill="hold"/>
                                        <p:tgtEl>
                                          <p:spTgt spid="33"/>
                                        </p:tgtEl>
                                        <p:attrNameLst>
                                          <p:attrName>fill.type</p:attrName>
                                        </p:attrNameLst>
                                      </p:cBhvr>
                                      <p:to>
                                        <p:strVal val="solid"/>
                                      </p:to>
                                    </p:set>
                                    <p:set>
                                      <p:cBhvr>
                                        <p:cTn id="9" dur="100" fill="hold"/>
                                        <p:tgtEl>
                                          <p:spTgt spid="33"/>
                                        </p:tgtEl>
                                        <p:attrNameLst>
                                          <p:attrName>fill.on</p:attrName>
                                        </p:attrNameLst>
                                      </p:cBhvr>
                                      <p:to>
                                        <p:strVal val="true"/>
                                      </p:to>
                                    </p:set>
                                  </p:childTnLst>
                                </p:cTn>
                              </p:par>
                              <p:par>
                                <p:cTn id="10" presetID="3" presetClass="emph" presetSubtype="2" fill="hold" grpId="0" nodeType="withEffect">
                                  <p:stCondLst>
                                    <p:cond delay="0"/>
                                  </p:stCondLst>
                                  <p:childTnLst>
                                    <p:animClr clrSpc="rgb" dir="cw">
                                      <p:cBhvr override="childStyle">
                                        <p:cTn id="11" dur="100" fill="hold"/>
                                        <p:tgtEl>
                                          <p:spTgt spid="9"/>
                                        </p:tgtEl>
                                        <p:attrNameLst>
                                          <p:attrName>style.color</p:attrName>
                                        </p:attrNameLst>
                                      </p:cBhvr>
                                      <p:to>
                                        <a:srgbClr val="FF0000"/>
                                      </p:to>
                                    </p:animClr>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3"/>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3" grpId="0" animBg="1"/>
      <p:bldP spid="43" grpId="0"/>
      <p:bldP spid="2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Down Arrow 128"/>
          <p:cNvSpPr/>
          <p:nvPr/>
        </p:nvSpPr>
        <p:spPr>
          <a:xfrm>
            <a:off x="4234346" y="4253831"/>
            <a:ext cx="213685" cy="951760"/>
          </a:xfrm>
          <a:prstGeom prst="downArrow">
            <a:avLst>
              <a:gd name="adj1" fmla="val 30905"/>
              <a:gd name="adj2" fmla="val 5181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627321" y="3695891"/>
            <a:ext cx="8936064" cy="55793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TextBox 83"/>
          <p:cNvSpPr txBox="1"/>
          <p:nvPr/>
        </p:nvSpPr>
        <p:spPr>
          <a:xfrm>
            <a:off x="1306044" y="3781568"/>
            <a:ext cx="1079142" cy="461665"/>
          </a:xfrm>
          <a:prstGeom prst="rect">
            <a:avLst/>
          </a:prstGeom>
          <a:noFill/>
        </p:spPr>
        <p:txBody>
          <a:bodyPr wrap="none" rtlCol="0">
            <a:spAutoFit/>
          </a:bodyPr>
          <a:lstStyle/>
          <a:p>
            <a:r>
              <a:rPr lang="en-US" sz="2400" dirty="0">
                <a:latin typeface="Amazon Ember Light" charset="0"/>
                <a:ea typeface="Amazon Ember Light" charset="0"/>
                <a:cs typeface="Amazon Ember Light" charset="0"/>
              </a:rPr>
              <a:t>Queue</a:t>
            </a:r>
          </a:p>
        </p:txBody>
      </p:sp>
      <p:sp>
        <p:nvSpPr>
          <p:cNvPr id="2" name="Title 1"/>
          <p:cNvSpPr>
            <a:spLocks noGrp="1"/>
          </p:cNvSpPr>
          <p:nvPr>
            <p:ph type="title"/>
          </p:nvPr>
        </p:nvSpPr>
        <p:spPr/>
        <p:txBody>
          <a:bodyPr/>
          <a:lstStyle/>
          <a:p>
            <a:r>
              <a:rPr lang="en-US" dirty="0"/>
              <a:t>Asynchronous process</a:t>
            </a:r>
          </a:p>
        </p:txBody>
      </p:sp>
      <p:sp>
        <p:nvSpPr>
          <p:cNvPr id="3" name="Slide Number Placeholder 2"/>
          <p:cNvSpPr>
            <a:spLocks noGrp="1"/>
          </p:cNvSpPr>
          <p:nvPr>
            <p:ph type="sldNum" sz="quarter" idx="12"/>
          </p:nvPr>
        </p:nvSpPr>
        <p:spPr/>
        <p:txBody>
          <a:bodyPr/>
          <a:lstStyle/>
          <a:p>
            <a:fld id="{B6A95138-A96E-2F42-A959-2EFD44FE4AB7}" type="slidenum">
              <a:rPr lang="en-US" smtClean="0"/>
              <a:t>8</a:t>
            </a:fld>
            <a:endParaRPr lang="en-US"/>
          </a:p>
        </p:txBody>
      </p:sp>
      <p:sp>
        <p:nvSpPr>
          <p:cNvPr id="4" name="Footer Placeholder 3"/>
          <p:cNvSpPr>
            <a:spLocks noGrp="1"/>
          </p:cNvSpPr>
          <p:nvPr>
            <p:ph type="ftr" sz="quarter" idx="3"/>
          </p:nvPr>
        </p:nvSpPr>
        <p:spPr/>
        <p:txBody>
          <a:bodyPr/>
          <a:lstStyle/>
          <a:p>
            <a:r>
              <a:rPr lang="en-US"/>
              <a:t>© 2020 Amazon Web Services, Inc. or its Affiliates. All rights reserved.</a:t>
            </a:r>
            <a:endParaRPr lang="en-US" dirty="0"/>
          </a:p>
        </p:txBody>
      </p:sp>
      <p:cxnSp>
        <p:nvCxnSpPr>
          <p:cNvPr id="57" name="Straight Connector 56"/>
          <p:cNvCxnSpPr/>
          <p:nvPr/>
        </p:nvCxnSpPr>
        <p:spPr>
          <a:xfrm>
            <a:off x="3520658" y="5228784"/>
            <a:ext cx="1494101"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3511045" y="1597299"/>
            <a:ext cx="0" cy="363148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121" name="Group 120"/>
          <p:cNvGrpSpPr/>
          <p:nvPr/>
        </p:nvGrpSpPr>
        <p:grpSpPr>
          <a:xfrm>
            <a:off x="3500374" y="1546034"/>
            <a:ext cx="1514385" cy="3689528"/>
            <a:chOff x="3500374" y="1546034"/>
            <a:chExt cx="1514385" cy="3689528"/>
          </a:xfrm>
        </p:grpSpPr>
        <p:sp>
          <p:nvSpPr>
            <p:cNvPr id="52" name="TextBox 51"/>
            <p:cNvSpPr txBox="1"/>
            <p:nvPr/>
          </p:nvSpPr>
          <p:spPr>
            <a:xfrm>
              <a:off x="3726667" y="1975180"/>
              <a:ext cx="1091967" cy="584775"/>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rPr>
                <a:t>Generate </a:t>
              </a:r>
            </a:p>
            <a:p>
              <a:pPr algn="ctr"/>
              <a:r>
                <a:rPr lang="en-US" sz="1600" dirty="0">
                  <a:solidFill>
                    <a:srgbClr val="000000"/>
                  </a:solidFill>
                  <a:latin typeface="Amazon Ember" panose="02000000000000000000" pitchFamily="2" charset="0"/>
                  <a:ea typeface="Amazon Ember" panose="02000000000000000000" pitchFamily="2" charset="0"/>
                </a:rPr>
                <a:t>message</a:t>
              </a:r>
              <a:endParaRPr lang="en-US" sz="1600" dirty="0">
                <a:solidFill>
                  <a:srgbClr val="000000"/>
                </a:solidFill>
                <a:latin typeface="Amazon Ember" panose="02000000000000000000"/>
                <a:ea typeface="Amazon Ember" panose="02000000000000000000" pitchFamily="2" charset="0"/>
              </a:endParaRPr>
            </a:p>
          </p:txBody>
        </p:sp>
        <p:sp>
          <p:nvSpPr>
            <p:cNvPr id="55" name="TextBox 54"/>
            <p:cNvSpPr txBox="1"/>
            <p:nvPr/>
          </p:nvSpPr>
          <p:spPr>
            <a:xfrm>
              <a:off x="3636098" y="1546034"/>
              <a:ext cx="1273105" cy="369332"/>
            </a:xfrm>
            <a:prstGeom prst="rect">
              <a:avLst/>
            </a:prstGeom>
            <a:noFill/>
          </p:spPr>
          <p:txBody>
            <a:bodyPr wrap="none" rtlCol="0">
              <a:spAutoFit/>
            </a:bodyPr>
            <a:lstStyle/>
            <a:p>
              <a:r>
                <a:rPr lang="en-US" dirty="0">
                  <a:solidFill>
                    <a:schemeClr val="accent1"/>
                  </a:solidFill>
                  <a:latin typeface="Amazon Ember" panose="02000000000000000000" pitchFamily="2" charset="0"/>
                  <a:ea typeface="Amazon Ember" panose="02000000000000000000" pitchFamily="2" charset="0"/>
                </a:rPr>
                <a:t>Message 1</a:t>
              </a:r>
            </a:p>
          </p:txBody>
        </p:sp>
        <p:sp>
          <p:nvSpPr>
            <p:cNvPr id="58" name="Bent Arrow 57"/>
            <p:cNvSpPr/>
            <p:nvPr/>
          </p:nvSpPr>
          <p:spPr>
            <a:xfrm rot="5400000">
              <a:off x="3496582" y="2744042"/>
              <a:ext cx="955641" cy="948057"/>
            </a:xfrm>
            <a:prstGeom prst="bentArrow">
              <a:avLst>
                <a:gd name="adj1" fmla="val 4896"/>
                <a:gd name="adj2" fmla="val 10930"/>
                <a:gd name="adj3" fmla="val 11924"/>
                <a:gd name="adj4"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8" name="Straight Connector 77"/>
            <p:cNvCxnSpPr/>
            <p:nvPr/>
          </p:nvCxnSpPr>
          <p:spPr>
            <a:xfrm>
              <a:off x="5014759" y="1591828"/>
              <a:ext cx="0" cy="364373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3557525" y="2864894"/>
              <a:ext cx="1430251" cy="584775"/>
            </a:xfrm>
            <a:prstGeom prst="rect">
              <a:avLst/>
            </a:prstGeom>
            <a:solidFill>
              <a:schemeClr val="bg2"/>
            </a:solidFill>
          </p:spPr>
          <p:txBody>
            <a:bodyPr wrap="square" rtlCol="0">
              <a:spAutoFit/>
            </a:bodyPr>
            <a:lstStyle/>
            <a:p>
              <a:pPr algn="ctr"/>
              <a:r>
                <a:rPr lang="en-US" sz="1600" dirty="0">
                  <a:latin typeface="Amazon Ember" panose="02000000000000000000" pitchFamily="2" charset="0"/>
                  <a:ea typeface="Amazon Ember" panose="02000000000000000000" pitchFamily="2" charset="0"/>
                </a:rPr>
                <a:t>Put </a:t>
              </a:r>
              <a:r>
                <a:rPr lang="en-US" sz="1600" dirty="0">
                  <a:solidFill>
                    <a:srgbClr val="000000"/>
                  </a:solidFill>
                  <a:latin typeface="Amazon Ember" panose="02000000000000000000" pitchFamily="2" charset="0"/>
                  <a:ea typeface="Amazon Ember" panose="02000000000000000000" pitchFamily="2" charset="0"/>
                </a:rPr>
                <a:t>message</a:t>
              </a:r>
              <a:br>
                <a:rPr lang="en-US" sz="1600" dirty="0">
                  <a:solidFill>
                    <a:srgbClr val="000000"/>
                  </a:solidFill>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on queue</a:t>
              </a:r>
              <a:endParaRPr lang="en-US" sz="1600" dirty="0">
                <a:solidFill>
                  <a:srgbClr val="000000"/>
                </a:solidFill>
                <a:latin typeface="Amazon Ember" panose="02000000000000000000"/>
                <a:ea typeface="Amazon Ember" panose="02000000000000000000" pitchFamily="2" charset="0"/>
              </a:endParaRPr>
            </a:p>
          </p:txBody>
        </p:sp>
      </p:grpSp>
      <p:grpSp>
        <p:nvGrpSpPr>
          <p:cNvPr id="122" name="Group 121"/>
          <p:cNvGrpSpPr/>
          <p:nvPr/>
        </p:nvGrpSpPr>
        <p:grpSpPr>
          <a:xfrm>
            <a:off x="4300151" y="1546034"/>
            <a:ext cx="2218322" cy="3689528"/>
            <a:chOff x="4300151" y="1546034"/>
            <a:chExt cx="2218322" cy="3689528"/>
          </a:xfrm>
        </p:grpSpPr>
        <p:sp>
          <p:nvSpPr>
            <p:cNvPr id="54" name="TextBox 53"/>
            <p:cNvSpPr txBox="1"/>
            <p:nvPr/>
          </p:nvSpPr>
          <p:spPr>
            <a:xfrm>
              <a:off x="5149835" y="1546034"/>
              <a:ext cx="1273105" cy="369332"/>
            </a:xfrm>
            <a:prstGeom prst="rect">
              <a:avLst/>
            </a:prstGeom>
            <a:noFill/>
          </p:spPr>
          <p:txBody>
            <a:bodyPr wrap="none" rtlCol="0">
              <a:spAutoFit/>
            </a:bodyPr>
            <a:lstStyle/>
            <a:p>
              <a:r>
                <a:rPr lang="en-US" dirty="0">
                  <a:solidFill>
                    <a:schemeClr val="accent1"/>
                  </a:solidFill>
                  <a:latin typeface="Amazon Ember" panose="02000000000000000000" pitchFamily="2" charset="0"/>
                  <a:ea typeface="Amazon Ember" panose="02000000000000000000" pitchFamily="2" charset="0"/>
                </a:rPr>
                <a:t>Message 2</a:t>
              </a:r>
            </a:p>
          </p:txBody>
        </p:sp>
        <p:sp>
          <p:nvSpPr>
            <p:cNvPr id="62" name="TextBox 61"/>
            <p:cNvSpPr txBox="1"/>
            <p:nvPr/>
          </p:nvSpPr>
          <p:spPr>
            <a:xfrm>
              <a:off x="5240404" y="1975180"/>
              <a:ext cx="1091967" cy="584775"/>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rPr>
                <a:t>Generate </a:t>
              </a:r>
            </a:p>
            <a:p>
              <a:pPr algn="ctr"/>
              <a:r>
                <a:rPr lang="en-US" sz="1600" dirty="0">
                  <a:solidFill>
                    <a:srgbClr val="000000"/>
                  </a:solidFill>
                  <a:latin typeface="Amazon Ember" panose="02000000000000000000" pitchFamily="2" charset="0"/>
                  <a:ea typeface="Amazon Ember" panose="02000000000000000000" pitchFamily="2" charset="0"/>
                </a:rPr>
                <a:t>message</a:t>
              </a:r>
              <a:endParaRPr lang="en-US" sz="1600" dirty="0">
                <a:solidFill>
                  <a:srgbClr val="000000"/>
                </a:solidFill>
                <a:latin typeface="Amazon Ember" panose="02000000000000000000"/>
                <a:ea typeface="Amazon Ember" panose="02000000000000000000" pitchFamily="2" charset="0"/>
              </a:endParaRPr>
            </a:p>
          </p:txBody>
        </p:sp>
        <p:cxnSp>
          <p:nvCxnSpPr>
            <p:cNvPr id="87" name="Straight Connector 86"/>
            <p:cNvCxnSpPr/>
            <p:nvPr/>
          </p:nvCxnSpPr>
          <p:spPr>
            <a:xfrm>
              <a:off x="6518473" y="1656086"/>
              <a:ext cx="0" cy="357947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6" name="Bent Arrow 115"/>
            <p:cNvSpPr/>
            <p:nvPr/>
          </p:nvSpPr>
          <p:spPr>
            <a:xfrm rot="5400000">
              <a:off x="4719889" y="2320512"/>
              <a:ext cx="955641" cy="1795118"/>
            </a:xfrm>
            <a:prstGeom prst="bentArrow">
              <a:avLst>
                <a:gd name="adj1" fmla="val 4896"/>
                <a:gd name="adj2" fmla="val 10930"/>
                <a:gd name="adj3" fmla="val 11924"/>
                <a:gd name="adj4"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3" name="TextBox 92"/>
            <p:cNvSpPr txBox="1"/>
            <p:nvPr/>
          </p:nvSpPr>
          <p:spPr>
            <a:xfrm>
              <a:off x="5106332" y="2864894"/>
              <a:ext cx="1360111" cy="584775"/>
            </a:xfrm>
            <a:prstGeom prst="rect">
              <a:avLst/>
            </a:prstGeom>
            <a:solidFill>
              <a:schemeClr val="bg1"/>
            </a:solidFill>
          </p:spPr>
          <p:txBody>
            <a:bodyPr wrap="square" rtlCol="0">
              <a:spAutoFit/>
            </a:bodyPr>
            <a:lstStyle/>
            <a:p>
              <a:pPr algn="ctr"/>
              <a:r>
                <a:rPr lang="en-US" sz="1600" dirty="0">
                  <a:latin typeface="Amazon Ember" panose="02000000000000000000" pitchFamily="2" charset="0"/>
                  <a:ea typeface="Amazon Ember" panose="02000000000000000000" pitchFamily="2" charset="0"/>
                </a:rPr>
                <a:t>Put </a:t>
              </a:r>
              <a:r>
                <a:rPr lang="en-US" sz="1600" dirty="0">
                  <a:solidFill>
                    <a:srgbClr val="000000"/>
                  </a:solidFill>
                  <a:latin typeface="Amazon Ember" panose="02000000000000000000" pitchFamily="2" charset="0"/>
                  <a:ea typeface="Amazon Ember" panose="02000000000000000000" pitchFamily="2" charset="0"/>
                </a:rPr>
                <a:t>message</a:t>
              </a:r>
              <a:br>
                <a:rPr lang="en-US" sz="1600" dirty="0">
                  <a:solidFill>
                    <a:srgbClr val="000000"/>
                  </a:solidFill>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on queue</a:t>
              </a:r>
              <a:endParaRPr lang="en-US" sz="1600" dirty="0">
                <a:solidFill>
                  <a:srgbClr val="000000"/>
                </a:solidFill>
                <a:latin typeface="Amazon Ember" panose="02000000000000000000"/>
                <a:ea typeface="Amazon Ember" panose="02000000000000000000" pitchFamily="2" charset="0"/>
              </a:endParaRPr>
            </a:p>
          </p:txBody>
        </p:sp>
      </p:grpSp>
      <p:grpSp>
        <p:nvGrpSpPr>
          <p:cNvPr id="123" name="Group 122"/>
          <p:cNvGrpSpPr/>
          <p:nvPr/>
        </p:nvGrpSpPr>
        <p:grpSpPr>
          <a:xfrm>
            <a:off x="5993026" y="1546034"/>
            <a:ext cx="2029161" cy="3689528"/>
            <a:chOff x="5993026" y="1546034"/>
            <a:chExt cx="2029161" cy="3689528"/>
          </a:xfrm>
        </p:grpSpPr>
        <p:sp>
          <p:nvSpPr>
            <p:cNvPr id="89" name="TextBox 88"/>
            <p:cNvSpPr txBox="1"/>
            <p:nvPr/>
          </p:nvSpPr>
          <p:spPr>
            <a:xfrm>
              <a:off x="6642311" y="1546034"/>
              <a:ext cx="1273105" cy="369332"/>
            </a:xfrm>
            <a:prstGeom prst="rect">
              <a:avLst/>
            </a:prstGeom>
            <a:noFill/>
          </p:spPr>
          <p:txBody>
            <a:bodyPr wrap="none" rtlCol="0">
              <a:spAutoFit/>
            </a:bodyPr>
            <a:lstStyle/>
            <a:p>
              <a:r>
                <a:rPr lang="en-US" dirty="0">
                  <a:solidFill>
                    <a:schemeClr val="accent1"/>
                  </a:solidFill>
                  <a:latin typeface="Amazon Ember" panose="02000000000000000000" pitchFamily="2" charset="0"/>
                  <a:ea typeface="Amazon Ember" panose="02000000000000000000" pitchFamily="2" charset="0"/>
                </a:rPr>
                <a:t>Message 3</a:t>
              </a:r>
            </a:p>
          </p:txBody>
        </p:sp>
        <p:sp>
          <p:nvSpPr>
            <p:cNvPr id="90" name="TextBox 89"/>
            <p:cNvSpPr txBox="1"/>
            <p:nvPr/>
          </p:nvSpPr>
          <p:spPr>
            <a:xfrm>
              <a:off x="6732880" y="1975180"/>
              <a:ext cx="1091967" cy="584775"/>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rPr>
                <a:t>Generate </a:t>
              </a:r>
            </a:p>
            <a:p>
              <a:pPr algn="ctr"/>
              <a:r>
                <a:rPr lang="en-US" sz="1600" dirty="0">
                  <a:solidFill>
                    <a:srgbClr val="000000"/>
                  </a:solidFill>
                  <a:latin typeface="Amazon Ember" panose="02000000000000000000" pitchFamily="2" charset="0"/>
                  <a:ea typeface="Amazon Ember" panose="02000000000000000000" pitchFamily="2" charset="0"/>
                </a:rPr>
                <a:t>message</a:t>
              </a:r>
              <a:endParaRPr lang="en-US" sz="1600" dirty="0">
                <a:solidFill>
                  <a:srgbClr val="000000"/>
                </a:solidFill>
                <a:latin typeface="Amazon Ember" panose="02000000000000000000"/>
                <a:ea typeface="Amazon Ember" panose="02000000000000000000" pitchFamily="2" charset="0"/>
              </a:endParaRPr>
            </a:p>
          </p:txBody>
        </p:sp>
        <p:cxnSp>
          <p:nvCxnSpPr>
            <p:cNvPr id="91" name="Straight Connector 90"/>
            <p:cNvCxnSpPr/>
            <p:nvPr/>
          </p:nvCxnSpPr>
          <p:spPr>
            <a:xfrm>
              <a:off x="8022187" y="1656086"/>
              <a:ext cx="0" cy="357947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7" name="Bent Arrow 116"/>
            <p:cNvSpPr/>
            <p:nvPr/>
          </p:nvSpPr>
          <p:spPr>
            <a:xfrm rot="5400000">
              <a:off x="6229785" y="2503491"/>
              <a:ext cx="955641" cy="1429159"/>
            </a:xfrm>
            <a:prstGeom prst="bentArrow">
              <a:avLst>
                <a:gd name="adj1" fmla="val 4896"/>
                <a:gd name="adj2" fmla="val 10930"/>
                <a:gd name="adj3" fmla="val 11924"/>
                <a:gd name="adj4"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4" name="TextBox 93"/>
            <p:cNvSpPr txBox="1"/>
            <p:nvPr/>
          </p:nvSpPr>
          <p:spPr>
            <a:xfrm>
              <a:off x="6578358" y="2864894"/>
              <a:ext cx="1401011" cy="584775"/>
            </a:xfrm>
            <a:prstGeom prst="rect">
              <a:avLst/>
            </a:prstGeom>
            <a:solidFill>
              <a:schemeClr val="bg1"/>
            </a:solidFill>
          </p:spPr>
          <p:txBody>
            <a:bodyPr wrap="square" rtlCol="0">
              <a:spAutoFit/>
            </a:bodyPr>
            <a:lstStyle/>
            <a:p>
              <a:pPr algn="ctr"/>
              <a:r>
                <a:rPr lang="en-US" sz="1600" dirty="0">
                  <a:latin typeface="Amazon Ember" panose="02000000000000000000" pitchFamily="2" charset="0"/>
                  <a:ea typeface="Amazon Ember" panose="02000000000000000000" pitchFamily="2" charset="0"/>
                </a:rPr>
                <a:t>Put </a:t>
              </a:r>
              <a:r>
                <a:rPr lang="en-US" sz="1600" dirty="0">
                  <a:solidFill>
                    <a:srgbClr val="000000"/>
                  </a:solidFill>
                  <a:latin typeface="Amazon Ember" panose="02000000000000000000" pitchFamily="2" charset="0"/>
                  <a:ea typeface="Amazon Ember" panose="02000000000000000000" pitchFamily="2" charset="0"/>
                </a:rPr>
                <a:t>message</a:t>
              </a:r>
              <a:br>
                <a:rPr lang="en-US" sz="1600" dirty="0">
                  <a:solidFill>
                    <a:srgbClr val="000000"/>
                  </a:solidFill>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on queue</a:t>
              </a:r>
              <a:endParaRPr lang="en-US" sz="1600" dirty="0">
                <a:solidFill>
                  <a:srgbClr val="000000"/>
                </a:solidFill>
                <a:latin typeface="Amazon Ember" panose="02000000000000000000"/>
                <a:ea typeface="Amazon Ember" panose="02000000000000000000" pitchFamily="2" charset="0"/>
              </a:endParaRPr>
            </a:p>
          </p:txBody>
        </p:sp>
      </p:grpSp>
      <p:grpSp>
        <p:nvGrpSpPr>
          <p:cNvPr id="124" name="Group 123"/>
          <p:cNvGrpSpPr/>
          <p:nvPr/>
        </p:nvGrpSpPr>
        <p:grpSpPr>
          <a:xfrm>
            <a:off x="7203988" y="1535066"/>
            <a:ext cx="2321913" cy="3700496"/>
            <a:chOff x="7203988" y="1535066"/>
            <a:chExt cx="2321913" cy="3700496"/>
          </a:xfrm>
        </p:grpSpPr>
        <p:sp>
          <p:nvSpPr>
            <p:cNvPr id="118" name="Bent Arrow 117"/>
            <p:cNvSpPr/>
            <p:nvPr/>
          </p:nvSpPr>
          <p:spPr>
            <a:xfrm rot="5400000">
              <a:off x="7572605" y="2371634"/>
              <a:ext cx="955641" cy="1692875"/>
            </a:xfrm>
            <a:prstGeom prst="bentArrow">
              <a:avLst>
                <a:gd name="adj1" fmla="val 4896"/>
                <a:gd name="adj2" fmla="val 10930"/>
                <a:gd name="adj3" fmla="val 11924"/>
                <a:gd name="adj4"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5" name="TextBox 94"/>
            <p:cNvSpPr txBox="1"/>
            <p:nvPr/>
          </p:nvSpPr>
          <p:spPr>
            <a:xfrm>
              <a:off x="8139849" y="1535066"/>
              <a:ext cx="1273105" cy="369332"/>
            </a:xfrm>
            <a:prstGeom prst="rect">
              <a:avLst/>
            </a:prstGeom>
            <a:noFill/>
          </p:spPr>
          <p:txBody>
            <a:bodyPr wrap="none" rtlCol="0">
              <a:spAutoFit/>
            </a:bodyPr>
            <a:lstStyle/>
            <a:p>
              <a:r>
                <a:rPr lang="en-US" dirty="0">
                  <a:solidFill>
                    <a:schemeClr val="accent1"/>
                  </a:solidFill>
                  <a:latin typeface="Amazon Ember" panose="02000000000000000000" pitchFamily="2" charset="0"/>
                  <a:ea typeface="Amazon Ember" panose="02000000000000000000" pitchFamily="2" charset="0"/>
                </a:rPr>
                <a:t>Message 4</a:t>
              </a:r>
            </a:p>
          </p:txBody>
        </p:sp>
        <p:sp>
          <p:nvSpPr>
            <p:cNvPr id="96" name="TextBox 95"/>
            <p:cNvSpPr txBox="1"/>
            <p:nvPr/>
          </p:nvSpPr>
          <p:spPr>
            <a:xfrm>
              <a:off x="8230418" y="1988926"/>
              <a:ext cx="1091967" cy="584775"/>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rPr>
                <a:t>Generate </a:t>
              </a:r>
            </a:p>
            <a:p>
              <a:pPr algn="ctr"/>
              <a:r>
                <a:rPr lang="en-US" sz="1600" dirty="0">
                  <a:solidFill>
                    <a:srgbClr val="000000"/>
                  </a:solidFill>
                  <a:latin typeface="Amazon Ember" panose="02000000000000000000" pitchFamily="2" charset="0"/>
                  <a:ea typeface="Amazon Ember" panose="02000000000000000000" pitchFamily="2" charset="0"/>
                </a:rPr>
                <a:t>message</a:t>
              </a:r>
              <a:endParaRPr lang="en-US" sz="1600" dirty="0">
                <a:solidFill>
                  <a:srgbClr val="000000"/>
                </a:solidFill>
                <a:latin typeface="Amazon Ember" panose="02000000000000000000"/>
                <a:ea typeface="Amazon Ember" panose="02000000000000000000" pitchFamily="2" charset="0"/>
              </a:endParaRPr>
            </a:p>
          </p:txBody>
        </p:sp>
        <p:cxnSp>
          <p:nvCxnSpPr>
            <p:cNvPr id="97" name="Straight Connector 96"/>
            <p:cNvCxnSpPr/>
            <p:nvPr/>
          </p:nvCxnSpPr>
          <p:spPr>
            <a:xfrm>
              <a:off x="9525901" y="1669832"/>
              <a:ext cx="0" cy="356573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8084124" y="2864894"/>
              <a:ext cx="1384554" cy="584775"/>
            </a:xfrm>
            <a:prstGeom prst="rect">
              <a:avLst/>
            </a:prstGeom>
            <a:solidFill>
              <a:schemeClr val="bg1"/>
            </a:solidFill>
          </p:spPr>
          <p:txBody>
            <a:bodyPr wrap="square" rtlCol="0">
              <a:spAutoFit/>
            </a:bodyPr>
            <a:lstStyle/>
            <a:p>
              <a:pPr algn="ctr"/>
              <a:r>
                <a:rPr lang="en-US" sz="1600" dirty="0">
                  <a:latin typeface="Amazon Ember" panose="02000000000000000000" pitchFamily="2" charset="0"/>
                  <a:ea typeface="Amazon Ember" panose="02000000000000000000" pitchFamily="2" charset="0"/>
                </a:rPr>
                <a:t>Put </a:t>
              </a:r>
              <a:r>
                <a:rPr lang="en-US" sz="1600" dirty="0">
                  <a:solidFill>
                    <a:srgbClr val="000000"/>
                  </a:solidFill>
                  <a:latin typeface="Amazon Ember" panose="02000000000000000000" pitchFamily="2" charset="0"/>
                  <a:ea typeface="Amazon Ember" panose="02000000000000000000" pitchFamily="2" charset="0"/>
                </a:rPr>
                <a:t>message</a:t>
              </a:r>
              <a:br>
                <a:rPr lang="en-US" sz="1600" dirty="0">
                  <a:solidFill>
                    <a:srgbClr val="000000"/>
                  </a:solidFill>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on queue</a:t>
              </a:r>
              <a:endParaRPr lang="en-US" sz="1600" dirty="0">
                <a:solidFill>
                  <a:srgbClr val="000000"/>
                </a:solidFill>
                <a:latin typeface="Amazon Ember" panose="02000000000000000000"/>
                <a:ea typeface="Amazon Ember" panose="02000000000000000000" pitchFamily="2" charset="0"/>
              </a:endParaRPr>
            </a:p>
          </p:txBody>
        </p:sp>
      </p:grpSp>
      <p:grpSp>
        <p:nvGrpSpPr>
          <p:cNvPr id="125" name="Group 124"/>
          <p:cNvGrpSpPr/>
          <p:nvPr/>
        </p:nvGrpSpPr>
        <p:grpSpPr>
          <a:xfrm>
            <a:off x="8801213" y="1522864"/>
            <a:ext cx="2228402" cy="3737412"/>
            <a:chOff x="8801213" y="1496835"/>
            <a:chExt cx="2228402" cy="3816886"/>
          </a:xfrm>
        </p:grpSpPr>
        <p:sp>
          <p:nvSpPr>
            <p:cNvPr id="103" name="TextBox 102"/>
            <p:cNvSpPr txBox="1"/>
            <p:nvPr/>
          </p:nvSpPr>
          <p:spPr>
            <a:xfrm>
              <a:off x="9648745" y="1496835"/>
              <a:ext cx="1273105" cy="369332"/>
            </a:xfrm>
            <a:prstGeom prst="rect">
              <a:avLst/>
            </a:prstGeom>
            <a:noFill/>
          </p:spPr>
          <p:txBody>
            <a:bodyPr wrap="none" rtlCol="0">
              <a:spAutoFit/>
            </a:bodyPr>
            <a:lstStyle/>
            <a:p>
              <a:r>
                <a:rPr lang="en-US" dirty="0">
                  <a:solidFill>
                    <a:schemeClr val="accent1"/>
                  </a:solidFill>
                  <a:latin typeface="Amazon Ember" panose="02000000000000000000" pitchFamily="2" charset="0"/>
                  <a:ea typeface="Amazon Ember" panose="02000000000000000000" pitchFamily="2" charset="0"/>
                </a:rPr>
                <a:t>Message 5</a:t>
              </a:r>
            </a:p>
          </p:txBody>
        </p:sp>
        <p:sp>
          <p:nvSpPr>
            <p:cNvPr id="104" name="TextBox 103"/>
            <p:cNvSpPr txBox="1"/>
            <p:nvPr/>
          </p:nvSpPr>
          <p:spPr>
            <a:xfrm>
              <a:off x="9739314" y="1989081"/>
              <a:ext cx="1091967" cy="584775"/>
            </a:xfrm>
            <a:prstGeom prst="rect">
              <a:avLst/>
            </a:prstGeom>
            <a:noFill/>
          </p:spPr>
          <p:txBody>
            <a:bodyPr wrap="none" rtlCol="0">
              <a:spAutoFit/>
            </a:bodyPr>
            <a:lstStyle/>
            <a:p>
              <a:pPr algn="ctr"/>
              <a:r>
                <a:rPr lang="en-US" sz="1600" dirty="0">
                  <a:latin typeface="Amazon Ember" panose="02000000000000000000" pitchFamily="2" charset="0"/>
                  <a:ea typeface="Amazon Ember" panose="02000000000000000000" pitchFamily="2" charset="0"/>
                </a:rPr>
                <a:t>Generate </a:t>
              </a:r>
            </a:p>
            <a:p>
              <a:pPr algn="ctr"/>
              <a:r>
                <a:rPr lang="en-US" sz="1600" dirty="0">
                  <a:solidFill>
                    <a:srgbClr val="000000"/>
                  </a:solidFill>
                  <a:latin typeface="Amazon Ember" panose="02000000000000000000" pitchFamily="2" charset="0"/>
                  <a:ea typeface="Amazon Ember" panose="02000000000000000000" pitchFamily="2" charset="0"/>
                </a:rPr>
                <a:t>message</a:t>
              </a:r>
              <a:endParaRPr lang="en-US" sz="1600" dirty="0">
                <a:solidFill>
                  <a:srgbClr val="000000"/>
                </a:solidFill>
                <a:latin typeface="Amazon Ember" panose="02000000000000000000"/>
                <a:ea typeface="Amazon Ember" panose="02000000000000000000" pitchFamily="2" charset="0"/>
              </a:endParaRPr>
            </a:p>
          </p:txBody>
        </p:sp>
        <p:cxnSp>
          <p:nvCxnSpPr>
            <p:cNvPr id="105" name="Straight Connector 104"/>
            <p:cNvCxnSpPr/>
            <p:nvPr/>
          </p:nvCxnSpPr>
          <p:spPr>
            <a:xfrm>
              <a:off x="11029615" y="1669987"/>
              <a:ext cx="0" cy="364373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0" name="Bent Arrow 119"/>
            <p:cNvSpPr/>
            <p:nvPr/>
          </p:nvSpPr>
          <p:spPr>
            <a:xfrm rot="5400000">
              <a:off x="9143515" y="2397948"/>
              <a:ext cx="955641" cy="1640245"/>
            </a:xfrm>
            <a:prstGeom prst="bentArrow">
              <a:avLst>
                <a:gd name="adj1" fmla="val 4896"/>
                <a:gd name="adj2" fmla="val 10930"/>
                <a:gd name="adj3" fmla="val 11924"/>
                <a:gd name="adj4"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7" name="TextBox 106"/>
            <p:cNvSpPr txBox="1"/>
            <p:nvPr/>
          </p:nvSpPr>
          <p:spPr>
            <a:xfrm>
              <a:off x="9564941" y="2864894"/>
              <a:ext cx="1440712" cy="584775"/>
            </a:xfrm>
            <a:prstGeom prst="rect">
              <a:avLst/>
            </a:prstGeom>
            <a:solidFill>
              <a:schemeClr val="bg1"/>
            </a:solidFill>
          </p:spPr>
          <p:txBody>
            <a:bodyPr wrap="square" rtlCol="0">
              <a:spAutoFit/>
            </a:bodyPr>
            <a:lstStyle/>
            <a:p>
              <a:pPr algn="ctr"/>
              <a:r>
                <a:rPr lang="en-US" sz="1600" dirty="0">
                  <a:latin typeface="Amazon Ember" panose="02000000000000000000" pitchFamily="2" charset="0"/>
                  <a:ea typeface="Amazon Ember" panose="02000000000000000000" pitchFamily="2" charset="0"/>
                </a:rPr>
                <a:t>Put </a:t>
              </a:r>
              <a:r>
                <a:rPr lang="en-US" sz="1600" dirty="0">
                  <a:solidFill>
                    <a:srgbClr val="000000"/>
                  </a:solidFill>
                  <a:latin typeface="Amazon Ember" panose="02000000000000000000" pitchFamily="2" charset="0"/>
                  <a:ea typeface="Amazon Ember" panose="02000000000000000000" pitchFamily="2" charset="0"/>
                </a:rPr>
                <a:t>message</a:t>
              </a:r>
              <a:br>
                <a:rPr lang="en-US" sz="1600" dirty="0">
                  <a:solidFill>
                    <a:srgbClr val="000000"/>
                  </a:solidFill>
                  <a:latin typeface="Amazon Ember" panose="02000000000000000000" pitchFamily="2" charset="0"/>
                  <a:ea typeface="Amazon Ember" panose="02000000000000000000" pitchFamily="2" charset="0"/>
                </a:rPr>
              </a:br>
              <a:r>
                <a:rPr lang="en-US" sz="1600" dirty="0">
                  <a:solidFill>
                    <a:srgbClr val="000000"/>
                  </a:solidFill>
                  <a:latin typeface="Amazon Ember" panose="02000000000000000000" pitchFamily="2" charset="0"/>
                  <a:ea typeface="Amazon Ember" panose="02000000000000000000" pitchFamily="2" charset="0"/>
                </a:rPr>
                <a:t>on queue</a:t>
              </a:r>
              <a:endParaRPr lang="en-US" sz="1600" dirty="0">
                <a:solidFill>
                  <a:srgbClr val="000000"/>
                </a:solidFill>
                <a:latin typeface="Amazon Ember" panose="02000000000000000000"/>
                <a:ea typeface="Amazon Ember" panose="02000000000000000000" pitchFamily="2" charset="0"/>
              </a:endParaRPr>
            </a:p>
          </p:txBody>
        </p:sp>
      </p:grpSp>
      <p:sp>
        <p:nvSpPr>
          <p:cNvPr id="126" name="TextBox 125"/>
          <p:cNvSpPr txBox="1"/>
          <p:nvPr/>
        </p:nvSpPr>
        <p:spPr>
          <a:xfrm>
            <a:off x="3360252" y="4375543"/>
            <a:ext cx="1904689" cy="584775"/>
          </a:xfrm>
          <a:prstGeom prst="rect">
            <a:avLst/>
          </a:prstGeom>
          <a:solidFill>
            <a:schemeClr val="bg2"/>
          </a:solidFill>
        </p:spPr>
        <p:txBody>
          <a:bodyPr wrap="none" rtlCol="0">
            <a:spAutoFit/>
          </a:bodyPr>
          <a:lstStyle/>
          <a:p>
            <a:pPr algn="ctr"/>
            <a:r>
              <a:rPr lang="en-US" sz="1600" dirty="0" smtClean="0">
                <a:latin typeface="Amazon Ember" panose="02000000000000000000" pitchFamily="2" charset="0"/>
                <a:ea typeface="Amazon Ember" panose="02000000000000000000" pitchFamily="2" charset="0"/>
              </a:rPr>
              <a:t>Consume </a:t>
            </a:r>
            <a:r>
              <a:rPr lang="en-US" sz="1600" dirty="0">
                <a:latin typeface="Amazon Ember" panose="02000000000000000000" pitchFamily="2" charset="0"/>
                <a:ea typeface="Amazon Ember" panose="02000000000000000000" pitchFamily="2" charset="0"/>
              </a:rPr>
              <a:t>message</a:t>
            </a:r>
            <a:br>
              <a:rPr lang="en-US" sz="1600" dirty="0">
                <a:latin typeface="Amazon Ember" panose="02000000000000000000" pitchFamily="2" charset="0"/>
                <a:ea typeface="Amazon Ember" panose="02000000000000000000" pitchFamily="2" charset="0"/>
              </a:rPr>
            </a:br>
            <a:r>
              <a:rPr lang="en-US" sz="1600" dirty="0" smtClean="0">
                <a:latin typeface="Amazon Ember" panose="02000000000000000000" pitchFamily="2" charset="0"/>
                <a:ea typeface="Amazon Ember" panose="02000000000000000000" pitchFamily="2" charset="0"/>
              </a:rPr>
              <a:t>from </a:t>
            </a:r>
            <a:r>
              <a:rPr lang="en-US" sz="1600" dirty="0">
                <a:latin typeface="Amazon Ember" panose="02000000000000000000" pitchFamily="2" charset="0"/>
                <a:ea typeface="Amazon Ember" panose="02000000000000000000" pitchFamily="2" charset="0"/>
              </a:rPr>
              <a:t>queue</a:t>
            </a:r>
          </a:p>
        </p:txBody>
      </p:sp>
      <p:sp>
        <p:nvSpPr>
          <p:cNvPr id="127" name="Rectangle 126"/>
          <p:cNvSpPr/>
          <p:nvPr/>
        </p:nvSpPr>
        <p:spPr>
          <a:xfrm>
            <a:off x="1372278" y="4918665"/>
            <a:ext cx="2138767" cy="571467"/>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1"/>
                </a:solidFill>
              </a:rPr>
              <a:t>Consumer</a:t>
            </a:r>
          </a:p>
        </p:txBody>
      </p:sp>
      <p:sp>
        <p:nvSpPr>
          <p:cNvPr id="128" name="TextBox 127"/>
          <p:cNvSpPr txBox="1"/>
          <p:nvPr/>
        </p:nvSpPr>
        <p:spPr>
          <a:xfrm>
            <a:off x="4224028" y="5397399"/>
            <a:ext cx="987771" cy="584775"/>
          </a:xfrm>
          <a:prstGeom prst="rect">
            <a:avLst/>
          </a:prstGeom>
          <a:noFill/>
        </p:spPr>
        <p:txBody>
          <a:bodyPr wrap="none" rtlCol="0">
            <a:spAutoFit/>
          </a:bodyPr>
          <a:lstStyle/>
          <a:p>
            <a:pPr algn="ctr"/>
            <a:r>
              <a:rPr lang="en-US" sz="1600" dirty="0">
                <a:solidFill>
                  <a:srgbClr val="FF0000"/>
                </a:solidFill>
                <a:latin typeface="Amazon Ember" panose="02000000000000000000" pitchFamily="2" charset="0"/>
                <a:ea typeface="Amazon Ember" panose="02000000000000000000" pitchFamily="2" charset="0"/>
              </a:rPr>
              <a:t>Process</a:t>
            </a:r>
            <a:br>
              <a:rPr lang="en-US" sz="1600" dirty="0">
                <a:solidFill>
                  <a:srgbClr val="FF0000"/>
                </a:solidFill>
                <a:latin typeface="Amazon Ember" panose="02000000000000000000" pitchFamily="2" charset="0"/>
                <a:ea typeface="Amazon Ember" panose="02000000000000000000" pitchFamily="2" charset="0"/>
              </a:rPr>
            </a:br>
            <a:r>
              <a:rPr lang="en-US" sz="1600" dirty="0">
                <a:solidFill>
                  <a:srgbClr val="FF0000"/>
                </a:solidFill>
                <a:latin typeface="Amazon Ember" panose="02000000000000000000" pitchFamily="2" charset="0"/>
                <a:ea typeface="Amazon Ember" panose="02000000000000000000" pitchFamily="2" charset="0"/>
              </a:rPr>
              <a:t>message</a:t>
            </a:r>
          </a:p>
        </p:txBody>
      </p:sp>
      <p:sp>
        <p:nvSpPr>
          <p:cNvPr id="130" name="Down Arrow 129"/>
          <p:cNvSpPr/>
          <p:nvPr/>
        </p:nvSpPr>
        <p:spPr>
          <a:xfrm rot="16200000">
            <a:off x="4603708" y="4928363"/>
            <a:ext cx="213685" cy="554454"/>
          </a:xfrm>
          <a:prstGeom prst="downArrow">
            <a:avLst>
              <a:gd name="adj1" fmla="val 30905"/>
              <a:gd name="adj2" fmla="val 5181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4" name="Straight Connector 133"/>
          <p:cNvCxnSpPr/>
          <p:nvPr/>
        </p:nvCxnSpPr>
        <p:spPr>
          <a:xfrm>
            <a:off x="5024372" y="5235562"/>
            <a:ext cx="1494101"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6518473" y="5235562"/>
            <a:ext cx="1494101"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8012574" y="5235562"/>
            <a:ext cx="1494101"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a:off x="9564941" y="5235562"/>
            <a:ext cx="1494101"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1372278" y="2499123"/>
            <a:ext cx="2138767" cy="57146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1"/>
                </a:solidFill>
                <a:latin typeface="+mj-lt"/>
                <a:ea typeface="Amazon Ember" panose="02000000000000000000" pitchFamily="2" charset="0"/>
              </a:rPr>
              <a:t>Producer</a:t>
            </a:r>
          </a:p>
        </p:txBody>
      </p:sp>
    </p:spTree>
    <p:extLst>
      <p:ext uri="{BB962C8B-B14F-4D97-AF65-F5344CB8AC3E}">
        <p14:creationId xmlns:p14="http://schemas.microsoft.com/office/powerpoint/2010/main" val="667572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7" presetClass="emph" presetSubtype="2" fill="hold" nodeType="clickEffect">
                                  <p:stCondLst>
                                    <p:cond delay="0"/>
                                  </p:stCondLst>
                                  <p:childTnLst>
                                    <p:animClr clrSpc="rgb" dir="cw">
                                      <p:cBhvr>
                                        <p:cTn id="42" dur="100" fill="hold"/>
                                        <p:tgtEl>
                                          <p:spTgt spid="127"/>
                                        </p:tgtEl>
                                        <p:attrNameLst>
                                          <p:attrName>stroke.color</p:attrName>
                                        </p:attrNameLst>
                                      </p:cBhvr>
                                      <p:to>
                                        <a:srgbClr val="FF0000"/>
                                      </p:to>
                                    </p:animClr>
                                    <p:set>
                                      <p:cBhvr>
                                        <p:cTn id="43" dur="100" fill="hold"/>
                                        <p:tgtEl>
                                          <p:spTgt spid="127"/>
                                        </p:tgtEl>
                                        <p:attrNameLst>
                                          <p:attrName>stroke.on</p:attrName>
                                        </p:attrNameLst>
                                      </p:cBhvr>
                                      <p:to>
                                        <p:strVal val="true"/>
                                      </p:to>
                                    </p:set>
                                  </p:childTnLst>
                                </p:cTn>
                              </p:par>
                              <p:par>
                                <p:cTn id="44" presetID="3" presetClass="emph" presetSubtype="2" fill="hold" nodeType="withEffect">
                                  <p:stCondLst>
                                    <p:cond delay="0"/>
                                  </p:stCondLst>
                                  <p:childTnLst>
                                    <p:animClr clrSpc="rgb" dir="cw">
                                      <p:cBhvr override="childStyle">
                                        <p:cTn id="45" dur="100" fill="hold"/>
                                        <p:tgtEl>
                                          <p:spTgt spid="127">
                                            <p:txEl>
                                              <p:pRg st="0" end="0"/>
                                            </p:txEl>
                                          </p:spTgt>
                                        </p:tgtEl>
                                        <p:attrNameLst>
                                          <p:attrName>style.color</p:attrName>
                                        </p:attrNameLst>
                                      </p:cBhvr>
                                      <p:to>
                                        <a:srgbClr val="FF0000"/>
                                      </p:to>
                                    </p:animClr>
                                  </p:childTnLst>
                                </p:cTn>
                              </p:par>
                              <p:par>
                                <p:cTn id="46" presetID="1" presetClass="entr" presetSubtype="0" fill="hold" nodeType="withEffect">
                                  <p:stCondLst>
                                    <p:cond delay="100"/>
                                  </p:stCondLst>
                                  <p:childTnLst>
                                    <p:set>
                                      <p:cBhvr>
                                        <p:cTn id="47" dur="1" fill="hold">
                                          <p:stCondLst>
                                            <p:cond delay="0"/>
                                          </p:stCondLst>
                                        </p:cTn>
                                        <p:tgtEl>
                                          <p:spTgt spid="128">
                                            <p:txEl>
                                              <p:pRg st="0" end="0"/>
                                            </p:txEl>
                                          </p:spTgt>
                                        </p:tgtEl>
                                        <p:attrNameLst>
                                          <p:attrName>style.visibility</p:attrName>
                                        </p:attrNameLst>
                                      </p:cBhvr>
                                      <p:to>
                                        <p:strVal val="visible"/>
                                      </p:to>
                                    </p:set>
                                  </p:childTnLst>
                                </p:cTn>
                              </p:par>
                              <p:par>
                                <p:cTn id="48" presetID="1" presetClass="entr" presetSubtype="0" fill="hold" grpId="0" nodeType="withEffect">
                                  <p:stCondLst>
                                    <p:cond delay="100"/>
                                  </p:stCondLst>
                                  <p:childTnLst>
                                    <p:set>
                                      <p:cBhvr>
                                        <p:cTn id="49" dur="1" fill="hold">
                                          <p:stCondLst>
                                            <p:cond delay="0"/>
                                          </p:stCondLst>
                                        </p:cTn>
                                        <p:tgtEl>
                                          <p:spTgt spid="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P spid="126" grpId="0" animBg="1"/>
      <p:bldP spid="13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Developing with </a:t>
            </a:r>
            <a:r>
              <a:rPr lang="en-US" dirty="0">
                <a:solidFill>
                  <a:srgbClr val="FFFFFF"/>
                </a:solidFill>
              </a:rPr>
              <a:t>Amazon Simple Queue </a:t>
            </a:r>
            <a:r>
              <a:rPr lang="en-US" dirty="0" smtClean="0">
                <a:solidFill>
                  <a:srgbClr val="FFFFFF"/>
                </a:solidFill>
              </a:rPr>
              <a:t>Service</a:t>
            </a:r>
            <a:endParaRPr lang="en-US" dirty="0"/>
          </a:p>
        </p:txBody>
      </p:sp>
      <p:sp>
        <p:nvSpPr>
          <p:cNvPr id="3" name="Slide Number Placeholder 2"/>
          <p:cNvSpPr>
            <a:spLocks noGrp="1"/>
          </p:cNvSpPr>
          <p:nvPr>
            <p:ph type="sldNum" sz="quarter" idx="4294967295"/>
          </p:nvPr>
        </p:nvSpPr>
        <p:spPr>
          <a:xfrm>
            <a:off x="9448800" y="6356350"/>
            <a:ext cx="2743200" cy="365125"/>
          </a:xfrm>
        </p:spPr>
        <p:txBody>
          <a:bodyPr/>
          <a:lstStyle/>
          <a:p>
            <a:fld id="{9FC43BFD-8FF7-A343-A8A6-E2338FCE8046}" type="slidenum">
              <a:rPr lang="en-US" smtClean="0"/>
              <a:pPr/>
              <a:t>9</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9462555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a:t>
            </a:r>
            <a:r>
              <a:rPr lang="en-US" dirty="0">
                <a:solidFill>
                  <a:srgbClr val="FFFFFF"/>
                </a:solidFill>
              </a:rPr>
              <a:t>SQS queue</a:t>
            </a:r>
            <a:r>
              <a:rPr lang="en-US" dirty="0"/>
              <a:t> </a:t>
            </a:r>
            <a:r>
              <a:rPr lang="en-US" dirty="0">
                <a:solidFill>
                  <a:srgbClr val="FFFFFF"/>
                </a:solidFill>
              </a:rPr>
              <a:t>types</a:t>
            </a:r>
            <a:endParaRPr lang="en-US" dirty="0">
              <a:solidFill>
                <a:srgbClr val="FFFFFF"/>
              </a:solidFill>
              <a:latin typeface="Amazon Ember Light" panose="020B0403020204020204"/>
            </a:endParaRPr>
          </a:p>
        </p:txBody>
      </p:sp>
      <p:sp>
        <p:nvSpPr>
          <p:cNvPr id="4" name="Slide Number Placeholder 3"/>
          <p:cNvSpPr>
            <a:spLocks noGrp="1"/>
          </p:cNvSpPr>
          <p:nvPr>
            <p:ph type="sldNum" sz="quarter" idx="12"/>
          </p:nvPr>
        </p:nvSpPr>
        <p:spPr/>
        <p:txBody>
          <a:bodyPr/>
          <a:lstStyle/>
          <a:p>
            <a:fld id="{9FC43BFD-8FF7-A343-A8A6-E2338FCE8046}" type="slidenum">
              <a:rPr lang="en-US" smtClean="0"/>
              <a:pPr/>
              <a:t>10</a:t>
            </a:fld>
            <a:endParaRPr lang="en-US" dirty="0"/>
          </a:p>
        </p:txBody>
      </p:sp>
      <p:sp>
        <p:nvSpPr>
          <p:cNvPr id="19" name="Content Placeholder 2"/>
          <p:cNvSpPr>
            <a:spLocks noGrp="1"/>
          </p:cNvSpPr>
          <p:nvPr>
            <p:ph idx="4294967295"/>
          </p:nvPr>
        </p:nvSpPr>
        <p:spPr>
          <a:xfrm>
            <a:off x="623901" y="3994150"/>
            <a:ext cx="4616450" cy="1566863"/>
          </a:xfrm>
        </p:spPr>
        <p:txBody>
          <a:bodyPr>
            <a:normAutofit/>
          </a:bodyPr>
          <a:lstStyle/>
          <a:p>
            <a:pPr lvl="1"/>
            <a:r>
              <a:rPr lang="en-US" sz="2000" dirty="0"/>
              <a:t>Message ordering is not </a:t>
            </a:r>
            <a:r>
              <a:rPr lang="en-US" sz="2000" dirty="0" smtClean="0">
                <a:solidFill>
                  <a:srgbClr val="000000"/>
                </a:solidFill>
              </a:rPr>
              <a:t>guaranteed</a:t>
            </a:r>
            <a:endParaRPr lang="en-US" sz="2000" dirty="0"/>
          </a:p>
          <a:p>
            <a:pPr lvl="1"/>
            <a:r>
              <a:rPr lang="en-US" sz="2000" dirty="0"/>
              <a:t>Messages may be duplicated.</a:t>
            </a:r>
          </a:p>
          <a:p>
            <a:pPr lvl="1"/>
            <a:r>
              <a:rPr lang="en-US" sz="2000" dirty="0"/>
              <a:t>Maximum </a:t>
            </a:r>
            <a:r>
              <a:rPr lang="en-US" sz="2000" dirty="0" smtClean="0"/>
              <a:t>throughput</a:t>
            </a:r>
            <a:endParaRPr lang="en-US" sz="2000" dirty="0"/>
          </a:p>
          <a:p>
            <a:pPr marL="0" indent="0">
              <a:buNone/>
            </a:pPr>
            <a:endParaRPr lang="en-US" sz="2000" dirty="0"/>
          </a:p>
        </p:txBody>
      </p:sp>
      <p:grpSp>
        <p:nvGrpSpPr>
          <p:cNvPr id="21" name="Group 20"/>
          <p:cNvGrpSpPr/>
          <p:nvPr/>
        </p:nvGrpSpPr>
        <p:grpSpPr>
          <a:xfrm>
            <a:off x="941666" y="2047220"/>
            <a:ext cx="3980920" cy="1986261"/>
            <a:chOff x="1208962" y="2047220"/>
            <a:chExt cx="3980920" cy="1986261"/>
          </a:xfrm>
        </p:grpSpPr>
        <p:cxnSp>
          <p:nvCxnSpPr>
            <p:cNvPr id="17" name="Straight Connector 16"/>
            <p:cNvCxnSpPr/>
            <p:nvPr/>
          </p:nvCxnSpPr>
          <p:spPr>
            <a:xfrm>
              <a:off x="2176057" y="2654530"/>
              <a:ext cx="187695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2230236" y="3348627"/>
              <a:ext cx="187695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8962" y="2047220"/>
              <a:ext cx="1324174" cy="1324174"/>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00231" y="2191458"/>
              <a:ext cx="1689651" cy="1689651"/>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8962" y="2709307"/>
              <a:ext cx="1324174" cy="1324174"/>
            </a:xfrm>
            <a:prstGeom prst="rect">
              <a:avLst/>
            </a:prstGeom>
          </p:spPr>
        </p:pic>
      </p:grpSp>
      <p:sp>
        <p:nvSpPr>
          <p:cNvPr id="8" name="Rectangle 7"/>
          <p:cNvSpPr/>
          <p:nvPr/>
        </p:nvSpPr>
        <p:spPr>
          <a:xfrm>
            <a:off x="1597420" y="1524000"/>
            <a:ext cx="2686954" cy="523220"/>
          </a:xfrm>
          <a:prstGeom prst="rect">
            <a:avLst/>
          </a:prstGeom>
        </p:spPr>
        <p:txBody>
          <a:bodyPr wrap="none">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Standard queue</a:t>
            </a:r>
          </a:p>
        </p:txBody>
      </p:sp>
      <p:sp>
        <p:nvSpPr>
          <p:cNvPr id="11" name="Rectangle 10"/>
          <p:cNvSpPr/>
          <p:nvPr/>
        </p:nvSpPr>
        <p:spPr>
          <a:xfrm>
            <a:off x="7792196" y="1524000"/>
            <a:ext cx="1983235" cy="523220"/>
          </a:xfrm>
          <a:prstGeom prst="rect">
            <a:avLst/>
          </a:prstGeom>
        </p:spPr>
        <p:txBody>
          <a:bodyPr wrap="none">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FIFO queue</a:t>
            </a:r>
          </a:p>
        </p:txBody>
      </p:sp>
      <p:grpSp>
        <p:nvGrpSpPr>
          <p:cNvPr id="22" name="Group 21"/>
          <p:cNvGrpSpPr/>
          <p:nvPr/>
        </p:nvGrpSpPr>
        <p:grpSpPr>
          <a:xfrm>
            <a:off x="6624704" y="2199620"/>
            <a:ext cx="4346397" cy="1689651"/>
            <a:chOff x="5953854" y="2199620"/>
            <a:chExt cx="4346397" cy="1689651"/>
          </a:xfrm>
        </p:grpSpPr>
        <p:cxnSp>
          <p:nvCxnSpPr>
            <p:cNvPr id="15" name="Straight Connector 14"/>
            <p:cNvCxnSpPr/>
            <p:nvPr/>
          </p:nvCxnSpPr>
          <p:spPr>
            <a:xfrm>
              <a:off x="6907427" y="3044445"/>
              <a:ext cx="236014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10600" y="2199620"/>
              <a:ext cx="1689651" cy="1689651"/>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53854" y="2382358"/>
              <a:ext cx="1324174" cy="1324174"/>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86426" y="2374196"/>
              <a:ext cx="1324174" cy="1324174"/>
            </a:xfrm>
            <a:prstGeom prst="rect">
              <a:avLst/>
            </a:prstGeom>
          </p:spPr>
        </p:pic>
      </p:grpSp>
      <p:sp>
        <p:nvSpPr>
          <p:cNvPr id="20" name="Content Placeholder 2"/>
          <p:cNvSpPr txBox="1">
            <a:spLocks/>
          </p:cNvSpPr>
          <p:nvPr/>
        </p:nvSpPr>
        <p:spPr>
          <a:xfrm>
            <a:off x="5880340" y="3994150"/>
            <a:ext cx="5774366" cy="2286000"/>
          </a:xfrm>
          <a:prstGeom prst="rect">
            <a:avLst/>
          </a:prstGeom>
        </p:spPr>
        <p:txBody>
          <a:bodyPr vert="horz" lIns="91440" tIns="45720" rIns="91440" bIns="45720" rtlCol="0">
            <a:noAutofit/>
          </a:bodyPr>
          <a:lstStyle>
            <a:lvl1pPr marL="344488" indent="-344488" algn="l" defTabSz="914400" rtl="0" eaLnBrk="1" latinLnBrk="0" hangingPunct="1">
              <a:lnSpc>
                <a:spcPct val="90000"/>
              </a:lnSpc>
              <a:spcBef>
                <a:spcPts val="1000"/>
              </a:spcBef>
              <a:buFontTx/>
              <a:buBlip>
                <a:blip r:embed="rId6"/>
              </a:buBlip>
              <a:defRPr sz="2800" b="0" i="0" kern="1200">
                <a:solidFill>
                  <a:schemeClr val="tx1"/>
                </a:solidFill>
                <a:latin typeface="Amazon Ember Light" charset="0"/>
                <a:ea typeface="Amazon Ember Light" charset="0"/>
                <a:cs typeface="Amazon Ember Light" charset="0"/>
              </a:defRPr>
            </a:lvl1pPr>
            <a:lvl2pPr marL="796925" indent="-339725" algn="l" defTabSz="914400" rtl="0" eaLnBrk="1" latinLnBrk="0" hangingPunct="1">
              <a:lnSpc>
                <a:spcPct val="90000"/>
              </a:lnSpc>
              <a:spcBef>
                <a:spcPts val="500"/>
              </a:spcBef>
              <a:buFontTx/>
              <a:buBlip>
                <a:blip r:embed="rId6"/>
              </a:buBlip>
              <a:defRPr sz="2400" b="0" i="0" kern="1200">
                <a:solidFill>
                  <a:schemeClr val="tx1"/>
                </a:solidFill>
                <a:latin typeface="Amazon Ember Light" charset="0"/>
                <a:ea typeface="Amazon Ember Light" charset="0"/>
                <a:cs typeface="Amazon Ember Light" charset="0"/>
              </a:defRPr>
            </a:lvl2pPr>
            <a:lvl3pPr marL="1258888" indent="-344488" algn="l" defTabSz="914400" rtl="0" eaLnBrk="1" latinLnBrk="0" hangingPunct="1">
              <a:lnSpc>
                <a:spcPct val="90000"/>
              </a:lnSpc>
              <a:spcBef>
                <a:spcPts val="500"/>
              </a:spcBef>
              <a:buFontTx/>
              <a:buBlip>
                <a:blip r:embed="rId6"/>
              </a:buBlip>
              <a:defRPr sz="2000" b="0" i="0" kern="1200">
                <a:solidFill>
                  <a:schemeClr val="tx1"/>
                </a:solidFill>
                <a:latin typeface="Amazon Ember Light" charset="0"/>
                <a:ea typeface="Amazon Ember Light" charset="0"/>
                <a:cs typeface="Amazon Ember Light" charset="0"/>
              </a:defRPr>
            </a:lvl3pPr>
            <a:lvl4pPr marL="1657350" indent="-285750" algn="l" defTabSz="914400" rtl="0" eaLnBrk="1" latinLnBrk="0" hangingPunct="1">
              <a:lnSpc>
                <a:spcPct val="90000"/>
              </a:lnSpc>
              <a:spcBef>
                <a:spcPts val="500"/>
              </a:spcBef>
              <a:buFontTx/>
              <a:buBlip>
                <a:blip r:embed="rId6"/>
              </a:buBlip>
              <a:defRPr sz="1800" b="0" i="0" kern="1200">
                <a:solidFill>
                  <a:schemeClr val="tx1"/>
                </a:solidFill>
                <a:latin typeface="Amazon Ember Light" charset="0"/>
                <a:ea typeface="Amazon Ember Light" charset="0"/>
                <a:cs typeface="Amazon Ember Light" charset="0"/>
              </a:defRPr>
            </a:lvl4pPr>
            <a:lvl5pPr marL="2173288" indent="-344488" algn="l" defTabSz="914400" rtl="0" eaLnBrk="1" latinLnBrk="0" hangingPunct="1">
              <a:lnSpc>
                <a:spcPct val="90000"/>
              </a:lnSpc>
              <a:spcBef>
                <a:spcPts val="500"/>
              </a:spcBef>
              <a:buFontTx/>
              <a:buBlip>
                <a:blip r:embed="rId6"/>
              </a:buBlip>
              <a:defRPr sz="1800" b="0" i="0" kern="1200">
                <a:solidFill>
                  <a:schemeClr val="tx1"/>
                </a:solidFill>
                <a:latin typeface="Amazon Ember Light" charset="0"/>
                <a:ea typeface="Amazon Ember Light" charset="0"/>
                <a:cs typeface="Amazon Ember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1">
              <a:buFont typeface="Arial" panose="020B0604020202020204" pitchFamily="34" charset="0"/>
              <a:buChar char="•"/>
            </a:pPr>
            <a:r>
              <a:rPr lang="en-US" sz="2000" dirty="0" smtClean="0"/>
              <a:t>Message </a:t>
            </a:r>
            <a:r>
              <a:rPr lang="en-US" sz="2000" dirty="0"/>
              <a:t>ordering is preserved.</a:t>
            </a:r>
          </a:p>
          <a:p>
            <a:pPr lvl="1">
              <a:buFont typeface="Arial" panose="020B0604020202020204" pitchFamily="34" charset="0"/>
              <a:buChar char="•"/>
            </a:pPr>
            <a:r>
              <a:rPr lang="en-US" sz="2000" dirty="0"/>
              <a:t>Messages are only received </a:t>
            </a:r>
            <a:r>
              <a:rPr lang="en-US" sz="2000" dirty="0" smtClean="0"/>
              <a:t>once</a:t>
            </a:r>
          </a:p>
          <a:p>
            <a:pPr lvl="1">
              <a:buFont typeface="Arial" panose="020B0604020202020204" pitchFamily="34" charset="0"/>
              <a:buChar char="•"/>
            </a:pPr>
            <a:r>
              <a:rPr lang="en-US" sz="2000" dirty="0"/>
              <a:t>By default, with </a:t>
            </a:r>
            <a:r>
              <a:rPr lang="en-US" sz="2000" dirty="0" smtClean="0"/>
              <a:t>batching, </a:t>
            </a:r>
            <a:r>
              <a:rPr lang="en-US" sz="2000" dirty="0"/>
              <a:t>FIFO queues support up to 3,000 messages per </a:t>
            </a:r>
            <a:r>
              <a:rPr lang="en-US" sz="2000" dirty="0" smtClean="0"/>
              <a:t>second, </a:t>
            </a:r>
            <a:r>
              <a:rPr lang="en-US" sz="2000" dirty="0"/>
              <a:t>per API </a:t>
            </a:r>
            <a:r>
              <a:rPr lang="en-US" sz="2000" dirty="0" smtClean="0"/>
              <a:t>action</a:t>
            </a:r>
          </a:p>
          <a:p>
            <a:pPr lvl="1">
              <a:buFont typeface="Arial" panose="020B0604020202020204" pitchFamily="34" charset="0"/>
              <a:buChar char="•"/>
            </a:pPr>
            <a:r>
              <a:rPr lang="en-US" sz="2000" dirty="0" smtClean="0"/>
              <a:t>Without batching, FIFO queues support up to 300 messages per second, per API action</a:t>
            </a:r>
            <a:endParaRPr lang="en-US" sz="2000" dirty="0"/>
          </a:p>
        </p:txBody>
      </p:sp>
      <p:sp>
        <p:nvSpPr>
          <p:cNvPr id="23" name="Footer Placeholder 22"/>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0967187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Solving tightly linked systems</a:t>
            </a:r>
          </a:p>
        </p:txBody>
      </p:sp>
      <p:sp>
        <p:nvSpPr>
          <p:cNvPr id="7" name="Slide Number Placeholder 6"/>
          <p:cNvSpPr>
            <a:spLocks noGrp="1"/>
          </p:cNvSpPr>
          <p:nvPr>
            <p:ph type="sldNum" sz="quarter" idx="12"/>
          </p:nvPr>
        </p:nvSpPr>
        <p:spPr/>
        <p:txBody>
          <a:bodyPr/>
          <a:lstStyle/>
          <a:p>
            <a:fld id="{9FC43BFD-8FF7-A343-A8A6-E2338FCE8046}" type="slidenum">
              <a:rPr lang="en-US" smtClean="0"/>
              <a:pPr/>
              <a:t>11</a:t>
            </a:fld>
            <a:endParaRPr lang="en-US" dirty="0"/>
          </a:p>
        </p:txBody>
      </p:sp>
      <p:sp>
        <p:nvSpPr>
          <p:cNvPr id="47" name="TextBox 46"/>
          <p:cNvSpPr txBox="1"/>
          <p:nvPr/>
        </p:nvSpPr>
        <p:spPr>
          <a:xfrm>
            <a:off x="1333416" y="3028255"/>
            <a:ext cx="1509459" cy="338554"/>
          </a:xfrm>
          <a:prstGeom prst="rect">
            <a:avLst/>
          </a:prstGeom>
          <a:noFill/>
        </p:spPr>
        <p:txBody>
          <a:bodyPr wrap="square" rtlCol="0">
            <a:spAutoFit/>
          </a:bodyPr>
          <a:lstStyle/>
          <a:p>
            <a:r>
              <a:rPr lang="en-US" sz="1600" dirty="0">
                <a:latin typeface="Amazon Ember Light" charset="0"/>
                <a:ea typeface="Amazon Ember Light" charset="0"/>
                <a:cs typeface="Amazon Ember Light" charset="0"/>
              </a:rPr>
              <a:t>EC2 Instances</a:t>
            </a:r>
          </a:p>
        </p:txBody>
      </p:sp>
      <p:sp>
        <p:nvSpPr>
          <p:cNvPr id="49" name="TextBox 48"/>
          <p:cNvSpPr txBox="1"/>
          <p:nvPr/>
        </p:nvSpPr>
        <p:spPr>
          <a:xfrm>
            <a:off x="3567936" y="4400796"/>
            <a:ext cx="1357117" cy="584775"/>
          </a:xfrm>
          <a:prstGeom prst="rect">
            <a:avLst/>
          </a:prstGeom>
          <a:noFill/>
        </p:spPr>
        <p:txBody>
          <a:bodyPr wrap="square" rtlCol="0">
            <a:spAutoFit/>
          </a:bodyPr>
          <a:lstStyle/>
          <a:p>
            <a:pPr algn="ctr"/>
            <a:r>
              <a:rPr lang="en-US" sz="1600" dirty="0">
                <a:solidFill>
                  <a:srgbClr val="000000"/>
                </a:solidFill>
                <a:latin typeface="Amazon Ember Light" charset="0"/>
                <a:ea typeface="Amazon Ember Light" charset="0"/>
                <a:cs typeface="Amazon Ember Light" charset="0"/>
              </a:rPr>
              <a:t>Amazon SQS</a:t>
            </a:r>
            <a:br>
              <a:rPr lang="en-US" sz="1600" dirty="0">
                <a:solidFill>
                  <a:srgbClr val="000000"/>
                </a:solidFill>
                <a:latin typeface="Amazon Ember Light" charset="0"/>
                <a:ea typeface="Amazon Ember Light" charset="0"/>
                <a:cs typeface="Amazon Ember Light" charset="0"/>
              </a:rPr>
            </a:br>
            <a:r>
              <a:rPr lang="en-US" sz="1600" dirty="0">
                <a:solidFill>
                  <a:srgbClr val="000000"/>
                </a:solidFill>
                <a:latin typeface="Amazon Ember Light" charset="0"/>
                <a:ea typeface="Amazon Ember Light" charset="0"/>
                <a:cs typeface="Amazon Ember Light" charset="0"/>
              </a:rPr>
              <a:t>queue</a:t>
            </a:r>
            <a:endParaRPr lang="en-US" sz="1600" dirty="0">
              <a:solidFill>
                <a:srgbClr val="000000"/>
              </a:solidFill>
              <a:latin typeface="Amazon Ember Light" panose="020B0403020204020204"/>
              <a:ea typeface="Amazon Ember Light" charset="0"/>
              <a:cs typeface="Amazon Ember Light" charset="0"/>
            </a:endParaRPr>
          </a:p>
        </p:txBody>
      </p:sp>
      <p:sp>
        <p:nvSpPr>
          <p:cNvPr id="50" name="TextBox 49"/>
          <p:cNvSpPr txBox="1"/>
          <p:nvPr/>
        </p:nvSpPr>
        <p:spPr>
          <a:xfrm>
            <a:off x="8214693" y="5011865"/>
            <a:ext cx="2803430" cy="584775"/>
          </a:xfrm>
          <a:prstGeom prst="rect">
            <a:avLst/>
          </a:prstGeom>
          <a:noFill/>
        </p:spPr>
        <p:txBody>
          <a:bodyPr wrap="square" rtlCol="0">
            <a:spAutoFit/>
          </a:bodyPr>
          <a:lstStyle/>
          <a:p>
            <a:r>
              <a:rPr lang="en-US" sz="1600" dirty="0">
                <a:latin typeface="Amazon Ember Light" charset="0"/>
                <a:ea typeface="Amazon Ember Light" charset="0"/>
                <a:cs typeface="Amazon Ember Light" charset="0"/>
              </a:rPr>
              <a:t>Unprocessed messages remain in the </a:t>
            </a:r>
            <a:r>
              <a:rPr lang="en-US" sz="1600" dirty="0">
                <a:solidFill>
                  <a:srgbClr val="000000"/>
                </a:solidFill>
                <a:latin typeface="Amazon Ember Light" charset="0"/>
                <a:ea typeface="Amazon Ember Light" charset="0"/>
                <a:cs typeface="Amazon Ember Light" charset="0"/>
              </a:rPr>
              <a:t>queue</a:t>
            </a:r>
            <a:endParaRPr lang="en-US" sz="1600" dirty="0">
              <a:solidFill>
                <a:srgbClr val="000000"/>
              </a:solidFill>
              <a:latin typeface="Amazon Ember Light" panose="020B0403020204020204"/>
              <a:ea typeface="Amazon Ember Light" charset="0"/>
              <a:cs typeface="Amazon Ember Light" charset="0"/>
            </a:endParaRPr>
          </a:p>
        </p:txBody>
      </p:sp>
      <p:sp>
        <p:nvSpPr>
          <p:cNvPr id="51" name="TextBox 50"/>
          <p:cNvSpPr txBox="1"/>
          <p:nvPr/>
        </p:nvSpPr>
        <p:spPr>
          <a:xfrm>
            <a:off x="2020066" y="4196334"/>
            <a:ext cx="1395099" cy="338554"/>
          </a:xfrm>
          <a:prstGeom prst="rect">
            <a:avLst/>
          </a:prstGeom>
          <a:noFill/>
        </p:spPr>
        <p:txBody>
          <a:bodyPr wrap="square" rtlCol="0">
            <a:spAutoFit/>
          </a:bodyPr>
          <a:lstStyle/>
          <a:p>
            <a:pPr algn="ctr"/>
            <a:r>
              <a:rPr lang="en-US" sz="1600" dirty="0">
                <a:latin typeface="Amazon Ember Light" charset="0"/>
                <a:ea typeface="Amazon Ember Light" charset="0"/>
                <a:cs typeface="Amazon Ember Light" charset="0"/>
              </a:rPr>
              <a:t>Put </a:t>
            </a:r>
            <a:r>
              <a:rPr lang="en-US" sz="1600" dirty="0">
                <a:solidFill>
                  <a:srgbClr val="000000"/>
                </a:solidFill>
                <a:latin typeface="Amazon Ember Light" charset="0"/>
                <a:ea typeface="Amazon Ember Light" charset="0"/>
                <a:cs typeface="Amazon Ember Light" charset="0"/>
              </a:rPr>
              <a:t>message</a:t>
            </a:r>
            <a:endParaRPr lang="en-US" sz="1600" dirty="0">
              <a:solidFill>
                <a:srgbClr val="000000"/>
              </a:solidFill>
              <a:latin typeface="Amazon Ember Light" panose="020B0403020204020204"/>
              <a:ea typeface="Amazon Ember Light" charset="0"/>
              <a:cs typeface="Amazon Ember Light" charset="0"/>
            </a:endParaRPr>
          </a:p>
        </p:txBody>
      </p:sp>
      <p:sp>
        <p:nvSpPr>
          <p:cNvPr id="52" name="TextBox 51"/>
          <p:cNvSpPr txBox="1"/>
          <p:nvPr/>
        </p:nvSpPr>
        <p:spPr>
          <a:xfrm>
            <a:off x="5225491" y="4131980"/>
            <a:ext cx="1381534" cy="338554"/>
          </a:xfrm>
          <a:prstGeom prst="rect">
            <a:avLst/>
          </a:prstGeom>
          <a:noFill/>
        </p:spPr>
        <p:txBody>
          <a:bodyPr wrap="square" rtlCol="0">
            <a:spAutoFit/>
          </a:bodyPr>
          <a:lstStyle/>
          <a:p>
            <a:r>
              <a:rPr lang="en-US" sz="1600" dirty="0">
                <a:latin typeface="Amazon Ember Light" charset="0"/>
                <a:ea typeface="Amazon Ember Light" charset="0"/>
                <a:cs typeface="Amazon Ember Light" charset="0"/>
              </a:rPr>
              <a:t>Get </a:t>
            </a:r>
            <a:r>
              <a:rPr lang="en-US" sz="1600" dirty="0">
                <a:solidFill>
                  <a:srgbClr val="000000"/>
                </a:solidFill>
                <a:latin typeface="Amazon Ember Light" charset="0"/>
                <a:ea typeface="Amazon Ember Light" charset="0"/>
                <a:cs typeface="Amazon Ember Light" charset="0"/>
              </a:rPr>
              <a:t>message</a:t>
            </a:r>
            <a:endParaRPr lang="en-US" sz="1600" dirty="0">
              <a:solidFill>
                <a:srgbClr val="000000"/>
              </a:solidFill>
              <a:latin typeface="Amazon Ember Light" panose="020B0403020204020204"/>
              <a:ea typeface="Amazon Ember Light" charset="0"/>
              <a:cs typeface="Amazon Ember Light" charset="0"/>
            </a:endParaRPr>
          </a:p>
        </p:txBody>
      </p:sp>
      <p:sp>
        <p:nvSpPr>
          <p:cNvPr id="53" name="TextBox 52"/>
          <p:cNvSpPr txBox="1"/>
          <p:nvPr/>
        </p:nvSpPr>
        <p:spPr>
          <a:xfrm>
            <a:off x="6588238" y="2076233"/>
            <a:ext cx="1987002" cy="375596"/>
          </a:xfrm>
          <a:prstGeom prst="rect">
            <a:avLst/>
          </a:prstGeom>
          <a:noFill/>
        </p:spPr>
        <p:txBody>
          <a:bodyPr wrap="square" rtlCol="0">
            <a:spAutoFit/>
          </a:bodyPr>
          <a:lstStyle/>
          <a:p>
            <a:r>
              <a:rPr lang="en-US" sz="1600" dirty="0">
                <a:latin typeface="Amazon Ember Light" charset="0"/>
                <a:ea typeface="Amazon Ember Light" charset="0"/>
                <a:cs typeface="Amazon Ember Light" charset="0"/>
              </a:rPr>
              <a:t>Process job</a:t>
            </a:r>
          </a:p>
        </p:txBody>
      </p:sp>
      <p:sp>
        <p:nvSpPr>
          <p:cNvPr id="81" name="Oval 80"/>
          <p:cNvSpPr/>
          <p:nvPr/>
        </p:nvSpPr>
        <p:spPr>
          <a:xfrm>
            <a:off x="1951883" y="3648886"/>
            <a:ext cx="450997" cy="414456"/>
          </a:xfrm>
          <a:prstGeom prst="ellipse">
            <a:avLst/>
          </a:prstGeom>
          <a:solidFill>
            <a:schemeClr val="accent3"/>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latin typeface="Amazon Ember Light" charset="0"/>
                <a:ea typeface="Amazon Ember Light" charset="0"/>
                <a:cs typeface="Amazon Ember Light" charset="0"/>
              </a:rPr>
              <a:t>1</a:t>
            </a:r>
          </a:p>
        </p:txBody>
      </p:sp>
      <p:sp>
        <p:nvSpPr>
          <p:cNvPr id="79" name="Oval 78"/>
          <p:cNvSpPr/>
          <p:nvPr/>
        </p:nvSpPr>
        <p:spPr>
          <a:xfrm>
            <a:off x="6226714" y="3681814"/>
            <a:ext cx="450997" cy="414457"/>
          </a:xfrm>
          <a:prstGeom prst="ellipse">
            <a:avLst/>
          </a:prstGeom>
          <a:solidFill>
            <a:schemeClr val="accent3"/>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latin typeface="Amazon Ember Light" charset="0"/>
                <a:ea typeface="Amazon Ember Light" charset="0"/>
                <a:cs typeface="Amazon Ember Light" charset="0"/>
              </a:rPr>
              <a:t>2</a:t>
            </a:r>
          </a:p>
        </p:txBody>
      </p:sp>
      <p:sp>
        <p:nvSpPr>
          <p:cNvPr id="77" name="Oval 76"/>
          <p:cNvSpPr/>
          <p:nvPr/>
        </p:nvSpPr>
        <p:spPr>
          <a:xfrm>
            <a:off x="6101567" y="2052758"/>
            <a:ext cx="450997" cy="414457"/>
          </a:xfrm>
          <a:prstGeom prst="ellipse">
            <a:avLst/>
          </a:prstGeom>
          <a:solidFill>
            <a:schemeClr val="accent3"/>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latin typeface="Amazon Ember Light" charset="0"/>
                <a:ea typeface="Amazon Ember Light" charset="0"/>
                <a:cs typeface="Amazon Ember Light" charset="0"/>
              </a:rPr>
              <a:t>3</a:t>
            </a:r>
          </a:p>
        </p:txBody>
      </p:sp>
      <p:sp>
        <p:nvSpPr>
          <p:cNvPr id="75" name="Oval 74"/>
          <p:cNvSpPr/>
          <p:nvPr/>
        </p:nvSpPr>
        <p:spPr>
          <a:xfrm>
            <a:off x="1232131" y="5064207"/>
            <a:ext cx="450997" cy="414456"/>
          </a:xfrm>
          <a:prstGeom prst="ellipse">
            <a:avLst/>
          </a:prstGeom>
          <a:solidFill>
            <a:schemeClr val="accent3"/>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latin typeface="Amazon Ember Light" charset="0"/>
                <a:ea typeface="Amazon Ember Light" charset="0"/>
                <a:cs typeface="Amazon Ember Light" charset="0"/>
              </a:rPr>
              <a:t>4</a:t>
            </a:r>
          </a:p>
        </p:txBody>
      </p:sp>
      <p:sp>
        <p:nvSpPr>
          <p:cNvPr id="68" name="TextBox 67"/>
          <p:cNvSpPr txBox="1"/>
          <p:nvPr/>
        </p:nvSpPr>
        <p:spPr>
          <a:xfrm>
            <a:off x="1758864" y="5001531"/>
            <a:ext cx="2266598" cy="584775"/>
          </a:xfrm>
          <a:prstGeom prst="rect">
            <a:avLst/>
          </a:prstGeom>
          <a:solidFill>
            <a:schemeClr val="bg1"/>
          </a:solidFill>
          <a:ln>
            <a:solidFill>
              <a:schemeClr val="bg1"/>
            </a:solidFill>
          </a:ln>
        </p:spPr>
        <p:txBody>
          <a:bodyPr wrap="square" rtlCol="0">
            <a:spAutoFit/>
          </a:bodyPr>
          <a:lstStyle/>
          <a:p>
            <a:r>
              <a:rPr lang="en-US" sz="1600" dirty="0">
                <a:latin typeface="Amazon Ember Light" charset="0"/>
                <a:ea typeface="Amazon Ember Light" charset="0"/>
                <a:cs typeface="Amazon Ember Light" charset="0"/>
              </a:rPr>
              <a:t>Delete the successfully</a:t>
            </a:r>
            <a:br>
              <a:rPr lang="en-US" sz="1600" dirty="0">
                <a:latin typeface="Amazon Ember Light" charset="0"/>
                <a:ea typeface="Amazon Ember Light" charset="0"/>
                <a:cs typeface="Amazon Ember Light" charset="0"/>
              </a:rPr>
            </a:br>
            <a:r>
              <a:rPr lang="en-US" sz="1600" dirty="0">
                <a:latin typeface="Amazon Ember Light" charset="0"/>
                <a:ea typeface="Amazon Ember Light" charset="0"/>
                <a:cs typeface="Amazon Ember Light" charset="0"/>
              </a:rPr>
              <a:t>processed </a:t>
            </a:r>
            <a:r>
              <a:rPr lang="en-US" sz="1600" dirty="0">
                <a:solidFill>
                  <a:srgbClr val="000000"/>
                </a:solidFill>
                <a:latin typeface="Amazon Ember Light" charset="0"/>
                <a:ea typeface="Amazon Ember Light" charset="0"/>
                <a:cs typeface="Amazon Ember Light" charset="0"/>
              </a:rPr>
              <a:t>message</a:t>
            </a:r>
            <a:endParaRPr lang="en-US" sz="1600" dirty="0">
              <a:solidFill>
                <a:srgbClr val="000000"/>
              </a:solidFill>
              <a:latin typeface="Amazon Ember Light" panose="020B0403020204020204"/>
              <a:ea typeface="Amazon Ember Light" charset="0"/>
              <a:cs typeface="Amazon Ember Light" charset="0"/>
            </a:endParaRPr>
          </a:p>
        </p:txBody>
      </p:sp>
      <p:sp>
        <p:nvSpPr>
          <p:cNvPr id="84" name="Rectangle 83"/>
          <p:cNvSpPr/>
          <p:nvPr/>
        </p:nvSpPr>
        <p:spPr>
          <a:xfrm>
            <a:off x="8329208" y="2287165"/>
            <a:ext cx="3319942" cy="1653786"/>
          </a:xfrm>
          <a:prstGeom prst="rect">
            <a:avLst/>
          </a:prstGeom>
        </p:spPr>
        <p:txBody>
          <a:bodyPr wrap="square">
            <a:spAutoFit/>
          </a:bodyPr>
          <a:lstStyle/>
          <a:p>
            <a:r>
              <a:rPr lang="en-US" sz="20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Best Practices</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 </a:t>
            </a:r>
          </a:p>
          <a:p>
            <a:pPr marL="344488" indent="-344488">
              <a:lnSpc>
                <a:spcPct val="90000"/>
              </a:lnSpc>
              <a:spcBef>
                <a:spcPts val="1000"/>
              </a:spcBef>
              <a:buFont typeface="Arial" panose="020B0604020202020204" pitchFamily="34" charset="0"/>
              <a:buChar char="•"/>
            </a:pPr>
            <a:r>
              <a:rPr lang="en-US" dirty="0">
                <a:latin typeface="Amazon Ember Light" charset="0"/>
                <a:ea typeface="Amazon Ember Light" charset="0"/>
                <a:cs typeface="Amazon Ember Light" charset="0"/>
              </a:rPr>
              <a:t>Loose coupling </a:t>
            </a:r>
          </a:p>
          <a:p>
            <a:pPr marL="344488" indent="-344488">
              <a:lnSpc>
                <a:spcPct val="90000"/>
              </a:lnSpc>
              <a:spcBef>
                <a:spcPts val="1000"/>
              </a:spcBef>
              <a:buFont typeface="Arial" panose="020B0604020202020204" pitchFamily="34" charset="0"/>
              <a:buChar char="•"/>
            </a:pPr>
            <a:r>
              <a:rPr lang="en-US" dirty="0">
                <a:latin typeface="Amazon Ember Light" charset="0"/>
                <a:ea typeface="Amazon Ember Light" charset="0"/>
                <a:cs typeface="Amazon Ember Light" charset="0"/>
                <a:sym typeface="Wingdings" panose="05000000000000000000" pitchFamily="2" charset="2"/>
              </a:rPr>
              <a:t>Queuing Chain Pattern enables asynchronous </a:t>
            </a:r>
            <a:r>
              <a:rPr lang="en-US" dirty="0" smtClean="0">
                <a:solidFill>
                  <a:srgbClr val="000000"/>
                </a:solidFill>
                <a:latin typeface="Amazon Ember Light" charset="0"/>
                <a:ea typeface="Amazon Ember Light" charset="0"/>
                <a:cs typeface="Amazon Ember Light" charset="0"/>
                <a:sym typeface="Wingdings" panose="05000000000000000000" pitchFamily="2" charset="2"/>
              </a:rPr>
              <a:t>processing</a:t>
            </a:r>
            <a:r>
              <a:rPr lang="en-US" dirty="0" smtClean="0">
                <a:latin typeface="Amazon Ember Light" charset="0"/>
                <a:ea typeface="Amazon Ember Light" charset="0"/>
                <a:cs typeface="Amazon Ember Light" charset="0"/>
                <a:sym typeface="Wingdings" panose="05000000000000000000" pitchFamily="2" charset="2"/>
              </a:rPr>
              <a:t>   </a:t>
            </a:r>
            <a:endParaRPr lang="en-US" dirty="0">
              <a:latin typeface="Amazon Ember Light" charset="0"/>
              <a:ea typeface="Amazon Ember Light" charset="0"/>
              <a:cs typeface="Amazon Ember Light" charset="0"/>
            </a:endParaRPr>
          </a:p>
        </p:txBody>
      </p:sp>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sp>
        <p:nvSpPr>
          <p:cNvPr id="37" name="Rectangle 36">
            <a:extLst>
              <a:ext uri="{FF2B5EF4-FFF2-40B4-BE49-F238E27FC236}">
                <a16:creationId xmlns:a16="http://schemas.microsoft.com/office/drawing/2014/main" id="{CE7F7081-419C-2E4F-A999-2923C4338FC0}"/>
              </a:ext>
            </a:extLst>
          </p:cNvPr>
          <p:cNvSpPr/>
          <p:nvPr/>
        </p:nvSpPr>
        <p:spPr>
          <a:xfrm>
            <a:off x="913663" y="1808018"/>
            <a:ext cx="6982562" cy="398318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AWS Cloud</a:t>
            </a:r>
          </a:p>
        </p:txBody>
      </p:sp>
      <p:pic>
        <p:nvPicPr>
          <p:cNvPr id="38" name="Graphic 11">
            <a:extLst>
              <a:ext uri="{FF2B5EF4-FFF2-40B4-BE49-F238E27FC236}">
                <a16:creationId xmlns:a16="http://schemas.microsoft.com/office/drawing/2014/main" id="{CE52C9D7-11B0-9E41-AB16-2C9849C3ECBE}"/>
              </a:ext>
            </a:extLst>
          </p:cNvPr>
          <p:cNvPicPr>
            <a:picLocks noChangeAspect="1"/>
          </p:cNvPicPr>
          <p:nvPr/>
        </p:nvPicPr>
        <p:blipFill>
          <a:blip r:embed="rId4"/>
          <a:stretch>
            <a:fillRect/>
          </a:stretch>
        </p:blipFill>
        <p:spPr>
          <a:xfrm>
            <a:off x="913663" y="1808018"/>
            <a:ext cx="330200" cy="330200"/>
          </a:xfrm>
          <a:prstGeom prst="rect">
            <a:avLst/>
          </a:prstGeom>
        </p:spPr>
      </p:pic>
      <p:pic>
        <p:nvPicPr>
          <p:cNvPr id="39" name="Graphic 137">
            <a:extLst>
              <a:ext uri="{FF2B5EF4-FFF2-40B4-BE49-F238E27FC236}">
                <a16:creationId xmlns:a16="http://schemas.microsoft.com/office/drawing/2014/main" id="{5B22B109-5C82-FA40-91FB-DE791C44FEB8}"/>
              </a:ext>
            </a:extLst>
          </p:cNvPr>
          <p:cNvPicPr>
            <a:picLocks noChangeAspect="1"/>
          </p:cNvPicPr>
          <p:nvPr/>
        </p:nvPicPr>
        <p:blipFill>
          <a:blip r:embed="rId5"/>
          <a:stretch>
            <a:fillRect/>
          </a:stretch>
        </p:blipFill>
        <p:spPr>
          <a:xfrm>
            <a:off x="1853195" y="2516046"/>
            <a:ext cx="469900" cy="469900"/>
          </a:xfrm>
          <a:prstGeom prst="rect">
            <a:avLst/>
          </a:prstGeom>
        </p:spPr>
      </p:pic>
      <p:sp>
        <p:nvSpPr>
          <p:cNvPr id="40" name="TextBox 39"/>
          <p:cNvSpPr txBox="1"/>
          <p:nvPr/>
        </p:nvSpPr>
        <p:spPr>
          <a:xfrm>
            <a:off x="5850887" y="3070564"/>
            <a:ext cx="1509459" cy="338554"/>
          </a:xfrm>
          <a:prstGeom prst="rect">
            <a:avLst/>
          </a:prstGeom>
          <a:noFill/>
        </p:spPr>
        <p:txBody>
          <a:bodyPr wrap="square" rtlCol="0">
            <a:spAutoFit/>
          </a:bodyPr>
          <a:lstStyle/>
          <a:p>
            <a:r>
              <a:rPr lang="en-US" sz="1600" dirty="0">
                <a:latin typeface="Amazon Ember Light" charset="0"/>
                <a:ea typeface="Amazon Ember Light" charset="0"/>
                <a:cs typeface="Amazon Ember Light" charset="0"/>
              </a:rPr>
              <a:t>EC2 Instances</a:t>
            </a:r>
          </a:p>
        </p:txBody>
      </p:sp>
      <p:pic>
        <p:nvPicPr>
          <p:cNvPr id="41" name="Graphic 137">
            <a:extLst>
              <a:ext uri="{FF2B5EF4-FFF2-40B4-BE49-F238E27FC236}">
                <a16:creationId xmlns:a16="http://schemas.microsoft.com/office/drawing/2014/main" id="{5B22B109-5C82-FA40-91FB-DE791C44FEB8}"/>
              </a:ext>
            </a:extLst>
          </p:cNvPr>
          <p:cNvPicPr>
            <a:picLocks noChangeAspect="1"/>
          </p:cNvPicPr>
          <p:nvPr/>
        </p:nvPicPr>
        <p:blipFill>
          <a:blip r:embed="rId5"/>
          <a:stretch>
            <a:fillRect/>
          </a:stretch>
        </p:blipFill>
        <p:spPr>
          <a:xfrm>
            <a:off x="6370666" y="2558355"/>
            <a:ext cx="469900" cy="469900"/>
          </a:xfrm>
          <a:prstGeom prst="rect">
            <a:avLst/>
          </a:prstGeom>
        </p:spPr>
      </p:pic>
      <p:pic>
        <p:nvPicPr>
          <p:cNvPr id="42" name="Graphic 39">
            <a:extLst>
              <a:ext uri="{FF2B5EF4-FFF2-40B4-BE49-F238E27FC236}">
                <a16:creationId xmlns:a16="http://schemas.microsoft.com/office/drawing/2014/main" id="{2ACAD885-5F52-504F-842D-3D87E199BD5D}"/>
              </a:ext>
            </a:extLst>
          </p:cNvPr>
          <p:cNvPicPr>
            <a:picLocks noChangeAspect="1"/>
          </p:cNvPicPr>
          <p:nvPr/>
        </p:nvPicPr>
        <p:blipFill>
          <a:blip r:embed="rId6"/>
          <a:stretch>
            <a:fillRect/>
          </a:stretch>
        </p:blipFill>
        <p:spPr>
          <a:xfrm>
            <a:off x="3818984" y="3663546"/>
            <a:ext cx="914400" cy="914400"/>
          </a:xfrm>
          <a:prstGeom prst="rect">
            <a:avLst/>
          </a:prstGeom>
        </p:spPr>
      </p:pic>
      <p:pic>
        <p:nvPicPr>
          <p:cNvPr id="54" name="Graphic 37">
            <a:extLst>
              <a:ext uri="{FF2B5EF4-FFF2-40B4-BE49-F238E27FC236}">
                <a16:creationId xmlns:a16="http://schemas.microsoft.com/office/drawing/2014/main" id="{8CB142E1-5B51-1E4C-AFA8-54BFF6177BAB}"/>
              </a:ext>
            </a:extLst>
          </p:cNvPr>
          <p:cNvPicPr>
            <a:picLocks noChangeAspect="1"/>
          </p:cNvPicPr>
          <p:nvPr/>
        </p:nvPicPr>
        <p:blipFill>
          <a:blip r:embed="rId7"/>
          <a:stretch>
            <a:fillRect/>
          </a:stretch>
        </p:blipFill>
        <p:spPr>
          <a:xfrm>
            <a:off x="2482665" y="3661389"/>
            <a:ext cx="469900" cy="469900"/>
          </a:xfrm>
          <a:prstGeom prst="rect">
            <a:avLst/>
          </a:prstGeom>
        </p:spPr>
      </p:pic>
      <p:pic>
        <p:nvPicPr>
          <p:cNvPr id="55" name="Graphic 37">
            <a:extLst>
              <a:ext uri="{FF2B5EF4-FFF2-40B4-BE49-F238E27FC236}">
                <a16:creationId xmlns:a16="http://schemas.microsoft.com/office/drawing/2014/main" id="{8CB142E1-5B51-1E4C-AFA8-54BFF6177BAB}"/>
              </a:ext>
            </a:extLst>
          </p:cNvPr>
          <p:cNvPicPr>
            <a:picLocks noChangeAspect="1"/>
          </p:cNvPicPr>
          <p:nvPr/>
        </p:nvPicPr>
        <p:blipFill>
          <a:blip r:embed="rId7"/>
          <a:stretch>
            <a:fillRect/>
          </a:stretch>
        </p:blipFill>
        <p:spPr>
          <a:xfrm>
            <a:off x="5681308" y="3659917"/>
            <a:ext cx="469900" cy="469900"/>
          </a:xfrm>
          <a:prstGeom prst="rect">
            <a:avLst/>
          </a:prstGeom>
        </p:spPr>
      </p:pic>
      <p:cxnSp>
        <p:nvCxnSpPr>
          <p:cNvPr id="5" name="Elbow Connector 4"/>
          <p:cNvCxnSpPr>
            <a:stCxn id="39" idx="3"/>
            <a:endCxn id="42" idx="1"/>
          </p:cNvCxnSpPr>
          <p:nvPr/>
        </p:nvCxnSpPr>
        <p:spPr>
          <a:xfrm>
            <a:off x="2323095" y="2750996"/>
            <a:ext cx="1495889" cy="1369750"/>
          </a:xfrm>
          <a:prstGeom prst="bentConnector3">
            <a:avLst>
              <a:gd name="adj1" fmla="val 50000"/>
            </a:avLst>
          </a:prstGeom>
          <a:ln>
            <a:tailEnd type="arrow" w="med" len="sm"/>
          </a:ln>
        </p:spPr>
        <p:style>
          <a:lnRef idx="1">
            <a:schemeClr val="accent1"/>
          </a:lnRef>
          <a:fillRef idx="0">
            <a:schemeClr val="accent1"/>
          </a:fillRef>
          <a:effectRef idx="0">
            <a:schemeClr val="accent1"/>
          </a:effectRef>
          <a:fontRef idx="minor">
            <a:schemeClr val="tx1"/>
          </a:fontRef>
        </p:style>
      </p:cxnSp>
      <p:cxnSp>
        <p:nvCxnSpPr>
          <p:cNvPr id="56" name="Elbow Connector 55"/>
          <p:cNvCxnSpPr>
            <a:stCxn id="41" idx="1"/>
            <a:endCxn id="42" idx="3"/>
          </p:cNvCxnSpPr>
          <p:nvPr/>
        </p:nvCxnSpPr>
        <p:spPr>
          <a:xfrm rot="10800000" flipV="1">
            <a:off x="4733384" y="2793304"/>
            <a:ext cx="1637282" cy="1327441"/>
          </a:xfrm>
          <a:prstGeom prst="bentConnector3">
            <a:avLst>
              <a:gd name="adj1" fmla="val 50000"/>
            </a:avLst>
          </a:prstGeom>
          <a:ln>
            <a:headEnd type="arrow" w="med" len="sm"/>
            <a:tailEnd type="none" w="med" len="sm"/>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8370846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a:t>
            </a:r>
            <a:r>
              <a:rPr lang="en-US" dirty="0" smtClean="0"/>
              <a:t>SQS: </a:t>
            </a:r>
            <a:r>
              <a:rPr lang="en-US" dirty="0"/>
              <a:t>M</a:t>
            </a:r>
            <a:r>
              <a:rPr lang="en-US" dirty="0" smtClean="0"/>
              <a:t>essage </a:t>
            </a:r>
            <a:r>
              <a:rPr lang="en-US" dirty="0">
                <a:solidFill>
                  <a:srgbClr val="FFFFFF"/>
                </a:solidFill>
              </a:rPr>
              <a:t>lifecycle</a:t>
            </a:r>
            <a:endParaRPr lang="en-US" dirty="0">
              <a:solidFill>
                <a:srgbClr val="FFFFFF"/>
              </a:solidFill>
              <a:latin typeface="Amazon Ember Light" panose="020B0403020204020204"/>
            </a:endParaRPr>
          </a:p>
        </p:txBody>
      </p:sp>
      <p:sp>
        <p:nvSpPr>
          <p:cNvPr id="3" name="Slide Number Placeholder 2"/>
          <p:cNvSpPr>
            <a:spLocks noGrp="1"/>
          </p:cNvSpPr>
          <p:nvPr>
            <p:ph type="sldNum" sz="quarter" idx="12"/>
          </p:nvPr>
        </p:nvSpPr>
        <p:spPr/>
        <p:txBody>
          <a:bodyPr/>
          <a:lstStyle/>
          <a:p>
            <a:fld id="{9FC43BFD-8FF7-A343-A8A6-E2338FCE8046}" type="slidenum">
              <a:rPr lang="en-US" smtClean="0"/>
              <a:pPr/>
              <a:t>12</a:t>
            </a:fld>
            <a:endParaRPr lang="en-US" dirty="0"/>
          </a:p>
        </p:txBody>
      </p:sp>
      <p:sp>
        <p:nvSpPr>
          <p:cNvPr id="72" name="Can 71"/>
          <p:cNvSpPr/>
          <p:nvPr/>
        </p:nvSpPr>
        <p:spPr>
          <a:xfrm>
            <a:off x="7444719" y="2908373"/>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99" name="TextBox 98"/>
          <p:cNvSpPr txBox="1"/>
          <p:nvPr/>
        </p:nvSpPr>
        <p:spPr>
          <a:xfrm>
            <a:off x="4673818" y="3323853"/>
            <a:ext cx="1412567" cy="338554"/>
          </a:xfrm>
          <a:prstGeom prst="rect">
            <a:avLst/>
          </a:prstGeom>
          <a:noFill/>
        </p:spPr>
        <p:txBody>
          <a:bodyPr wrap="none" rtlCol="0">
            <a:spAutoFit/>
          </a:bodyPr>
          <a:lstStyle/>
          <a:p>
            <a:pPr algn="ctr"/>
            <a:r>
              <a:rPr lang="en-US" sz="1600" dirty="0">
                <a:latin typeface="Amazon Ember Light" charset="0"/>
                <a:ea typeface="Amazon Ember Light" charset="0"/>
                <a:cs typeface="Amazon Ember Light" charset="0"/>
              </a:rPr>
              <a:t>SendMessage</a:t>
            </a:r>
          </a:p>
        </p:txBody>
      </p:sp>
      <p:sp>
        <p:nvSpPr>
          <p:cNvPr id="105" name="Oval 104"/>
          <p:cNvSpPr/>
          <p:nvPr/>
        </p:nvSpPr>
        <p:spPr>
          <a:xfrm>
            <a:off x="5183180" y="3843643"/>
            <a:ext cx="330721" cy="286586"/>
          </a:xfrm>
          <a:prstGeom prst="ellipse">
            <a:avLst/>
          </a:prstGeom>
          <a:solidFill>
            <a:schemeClr val="tx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latin typeface="Amazon Ember Light" charset="0"/>
                <a:ea typeface="Amazon Ember Light" charset="0"/>
                <a:cs typeface="Amazon Ember Light" charset="0"/>
              </a:rPr>
              <a:t>A</a:t>
            </a:r>
          </a:p>
        </p:txBody>
      </p:sp>
      <p:sp>
        <p:nvSpPr>
          <p:cNvPr id="114" name="Can 113"/>
          <p:cNvSpPr/>
          <p:nvPr/>
        </p:nvSpPr>
        <p:spPr>
          <a:xfrm>
            <a:off x="8395692" y="2908373"/>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130" name="Can 129"/>
          <p:cNvSpPr/>
          <p:nvPr/>
        </p:nvSpPr>
        <p:spPr>
          <a:xfrm>
            <a:off x="9346665" y="2908373"/>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139" name="TextBox 138"/>
          <p:cNvSpPr txBox="1"/>
          <p:nvPr/>
        </p:nvSpPr>
        <p:spPr>
          <a:xfrm>
            <a:off x="6904972" y="4586416"/>
            <a:ext cx="4623544" cy="400110"/>
          </a:xfrm>
          <a:prstGeom prst="rect">
            <a:avLst/>
          </a:prstGeom>
          <a:noFill/>
        </p:spPr>
        <p:txBody>
          <a:bodyPr wrap="square" rtlCol="0">
            <a:spAutoFit/>
          </a:bodyPr>
          <a:lstStyle/>
          <a:p>
            <a:pPr algn="ctr"/>
            <a:r>
              <a:rPr lang="en-US" sz="2000" dirty="0">
                <a:latin typeface="Amazon Ember Light" charset="0"/>
                <a:ea typeface="Amazon Ember Light" charset="0"/>
                <a:cs typeface="Amazon Ember Light" charset="0"/>
              </a:rPr>
              <a:t>Your </a:t>
            </a:r>
            <a:r>
              <a:rPr lang="en-US" sz="2000" dirty="0">
                <a:solidFill>
                  <a:srgbClr val="000000"/>
                </a:solidFill>
                <a:latin typeface="Amazon Ember Light" charset="0"/>
                <a:ea typeface="Amazon Ember Light" charset="0"/>
                <a:cs typeface="Amazon Ember Light" charset="0"/>
              </a:rPr>
              <a:t>queue</a:t>
            </a:r>
            <a:r>
              <a:rPr lang="en-US" sz="2000" dirty="0">
                <a:latin typeface="Amazon Ember Light" charset="0"/>
                <a:ea typeface="Amazon Ember Light" charset="0"/>
                <a:cs typeface="Amazon Ember Light" charset="0"/>
              </a:rPr>
              <a:t> (distributed on </a:t>
            </a:r>
            <a:r>
              <a:rPr lang="en-US" sz="2000" dirty="0">
                <a:solidFill>
                  <a:srgbClr val="000000"/>
                </a:solidFill>
                <a:latin typeface="Amazon Ember Light" charset="0"/>
                <a:ea typeface="Amazon Ember Light" charset="0"/>
                <a:cs typeface="Amazon Ember Light" charset="0"/>
              </a:rPr>
              <a:t>SQS</a:t>
            </a:r>
            <a:r>
              <a:rPr lang="en-US" sz="2000" dirty="0">
                <a:latin typeface="Amazon Ember Light" charset="0"/>
                <a:ea typeface="Amazon Ember Light" charset="0"/>
                <a:cs typeface="Amazon Ember Light" charset="0"/>
              </a:rPr>
              <a:t>
              </a:t>
            </a:r>
            <a:r>
              <a:rPr lang="en-US" sz="2000" dirty="0">
                <a:solidFill>
                  <a:srgbClr val="000000"/>
                </a:solidFill>
                <a:latin typeface="Amazon Ember Light" charset="0"/>
                <a:ea typeface="Amazon Ember Light" charset="0"/>
                <a:cs typeface="Amazon Ember Light" charset="0"/>
              </a:rPr>
              <a:t>servers</a:t>
            </a:r>
            <a:r>
              <a:rPr lang="en-US" sz="2000" dirty="0">
                <a:latin typeface="Amazon Ember Light" charset="0"/>
                <a:ea typeface="Amazon Ember Light" charset="0"/>
                <a:cs typeface="Amazon Ember Light" charset="0"/>
              </a:rPr>
              <a:t>)</a:t>
            </a:r>
          </a:p>
        </p:txBody>
      </p:sp>
      <p:sp>
        <p:nvSpPr>
          <p:cNvPr id="173" name="Rectangle 172"/>
          <p:cNvSpPr/>
          <p:nvPr/>
        </p:nvSpPr>
        <p:spPr>
          <a:xfrm>
            <a:off x="540643" y="3323853"/>
            <a:ext cx="1608432" cy="830997"/>
          </a:xfrm>
          <a:prstGeom prst="rect">
            <a:avLst/>
          </a:prstGeom>
        </p:spPr>
        <p:txBody>
          <a:bodyPr wrap="square">
            <a:spAutoFit/>
          </a:bodyPr>
          <a:lstStyle/>
          <a:p>
            <a:r>
              <a:rPr lang="en-US" sz="2400" dirty="0">
                <a:latin typeface="Amazon Ember" panose="02000000000000000000" pitchFamily="2" charset="0"/>
                <a:ea typeface="Amazon Ember" panose="02000000000000000000" pitchFamily="2" charset="0"/>
              </a:rPr>
              <a:t>Send</a:t>
            </a:r>
          </a:p>
          <a:p>
            <a:r>
              <a:rPr lang="en-US" sz="2400" dirty="0">
                <a:latin typeface="Amazon Ember" panose="02000000000000000000" pitchFamily="2" charset="0"/>
                <a:ea typeface="Amazon Ember" panose="02000000000000000000" pitchFamily="2" charset="0"/>
                <a:sym typeface="Wingdings" panose="05000000000000000000" pitchFamily="2" charset="2"/>
              </a:rPr>
              <a:t>Message</a:t>
            </a:r>
          </a:p>
        </p:txBody>
      </p:sp>
      <p:cxnSp>
        <p:nvCxnSpPr>
          <p:cNvPr id="69" name="Straight Arrow Connector 68"/>
          <p:cNvCxnSpPr>
            <a:stCxn id="36" idx="3"/>
          </p:cNvCxnSpPr>
          <p:nvPr/>
        </p:nvCxnSpPr>
        <p:spPr>
          <a:xfrm flipV="1">
            <a:off x="3945764" y="3739352"/>
            <a:ext cx="2868675" cy="1"/>
          </a:xfrm>
          <a:prstGeom prst="straightConnector1">
            <a:avLst/>
          </a:prstGeom>
          <a:ln w="12700">
            <a:solidFill>
              <a:schemeClr val="tx1"/>
            </a:solidFill>
            <a:tailEnd type="arrow" w="med" len="sm"/>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421764" y="3508520"/>
            <a:ext cx="1524000" cy="461665"/>
          </a:xfrm>
          <a:prstGeom prst="rect">
            <a:avLst/>
          </a:prstGeom>
          <a:solidFill>
            <a:schemeClr val="tx2"/>
          </a:solidFill>
          <a:effectLst/>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n-US" sz="2400" dirty="0">
                <a:solidFill>
                  <a:schemeClr val="tx1"/>
                </a:solidFill>
                <a:latin typeface="Amazon Ember Light" charset="0"/>
                <a:ea typeface="Amazon Ember Light" charset="0"/>
                <a:cs typeface="Amazon Ember Light" charset="0"/>
              </a:rPr>
              <a:t>Producer</a:t>
            </a:r>
          </a:p>
        </p:txBody>
      </p:sp>
      <p:sp>
        <p:nvSpPr>
          <p:cNvPr id="4" name="Footer Placeholder 3"/>
          <p:cNvSpPr>
            <a:spLocks noGrp="1"/>
          </p:cNvSpPr>
          <p:nvPr>
            <p:ph type="ftr" sz="quarter" idx="3"/>
          </p:nvPr>
        </p:nvSpPr>
        <p:spPr/>
        <p:txBody>
          <a:bodyPr/>
          <a:lstStyle/>
          <a:p>
            <a:r>
              <a:rPr lang="en-US"/>
              <a:t>© 2020 Amazon Web Services, Inc. or its Affiliates. All rights reserved.</a:t>
            </a:r>
            <a:endParaRPr lang="en-US" dirty="0"/>
          </a:p>
        </p:txBody>
      </p:sp>
      <p:sp>
        <p:nvSpPr>
          <p:cNvPr id="39" name="Can 38"/>
          <p:cNvSpPr/>
          <p:nvPr/>
        </p:nvSpPr>
        <p:spPr>
          <a:xfrm>
            <a:off x="10297639" y="2924689"/>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40" name="Can 39"/>
          <p:cNvSpPr/>
          <p:nvPr/>
        </p:nvSpPr>
        <p:spPr>
          <a:xfrm>
            <a:off x="7459065" y="3841017"/>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41" name="Can 40"/>
          <p:cNvSpPr/>
          <p:nvPr/>
        </p:nvSpPr>
        <p:spPr>
          <a:xfrm>
            <a:off x="8410038" y="3841017"/>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42" name="Can 41"/>
          <p:cNvSpPr/>
          <p:nvPr/>
        </p:nvSpPr>
        <p:spPr>
          <a:xfrm>
            <a:off x="9361011" y="3841017"/>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43" name="Can 42"/>
          <p:cNvSpPr/>
          <p:nvPr/>
        </p:nvSpPr>
        <p:spPr>
          <a:xfrm>
            <a:off x="10311985" y="3857333"/>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44" name="Oval 43"/>
          <p:cNvSpPr/>
          <p:nvPr/>
        </p:nvSpPr>
        <p:spPr>
          <a:xfrm>
            <a:off x="7603993" y="3180560"/>
            <a:ext cx="330721" cy="286586"/>
          </a:xfrm>
          <a:prstGeom prst="ellipse">
            <a:avLst/>
          </a:prstGeom>
          <a:solidFill>
            <a:schemeClr val="tx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latin typeface="Amazon Ember Light" charset="0"/>
                <a:ea typeface="Amazon Ember Light" charset="0"/>
                <a:cs typeface="Amazon Ember Light" charset="0"/>
              </a:rPr>
              <a:t>A</a:t>
            </a:r>
          </a:p>
        </p:txBody>
      </p:sp>
      <p:sp>
        <p:nvSpPr>
          <p:cNvPr id="45" name="Oval 44"/>
          <p:cNvSpPr/>
          <p:nvPr/>
        </p:nvSpPr>
        <p:spPr>
          <a:xfrm>
            <a:off x="8556620" y="4116939"/>
            <a:ext cx="330721" cy="286586"/>
          </a:xfrm>
          <a:prstGeom prst="ellipse">
            <a:avLst/>
          </a:prstGeom>
          <a:solidFill>
            <a:schemeClr val="tx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latin typeface="Amazon Ember Light" charset="0"/>
                <a:ea typeface="Amazon Ember Light" charset="0"/>
                <a:cs typeface="Amazon Ember Light" charset="0"/>
              </a:rPr>
              <a:t>A</a:t>
            </a:r>
          </a:p>
        </p:txBody>
      </p:sp>
      <p:sp>
        <p:nvSpPr>
          <p:cNvPr id="46" name="Oval 45"/>
          <p:cNvSpPr/>
          <p:nvPr/>
        </p:nvSpPr>
        <p:spPr>
          <a:xfrm>
            <a:off x="9493248" y="3180560"/>
            <a:ext cx="330721" cy="286586"/>
          </a:xfrm>
          <a:prstGeom prst="ellipse">
            <a:avLst/>
          </a:prstGeom>
          <a:solidFill>
            <a:schemeClr val="tx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latin typeface="Amazon Ember Light" charset="0"/>
                <a:ea typeface="Amazon Ember Light" charset="0"/>
                <a:cs typeface="Amazon Ember Light" charset="0"/>
              </a:rPr>
              <a:t>A</a:t>
            </a:r>
          </a:p>
        </p:txBody>
      </p:sp>
      <p:sp>
        <p:nvSpPr>
          <p:cNvPr id="49" name="Rounded Rectangle 48"/>
          <p:cNvSpPr/>
          <p:nvPr/>
        </p:nvSpPr>
        <p:spPr>
          <a:xfrm>
            <a:off x="6814439" y="2536058"/>
            <a:ext cx="4878451" cy="2393317"/>
          </a:xfrm>
          <a:prstGeom prst="roundRect">
            <a:avLst>
              <a:gd name="adj" fmla="val 0"/>
            </a:avLst>
          </a:prstGeom>
          <a:noFill/>
          <a:ln>
            <a:solidFill>
              <a:schemeClr val="accent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pic>
        <p:nvPicPr>
          <p:cNvPr id="50" name="Graphic 39">
            <a:extLst>
              <a:ext uri="{FF2B5EF4-FFF2-40B4-BE49-F238E27FC236}">
                <a16:creationId xmlns:a16="http://schemas.microsoft.com/office/drawing/2014/main" id="{2ACAD885-5F52-504F-842D-3D87E199BD5D}"/>
              </a:ext>
            </a:extLst>
          </p:cNvPr>
          <p:cNvPicPr>
            <a:picLocks noChangeAspect="1"/>
          </p:cNvPicPr>
          <p:nvPr/>
        </p:nvPicPr>
        <p:blipFill>
          <a:blip r:embed="rId4"/>
          <a:stretch>
            <a:fillRect/>
          </a:stretch>
        </p:blipFill>
        <p:spPr>
          <a:xfrm>
            <a:off x="6830519" y="2452370"/>
            <a:ext cx="469900" cy="469900"/>
          </a:xfrm>
          <a:prstGeom prst="rect">
            <a:avLst/>
          </a:prstGeom>
        </p:spPr>
      </p:pic>
      <p:sp>
        <p:nvSpPr>
          <p:cNvPr id="51" name="TextBox 50"/>
          <p:cNvSpPr txBox="1"/>
          <p:nvPr/>
        </p:nvSpPr>
        <p:spPr>
          <a:xfrm>
            <a:off x="1402716" y="1854546"/>
            <a:ext cx="3443249" cy="707886"/>
          </a:xfrm>
          <a:prstGeom prst="rect">
            <a:avLst/>
          </a:prstGeom>
          <a:noFill/>
        </p:spPr>
        <p:txBody>
          <a:bodyPr wrap="square" rtlCol="0">
            <a:spAutoFit/>
          </a:bodyPr>
          <a:lstStyle/>
          <a:p>
            <a:pPr algn="ctr"/>
            <a:r>
              <a:rPr lang="en-US" sz="2000" dirty="0">
                <a:latin typeface="Amazon Ember Light" charset="0"/>
                <a:ea typeface="Amazon Ember Light" charset="0"/>
                <a:cs typeface="Amazon Ember Light" charset="0"/>
              </a:rPr>
              <a:t>Producer sends </a:t>
            </a:r>
            <a:r>
              <a:rPr lang="en-US" sz="2000" dirty="0">
                <a:solidFill>
                  <a:schemeClr val="accent6"/>
                </a:solidFill>
                <a:latin typeface="Amazon Ember Light" charset="0"/>
                <a:ea typeface="Amazon Ember Light" charset="0"/>
                <a:cs typeface="Amazon Ember Light" charset="0"/>
              </a:rPr>
              <a:t>message A </a:t>
            </a:r>
            <a:r>
              <a:rPr lang="en-US" sz="2000" dirty="0">
                <a:latin typeface="Amazon Ember Light" charset="0"/>
                <a:ea typeface="Amazon Ember Light" charset="0"/>
                <a:cs typeface="Amazon Ember Light" charset="0"/>
              </a:rPr>
              <a:t/>
            </a:r>
            <a:br>
              <a:rPr lang="en-US" sz="2000" dirty="0">
                <a:latin typeface="Amazon Ember Light" charset="0"/>
                <a:ea typeface="Amazon Ember Light" charset="0"/>
                <a:cs typeface="Amazon Ember Light" charset="0"/>
              </a:rPr>
            </a:br>
            <a:r>
              <a:rPr lang="en-US" sz="2000" dirty="0">
                <a:latin typeface="Amazon Ember Light" charset="0"/>
                <a:ea typeface="Amazon Ember Light" charset="0"/>
                <a:cs typeface="Amazon Ember Light" charset="0"/>
              </a:rPr>
              <a:t>to the </a:t>
            </a:r>
            <a:r>
              <a:rPr lang="en-US" sz="2000" dirty="0">
                <a:solidFill>
                  <a:srgbClr val="000000"/>
                </a:solidFill>
                <a:latin typeface="Amazon Ember Light" charset="0"/>
                <a:ea typeface="Amazon Ember Light" charset="0"/>
                <a:cs typeface="Amazon Ember Light" charset="0"/>
              </a:rPr>
              <a:t>queue</a:t>
            </a:r>
            <a:endParaRPr lang="en-US" sz="2000" dirty="0">
              <a:solidFill>
                <a:srgbClr val="000000"/>
              </a:solidFill>
              <a:ea typeface="Amazon Ember Light" charset="0"/>
              <a:cs typeface="Amazon Ember Light" charset="0"/>
            </a:endParaRPr>
          </a:p>
        </p:txBody>
      </p:sp>
    </p:spTree>
    <p:custDataLst>
      <p:tags r:id="rId1"/>
    </p:custDataLst>
    <p:extLst>
      <p:ext uri="{BB962C8B-B14F-4D97-AF65-F5344CB8AC3E}">
        <p14:creationId xmlns:p14="http://schemas.microsoft.com/office/powerpoint/2010/main" val="315991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952840" y="2165648"/>
            <a:ext cx="7261924" cy="400110"/>
          </a:xfrm>
          <a:prstGeom prst="rect">
            <a:avLst/>
          </a:prstGeom>
          <a:noFill/>
        </p:spPr>
        <p:txBody>
          <a:bodyPr wrap="none" rtlCol="0">
            <a:spAutoFit/>
          </a:bodyPr>
          <a:lstStyle/>
          <a:p>
            <a:pPr marL="0" lvl="2"/>
            <a:r>
              <a:rPr lang="en-US" sz="2000" dirty="0">
                <a:latin typeface="Amazon Ember Light" charset="0"/>
                <a:ea typeface="Amazon Ember Light" charset="0"/>
                <a:cs typeface="Amazon Ember Light" charset="0"/>
                <a:hlinkClick r:id="rId4"/>
              </a:rPr>
              <a:t>http://sqs.us-east-1.amazonaws.com/123456789012/Queue1</a:t>
            </a:r>
            <a:endParaRPr lang="en-US" sz="2000" dirty="0">
              <a:latin typeface="Amazon Ember Light" charset="0"/>
              <a:ea typeface="Amazon Ember Light" charset="0"/>
              <a:cs typeface="Amazon Ember Light" charset="0"/>
            </a:endParaRPr>
          </a:p>
        </p:txBody>
      </p:sp>
      <p:sp>
        <p:nvSpPr>
          <p:cNvPr id="8" name="Rounded Rectangle 7"/>
          <p:cNvSpPr/>
          <p:nvPr/>
        </p:nvSpPr>
        <p:spPr>
          <a:xfrm>
            <a:off x="558355" y="1698280"/>
            <a:ext cx="7900607" cy="3662390"/>
          </a:xfrm>
          <a:prstGeom prst="roundRect">
            <a:avLst>
              <a:gd name="adj" fmla="val 0"/>
            </a:avLst>
          </a:prstGeom>
          <a:noFill/>
          <a:ln>
            <a:prstDash val="dash"/>
          </a:ln>
        </p:spPr>
        <p:style>
          <a:lnRef idx="2">
            <a:schemeClr val="dk1"/>
          </a:lnRef>
          <a:fillRef idx="1">
            <a:schemeClr val="lt1"/>
          </a:fillRef>
          <a:effectRef idx="0">
            <a:schemeClr val="dk1"/>
          </a:effectRef>
          <a:fontRef idx="minor">
            <a:schemeClr val="dk1"/>
          </a:fontRef>
        </p:style>
        <p:txBody>
          <a:bodyPr rtlCol="0" anchor="ctr"/>
          <a:lstStyle/>
          <a:p>
            <a:pPr marL="1142971" lvl="2"/>
            <a:endParaRPr lang="en-US" sz="1600" dirty="0">
              <a:latin typeface="Amazon Ember Light" charset="0"/>
              <a:ea typeface="Amazon Ember Light" charset="0"/>
              <a:cs typeface="Amazon Ember Light" charset="0"/>
            </a:endParaRPr>
          </a:p>
        </p:txBody>
      </p:sp>
      <p:sp>
        <p:nvSpPr>
          <p:cNvPr id="9" name="TextBox 8"/>
          <p:cNvSpPr txBox="1"/>
          <p:nvPr/>
        </p:nvSpPr>
        <p:spPr>
          <a:xfrm flipH="1">
            <a:off x="954197" y="3275882"/>
            <a:ext cx="3071948" cy="1015663"/>
          </a:xfrm>
          <a:prstGeom prst="rect">
            <a:avLst/>
          </a:prstGeom>
          <a:noFill/>
          <a:ln>
            <a:noFill/>
          </a:ln>
        </p:spPr>
        <p:txBody>
          <a:bodyPr wrap="square" rtlCol="0">
            <a:spAutoFit/>
          </a:bodyPr>
          <a:lstStyle/>
          <a:p>
            <a:r>
              <a:rPr lang="en-US" sz="2000" dirty="0">
                <a:latin typeface="Amazon Ember Light" charset="0"/>
                <a:ea typeface="Amazon Ember Light" charset="0"/>
                <a:cs typeface="Amazon Ember Light" charset="0"/>
              </a:rPr>
              <a:t>Name: TimestampSent</a:t>
            </a:r>
          </a:p>
          <a:p>
            <a:r>
              <a:rPr lang="en-US" sz="2000" dirty="0">
                <a:solidFill>
                  <a:srgbClr val="000000"/>
                </a:solidFill>
                <a:latin typeface="Amazon Ember Light" charset="0"/>
                <a:ea typeface="Amazon Ember Light" charset="0"/>
                <a:cs typeface="Amazon Ember Light" charset="0"/>
              </a:rPr>
              <a:t>Type</a:t>
            </a:r>
            <a:r>
              <a:rPr lang="en-US" sz="2000" dirty="0">
                <a:latin typeface="Amazon Ember Light" charset="0"/>
                <a:ea typeface="Amazon Ember Light" charset="0"/>
                <a:cs typeface="Amazon Ember Light" charset="0"/>
              </a:rPr>
              <a:t>: Number.PacificTime</a:t>
            </a:r>
          </a:p>
          <a:p>
            <a:r>
              <a:rPr lang="en-US" sz="2000" dirty="0">
                <a:latin typeface="Amazon Ember Light" charset="0"/>
                <a:ea typeface="Amazon Ember Light" charset="0"/>
                <a:cs typeface="Amazon Ember Light" charset="0"/>
              </a:rPr>
              <a:t>Value: 1447438090850</a:t>
            </a:r>
          </a:p>
        </p:txBody>
      </p:sp>
      <p:sp>
        <p:nvSpPr>
          <p:cNvPr id="14" name="TextBox 13"/>
          <p:cNvSpPr txBox="1"/>
          <p:nvPr/>
        </p:nvSpPr>
        <p:spPr>
          <a:xfrm flipH="1">
            <a:off x="969509" y="4562576"/>
            <a:ext cx="3041323" cy="400110"/>
          </a:xfrm>
          <a:prstGeom prst="rect">
            <a:avLst/>
          </a:prstGeom>
          <a:noFill/>
          <a:ln>
            <a:noFill/>
          </a:ln>
        </p:spPr>
        <p:txBody>
          <a:bodyPr wrap="square" rtlCol="0">
            <a:spAutoFit/>
          </a:bodyPr>
          <a:lstStyle/>
          <a:p>
            <a:r>
              <a:rPr lang="en-US" sz="2000" dirty="0">
                <a:latin typeface="Amazon Ember Light" charset="0"/>
                <a:ea typeface="Amazon Ember Light" charset="0"/>
                <a:cs typeface="Amazon Ember Light" charset="0"/>
              </a:rPr>
              <a:t>DelaySeconds: 2</a:t>
            </a:r>
          </a:p>
        </p:txBody>
      </p:sp>
      <p:sp>
        <p:nvSpPr>
          <p:cNvPr id="26" name="Title 1"/>
          <p:cNvSpPr>
            <a:spLocks noGrp="1"/>
          </p:cNvSpPr>
          <p:nvPr>
            <p:ph type="title"/>
          </p:nvPr>
        </p:nvSpPr>
        <p:spPr/>
        <p:txBody>
          <a:bodyPr/>
          <a:lstStyle/>
          <a:p>
            <a:r>
              <a:rPr lang="en-US" dirty="0"/>
              <a:t>Message lifecycle: Send message</a:t>
            </a:r>
          </a:p>
        </p:txBody>
      </p:sp>
      <p:sp>
        <p:nvSpPr>
          <p:cNvPr id="2" name="Slide Number Placeholder 1"/>
          <p:cNvSpPr>
            <a:spLocks noGrp="1"/>
          </p:cNvSpPr>
          <p:nvPr>
            <p:ph type="sldNum" sz="quarter" idx="12"/>
          </p:nvPr>
        </p:nvSpPr>
        <p:spPr/>
        <p:txBody>
          <a:bodyPr/>
          <a:lstStyle/>
          <a:p>
            <a:fld id="{9FC43BFD-8FF7-A343-A8A6-E2338FCE8046}" type="slidenum">
              <a:rPr lang="en-US" smtClean="0"/>
              <a:pPr/>
              <a:t>13</a:t>
            </a:fld>
            <a:endParaRPr lang="en-US" dirty="0"/>
          </a:p>
        </p:txBody>
      </p:sp>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pic>
        <p:nvPicPr>
          <p:cNvPr id="18" name="Graphic 37">
            <a:extLst>
              <a:ext uri="{FF2B5EF4-FFF2-40B4-BE49-F238E27FC236}">
                <a16:creationId xmlns:a16="http://schemas.microsoft.com/office/drawing/2014/main" id="{8CB142E1-5B51-1E4C-AFA8-54BFF6177BAB}"/>
              </a:ext>
            </a:extLst>
          </p:cNvPr>
          <p:cNvPicPr>
            <a:picLocks noChangeAspect="1"/>
          </p:cNvPicPr>
          <p:nvPr/>
        </p:nvPicPr>
        <p:blipFill>
          <a:blip r:embed="rId5"/>
          <a:stretch>
            <a:fillRect/>
          </a:stretch>
        </p:blipFill>
        <p:spPr>
          <a:xfrm>
            <a:off x="633476" y="1760287"/>
            <a:ext cx="469900" cy="469900"/>
          </a:xfrm>
          <a:prstGeom prst="rect">
            <a:avLst/>
          </a:prstGeom>
        </p:spPr>
      </p:pic>
      <p:sp>
        <p:nvSpPr>
          <p:cNvPr id="7" name="TextBox 6"/>
          <p:cNvSpPr txBox="1"/>
          <p:nvPr/>
        </p:nvSpPr>
        <p:spPr>
          <a:xfrm>
            <a:off x="952840" y="2724623"/>
            <a:ext cx="7404591" cy="400110"/>
          </a:xfrm>
          <a:prstGeom prst="rect">
            <a:avLst/>
          </a:prstGeom>
          <a:noFill/>
        </p:spPr>
        <p:txBody>
          <a:bodyPr wrap="none" rtlCol="0">
            <a:spAutoFit/>
          </a:bodyPr>
          <a:lstStyle/>
          <a:p>
            <a:r>
              <a:rPr lang="en-US" sz="2000" dirty="0" err="1">
                <a:latin typeface="Amazon Ember Light" charset="0"/>
                <a:ea typeface="Amazon Ember Light" charset="0"/>
                <a:cs typeface="Amazon Ember Light" charset="0"/>
              </a:rPr>
              <a:t>GoGreen</a:t>
            </a:r>
            <a:r>
              <a:rPr lang="en-US" sz="2000" dirty="0">
                <a:latin typeface="Amazon Ember Light" charset="0"/>
                <a:ea typeface="Amazon Ember Light" charset="0"/>
                <a:cs typeface="Amazon Ember Light" charset="0"/>
              </a:rPr>
              <a:t> Healthcare confirms your order for </a:t>
            </a:r>
            <a:r>
              <a:rPr lang="en-US" sz="2000" dirty="0">
                <a:solidFill>
                  <a:srgbClr val="000000"/>
                </a:solidFill>
                <a:latin typeface="Amazon Ember Light" charset="0"/>
                <a:ea typeface="Amazon Ember Light" charset="0"/>
                <a:cs typeface="Amazon Ember Light" charset="0"/>
              </a:rPr>
              <a:t>medical equipment</a:t>
            </a:r>
            <a:r>
              <a:rPr lang="en-US" sz="2000" dirty="0">
                <a:latin typeface="Amazon Ember Light" charset="0"/>
                <a:ea typeface="Amazon Ember Light" charset="0"/>
                <a:cs typeface="Amazon Ember Light" charset="0"/>
              </a:rPr>
              <a:t>.</a:t>
            </a:r>
          </a:p>
        </p:txBody>
      </p:sp>
      <p:sp>
        <p:nvSpPr>
          <p:cNvPr id="10" name="Rectangle 9"/>
          <p:cNvSpPr/>
          <p:nvPr/>
        </p:nvSpPr>
        <p:spPr>
          <a:xfrm>
            <a:off x="1967215" y="5489178"/>
            <a:ext cx="5354350" cy="369332"/>
          </a:xfrm>
          <a:prstGeom prst="rect">
            <a:avLst/>
          </a:prstGeom>
        </p:spPr>
        <p:txBody>
          <a:bodyPr wrap="none">
            <a:spAutoFit/>
          </a:bodyPr>
          <a:lstStyle/>
          <a:p>
            <a:pPr algn="ctr"/>
            <a:r>
              <a:rPr lang="en-US" dirty="0">
                <a:latin typeface="Amazon Ember Light" charset="0"/>
                <a:ea typeface="Amazon Ember Light" charset="0"/>
                <a:cs typeface="Amazon Ember Light" charset="0"/>
              </a:rPr>
              <a:t>Message </a:t>
            </a:r>
            <a:r>
              <a:rPr lang="en-US" dirty="0">
                <a:solidFill>
                  <a:srgbClr val="000000"/>
                </a:solidFill>
                <a:latin typeface="Amazon Ember Light" charset="0"/>
                <a:ea typeface="Amazon Ember Light" charset="0"/>
                <a:cs typeface="Amazon Ember Light" charset="0"/>
              </a:rPr>
              <a:t>Attributes</a:t>
            </a:r>
            <a:r>
              <a:rPr lang="en-US" dirty="0">
                <a:latin typeface="Amazon Ember Light" charset="0"/>
                <a:ea typeface="Amazon Ember Light" charset="0"/>
                <a:cs typeface="Amazon Ember Light" charset="0"/>
              </a:rPr>
              <a:t> + Message Body = 256 KB max.</a:t>
            </a:r>
            <a:endParaRPr lang="en-US" sz="1200" dirty="0">
              <a:latin typeface="Amazon Ember Light" charset="0"/>
              <a:ea typeface="Amazon Ember Light" charset="0"/>
              <a:cs typeface="Amazon Ember Light" charset="0"/>
            </a:endParaRPr>
          </a:p>
        </p:txBody>
      </p:sp>
      <p:sp>
        <p:nvSpPr>
          <p:cNvPr id="11" name="Rectangle 10"/>
          <p:cNvSpPr/>
          <p:nvPr/>
        </p:nvSpPr>
        <p:spPr>
          <a:xfrm>
            <a:off x="9669904" y="2178944"/>
            <a:ext cx="1156086" cy="369332"/>
          </a:xfrm>
          <a:prstGeom prst="rect">
            <a:avLst/>
          </a:prstGeom>
        </p:spPr>
        <p:txBody>
          <a:bodyPr wrap="none">
            <a:spAutoFit/>
          </a:bodyPr>
          <a:lstStyle/>
          <a:p>
            <a:r>
              <a:rPr lang="en-US" dirty="0" err="1">
                <a:solidFill>
                  <a:srgbClr val="000000"/>
                </a:solidFill>
                <a:cs typeface="Courier New" panose="02070309020205020404" pitchFamily="49" charset="0"/>
              </a:rPr>
              <a:t>QueueUrl</a:t>
            </a:r>
            <a:endParaRPr lang="en-US" dirty="0"/>
          </a:p>
        </p:txBody>
      </p:sp>
      <p:sp>
        <p:nvSpPr>
          <p:cNvPr id="23" name="Rectangle 22"/>
          <p:cNvSpPr/>
          <p:nvPr/>
        </p:nvSpPr>
        <p:spPr>
          <a:xfrm>
            <a:off x="9615668" y="2739318"/>
            <a:ext cx="1571264" cy="369332"/>
          </a:xfrm>
          <a:prstGeom prst="rect">
            <a:avLst/>
          </a:prstGeom>
        </p:spPr>
        <p:txBody>
          <a:bodyPr wrap="none">
            <a:spAutoFit/>
          </a:bodyPr>
          <a:lstStyle/>
          <a:p>
            <a:r>
              <a:rPr lang="en-US" dirty="0" err="1">
                <a:solidFill>
                  <a:srgbClr val="000000"/>
                </a:solidFill>
                <a:cs typeface="Courier New" panose="02070309020205020404" pitchFamily="49" charset="0"/>
              </a:rPr>
              <a:t>MessageBody</a:t>
            </a:r>
            <a:endParaRPr lang="en-US" dirty="0"/>
          </a:p>
        </p:txBody>
      </p:sp>
      <p:sp>
        <p:nvSpPr>
          <p:cNvPr id="27" name="Rectangle 26"/>
          <p:cNvSpPr/>
          <p:nvPr/>
        </p:nvSpPr>
        <p:spPr>
          <a:xfrm>
            <a:off x="9669904" y="3599047"/>
            <a:ext cx="1189749" cy="369332"/>
          </a:xfrm>
          <a:prstGeom prst="rect">
            <a:avLst/>
          </a:prstGeom>
        </p:spPr>
        <p:txBody>
          <a:bodyPr wrap="none">
            <a:spAutoFit/>
          </a:bodyPr>
          <a:lstStyle/>
          <a:p>
            <a:r>
              <a:rPr lang="en-US" dirty="0">
                <a:solidFill>
                  <a:srgbClr val="000000"/>
                </a:solidFill>
                <a:cs typeface="Courier New" panose="02070309020205020404" pitchFamily="49" charset="0"/>
              </a:rPr>
              <a:t>Attributes</a:t>
            </a:r>
            <a:endParaRPr lang="en-US" dirty="0"/>
          </a:p>
        </p:txBody>
      </p:sp>
      <p:cxnSp>
        <p:nvCxnSpPr>
          <p:cNvPr id="28" name="Straight Arrow Connector 27"/>
          <p:cNvCxnSpPr>
            <a:stCxn id="16" idx="3"/>
          </p:cNvCxnSpPr>
          <p:nvPr/>
        </p:nvCxnSpPr>
        <p:spPr>
          <a:xfrm flipV="1">
            <a:off x="8214764" y="2363610"/>
            <a:ext cx="1397990" cy="2093"/>
          </a:xfrm>
          <a:prstGeom prst="straightConnector1">
            <a:avLst/>
          </a:prstGeom>
          <a:ln w="12700">
            <a:solidFill>
              <a:schemeClr val="tx1"/>
            </a:solidFill>
            <a:headEnd type="arrow"/>
            <a:tailEnd type="none" w="med" len="sm"/>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endCxn id="23" idx="1"/>
          </p:cNvCxnSpPr>
          <p:nvPr/>
        </p:nvCxnSpPr>
        <p:spPr>
          <a:xfrm flipV="1">
            <a:off x="8254561" y="2923984"/>
            <a:ext cx="1361107" cy="694"/>
          </a:xfrm>
          <a:prstGeom prst="straightConnector1">
            <a:avLst/>
          </a:prstGeom>
          <a:ln w="12700">
            <a:solidFill>
              <a:schemeClr val="tx1"/>
            </a:solidFill>
            <a:headEnd type="arrow"/>
            <a:tailEnd type="none" w="med" len="sm"/>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9" idx="1"/>
            <a:endCxn id="27" idx="1"/>
          </p:cNvCxnSpPr>
          <p:nvPr/>
        </p:nvCxnSpPr>
        <p:spPr>
          <a:xfrm flipV="1">
            <a:off x="4026145" y="3783713"/>
            <a:ext cx="5643759" cy="1"/>
          </a:xfrm>
          <a:prstGeom prst="straightConnector1">
            <a:avLst/>
          </a:prstGeom>
          <a:ln w="12700">
            <a:solidFill>
              <a:schemeClr val="tx1"/>
            </a:solidFill>
            <a:headEnd type="arrow"/>
            <a:tailEnd type="none" w="med" len="sm"/>
          </a:ln>
        </p:spPr>
        <p:style>
          <a:lnRef idx="2">
            <a:schemeClr val="accent1"/>
          </a:lnRef>
          <a:fillRef idx="0">
            <a:schemeClr val="accent1"/>
          </a:fillRef>
          <a:effectRef idx="1">
            <a:schemeClr val="accent1"/>
          </a:effectRef>
          <a:fontRef idx="minor">
            <a:schemeClr val="tx1"/>
          </a:fontRef>
        </p:style>
      </p:cxnSp>
      <p:cxnSp>
        <p:nvCxnSpPr>
          <p:cNvPr id="42" name="Elbow Connector 41"/>
          <p:cNvCxnSpPr>
            <a:stCxn id="27" idx="1"/>
            <a:endCxn id="14" idx="1"/>
          </p:cNvCxnSpPr>
          <p:nvPr/>
        </p:nvCxnSpPr>
        <p:spPr>
          <a:xfrm rot="10800000" flipV="1">
            <a:off x="4010832" y="3783713"/>
            <a:ext cx="5659072" cy="978918"/>
          </a:xfrm>
          <a:prstGeom prst="bentConnector3">
            <a:avLst>
              <a:gd name="adj1" fmla="val 88981"/>
            </a:avLst>
          </a:prstGeom>
          <a:ln>
            <a:tailEnd type="arrow" w="med" len="sm"/>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3789238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a:t>
            </a:r>
            <a:r>
              <a:rPr lang="en-US" dirty="0" smtClean="0"/>
              <a:t>SQS: </a:t>
            </a:r>
            <a:r>
              <a:rPr lang="en-US" dirty="0"/>
              <a:t>M</a:t>
            </a:r>
            <a:r>
              <a:rPr lang="en-US" dirty="0" smtClean="0"/>
              <a:t>essage </a:t>
            </a:r>
            <a:r>
              <a:rPr lang="en-US" dirty="0">
                <a:solidFill>
                  <a:srgbClr val="FFFFFF"/>
                </a:solidFill>
              </a:rPr>
              <a:t>lifecycle</a:t>
            </a:r>
            <a:endParaRPr lang="en-US" dirty="0">
              <a:solidFill>
                <a:srgbClr val="FFFFFF"/>
              </a:solidFill>
              <a:latin typeface="Amazon Ember Light" panose="020B0403020204020204"/>
            </a:endParaRPr>
          </a:p>
        </p:txBody>
      </p:sp>
      <p:sp>
        <p:nvSpPr>
          <p:cNvPr id="3" name="Slide Number Placeholder 2"/>
          <p:cNvSpPr>
            <a:spLocks noGrp="1"/>
          </p:cNvSpPr>
          <p:nvPr>
            <p:ph type="sldNum" sz="quarter" idx="12"/>
          </p:nvPr>
        </p:nvSpPr>
        <p:spPr/>
        <p:txBody>
          <a:bodyPr/>
          <a:lstStyle/>
          <a:p>
            <a:fld id="{9FC43BFD-8FF7-A343-A8A6-E2338FCE8046}" type="slidenum">
              <a:rPr lang="en-US" smtClean="0"/>
              <a:pPr/>
              <a:t>14</a:t>
            </a:fld>
            <a:endParaRPr lang="en-US" dirty="0"/>
          </a:p>
        </p:txBody>
      </p:sp>
      <p:sp>
        <p:nvSpPr>
          <p:cNvPr id="149" name="TextBox 148"/>
          <p:cNvSpPr txBox="1"/>
          <p:nvPr/>
        </p:nvSpPr>
        <p:spPr>
          <a:xfrm>
            <a:off x="4502676" y="3247939"/>
            <a:ext cx="1635384" cy="338554"/>
          </a:xfrm>
          <a:prstGeom prst="rect">
            <a:avLst/>
          </a:prstGeom>
          <a:noFill/>
        </p:spPr>
        <p:txBody>
          <a:bodyPr wrap="none" rtlCol="0">
            <a:spAutoFit/>
          </a:bodyPr>
          <a:lstStyle/>
          <a:p>
            <a:pPr algn="ctr"/>
            <a:r>
              <a:rPr lang="en-US" sz="1600" dirty="0">
                <a:latin typeface="Amazon Ember Light" charset="0"/>
                <a:ea typeface="Amazon Ember Light" charset="0"/>
                <a:cs typeface="Amazon Ember Light" charset="0"/>
              </a:rPr>
              <a:t>ReceiveMessage</a:t>
            </a:r>
          </a:p>
        </p:txBody>
      </p:sp>
      <p:sp>
        <p:nvSpPr>
          <p:cNvPr id="150" name="TextBox 149"/>
          <p:cNvSpPr txBox="1"/>
          <p:nvPr/>
        </p:nvSpPr>
        <p:spPr>
          <a:xfrm>
            <a:off x="1402716" y="1854546"/>
            <a:ext cx="3443249" cy="1015663"/>
          </a:xfrm>
          <a:prstGeom prst="rect">
            <a:avLst/>
          </a:prstGeom>
          <a:noFill/>
        </p:spPr>
        <p:txBody>
          <a:bodyPr wrap="square" rtlCol="0">
            <a:spAutoFit/>
          </a:bodyPr>
          <a:lstStyle/>
          <a:p>
            <a:pPr algn="ctr"/>
            <a:r>
              <a:rPr lang="en-US" sz="2000" dirty="0">
                <a:latin typeface="Amazon Ember Light" charset="0"/>
                <a:ea typeface="Amazon Ember Light" charset="0"/>
                <a:cs typeface="Amazon Ember Light" charset="0"/>
              </a:rPr>
              <a:t>Consumer reads </a:t>
            </a:r>
            <a:r>
              <a:rPr lang="en-US" sz="2000" dirty="0">
                <a:solidFill>
                  <a:schemeClr val="accent6"/>
                </a:solidFill>
                <a:latin typeface="Amazon Ember Light" charset="0"/>
                <a:ea typeface="Amazon Ember Light" charset="0"/>
                <a:cs typeface="Amazon Ember Light" charset="0"/>
              </a:rPr>
              <a:t>message A </a:t>
            </a:r>
            <a:r>
              <a:rPr lang="en-US" sz="2000" dirty="0">
                <a:latin typeface="Amazon Ember Light" charset="0"/>
                <a:ea typeface="Amazon Ember Light" charset="0"/>
                <a:cs typeface="Amazon Ember Light" charset="0"/>
              </a:rPr>
              <a:t>from the queue and the visibility timeout </a:t>
            </a:r>
            <a:r>
              <a:rPr lang="en-US" sz="2000" dirty="0">
                <a:solidFill>
                  <a:srgbClr val="000000"/>
                </a:solidFill>
                <a:latin typeface="Amazon Ember Light" charset="0"/>
                <a:ea typeface="Amazon Ember Light" charset="0"/>
                <a:cs typeface="Amazon Ember Light" charset="0"/>
              </a:rPr>
              <a:t>starts</a:t>
            </a:r>
            <a:endParaRPr lang="en-US" sz="2000" dirty="0">
              <a:solidFill>
                <a:srgbClr val="000000"/>
              </a:solidFill>
              <a:latin typeface="Amazon Ember Light" panose="020B0403020204020204"/>
              <a:ea typeface="Amazon Ember Light" charset="0"/>
              <a:cs typeface="Amazon Ember Light" charset="0"/>
            </a:endParaRPr>
          </a:p>
        </p:txBody>
      </p:sp>
      <p:sp>
        <p:nvSpPr>
          <p:cNvPr id="174" name="Rectangle 173"/>
          <p:cNvSpPr/>
          <p:nvPr/>
        </p:nvSpPr>
        <p:spPr>
          <a:xfrm>
            <a:off x="749237" y="3323853"/>
            <a:ext cx="1626672" cy="830997"/>
          </a:xfrm>
          <a:prstGeom prst="rect">
            <a:avLst/>
          </a:prstGeom>
        </p:spPr>
        <p:txBody>
          <a:bodyPr wrap="square">
            <a:spAutoFit/>
          </a:bodyPr>
          <a:lstStyle/>
          <a:p>
            <a:r>
              <a:rPr lang="en-US" sz="2400" dirty="0">
                <a:latin typeface="Amazon Ember" panose="02000000000000000000" pitchFamily="2" charset="0"/>
                <a:ea typeface="Amazon Ember" panose="02000000000000000000" pitchFamily="2" charset="0"/>
              </a:rPr>
              <a:t>Receive</a:t>
            </a:r>
          </a:p>
          <a:p>
            <a:r>
              <a:rPr lang="en-US" sz="2400" dirty="0">
                <a:latin typeface="Amazon Ember" panose="02000000000000000000" pitchFamily="2" charset="0"/>
                <a:ea typeface="Amazon Ember" panose="02000000000000000000" pitchFamily="2" charset="0"/>
                <a:sym typeface="Wingdings" panose="05000000000000000000" pitchFamily="2" charset="2"/>
              </a:rPr>
              <a:t>Message</a:t>
            </a:r>
          </a:p>
        </p:txBody>
      </p:sp>
      <p:sp>
        <p:nvSpPr>
          <p:cNvPr id="36" name="TextBox 35"/>
          <p:cNvSpPr txBox="1"/>
          <p:nvPr/>
        </p:nvSpPr>
        <p:spPr>
          <a:xfrm>
            <a:off x="2380812" y="3508520"/>
            <a:ext cx="1719134" cy="461665"/>
          </a:xfrm>
          <a:prstGeom prst="rect">
            <a:avLst/>
          </a:prstGeom>
          <a:solidFill>
            <a:schemeClr val="accent3"/>
          </a:solidFill>
          <a:effectLst/>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n-US" sz="2400" dirty="0">
                <a:solidFill>
                  <a:schemeClr val="accent1"/>
                </a:solidFill>
                <a:latin typeface="Amazon Ember Light" charset="0"/>
                <a:ea typeface="Amazon Ember Light" charset="0"/>
                <a:cs typeface="Amazon Ember Light" charset="0"/>
              </a:rPr>
              <a:t>Consumer</a:t>
            </a:r>
          </a:p>
        </p:txBody>
      </p:sp>
      <p:pic>
        <p:nvPicPr>
          <p:cNvPr id="35" name="Picture 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82055" y="1907209"/>
            <a:ext cx="791141" cy="852554"/>
          </a:xfrm>
          <a:prstGeom prst="rect">
            <a:avLst/>
          </a:prstGeom>
        </p:spPr>
      </p:pic>
      <p:cxnSp>
        <p:nvCxnSpPr>
          <p:cNvPr id="37" name="Straight Arrow Connector 36"/>
          <p:cNvCxnSpPr>
            <a:stCxn id="36" idx="3"/>
            <a:endCxn id="38" idx="1"/>
          </p:cNvCxnSpPr>
          <p:nvPr/>
        </p:nvCxnSpPr>
        <p:spPr>
          <a:xfrm flipV="1">
            <a:off x="4099946" y="3732717"/>
            <a:ext cx="2714493" cy="6636"/>
          </a:xfrm>
          <a:prstGeom prst="straightConnector1">
            <a:avLst/>
          </a:prstGeom>
          <a:ln w="12700">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4" name="Footer Placeholder 3"/>
          <p:cNvSpPr>
            <a:spLocks noGrp="1"/>
          </p:cNvSpPr>
          <p:nvPr>
            <p:ph type="ftr" sz="quarter" idx="3"/>
          </p:nvPr>
        </p:nvSpPr>
        <p:spPr/>
        <p:txBody>
          <a:bodyPr/>
          <a:lstStyle/>
          <a:p>
            <a:r>
              <a:rPr lang="en-US"/>
              <a:t>© 2020 Amazon Web Services, Inc. or its Affiliates. All rights reserved.</a:t>
            </a:r>
            <a:endParaRPr lang="en-US" dirty="0"/>
          </a:p>
        </p:txBody>
      </p:sp>
      <p:sp>
        <p:nvSpPr>
          <p:cNvPr id="38" name="Rounded Rectangle 37"/>
          <p:cNvSpPr/>
          <p:nvPr/>
        </p:nvSpPr>
        <p:spPr>
          <a:xfrm>
            <a:off x="6814439" y="2536058"/>
            <a:ext cx="4878451" cy="2393317"/>
          </a:xfrm>
          <a:prstGeom prst="roundRect">
            <a:avLst>
              <a:gd name="adj" fmla="val 0"/>
            </a:avLst>
          </a:prstGeom>
          <a:noFill/>
          <a:ln>
            <a:solidFill>
              <a:schemeClr val="accent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39" name="Can 38"/>
          <p:cNvSpPr/>
          <p:nvPr/>
        </p:nvSpPr>
        <p:spPr>
          <a:xfrm>
            <a:off x="7444719" y="2908373"/>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40" name="Can 39"/>
          <p:cNvSpPr/>
          <p:nvPr/>
        </p:nvSpPr>
        <p:spPr>
          <a:xfrm>
            <a:off x="8395692" y="2908373"/>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41" name="Can 40"/>
          <p:cNvSpPr/>
          <p:nvPr/>
        </p:nvSpPr>
        <p:spPr>
          <a:xfrm>
            <a:off x="9346665" y="2908373"/>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42" name="TextBox 41"/>
          <p:cNvSpPr txBox="1"/>
          <p:nvPr/>
        </p:nvSpPr>
        <p:spPr>
          <a:xfrm>
            <a:off x="6904972" y="4586416"/>
            <a:ext cx="4623544" cy="400110"/>
          </a:xfrm>
          <a:prstGeom prst="rect">
            <a:avLst/>
          </a:prstGeom>
          <a:noFill/>
        </p:spPr>
        <p:txBody>
          <a:bodyPr wrap="square" rtlCol="0">
            <a:spAutoFit/>
          </a:bodyPr>
          <a:lstStyle/>
          <a:p>
            <a:pPr algn="ctr"/>
            <a:r>
              <a:rPr lang="en-US" sz="2000" dirty="0">
                <a:latin typeface="Amazon Ember Light" charset="0"/>
                <a:ea typeface="Amazon Ember Light" charset="0"/>
                <a:cs typeface="Amazon Ember Light" charset="0"/>
              </a:rPr>
              <a:t>Your </a:t>
            </a:r>
            <a:r>
              <a:rPr lang="en-US" sz="2000" dirty="0">
                <a:solidFill>
                  <a:srgbClr val="000000"/>
                </a:solidFill>
                <a:latin typeface="Amazon Ember Light" charset="0"/>
                <a:ea typeface="Amazon Ember Light" charset="0"/>
                <a:cs typeface="Amazon Ember Light" charset="0"/>
              </a:rPr>
              <a:t>queue</a:t>
            </a:r>
            <a:r>
              <a:rPr lang="en-US" sz="2000" dirty="0">
                <a:latin typeface="Amazon Ember Light" charset="0"/>
                <a:ea typeface="Amazon Ember Light" charset="0"/>
                <a:cs typeface="Amazon Ember Light" charset="0"/>
              </a:rPr>
              <a:t> (distributed on </a:t>
            </a:r>
            <a:r>
              <a:rPr lang="en-US" sz="2000" dirty="0">
                <a:solidFill>
                  <a:srgbClr val="000000"/>
                </a:solidFill>
                <a:latin typeface="Amazon Ember Light" charset="0"/>
                <a:ea typeface="Amazon Ember Light" charset="0"/>
                <a:cs typeface="Amazon Ember Light" charset="0"/>
              </a:rPr>
              <a:t>SQS</a:t>
            </a:r>
            <a:r>
              <a:rPr lang="en-US" sz="2000" dirty="0">
                <a:latin typeface="Amazon Ember Light" charset="0"/>
                <a:ea typeface="Amazon Ember Light" charset="0"/>
                <a:cs typeface="Amazon Ember Light" charset="0"/>
              </a:rPr>
              <a:t>
              </a:t>
            </a:r>
            <a:r>
              <a:rPr lang="en-US" sz="2000" dirty="0">
                <a:solidFill>
                  <a:srgbClr val="000000"/>
                </a:solidFill>
                <a:latin typeface="Amazon Ember Light" charset="0"/>
                <a:ea typeface="Amazon Ember Light" charset="0"/>
                <a:cs typeface="Amazon Ember Light" charset="0"/>
              </a:rPr>
              <a:t>servers</a:t>
            </a:r>
            <a:r>
              <a:rPr lang="en-US" sz="2000" dirty="0">
                <a:latin typeface="Amazon Ember Light" charset="0"/>
                <a:ea typeface="Amazon Ember Light" charset="0"/>
                <a:cs typeface="Amazon Ember Light" charset="0"/>
              </a:rPr>
              <a:t>)</a:t>
            </a:r>
          </a:p>
        </p:txBody>
      </p:sp>
      <p:pic>
        <p:nvPicPr>
          <p:cNvPr id="43" name="Graphic 39">
            <a:extLst>
              <a:ext uri="{FF2B5EF4-FFF2-40B4-BE49-F238E27FC236}">
                <a16:creationId xmlns:a16="http://schemas.microsoft.com/office/drawing/2014/main" id="{2ACAD885-5F52-504F-842D-3D87E199BD5D}"/>
              </a:ext>
            </a:extLst>
          </p:cNvPr>
          <p:cNvPicPr>
            <a:picLocks noChangeAspect="1"/>
          </p:cNvPicPr>
          <p:nvPr/>
        </p:nvPicPr>
        <p:blipFill>
          <a:blip r:embed="rId5"/>
          <a:stretch>
            <a:fillRect/>
          </a:stretch>
        </p:blipFill>
        <p:spPr>
          <a:xfrm>
            <a:off x="6830519" y="2452370"/>
            <a:ext cx="469900" cy="469900"/>
          </a:xfrm>
          <a:prstGeom prst="rect">
            <a:avLst/>
          </a:prstGeom>
        </p:spPr>
      </p:pic>
      <p:sp>
        <p:nvSpPr>
          <p:cNvPr id="44" name="Can 43"/>
          <p:cNvSpPr/>
          <p:nvPr/>
        </p:nvSpPr>
        <p:spPr>
          <a:xfrm>
            <a:off x="10297639" y="2924689"/>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45" name="Can 44"/>
          <p:cNvSpPr/>
          <p:nvPr/>
        </p:nvSpPr>
        <p:spPr>
          <a:xfrm>
            <a:off x="7459065" y="3841017"/>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46" name="Can 45"/>
          <p:cNvSpPr/>
          <p:nvPr/>
        </p:nvSpPr>
        <p:spPr>
          <a:xfrm>
            <a:off x="8410038" y="3841017"/>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47" name="Can 46"/>
          <p:cNvSpPr/>
          <p:nvPr/>
        </p:nvSpPr>
        <p:spPr>
          <a:xfrm>
            <a:off x="9361011" y="3841017"/>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48" name="Can 47"/>
          <p:cNvSpPr/>
          <p:nvPr/>
        </p:nvSpPr>
        <p:spPr>
          <a:xfrm>
            <a:off x="10311985" y="3857333"/>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49" name="Oval 48"/>
          <p:cNvSpPr/>
          <p:nvPr/>
        </p:nvSpPr>
        <p:spPr>
          <a:xfrm>
            <a:off x="7603993" y="3180560"/>
            <a:ext cx="330721" cy="286586"/>
          </a:xfrm>
          <a:prstGeom prst="ellipse">
            <a:avLst/>
          </a:prstGeom>
          <a:solidFill>
            <a:schemeClr val="tx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latin typeface="Amazon Ember Light" charset="0"/>
                <a:ea typeface="Amazon Ember Light" charset="0"/>
                <a:cs typeface="Amazon Ember Light" charset="0"/>
              </a:rPr>
              <a:t>A</a:t>
            </a:r>
          </a:p>
        </p:txBody>
      </p:sp>
      <p:sp>
        <p:nvSpPr>
          <p:cNvPr id="50" name="Oval 49"/>
          <p:cNvSpPr/>
          <p:nvPr/>
        </p:nvSpPr>
        <p:spPr>
          <a:xfrm>
            <a:off x="8556620" y="4116939"/>
            <a:ext cx="330721" cy="286586"/>
          </a:xfrm>
          <a:prstGeom prst="ellipse">
            <a:avLst/>
          </a:prstGeom>
          <a:solidFill>
            <a:schemeClr val="tx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latin typeface="Amazon Ember Light" charset="0"/>
                <a:ea typeface="Amazon Ember Light" charset="0"/>
                <a:cs typeface="Amazon Ember Light" charset="0"/>
              </a:rPr>
              <a:t>A</a:t>
            </a:r>
          </a:p>
        </p:txBody>
      </p:sp>
      <p:sp>
        <p:nvSpPr>
          <p:cNvPr id="51" name="Oval 50"/>
          <p:cNvSpPr/>
          <p:nvPr/>
        </p:nvSpPr>
        <p:spPr>
          <a:xfrm>
            <a:off x="9493248" y="3180560"/>
            <a:ext cx="330721" cy="286586"/>
          </a:xfrm>
          <a:prstGeom prst="ellipse">
            <a:avLst/>
          </a:prstGeom>
          <a:solidFill>
            <a:schemeClr val="tx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latin typeface="Amazon Ember Light" charset="0"/>
                <a:ea typeface="Amazon Ember Light" charset="0"/>
                <a:cs typeface="Amazon Ember Light" charset="0"/>
              </a:rPr>
              <a:t>A</a:t>
            </a:r>
          </a:p>
        </p:txBody>
      </p:sp>
      <p:sp>
        <p:nvSpPr>
          <p:cNvPr id="53" name="Oval 52"/>
          <p:cNvSpPr/>
          <p:nvPr/>
        </p:nvSpPr>
        <p:spPr>
          <a:xfrm>
            <a:off x="5126471" y="3905906"/>
            <a:ext cx="330721" cy="286586"/>
          </a:xfrm>
          <a:prstGeom prst="ellipse">
            <a:avLst/>
          </a:prstGeom>
          <a:solidFill>
            <a:schemeClr val="tx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latin typeface="Amazon Ember Light" charset="0"/>
                <a:ea typeface="Amazon Ember Light" charset="0"/>
                <a:cs typeface="Amazon Ember Light" charset="0"/>
              </a:rPr>
              <a:t>A</a:t>
            </a:r>
          </a:p>
        </p:txBody>
      </p:sp>
    </p:spTree>
    <p:custDataLst>
      <p:tags r:id="rId1"/>
    </p:custDataLst>
    <p:extLst>
      <p:ext uri="{BB962C8B-B14F-4D97-AF65-F5344CB8AC3E}">
        <p14:creationId xmlns:p14="http://schemas.microsoft.com/office/powerpoint/2010/main" val="6616635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 lifecycle: Receive message</a:t>
            </a:r>
          </a:p>
        </p:txBody>
      </p:sp>
      <p:sp>
        <p:nvSpPr>
          <p:cNvPr id="3" name="Content Placeholder 2"/>
          <p:cNvSpPr>
            <a:spLocks noGrp="1"/>
          </p:cNvSpPr>
          <p:nvPr>
            <p:ph idx="1"/>
          </p:nvPr>
        </p:nvSpPr>
        <p:spPr/>
        <p:txBody>
          <a:bodyPr/>
          <a:lstStyle/>
          <a:p>
            <a:pPr marL="0" indent="0">
              <a:buNone/>
            </a:pPr>
            <a:r>
              <a:rPr lang="en-US" dirty="0">
                <a:latin typeface="Lucida Console" panose="020B0609040504020204" pitchFamily="49" charset="0"/>
                <a:cs typeface="Courier New" panose="02070309020205020404" pitchFamily="49" charset="0"/>
              </a:rPr>
              <a:t>ReceiveMessage</a:t>
            </a:r>
          </a:p>
          <a:p>
            <a:pPr lvl="1"/>
            <a:r>
              <a:rPr lang="en-US" dirty="0">
                <a:latin typeface="Amazon Ember" charset="0"/>
                <a:ea typeface="Amazon Ember" charset="0"/>
                <a:cs typeface="Amazon Ember" charset="0"/>
              </a:rPr>
              <a:t>Specify short polling (default) or long </a:t>
            </a:r>
            <a:r>
              <a:rPr lang="en-US" dirty="0">
                <a:solidFill>
                  <a:srgbClr val="000000"/>
                </a:solidFill>
                <a:latin typeface="Amazon Ember" charset="0"/>
                <a:ea typeface="Amazon Ember" charset="0"/>
                <a:cs typeface="Amazon Ember" charset="0"/>
              </a:rPr>
              <a:t>polling</a:t>
            </a:r>
            <a:endParaRPr lang="en-US" dirty="0">
              <a:solidFill>
                <a:srgbClr val="000000"/>
              </a:solidFill>
              <a:latin typeface="Amazon Ember" panose="02000000000000000000"/>
              <a:ea typeface="Amazon Ember" charset="0"/>
              <a:cs typeface="Amazon Ember" charset="0"/>
            </a:endParaRPr>
          </a:p>
          <a:p>
            <a:pPr lvl="1"/>
            <a:r>
              <a:rPr lang="en-US" dirty="0">
                <a:latin typeface="Amazon Ember" charset="0"/>
                <a:ea typeface="Amazon Ember" charset="0"/>
                <a:cs typeface="Amazon Ember" charset="0"/>
              </a:rPr>
              <a:t>Parameters: </a:t>
            </a:r>
            <a:r>
              <a:rPr lang="en-US" dirty="0">
                <a:latin typeface="Lucida Console" panose="020B0609040504020204" pitchFamily="49" charset="0"/>
                <a:cs typeface="Courier New" panose="02070309020205020404" pitchFamily="49" charset="0"/>
              </a:rPr>
              <a:t>WaitTimeSeconds, MaxNumberOfMessages, </a:t>
            </a:r>
            <a:r>
              <a:rPr lang="en-US" dirty="0" err="1">
                <a:solidFill>
                  <a:srgbClr val="000000"/>
                </a:solidFill>
                <a:latin typeface="Lucida Console" panose="020B0609040504020204" pitchFamily="49" charset="0"/>
                <a:cs typeface="Courier New" panose="02070309020205020404" pitchFamily="49" charset="0"/>
              </a:rPr>
              <a:t>VisibilityTimeout</a:t>
            </a:r>
            <a:endParaRPr lang="en-US" dirty="0">
              <a:solidFill>
                <a:srgbClr val="000000"/>
              </a:solidFill>
              <a:latin typeface="Lucida Console" panose="020B06090405040202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9FC43BFD-8FF7-A343-A8A6-E2338FCE8046}" type="slidenum">
              <a:rPr lang="en-US" smtClean="0"/>
              <a:pPr/>
              <a:t>15</a:t>
            </a:fld>
            <a:endParaRPr lang="en-US" dirty="0"/>
          </a:p>
        </p:txBody>
      </p:sp>
      <p:sp>
        <p:nvSpPr>
          <p:cNvPr id="6" name="TextBox 5"/>
          <p:cNvSpPr txBox="1"/>
          <p:nvPr/>
        </p:nvSpPr>
        <p:spPr>
          <a:xfrm>
            <a:off x="577920" y="3295162"/>
            <a:ext cx="10972800" cy="2678234"/>
          </a:xfrm>
          <a:prstGeom prst="rect">
            <a:avLst/>
          </a:prstGeom>
          <a:solidFill>
            <a:schemeClr val="bg2"/>
          </a:solid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US" dirty="0">
                <a:solidFill>
                  <a:schemeClr val="tx1"/>
                </a:solidFill>
                <a:latin typeface="Lucida Console" panose="020B0609040504020204" pitchFamily="49" charset="0"/>
                <a:cs typeface="Courier New" panose="02070309020205020404" pitchFamily="49" charset="0"/>
              </a:rPr>
              <a:t>https://sqs.us-east-1.amazonaws.com/123456789012/testQueue/</a:t>
            </a:r>
          </a:p>
          <a:p>
            <a:r>
              <a:rPr lang="en-US" dirty="0">
                <a:solidFill>
                  <a:schemeClr val="tx1"/>
                </a:solidFill>
                <a:latin typeface="Lucida Console" panose="020B0609040504020204" pitchFamily="49" charset="0"/>
                <a:cs typeface="Courier New" panose="02070309020205020404" pitchFamily="49" charset="0"/>
              </a:rPr>
              <a:t>?</a:t>
            </a:r>
            <a:r>
              <a:rPr lang="en-US" dirty="0">
                <a:solidFill>
                  <a:srgbClr val="000000"/>
                </a:solidFill>
                <a:latin typeface="Lucida Console" panose="020B0609040504020204" pitchFamily="49" charset="0"/>
                <a:cs typeface="Courier New" panose="02070309020205020404" pitchFamily="49" charset="0"/>
              </a:rPr>
              <a:t>Action</a:t>
            </a:r>
            <a:r>
              <a:rPr lang="en-US" dirty="0">
                <a:solidFill>
                  <a:schemeClr val="tx1"/>
                </a:solidFill>
                <a:latin typeface="Lucida Console" panose="020B0609040504020204" pitchFamily="49" charset="0"/>
                <a:cs typeface="Courier New" panose="02070309020205020404" pitchFamily="49" charset="0"/>
              </a:rPr>
              <a:t>=</a:t>
            </a:r>
            <a:r>
              <a:rPr lang="en-US" dirty="0" err="1">
                <a:solidFill>
                  <a:schemeClr val="tx1"/>
                </a:solidFill>
                <a:latin typeface="Lucida Console" panose="020B0609040504020204" pitchFamily="49" charset="0"/>
                <a:cs typeface="Courier New" panose="02070309020205020404" pitchFamily="49" charset="0"/>
              </a:rPr>
              <a:t>ReceiveMessage</a:t>
            </a:r>
            <a:endParaRPr lang="en-US" dirty="0">
              <a:solidFill>
                <a:schemeClr val="tx1"/>
              </a:solidFill>
              <a:latin typeface="Lucida Console" panose="020B0609040504020204" pitchFamily="49" charset="0"/>
              <a:cs typeface="Courier New" panose="02070309020205020404" pitchFamily="49" charset="0"/>
            </a:endParaRPr>
          </a:p>
          <a:p>
            <a:r>
              <a:rPr lang="en-US" dirty="0">
                <a:solidFill>
                  <a:srgbClr val="000000"/>
                </a:solidFill>
                <a:latin typeface="Lucida Console" panose="020B0609040504020204" pitchFamily="49" charset="0"/>
                <a:cs typeface="Courier New" panose="02070309020205020404" pitchFamily="49" charset="0"/>
              </a:rPr>
              <a:t>&amp;</a:t>
            </a:r>
            <a:r>
              <a:rPr lang="en-US" dirty="0" err="1">
                <a:solidFill>
                  <a:schemeClr val="tx1"/>
                </a:solidFill>
                <a:latin typeface="Lucida Console" panose="020B0609040504020204" pitchFamily="49" charset="0"/>
                <a:cs typeface="Courier New" panose="02070309020205020404" pitchFamily="49" charset="0"/>
              </a:rPr>
              <a:t>WaitTimeSeconds</a:t>
            </a:r>
            <a:r>
              <a:rPr lang="en-US" dirty="0">
                <a:solidFill>
                  <a:schemeClr val="tx1"/>
                </a:solidFill>
                <a:latin typeface="Lucida Console" panose="020B0609040504020204" pitchFamily="49" charset="0"/>
                <a:cs typeface="Courier New" panose="02070309020205020404" pitchFamily="49" charset="0"/>
              </a:rPr>
              <a:t>=10</a:t>
            </a:r>
          </a:p>
          <a:p>
            <a:r>
              <a:rPr lang="en-US" dirty="0">
                <a:solidFill>
                  <a:srgbClr val="000000"/>
                </a:solidFill>
                <a:latin typeface="Lucida Console" panose="020B0609040504020204" pitchFamily="49" charset="0"/>
                <a:cs typeface="Courier New" panose="02070309020205020404" pitchFamily="49" charset="0"/>
              </a:rPr>
              <a:t>&amp;</a:t>
            </a:r>
            <a:r>
              <a:rPr lang="en-US" dirty="0" err="1">
                <a:solidFill>
                  <a:schemeClr val="tx1"/>
                </a:solidFill>
                <a:latin typeface="Lucida Console" panose="020B0609040504020204" pitchFamily="49" charset="0"/>
                <a:cs typeface="Courier New" panose="02070309020205020404" pitchFamily="49" charset="0"/>
              </a:rPr>
              <a:t>MaxNumberOfMessages</a:t>
            </a:r>
            <a:r>
              <a:rPr lang="en-US" dirty="0">
                <a:solidFill>
                  <a:schemeClr val="tx1"/>
                </a:solidFill>
                <a:latin typeface="Lucida Console" panose="020B0609040504020204" pitchFamily="49" charset="0"/>
                <a:cs typeface="Courier New" panose="02070309020205020404" pitchFamily="49" charset="0"/>
              </a:rPr>
              <a:t>=5</a:t>
            </a:r>
          </a:p>
          <a:p>
            <a:r>
              <a:rPr lang="en-US" dirty="0">
                <a:solidFill>
                  <a:srgbClr val="000000"/>
                </a:solidFill>
                <a:latin typeface="Lucida Console" panose="020B0609040504020204" pitchFamily="49" charset="0"/>
                <a:cs typeface="Courier New" panose="02070309020205020404" pitchFamily="49" charset="0"/>
              </a:rPr>
              <a:t>&amp;</a:t>
            </a:r>
            <a:r>
              <a:rPr lang="en-US" dirty="0" err="1">
                <a:solidFill>
                  <a:srgbClr val="000000"/>
                </a:solidFill>
                <a:latin typeface="Lucida Console" panose="020B0609040504020204" pitchFamily="49" charset="0"/>
                <a:cs typeface="Courier New" panose="02070309020205020404" pitchFamily="49" charset="0"/>
              </a:rPr>
              <a:t>VisibilityTimeout</a:t>
            </a:r>
            <a:r>
              <a:rPr lang="en-US" dirty="0">
                <a:solidFill>
                  <a:schemeClr val="tx1"/>
                </a:solidFill>
                <a:latin typeface="Lucida Console" panose="020B0609040504020204" pitchFamily="49" charset="0"/>
                <a:cs typeface="Courier New" panose="02070309020205020404" pitchFamily="49" charset="0"/>
              </a:rPr>
              <a:t>=15</a:t>
            </a:r>
          </a:p>
          <a:p>
            <a:r>
              <a:rPr lang="en-US" dirty="0">
                <a:solidFill>
                  <a:srgbClr val="000000"/>
                </a:solidFill>
                <a:latin typeface="Lucida Console" panose="020B0609040504020204" pitchFamily="49" charset="0"/>
                <a:cs typeface="Courier New" panose="02070309020205020404" pitchFamily="49" charset="0"/>
              </a:rPr>
              <a:t>&amp;</a:t>
            </a:r>
            <a:r>
              <a:rPr lang="en-US" dirty="0" err="1">
                <a:solidFill>
                  <a:schemeClr val="tx1"/>
                </a:solidFill>
                <a:latin typeface="Lucida Console" panose="020B0609040504020204" pitchFamily="49" charset="0"/>
                <a:cs typeface="Courier New" panose="02070309020205020404" pitchFamily="49" charset="0"/>
              </a:rPr>
              <a:t>AttributeName</a:t>
            </a:r>
            <a:r>
              <a:rPr lang="en-US" dirty="0">
                <a:solidFill>
                  <a:schemeClr val="tx1"/>
                </a:solidFill>
                <a:latin typeface="Lucida Console" panose="020B0609040504020204" pitchFamily="49" charset="0"/>
                <a:cs typeface="Courier New" panose="02070309020205020404" pitchFamily="49" charset="0"/>
              </a:rPr>
              <a:t>=All;</a:t>
            </a:r>
          </a:p>
          <a:p>
            <a:r>
              <a:rPr lang="en-US" dirty="0">
                <a:solidFill>
                  <a:srgbClr val="000000"/>
                </a:solidFill>
                <a:latin typeface="Lucida Console" panose="020B0609040504020204" pitchFamily="49" charset="0"/>
                <a:cs typeface="Courier New" panose="02070309020205020404" pitchFamily="49" charset="0"/>
              </a:rPr>
              <a:t>&amp;</a:t>
            </a:r>
            <a:r>
              <a:rPr lang="en-US" dirty="0">
                <a:solidFill>
                  <a:schemeClr val="tx1"/>
                </a:solidFill>
                <a:latin typeface="Lucida Console" panose="020B0609040504020204" pitchFamily="49" charset="0"/>
                <a:cs typeface="Courier New" panose="02070309020205020404" pitchFamily="49" charset="0"/>
              </a:rPr>
              <a:t>Expires=2019-04-18T22%3A52%3A43PST</a:t>
            </a:r>
          </a:p>
          <a:p>
            <a:r>
              <a:rPr lang="en-US" dirty="0">
                <a:solidFill>
                  <a:srgbClr val="000000"/>
                </a:solidFill>
                <a:latin typeface="Lucida Console" panose="020B0609040504020204" pitchFamily="49" charset="0"/>
                <a:cs typeface="Courier New" panose="02070309020205020404" pitchFamily="49" charset="0"/>
              </a:rPr>
              <a:t>&amp;Version</a:t>
            </a:r>
            <a:r>
              <a:rPr lang="en-US" dirty="0">
                <a:solidFill>
                  <a:schemeClr val="tx1"/>
                </a:solidFill>
                <a:latin typeface="Lucida Console" panose="020B0609040504020204" pitchFamily="49" charset="0"/>
                <a:cs typeface="Courier New" panose="02070309020205020404" pitchFamily="49" charset="0"/>
              </a:rPr>
              <a:t>=2012-11-05</a:t>
            </a:r>
          </a:p>
          <a:p>
            <a:r>
              <a:rPr lang="en-US" dirty="0">
                <a:solidFill>
                  <a:srgbClr val="000000"/>
                </a:solidFill>
                <a:latin typeface="Lucida Console" panose="020B0609040504020204" pitchFamily="49" charset="0"/>
                <a:cs typeface="Courier New" panose="02070309020205020404" pitchFamily="49" charset="0"/>
              </a:rPr>
              <a:t>&amp;</a:t>
            </a:r>
            <a:r>
              <a:rPr lang="en-US" dirty="0">
                <a:solidFill>
                  <a:schemeClr val="tx1"/>
                </a:solidFill>
                <a:latin typeface="Lucida Console" panose="020B0609040504020204" pitchFamily="49" charset="0"/>
                <a:cs typeface="Courier New" panose="02070309020205020404" pitchFamily="49" charset="0"/>
              </a:rPr>
              <a:t>AUTPARAMS</a:t>
            </a:r>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6348610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a:t>
            </a:r>
            <a:r>
              <a:rPr lang="en-US" dirty="0" smtClean="0"/>
              <a:t>SQS: </a:t>
            </a:r>
            <a:r>
              <a:rPr lang="en-US" dirty="0"/>
              <a:t>M</a:t>
            </a:r>
            <a:r>
              <a:rPr lang="en-US" dirty="0" smtClean="0"/>
              <a:t>essage </a:t>
            </a:r>
            <a:r>
              <a:rPr lang="en-US" dirty="0">
                <a:solidFill>
                  <a:srgbClr val="FFFFFF"/>
                </a:solidFill>
              </a:rPr>
              <a:t>lifecycle</a:t>
            </a:r>
            <a:endParaRPr lang="en-US" dirty="0">
              <a:solidFill>
                <a:srgbClr val="FFFFFF"/>
              </a:solidFill>
              <a:latin typeface="Amazon Ember Light" panose="020B0403020204020204"/>
            </a:endParaRPr>
          </a:p>
        </p:txBody>
      </p:sp>
      <p:sp>
        <p:nvSpPr>
          <p:cNvPr id="4" name="Slide Number Placeholder 3"/>
          <p:cNvSpPr>
            <a:spLocks noGrp="1"/>
          </p:cNvSpPr>
          <p:nvPr>
            <p:ph type="sldNum" sz="quarter" idx="12"/>
          </p:nvPr>
        </p:nvSpPr>
        <p:spPr/>
        <p:txBody>
          <a:bodyPr/>
          <a:lstStyle/>
          <a:p>
            <a:fld id="{9FC43BFD-8FF7-A343-A8A6-E2338FCE8046}" type="slidenum">
              <a:rPr lang="en-US" smtClean="0"/>
              <a:pPr/>
              <a:t>16</a:t>
            </a:fld>
            <a:endParaRPr lang="en-US" dirty="0"/>
          </a:p>
        </p:txBody>
      </p:sp>
      <p:sp>
        <p:nvSpPr>
          <p:cNvPr id="3" name="Footer Placeholder 2"/>
          <p:cNvSpPr>
            <a:spLocks noGrp="1"/>
          </p:cNvSpPr>
          <p:nvPr>
            <p:ph type="ftr" sz="quarter" idx="3"/>
          </p:nvPr>
        </p:nvSpPr>
        <p:spPr/>
        <p:txBody>
          <a:bodyPr/>
          <a:lstStyle/>
          <a:p>
            <a:r>
              <a:rPr lang="en-US" dirty="0"/>
              <a:t>© 2020 Amazon Web Services, Inc. or its Affiliates. All rights reserved.</a:t>
            </a:r>
          </a:p>
        </p:txBody>
      </p:sp>
      <p:sp>
        <p:nvSpPr>
          <p:cNvPr id="44" name="Rectangle 43"/>
          <p:cNvSpPr/>
          <p:nvPr/>
        </p:nvSpPr>
        <p:spPr>
          <a:xfrm>
            <a:off x="749237" y="3323853"/>
            <a:ext cx="1626672" cy="830997"/>
          </a:xfrm>
          <a:prstGeom prst="rect">
            <a:avLst/>
          </a:prstGeom>
        </p:spPr>
        <p:txBody>
          <a:bodyPr wrap="square">
            <a:spAutoFit/>
          </a:bodyPr>
          <a:lstStyle/>
          <a:p>
            <a:pPr algn="ctr"/>
            <a:r>
              <a:rPr lang="en-US" sz="2400" dirty="0">
                <a:latin typeface="Amazon Ember" panose="02000000000000000000" pitchFamily="2" charset="0"/>
                <a:ea typeface="Amazon Ember" panose="02000000000000000000" pitchFamily="2" charset="0"/>
              </a:rPr>
              <a:t>Delete</a:t>
            </a:r>
          </a:p>
          <a:p>
            <a:pPr algn="ctr"/>
            <a:r>
              <a:rPr lang="en-US" sz="2400" dirty="0">
                <a:latin typeface="Amazon Ember" panose="02000000000000000000" pitchFamily="2" charset="0"/>
                <a:ea typeface="Amazon Ember" panose="02000000000000000000" pitchFamily="2" charset="0"/>
                <a:sym typeface="Wingdings" panose="05000000000000000000" pitchFamily="2" charset="2"/>
              </a:rPr>
              <a:t>m</a:t>
            </a:r>
            <a:r>
              <a:rPr lang="en-US" sz="2400" dirty="0" smtClean="0">
                <a:latin typeface="Amazon Ember" panose="02000000000000000000" pitchFamily="2" charset="0"/>
                <a:ea typeface="Amazon Ember" panose="02000000000000000000" pitchFamily="2" charset="0"/>
                <a:sym typeface="Wingdings" panose="05000000000000000000" pitchFamily="2" charset="2"/>
              </a:rPr>
              <a:t>essage</a:t>
            </a:r>
            <a:endParaRPr lang="en-US" sz="2400" dirty="0">
              <a:latin typeface="Amazon Ember" panose="02000000000000000000" pitchFamily="2" charset="0"/>
              <a:ea typeface="Amazon Ember" panose="02000000000000000000" pitchFamily="2" charset="0"/>
              <a:sym typeface="Wingdings" panose="05000000000000000000" pitchFamily="2" charset="2"/>
            </a:endParaRPr>
          </a:p>
        </p:txBody>
      </p:sp>
      <p:sp>
        <p:nvSpPr>
          <p:cNvPr id="45" name="TextBox 44"/>
          <p:cNvSpPr txBox="1"/>
          <p:nvPr/>
        </p:nvSpPr>
        <p:spPr>
          <a:xfrm>
            <a:off x="2380812" y="3508520"/>
            <a:ext cx="1719134" cy="461665"/>
          </a:xfrm>
          <a:prstGeom prst="rect">
            <a:avLst/>
          </a:prstGeom>
          <a:solidFill>
            <a:schemeClr val="accent3"/>
          </a:solidFill>
          <a:effectLst/>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n-US" sz="2400" dirty="0">
                <a:solidFill>
                  <a:schemeClr val="accent1"/>
                </a:solidFill>
                <a:latin typeface="Amazon Ember Light" charset="0"/>
                <a:ea typeface="Amazon Ember Light" charset="0"/>
                <a:cs typeface="Amazon Ember Light" charset="0"/>
              </a:rPr>
              <a:t>Consumer</a:t>
            </a:r>
          </a:p>
        </p:txBody>
      </p:sp>
      <p:cxnSp>
        <p:nvCxnSpPr>
          <p:cNvPr id="46" name="Straight Arrow Connector 45"/>
          <p:cNvCxnSpPr>
            <a:stCxn id="45" idx="3"/>
            <a:endCxn id="47" idx="1"/>
          </p:cNvCxnSpPr>
          <p:nvPr/>
        </p:nvCxnSpPr>
        <p:spPr>
          <a:xfrm flipV="1">
            <a:off x="4099946" y="3732717"/>
            <a:ext cx="2714493" cy="6636"/>
          </a:xfrm>
          <a:prstGeom prst="straightConnector1">
            <a:avLst/>
          </a:prstGeom>
          <a:ln w="12700">
            <a:solidFill>
              <a:schemeClr val="tx1"/>
            </a:solidFill>
            <a:headEnd type="arrow" w="med" len="sm"/>
            <a:tailEnd type="arrow" w="med" len="sm"/>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6814439" y="2536058"/>
            <a:ext cx="4878451" cy="2393317"/>
          </a:xfrm>
          <a:prstGeom prst="roundRect">
            <a:avLst>
              <a:gd name="adj" fmla="val 0"/>
            </a:avLst>
          </a:prstGeom>
          <a:noFill/>
          <a:ln>
            <a:solidFill>
              <a:schemeClr val="accent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48" name="Can 47"/>
          <p:cNvSpPr/>
          <p:nvPr/>
        </p:nvSpPr>
        <p:spPr>
          <a:xfrm>
            <a:off x="7444719" y="2908373"/>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49" name="Can 48"/>
          <p:cNvSpPr/>
          <p:nvPr/>
        </p:nvSpPr>
        <p:spPr>
          <a:xfrm>
            <a:off x="8395692" y="2908373"/>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50" name="Can 49"/>
          <p:cNvSpPr/>
          <p:nvPr/>
        </p:nvSpPr>
        <p:spPr>
          <a:xfrm>
            <a:off x="9346665" y="2908373"/>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51" name="TextBox 50"/>
          <p:cNvSpPr txBox="1"/>
          <p:nvPr/>
        </p:nvSpPr>
        <p:spPr>
          <a:xfrm>
            <a:off x="6904972" y="4586416"/>
            <a:ext cx="4623544" cy="400110"/>
          </a:xfrm>
          <a:prstGeom prst="rect">
            <a:avLst/>
          </a:prstGeom>
          <a:noFill/>
        </p:spPr>
        <p:txBody>
          <a:bodyPr wrap="square" rtlCol="0">
            <a:spAutoFit/>
          </a:bodyPr>
          <a:lstStyle/>
          <a:p>
            <a:pPr algn="ctr"/>
            <a:r>
              <a:rPr lang="en-US" sz="2000" dirty="0">
                <a:latin typeface="Amazon Ember Light" charset="0"/>
                <a:ea typeface="Amazon Ember Light" charset="0"/>
                <a:cs typeface="Amazon Ember Light" charset="0"/>
              </a:rPr>
              <a:t>Your </a:t>
            </a:r>
            <a:r>
              <a:rPr lang="en-US" sz="2000" dirty="0">
                <a:solidFill>
                  <a:srgbClr val="000000"/>
                </a:solidFill>
                <a:latin typeface="Amazon Ember Light" charset="0"/>
                <a:ea typeface="Amazon Ember Light" charset="0"/>
                <a:cs typeface="Amazon Ember Light" charset="0"/>
              </a:rPr>
              <a:t>queue</a:t>
            </a:r>
            <a:r>
              <a:rPr lang="en-US" sz="2000" dirty="0">
                <a:latin typeface="Amazon Ember Light" charset="0"/>
                <a:ea typeface="Amazon Ember Light" charset="0"/>
                <a:cs typeface="Amazon Ember Light" charset="0"/>
              </a:rPr>
              <a:t> (distributed on </a:t>
            </a:r>
            <a:r>
              <a:rPr lang="en-US" sz="2000" dirty="0">
                <a:solidFill>
                  <a:srgbClr val="000000"/>
                </a:solidFill>
                <a:latin typeface="Amazon Ember Light" charset="0"/>
                <a:ea typeface="Amazon Ember Light" charset="0"/>
                <a:cs typeface="Amazon Ember Light" charset="0"/>
              </a:rPr>
              <a:t>SQS</a:t>
            </a:r>
            <a:r>
              <a:rPr lang="en-US" sz="2000" dirty="0">
                <a:latin typeface="Amazon Ember Light" charset="0"/>
                <a:ea typeface="Amazon Ember Light" charset="0"/>
                <a:cs typeface="Amazon Ember Light" charset="0"/>
              </a:rPr>
              <a:t>
              </a:t>
            </a:r>
            <a:r>
              <a:rPr lang="en-US" sz="2000" dirty="0">
                <a:solidFill>
                  <a:srgbClr val="000000"/>
                </a:solidFill>
                <a:latin typeface="Amazon Ember Light" charset="0"/>
                <a:ea typeface="Amazon Ember Light" charset="0"/>
                <a:cs typeface="Amazon Ember Light" charset="0"/>
              </a:rPr>
              <a:t>servers</a:t>
            </a:r>
            <a:r>
              <a:rPr lang="en-US" sz="2000" dirty="0">
                <a:latin typeface="Amazon Ember Light" charset="0"/>
                <a:ea typeface="Amazon Ember Light" charset="0"/>
                <a:cs typeface="Amazon Ember Light" charset="0"/>
              </a:rPr>
              <a:t>)</a:t>
            </a:r>
          </a:p>
        </p:txBody>
      </p:sp>
      <p:pic>
        <p:nvPicPr>
          <p:cNvPr id="52" name="Graphic 39">
            <a:extLst>
              <a:ext uri="{FF2B5EF4-FFF2-40B4-BE49-F238E27FC236}">
                <a16:creationId xmlns:a16="http://schemas.microsoft.com/office/drawing/2014/main" id="{2ACAD885-5F52-504F-842D-3D87E199BD5D}"/>
              </a:ext>
            </a:extLst>
          </p:cNvPr>
          <p:cNvPicPr>
            <a:picLocks noChangeAspect="1"/>
          </p:cNvPicPr>
          <p:nvPr/>
        </p:nvPicPr>
        <p:blipFill>
          <a:blip r:embed="rId4"/>
          <a:stretch>
            <a:fillRect/>
          </a:stretch>
        </p:blipFill>
        <p:spPr>
          <a:xfrm>
            <a:off x="6830519" y="2452370"/>
            <a:ext cx="469900" cy="469900"/>
          </a:xfrm>
          <a:prstGeom prst="rect">
            <a:avLst/>
          </a:prstGeom>
        </p:spPr>
      </p:pic>
      <p:sp>
        <p:nvSpPr>
          <p:cNvPr id="53" name="Can 52"/>
          <p:cNvSpPr/>
          <p:nvPr/>
        </p:nvSpPr>
        <p:spPr>
          <a:xfrm>
            <a:off x="10297639" y="2924689"/>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54" name="Can 53"/>
          <p:cNvSpPr/>
          <p:nvPr/>
        </p:nvSpPr>
        <p:spPr>
          <a:xfrm>
            <a:off x="7459065" y="3841017"/>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55" name="Can 54"/>
          <p:cNvSpPr/>
          <p:nvPr/>
        </p:nvSpPr>
        <p:spPr>
          <a:xfrm>
            <a:off x="8410038" y="3841017"/>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56" name="Can 55"/>
          <p:cNvSpPr/>
          <p:nvPr/>
        </p:nvSpPr>
        <p:spPr>
          <a:xfrm>
            <a:off x="9361011" y="3841017"/>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57" name="Can 56"/>
          <p:cNvSpPr/>
          <p:nvPr/>
        </p:nvSpPr>
        <p:spPr>
          <a:xfrm>
            <a:off x="10311985" y="3857333"/>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62" name="TextBox 61"/>
          <p:cNvSpPr txBox="1"/>
          <p:nvPr/>
        </p:nvSpPr>
        <p:spPr>
          <a:xfrm>
            <a:off x="1402716" y="1854546"/>
            <a:ext cx="3443249" cy="1323439"/>
          </a:xfrm>
          <a:prstGeom prst="rect">
            <a:avLst/>
          </a:prstGeom>
          <a:noFill/>
        </p:spPr>
        <p:txBody>
          <a:bodyPr wrap="square" rtlCol="0">
            <a:spAutoFit/>
          </a:bodyPr>
          <a:lstStyle/>
          <a:p>
            <a:pPr algn="ctr"/>
            <a:r>
              <a:rPr lang="en-US" sz="2000" dirty="0">
                <a:latin typeface="Amazon Ember Light" charset="0"/>
                <a:ea typeface="Amazon Ember Light" charset="0"/>
                <a:cs typeface="Amazon Ember Light" charset="0"/>
              </a:rPr>
              <a:t>Consumer processes </a:t>
            </a:r>
            <a:r>
              <a:rPr lang="en-US" sz="2000" dirty="0">
                <a:solidFill>
                  <a:schemeClr val="accent6"/>
                </a:solidFill>
                <a:latin typeface="Amazon Ember Light" charset="0"/>
                <a:ea typeface="Amazon Ember Light" charset="0"/>
                <a:cs typeface="Amazon Ember Light" charset="0"/>
              </a:rPr>
              <a:t>message A </a:t>
            </a:r>
            <a:r>
              <a:rPr lang="en-US" sz="2000" dirty="0">
                <a:latin typeface="Amazon Ember Light" charset="0"/>
                <a:ea typeface="Amazon Ember Light" charset="0"/>
                <a:cs typeface="Amazon Ember Light" charset="0"/>
              </a:rPr>
              <a:t>and deletes it from the queue during the visibility timeout </a:t>
            </a:r>
            <a:r>
              <a:rPr lang="en-US" sz="2000" dirty="0">
                <a:solidFill>
                  <a:srgbClr val="000000"/>
                </a:solidFill>
                <a:latin typeface="Amazon Ember Light" charset="0"/>
                <a:ea typeface="Amazon Ember Light" charset="0"/>
                <a:cs typeface="Amazon Ember Light" charset="0"/>
              </a:rPr>
              <a:t>period.</a:t>
            </a:r>
            <a:endParaRPr lang="en-US" sz="2000" dirty="0">
              <a:solidFill>
                <a:srgbClr val="000000"/>
              </a:solidFill>
              <a:ea typeface="Amazon Ember Light" charset="0"/>
              <a:cs typeface="Amazon Ember Light" charset="0"/>
            </a:endParaRPr>
          </a:p>
        </p:txBody>
      </p:sp>
    </p:spTree>
    <p:custDataLst>
      <p:tags r:id="rId1"/>
    </p:custDataLst>
    <p:extLst>
      <p:ext uri="{BB962C8B-B14F-4D97-AF65-F5344CB8AC3E}">
        <p14:creationId xmlns:p14="http://schemas.microsoft.com/office/powerpoint/2010/main" val="17082655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 lifecycle: Delete message</a:t>
            </a:r>
          </a:p>
        </p:txBody>
      </p:sp>
      <p:sp>
        <p:nvSpPr>
          <p:cNvPr id="4" name="Content Placeholder 3"/>
          <p:cNvSpPr>
            <a:spLocks noGrp="1"/>
          </p:cNvSpPr>
          <p:nvPr>
            <p:ph idx="1"/>
          </p:nvPr>
        </p:nvSpPr>
        <p:spPr/>
        <p:txBody>
          <a:bodyPr/>
          <a:lstStyle/>
          <a:p>
            <a:pPr marL="0" indent="0">
              <a:buNone/>
            </a:pPr>
            <a:r>
              <a:rPr lang="en-US" dirty="0">
                <a:latin typeface="Lucida Console" panose="020B0609040504020204" pitchFamily="49" charset="0"/>
                <a:cs typeface="Courier New" panose="02070309020205020404" pitchFamily="49" charset="0"/>
              </a:rPr>
              <a:t>DeleteMessage</a:t>
            </a:r>
          </a:p>
          <a:p>
            <a:pPr lvl="1"/>
            <a:r>
              <a:rPr lang="en-US" dirty="0">
                <a:latin typeface="Amazon Ember" charset="0"/>
                <a:ea typeface="Amazon Ember" charset="0"/>
                <a:cs typeface="Amazon Ember" charset="0"/>
              </a:rPr>
              <a:t>Parameters:</a:t>
            </a:r>
            <a:r>
              <a:rPr lang="en-US" b="1" dirty="0">
                <a:latin typeface="Amazon Ember" charset="0"/>
                <a:ea typeface="Amazon Ember" charset="0"/>
                <a:cs typeface="Amazon Ember" charset="0"/>
              </a:rPr>
              <a:t> </a:t>
            </a:r>
            <a:r>
              <a:rPr lang="en-US" dirty="0" err="1">
                <a:solidFill>
                  <a:srgbClr val="000000"/>
                </a:solidFill>
                <a:latin typeface="Lucida Console" panose="020B0609040504020204" pitchFamily="49" charset="0"/>
                <a:cs typeface="Courier New" panose="02070309020205020404" pitchFamily="49" charset="0"/>
              </a:rPr>
              <a:t>QueueUrl</a:t>
            </a:r>
            <a:r>
              <a:rPr lang="en-US" dirty="0">
                <a:latin typeface="Lucida Console" panose="020B0609040504020204" pitchFamily="49" charset="0"/>
                <a:cs typeface="Courier New" panose="02070309020205020404" pitchFamily="49" charset="0"/>
              </a:rPr>
              <a:t>, </a:t>
            </a:r>
            <a:r>
              <a:rPr lang="en-US" dirty="0" err="1">
                <a:solidFill>
                  <a:srgbClr val="000000"/>
                </a:solidFill>
                <a:latin typeface="Lucida Console" panose="020B0609040504020204" pitchFamily="49" charset="0"/>
                <a:cs typeface="Courier New" panose="02070309020205020404" pitchFamily="49" charset="0"/>
              </a:rPr>
              <a:t>ReceiptHandle</a:t>
            </a:r>
            <a:endParaRPr lang="en-US" dirty="0">
              <a:solidFill>
                <a:srgbClr val="000000"/>
              </a:solidFill>
              <a:latin typeface="Lucida Console" panose="020B0609040504020204" pitchFamily="49" charset="0"/>
              <a:cs typeface="Courier New" panose="02070309020205020404" pitchFamily="49" charset="0"/>
            </a:endParaRPr>
          </a:p>
          <a:p>
            <a:pPr marL="0" indent="0">
              <a:buNone/>
            </a:pPr>
            <a:r>
              <a:rPr lang="en-US" dirty="0">
                <a:latin typeface="Lucida Console" panose="020B0609040504020204" pitchFamily="49" charset="0"/>
                <a:cs typeface="Courier New" panose="02070309020205020404" pitchFamily="49" charset="0"/>
              </a:rPr>
              <a:t>DeleteMessageBatch</a:t>
            </a:r>
          </a:p>
          <a:p>
            <a:pPr marL="0" indent="0">
              <a:buNone/>
            </a:pPr>
            <a:r>
              <a:rPr lang="en-US" dirty="0" err="1" smtClean="0">
                <a:latin typeface="Lucida Console" panose="020B0609040504020204" pitchFamily="49" charset="0"/>
                <a:cs typeface="Courier New" panose="02070309020205020404" pitchFamily="49" charset="0"/>
              </a:rPr>
              <a:t>PurgeQueue</a:t>
            </a:r>
            <a:r>
              <a:rPr lang="en-US" dirty="0" smtClean="0">
                <a:latin typeface="Lucida Console" panose="020B0609040504020204" pitchFamily="49" charset="0"/>
                <a:cs typeface="Courier New" panose="02070309020205020404" pitchFamily="49" charset="0"/>
              </a:rPr>
              <a:t/>
            </a:r>
            <a:br>
              <a:rPr lang="en-US" dirty="0" smtClean="0">
                <a:latin typeface="Lucida Console" panose="020B0609040504020204" pitchFamily="49" charset="0"/>
                <a:cs typeface="Courier New" panose="02070309020205020404" pitchFamily="49" charset="0"/>
              </a:rPr>
            </a:br>
            <a:r>
              <a:rPr lang="en-US" dirty="0" smtClean="0">
                <a:latin typeface="Lucida Console" panose="020B0609040504020204" pitchFamily="49" charset="0"/>
                <a:cs typeface="Courier New" panose="02070309020205020404" pitchFamily="49" charset="0"/>
              </a:rPr>
              <a:t/>
            </a:r>
            <a:br>
              <a:rPr lang="en-US" dirty="0" smtClean="0">
                <a:latin typeface="Lucida Console" panose="020B0609040504020204" pitchFamily="49" charset="0"/>
                <a:cs typeface="Courier New" panose="02070309020205020404" pitchFamily="49" charset="0"/>
              </a:rPr>
            </a:br>
            <a:endParaRPr lang="en-US" dirty="0">
              <a:latin typeface="Lucida Console" panose="020B0609040504020204" pitchFamily="49" charset="0"/>
              <a:cs typeface="Courier New" panose="02070309020205020404" pitchFamily="49" charset="0"/>
            </a:endParaRPr>
          </a:p>
        </p:txBody>
      </p:sp>
      <p:sp>
        <p:nvSpPr>
          <p:cNvPr id="3" name="Slide Number Placeholder 2"/>
          <p:cNvSpPr>
            <a:spLocks noGrp="1"/>
          </p:cNvSpPr>
          <p:nvPr>
            <p:ph type="sldNum" sz="quarter" idx="12"/>
          </p:nvPr>
        </p:nvSpPr>
        <p:spPr/>
        <p:txBody>
          <a:bodyPr/>
          <a:lstStyle/>
          <a:p>
            <a:fld id="{9FC43BFD-8FF7-A343-A8A6-E2338FCE8046}" type="slidenum">
              <a:rPr lang="en-US" smtClean="0"/>
              <a:pPr/>
              <a:t>17</a:t>
            </a:fld>
            <a:endParaRPr lang="en-US" dirty="0"/>
          </a:p>
        </p:txBody>
      </p:sp>
      <p:sp>
        <p:nvSpPr>
          <p:cNvPr id="6" name="Footer Placeholder 5"/>
          <p:cNvSpPr>
            <a:spLocks noGrp="1"/>
          </p:cNvSpPr>
          <p:nvPr>
            <p:ph type="ftr" sz="quarter" idx="3"/>
          </p:nvPr>
        </p:nvSpPr>
        <p:spPr/>
        <p:txBody>
          <a:bodyPr/>
          <a:lstStyle/>
          <a:p>
            <a:r>
              <a:rPr lang="en-US"/>
              <a:t>© 2020 Amazon Web Services, Inc. or its Affiliates. All rights reserved.</a:t>
            </a:r>
            <a:endParaRPr lang="en-US" dirty="0"/>
          </a:p>
        </p:txBody>
      </p:sp>
      <p:sp>
        <p:nvSpPr>
          <p:cNvPr id="5" name="TextBox 4"/>
          <p:cNvSpPr txBox="1"/>
          <p:nvPr/>
        </p:nvSpPr>
        <p:spPr>
          <a:xfrm>
            <a:off x="577920" y="3676590"/>
            <a:ext cx="10972800" cy="2862322"/>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US" dirty="0">
                <a:solidFill>
                  <a:schemeClr val="tx1"/>
                </a:solidFill>
                <a:latin typeface="Lucida Console" panose="020B0609040504020204" pitchFamily="49" charset="0"/>
                <a:cs typeface="Courier New" panose="02070309020205020404" pitchFamily="49" charset="0"/>
              </a:rPr>
              <a:t>https://sqs.us-east-1.amazonaws.com/123456789012/testQueue/</a:t>
            </a:r>
          </a:p>
          <a:p>
            <a:r>
              <a:rPr lang="en-US" dirty="0">
                <a:solidFill>
                  <a:schemeClr val="tx1"/>
                </a:solidFill>
                <a:latin typeface="Lucida Console" panose="020B0609040504020204" pitchFamily="49" charset="0"/>
                <a:cs typeface="Courier New" panose="02070309020205020404" pitchFamily="49" charset="0"/>
              </a:rPr>
              <a:t>?</a:t>
            </a:r>
            <a:r>
              <a:rPr lang="en-US" dirty="0">
                <a:solidFill>
                  <a:srgbClr val="000000"/>
                </a:solidFill>
                <a:latin typeface="Lucida Console" panose="020B0609040504020204" pitchFamily="49" charset="0"/>
                <a:cs typeface="Courier New" panose="02070309020205020404" pitchFamily="49" charset="0"/>
              </a:rPr>
              <a:t>Action</a:t>
            </a:r>
            <a:r>
              <a:rPr lang="en-US" dirty="0">
                <a:solidFill>
                  <a:schemeClr val="tx1"/>
                </a:solidFill>
                <a:latin typeface="Lucida Console" panose="020B0609040504020204" pitchFamily="49" charset="0"/>
                <a:cs typeface="Courier New" panose="02070309020205020404" pitchFamily="49" charset="0"/>
              </a:rPr>
              <a:t>=</a:t>
            </a:r>
            <a:r>
              <a:rPr lang="en-US" dirty="0" err="1">
                <a:solidFill>
                  <a:schemeClr val="tx1"/>
                </a:solidFill>
                <a:latin typeface="Lucida Console" panose="020B0609040504020204" pitchFamily="49" charset="0"/>
                <a:cs typeface="Courier New" panose="02070309020205020404" pitchFamily="49" charset="0"/>
              </a:rPr>
              <a:t>DeleteMessage</a:t>
            </a:r>
            <a:endParaRPr lang="en-US" dirty="0">
              <a:solidFill>
                <a:schemeClr val="tx1"/>
              </a:solidFill>
              <a:latin typeface="Lucida Console" panose="020B0609040504020204" pitchFamily="49" charset="0"/>
              <a:cs typeface="Courier New" panose="02070309020205020404" pitchFamily="49" charset="0"/>
            </a:endParaRPr>
          </a:p>
          <a:p>
            <a:r>
              <a:rPr lang="en-US" dirty="0">
                <a:solidFill>
                  <a:srgbClr val="000000"/>
                </a:solidFill>
                <a:latin typeface="Lucida Console" panose="020B0609040504020204" pitchFamily="49" charset="0"/>
                <a:cs typeface="Courier New" panose="02070309020205020404" pitchFamily="49" charset="0"/>
              </a:rPr>
              <a:t>&amp;</a:t>
            </a:r>
            <a:r>
              <a:rPr lang="en-US" dirty="0" err="1">
                <a:solidFill>
                  <a:srgbClr val="000000"/>
                </a:solidFill>
                <a:latin typeface="Lucida Console" panose="020B0609040504020204" pitchFamily="49" charset="0"/>
                <a:cs typeface="Courier New" panose="02070309020205020404" pitchFamily="49" charset="0"/>
              </a:rPr>
              <a:t>ReceiptHandle</a:t>
            </a:r>
            <a:r>
              <a:rPr lang="en-US" dirty="0">
                <a:solidFill>
                  <a:schemeClr val="tx1"/>
                </a:solidFill>
                <a:latin typeface="Lucida Console" panose="020B0609040504020204" pitchFamily="49" charset="0"/>
                <a:cs typeface="Courier New" panose="02070309020205020404" pitchFamily="49" charset="0"/>
              </a:rPr>
              <a:t>=MbZj6wDWli%2BJvwwJaBV%2B3dcjk2YW2vA3%2BSTFFljT</a:t>
            </a:r>
          </a:p>
          <a:p>
            <a:r>
              <a:rPr lang="en-US" dirty="0">
                <a:solidFill>
                  <a:schemeClr val="tx1"/>
                </a:solidFill>
                <a:latin typeface="Lucida Console" panose="020B0609040504020204" pitchFamily="49" charset="0"/>
                <a:cs typeface="Courier New" panose="02070309020205020404" pitchFamily="49" charset="0"/>
              </a:rPr>
              <a:t>M8tJJg6HRG6PYSasuWXPJB%2BCwLj1FjgXUv1uSj1gUPAWV66FU/WeR4mq2OKpEGY</a:t>
            </a:r>
          </a:p>
          <a:p>
            <a:r>
              <a:rPr lang="en-US" dirty="0">
                <a:solidFill>
                  <a:schemeClr val="tx1"/>
                </a:solidFill>
                <a:latin typeface="Lucida Console" panose="020B0609040504020204" pitchFamily="49" charset="0"/>
                <a:cs typeface="Courier New" panose="02070309020205020404" pitchFamily="49" charset="0"/>
              </a:rPr>
              <a:t>WbnLmpRCJVAyeMjeU5ZBdtcQ%2BQEauMZc8ZRv37sIW2iJKq3M9MFx1YvV11A2x/K</a:t>
            </a:r>
          </a:p>
          <a:p>
            <a:r>
              <a:rPr lang="en-US" dirty="0">
                <a:solidFill>
                  <a:schemeClr val="tx1"/>
                </a:solidFill>
                <a:latin typeface="Lucida Console" panose="020B0609040504020204" pitchFamily="49" charset="0"/>
                <a:cs typeface="Courier New" panose="02070309020205020404" pitchFamily="49" charset="0"/>
              </a:rPr>
              <a:t>SbkJ0=</a:t>
            </a:r>
          </a:p>
          <a:p>
            <a:r>
              <a:rPr lang="en-US" dirty="0" smtClean="0">
                <a:solidFill>
                  <a:srgbClr val="000000"/>
                </a:solidFill>
                <a:latin typeface="Lucida Console" panose="020B0609040504020204" pitchFamily="49" charset="0"/>
                <a:cs typeface="Courier New" panose="02070309020205020404" pitchFamily="49" charset="0"/>
              </a:rPr>
              <a:t>&amp;</a:t>
            </a:r>
            <a:r>
              <a:rPr lang="en-US" dirty="0" smtClean="0">
                <a:solidFill>
                  <a:schemeClr val="tx1"/>
                </a:solidFill>
                <a:latin typeface="Lucida Console" panose="020B0609040504020204" pitchFamily="49" charset="0"/>
                <a:cs typeface="Courier New" panose="02070309020205020404" pitchFamily="49" charset="0"/>
              </a:rPr>
              <a:t>Expires=2012-04-18T22%3A52%3A43PST</a:t>
            </a:r>
          </a:p>
          <a:p>
            <a:r>
              <a:rPr lang="en-US" dirty="0">
                <a:solidFill>
                  <a:schemeClr val="tx1"/>
                </a:solidFill>
                <a:latin typeface="Lucida Console" panose="020B0609040504020204" pitchFamily="49" charset="0"/>
                <a:cs typeface="Courier New" panose="02070309020205020404" pitchFamily="49" charset="0"/>
              </a:rPr>
              <a:t>&amp;</a:t>
            </a:r>
            <a:r>
              <a:rPr lang="en-US" dirty="0" smtClean="0">
                <a:solidFill>
                  <a:schemeClr val="tx1"/>
                </a:solidFill>
                <a:latin typeface="Lucida Console" panose="020B0609040504020204" pitchFamily="49" charset="0"/>
                <a:cs typeface="Courier New" panose="02070309020205020404" pitchFamily="49" charset="0"/>
              </a:rPr>
              <a:t>Version=2012-11-05</a:t>
            </a:r>
            <a:br>
              <a:rPr lang="en-US" dirty="0" smtClean="0">
                <a:solidFill>
                  <a:schemeClr val="tx1"/>
                </a:solidFill>
                <a:latin typeface="Lucida Console" panose="020B0609040504020204" pitchFamily="49" charset="0"/>
                <a:cs typeface="Courier New" panose="02070309020205020404" pitchFamily="49" charset="0"/>
              </a:rPr>
            </a:br>
            <a:r>
              <a:rPr lang="en-US" dirty="0" smtClean="0">
                <a:solidFill>
                  <a:schemeClr val="tx1"/>
                </a:solidFill>
                <a:latin typeface="Lucida Console" panose="020B0609040504020204" pitchFamily="49" charset="0"/>
                <a:cs typeface="Courier New" panose="02070309020205020404" pitchFamily="49" charset="0"/>
              </a:rPr>
              <a:t>&amp;AUTHPARAMS</a:t>
            </a:r>
          </a:p>
          <a:p>
            <a:endParaRPr lang="en-US" dirty="0">
              <a:solidFill>
                <a:schemeClr val="tx1"/>
              </a:solidFill>
              <a:latin typeface="Lucida Console" panose="020B0609040504020204" pitchFamily="49" charset="0"/>
              <a:cs typeface="Courier New" panose="02070309020205020404" pitchFamily="49" charset="0"/>
            </a:endParaRPr>
          </a:p>
        </p:txBody>
      </p:sp>
    </p:spTree>
    <p:custDataLst>
      <p:tags r:id="rId1"/>
    </p:custDataLst>
    <p:extLst>
      <p:ext uri="{BB962C8B-B14F-4D97-AF65-F5344CB8AC3E}">
        <p14:creationId xmlns:p14="http://schemas.microsoft.com/office/powerpoint/2010/main" val="36293910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Queue and message identifiers</a:t>
            </a:r>
          </a:p>
        </p:txBody>
      </p:sp>
      <p:sp>
        <p:nvSpPr>
          <p:cNvPr id="3" name="Content Placeholder 2"/>
          <p:cNvSpPr>
            <a:spLocks noGrp="1"/>
          </p:cNvSpPr>
          <p:nvPr>
            <p:ph idx="1"/>
          </p:nvPr>
        </p:nvSpPr>
        <p:spPr/>
        <p:txBody>
          <a:bodyPr/>
          <a:lstStyle/>
          <a:p>
            <a:pPr marL="0" indent="0">
              <a:buNone/>
            </a:pPr>
            <a:r>
              <a:rPr lang="en-US" sz="3200" dirty="0"/>
              <a:t>Queue URL</a:t>
            </a:r>
          </a:p>
          <a:p>
            <a:pPr lvl="1"/>
            <a:r>
              <a:rPr lang="en-US" dirty="0"/>
              <a:t>An identifier for your queue</a:t>
            </a:r>
          </a:p>
          <a:p>
            <a:pPr marL="1142971" lvl="2" indent="0">
              <a:buNone/>
            </a:pPr>
            <a:r>
              <a:rPr lang="en-US" sz="2400" dirty="0">
                <a:latin typeface="Lucida Console" panose="020B0609040504020204" pitchFamily="49" charset="0"/>
                <a:cs typeface="Courier New" panose="02070309020205020404" pitchFamily="49" charset="0"/>
              </a:rPr>
              <a:t>http://</a:t>
            </a:r>
            <a:r>
              <a:rPr lang="en-US" sz="2400" dirty="0" smtClean="0">
                <a:latin typeface="Lucida Console" panose="020B0609040504020204" pitchFamily="49" charset="0"/>
                <a:cs typeface="Courier New" panose="02070309020205020404" pitchFamily="49" charset="0"/>
              </a:rPr>
              <a:t>sqs.us-east-1.amazonaws.com/123456789012/Queue1</a:t>
            </a:r>
            <a:br>
              <a:rPr lang="en-US" sz="2400" dirty="0" smtClean="0">
                <a:latin typeface="Lucida Console" panose="020B0609040504020204" pitchFamily="49" charset="0"/>
                <a:cs typeface="Courier New" panose="02070309020205020404" pitchFamily="49" charset="0"/>
              </a:rPr>
            </a:br>
            <a:endParaRPr lang="en-US" sz="1400" dirty="0"/>
          </a:p>
          <a:p>
            <a:pPr marL="0" indent="0">
              <a:buNone/>
            </a:pPr>
            <a:r>
              <a:rPr lang="en-US" sz="3200" dirty="0"/>
              <a:t>Message ID</a:t>
            </a:r>
          </a:p>
          <a:p>
            <a:pPr lvl="1"/>
            <a:r>
              <a:rPr lang="en-US" dirty="0"/>
              <a:t>System-assigned </a:t>
            </a:r>
            <a:r>
              <a:rPr lang="en-US" dirty="0">
                <a:solidFill>
                  <a:srgbClr val="000000"/>
                </a:solidFill>
              </a:rPr>
              <a:t>ID</a:t>
            </a:r>
            <a:r>
              <a:rPr lang="en-US" dirty="0"/>
              <a:t> for each </a:t>
            </a:r>
            <a:r>
              <a:rPr lang="en-US" dirty="0" smtClean="0"/>
              <a:t>message</a:t>
            </a:r>
          </a:p>
          <a:p>
            <a:pPr lvl="1"/>
            <a:r>
              <a:rPr lang="en-US" dirty="0"/>
              <a:t>maximum length of a message ID is 100 </a:t>
            </a:r>
            <a:r>
              <a:rPr lang="en-US" dirty="0" smtClean="0"/>
              <a:t>characters</a:t>
            </a:r>
            <a:br>
              <a:rPr lang="en-US" dirty="0" smtClean="0"/>
            </a:br>
            <a:endParaRPr lang="en-US" sz="1400" dirty="0"/>
          </a:p>
          <a:p>
            <a:pPr marL="0" indent="0">
              <a:buNone/>
            </a:pPr>
            <a:r>
              <a:rPr lang="en-US" sz="3200" dirty="0"/>
              <a:t>Receipt </a:t>
            </a:r>
            <a:r>
              <a:rPr lang="en-US" sz="3200" dirty="0" smtClean="0"/>
              <a:t>handle</a:t>
            </a:r>
          </a:p>
          <a:p>
            <a:pPr lvl="1"/>
            <a:r>
              <a:rPr lang="en-US" dirty="0" smtClean="0"/>
              <a:t>Different each time a message is received.</a:t>
            </a:r>
          </a:p>
          <a:p>
            <a:pPr lvl="1"/>
            <a:r>
              <a:rPr lang="en-US" dirty="0" smtClean="0"/>
              <a:t>Must provide the most recent to delete</a:t>
            </a:r>
          </a:p>
          <a:p>
            <a:pPr lvl="1"/>
            <a:r>
              <a:rPr lang="en-US" dirty="0"/>
              <a:t>The maximum length of a receipt handle is 1,024 characters. </a:t>
            </a:r>
          </a:p>
          <a:p>
            <a:pPr lvl="1"/>
            <a:endParaRPr lang="en-US" dirty="0"/>
          </a:p>
        </p:txBody>
      </p:sp>
      <p:sp>
        <p:nvSpPr>
          <p:cNvPr id="4" name="Slide Number Placeholder 3"/>
          <p:cNvSpPr>
            <a:spLocks noGrp="1"/>
          </p:cNvSpPr>
          <p:nvPr>
            <p:ph type="sldNum" sz="quarter" idx="12"/>
          </p:nvPr>
        </p:nvSpPr>
        <p:spPr/>
        <p:txBody>
          <a:bodyPr/>
          <a:lstStyle/>
          <a:p>
            <a:fld id="{9FC43BFD-8FF7-A343-A8A6-E2338FCE8046}" type="slidenum">
              <a:rPr lang="en-US" smtClean="0"/>
              <a:pPr/>
              <a:t>18</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8461675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a:t>
            </a:r>
            <a:r>
              <a:rPr lang="en-US" dirty="0">
                <a:solidFill>
                  <a:srgbClr val="FFFFFF"/>
                </a:solidFill>
              </a:rPr>
              <a:t>queue</a:t>
            </a:r>
            <a:r>
              <a:rPr lang="en-US" dirty="0"/>
              <a:t> </a:t>
            </a:r>
            <a:r>
              <a:rPr lang="en-US" dirty="0">
                <a:solidFill>
                  <a:srgbClr val="FFFFFF"/>
                </a:solidFill>
              </a:rPr>
              <a:t>operations</a:t>
            </a:r>
            <a:endParaRPr lang="en-US" dirty="0">
              <a:solidFill>
                <a:srgbClr val="FFFFFF"/>
              </a:solidFill>
              <a:latin typeface="Amazon Ember Light" panose="020B0403020204020204"/>
            </a:endParaRPr>
          </a:p>
        </p:txBody>
      </p:sp>
      <p:sp>
        <p:nvSpPr>
          <p:cNvPr id="3" name="Content Placeholder 2"/>
          <p:cNvSpPr>
            <a:spLocks noGrp="1"/>
          </p:cNvSpPr>
          <p:nvPr>
            <p:ph idx="1"/>
          </p:nvPr>
        </p:nvSpPr>
        <p:spPr/>
        <p:txBody>
          <a:bodyPr>
            <a:normAutofit/>
          </a:bodyPr>
          <a:lstStyle/>
          <a:p>
            <a:r>
              <a:rPr lang="en-US" dirty="0">
                <a:latin typeface="Lucida Console" panose="020B0609040504020204" pitchFamily="49" charset="0"/>
                <a:ea typeface="Courier New" charset="0"/>
                <a:cs typeface="Courier New" charset="0"/>
              </a:rPr>
              <a:t>CreateQueue</a:t>
            </a:r>
          </a:p>
          <a:p>
            <a:pPr lvl="1"/>
            <a:r>
              <a:rPr lang="en-US" sz="2800" dirty="0">
                <a:latin typeface="+mn-lt"/>
                <a:ea typeface="Amazon Ember" panose="02000000000000000000" pitchFamily="2" charset="0"/>
              </a:rPr>
              <a:t>Attributes</a:t>
            </a:r>
            <a:r>
              <a:rPr lang="en-US" sz="2800" b="1" dirty="0">
                <a:latin typeface="+mn-lt"/>
                <a:ea typeface="Amazon Ember" panose="02000000000000000000" pitchFamily="2" charset="0"/>
              </a:rPr>
              <a:t>: </a:t>
            </a:r>
            <a:r>
              <a:rPr lang="en-US" sz="2800" dirty="0">
                <a:latin typeface="Lucida Console" panose="020B0609040504020204" pitchFamily="49" charset="0"/>
                <a:ea typeface="Courier New" charset="0"/>
                <a:cs typeface="Courier New" charset="0"/>
              </a:rPr>
              <a:t>DelaySeconds, MaximumMessageSize, MessageRetentionPeriod, ReceiveMessageWaitTimeSeconds, </a:t>
            </a:r>
            <a:r>
              <a:rPr lang="en-US" sz="2800" dirty="0" err="1">
                <a:solidFill>
                  <a:srgbClr val="000000"/>
                </a:solidFill>
                <a:latin typeface="Lucida Console" panose="020B0609040504020204" pitchFamily="49" charset="0"/>
                <a:ea typeface="Courier New" charset="0"/>
                <a:cs typeface="Courier New" charset="0"/>
              </a:rPr>
              <a:t>VisibilityTimeout</a:t>
            </a:r>
            <a:endParaRPr lang="en-US" sz="2800" dirty="0">
              <a:solidFill>
                <a:srgbClr val="000000"/>
              </a:solidFill>
              <a:latin typeface="Lucida Console" panose="020B0609040504020204" pitchFamily="49" charset="0"/>
              <a:ea typeface="Courier New" charset="0"/>
              <a:cs typeface="Courier New" charset="0"/>
            </a:endParaRPr>
          </a:p>
          <a:p>
            <a:r>
              <a:rPr lang="en-US" dirty="0">
                <a:latin typeface="Lucida Console" panose="020B0609040504020204" pitchFamily="49" charset="0"/>
                <a:ea typeface="Courier New" charset="0"/>
                <a:cs typeface="Courier New" charset="0"/>
              </a:rPr>
              <a:t>SetQueueAttributes</a:t>
            </a:r>
          </a:p>
          <a:p>
            <a:r>
              <a:rPr lang="en-US" dirty="0">
                <a:latin typeface="Lucida Console" panose="020B0609040504020204" pitchFamily="49" charset="0"/>
                <a:ea typeface="Courier New" charset="0"/>
                <a:cs typeface="Courier New" charset="0"/>
              </a:rPr>
              <a:t>GetQueueAttributes</a:t>
            </a:r>
          </a:p>
          <a:p>
            <a:r>
              <a:rPr lang="en-US" dirty="0">
                <a:latin typeface="Lucida Console" panose="020B0609040504020204" pitchFamily="49" charset="0"/>
                <a:ea typeface="Courier New" charset="0"/>
                <a:cs typeface="Courier New" charset="0"/>
              </a:rPr>
              <a:t>GetQueueUrl</a:t>
            </a:r>
          </a:p>
          <a:p>
            <a:r>
              <a:rPr lang="en-US" dirty="0">
                <a:latin typeface="Lucida Console" panose="020B0609040504020204" pitchFamily="49" charset="0"/>
                <a:ea typeface="Courier New" charset="0"/>
                <a:cs typeface="Courier New" charset="0"/>
              </a:rPr>
              <a:t>ListQueues</a:t>
            </a:r>
          </a:p>
          <a:p>
            <a:r>
              <a:rPr lang="en-US" dirty="0">
                <a:latin typeface="Lucida Console" panose="020B0609040504020204" pitchFamily="49" charset="0"/>
                <a:ea typeface="Courier New" charset="0"/>
                <a:cs typeface="Courier New" charset="0"/>
              </a:rPr>
              <a:t>DeleteQueue</a:t>
            </a:r>
          </a:p>
        </p:txBody>
      </p:sp>
      <p:sp>
        <p:nvSpPr>
          <p:cNvPr id="4" name="Slide Number Placeholder 3"/>
          <p:cNvSpPr>
            <a:spLocks noGrp="1"/>
          </p:cNvSpPr>
          <p:nvPr>
            <p:ph type="sldNum" sz="quarter" idx="12"/>
          </p:nvPr>
        </p:nvSpPr>
        <p:spPr/>
        <p:txBody>
          <a:bodyPr/>
          <a:lstStyle/>
          <a:p>
            <a:fld id="{9FC43BFD-8FF7-A343-A8A6-E2338FCE8046}" type="slidenum">
              <a:rPr lang="en-US" smtClean="0"/>
              <a:pPr/>
              <a:t>19</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65461887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itle 1"/>
          <p:cNvSpPr>
            <a:spLocks noGrp="1"/>
          </p:cNvSpPr>
          <p:nvPr>
            <p:ph type="title"/>
          </p:nvPr>
        </p:nvSpPr>
        <p:spPr/>
        <p:txBody>
          <a:bodyPr/>
          <a:lstStyle/>
          <a:p>
            <a:r>
              <a:rPr lang="en-US" dirty="0"/>
              <a:t>Receiving messages: Short polling</a:t>
            </a:r>
          </a:p>
        </p:txBody>
      </p:sp>
      <p:sp>
        <p:nvSpPr>
          <p:cNvPr id="2" name="Slide Number Placeholder 1"/>
          <p:cNvSpPr>
            <a:spLocks noGrp="1"/>
          </p:cNvSpPr>
          <p:nvPr>
            <p:ph type="sldNum" sz="quarter" idx="12"/>
          </p:nvPr>
        </p:nvSpPr>
        <p:spPr/>
        <p:txBody>
          <a:bodyPr/>
          <a:lstStyle/>
          <a:p>
            <a:fld id="{9FC43BFD-8FF7-A343-A8A6-E2338FCE8046}" type="slidenum">
              <a:rPr lang="en-US" smtClean="0"/>
              <a:pPr/>
              <a:t>20</a:t>
            </a:fld>
            <a:endParaRPr lang="en-US" dirty="0"/>
          </a:p>
        </p:txBody>
      </p:sp>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sp>
        <p:nvSpPr>
          <p:cNvPr id="114" name="Rounded Rectangle 113"/>
          <p:cNvSpPr/>
          <p:nvPr/>
        </p:nvSpPr>
        <p:spPr>
          <a:xfrm>
            <a:off x="1326234" y="2515821"/>
            <a:ext cx="1569665" cy="3426115"/>
          </a:xfrm>
          <a:prstGeom prst="roundRect">
            <a:avLst>
              <a:gd name="adj" fmla="val 0"/>
            </a:avLst>
          </a:prstGeom>
          <a:noFill/>
          <a:ln>
            <a:solidFill>
              <a:schemeClr val="bg1">
                <a:lumMod val="50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116" name="TextBox 115"/>
          <p:cNvSpPr txBox="1"/>
          <p:nvPr/>
        </p:nvSpPr>
        <p:spPr>
          <a:xfrm>
            <a:off x="1584754" y="2920155"/>
            <a:ext cx="1075936" cy="502573"/>
          </a:xfrm>
          <a:prstGeom prst="rect">
            <a:avLst/>
          </a:prstGeom>
          <a:solidFill>
            <a:schemeClr val="tx2"/>
          </a:solidFill>
          <a:ln>
            <a:solidFill>
              <a:schemeClr val="bg1">
                <a:lumMod val="50000"/>
              </a:schemeClr>
            </a:solidFill>
          </a:ln>
        </p:spPr>
        <p:txBody>
          <a:bodyPr wrap="none" rtlCol="0">
            <a:spAutoFit/>
          </a:bodyPr>
          <a:lstStyle/>
          <a:p>
            <a:pPr algn="ctr"/>
            <a:r>
              <a:rPr lang="en-US" sz="1333" dirty="0">
                <a:latin typeface="Amazon Ember Light" charset="0"/>
                <a:ea typeface="Amazon Ember Light" charset="0"/>
                <a:cs typeface="Amazon Ember Light" charset="0"/>
              </a:rPr>
              <a:t>Component</a:t>
            </a:r>
          </a:p>
          <a:p>
            <a:pPr algn="ctr"/>
            <a:r>
              <a:rPr lang="en-US" sz="1333" dirty="0">
                <a:latin typeface="Amazon Ember Light" charset="0"/>
                <a:ea typeface="Amazon Ember Light" charset="0"/>
                <a:cs typeface="Amazon Ember Light" charset="0"/>
              </a:rPr>
              <a:t>1</a:t>
            </a:r>
          </a:p>
        </p:txBody>
      </p:sp>
      <p:sp>
        <p:nvSpPr>
          <p:cNvPr id="117" name="TextBox 116"/>
          <p:cNvSpPr txBox="1"/>
          <p:nvPr/>
        </p:nvSpPr>
        <p:spPr>
          <a:xfrm>
            <a:off x="1577724" y="3939454"/>
            <a:ext cx="1075936" cy="502573"/>
          </a:xfrm>
          <a:prstGeom prst="rect">
            <a:avLst/>
          </a:prstGeom>
          <a:solidFill>
            <a:schemeClr val="tx2"/>
          </a:solidFill>
          <a:ln>
            <a:solidFill>
              <a:schemeClr val="bg1">
                <a:lumMod val="50000"/>
              </a:schemeClr>
            </a:solidFill>
          </a:ln>
        </p:spPr>
        <p:txBody>
          <a:bodyPr wrap="none" rtlCol="0">
            <a:spAutoFit/>
          </a:bodyPr>
          <a:lstStyle/>
          <a:p>
            <a:pPr algn="ctr"/>
            <a:r>
              <a:rPr lang="en-US" sz="1333" dirty="0">
                <a:latin typeface="Amazon Ember Light" charset="0"/>
                <a:ea typeface="Amazon Ember Light" charset="0"/>
                <a:cs typeface="Amazon Ember Light" charset="0"/>
              </a:rPr>
              <a:t>Component</a:t>
            </a:r>
          </a:p>
          <a:p>
            <a:pPr algn="ctr"/>
            <a:r>
              <a:rPr lang="en-US" sz="1333" dirty="0">
                <a:latin typeface="Amazon Ember Light" charset="0"/>
                <a:ea typeface="Amazon Ember Light" charset="0"/>
                <a:cs typeface="Amazon Ember Light" charset="0"/>
              </a:rPr>
              <a:t>2</a:t>
            </a:r>
          </a:p>
        </p:txBody>
      </p:sp>
      <p:sp>
        <p:nvSpPr>
          <p:cNvPr id="118" name="TextBox 117"/>
          <p:cNvSpPr txBox="1"/>
          <p:nvPr/>
        </p:nvSpPr>
        <p:spPr>
          <a:xfrm>
            <a:off x="1584754" y="4965348"/>
            <a:ext cx="1075936" cy="502573"/>
          </a:xfrm>
          <a:prstGeom prst="rect">
            <a:avLst/>
          </a:prstGeom>
          <a:solidFill>
            <a:schemeClr val="tx2"/>
          </a:solidFill>
          <a:ln>
            <a:solidFill>
              <a:schemeClr val="bg1">
                <a:lumMod val="50000"/>
              </a:schemeClr>
            </a:solidFill>
          </a:ln>
        </p:spPr>
        <p:txBody>
          <a:bodyPr wrap="none" rtlCol="0">
            <a:spAutoFit/>
          </a:bodyPr>
          <a:lstStyle/>
          <a:p>
            <a:pPr algn="ctr"/>
            <a:r>
              <a:rPr lang="en-US" sz="1333" dirty="0">
                <a:latin typeface="Amazon Ember Light" charset="0"/>
                <a:ea typeface="Amazon Ember Light" charset="0"/>
                <a:cs typeface="Amazon Ember Light" charset="0"/>
              </a:rPr>
              <a:t>Component</a:t>
            </a:r>
          </a:p>
          <a:p>
            <a:pPr algn="ctr"/>
            <a:r>
              <a:rPr lang="en-US" sz="1333" dirty="0">
                <a:latin typeface="Amazon Ember Light" charset="0"/>
                <a:ea typeface="Amazon Ember Light" charset="0"/>
                <a:cs typeface="Amazon Ember Light" charset="0"/>
              </a:rPr>
              <a:t>3</a:t>
            </a:r>
          </a:p>
        </p:txBody>
      </p:sp>
      <p:sp>
        <p:nvSpPr>
          <p:cNvPr id="119" name="TextBox 118"/>
          <p:cNvSpPr txBox="1"/>
          <p:nvPr/>
        </p:nvSpPr>
        <p:spPr>
          <a:xfrm>
            <a:off x="6285804" y="5337674"/>
            <a:ext cx="4232249" cy="830997"/>
          </a:xfrm>
          <a:prstGeom prst="rect">
            <a:avLst/>
          </a:prstGeom>
          <a:noFill/>
        </p:spPr>
        <p:txBody>
          <a:bodyPr wrap="none" rtlCol="0">
            <a:spAutoFit/>
          </a:bodyPr>
          <a:lstStyle/>
          <a:p>
            <a:pPr algn="ctr"/>
            <a:r>
              <a:rPr lang="en-US" sz="2400" dirty="0">
                <a:latin typeface="Amazon Ember Light" charset="0"/>
                <a:ea typeface="Amazon Ember Light" charset="0"/>
                <a:cs typeface="Amazon Ember Light" charset="0"/>
              </a:rPr>
              <a:t>Only a subset of Amazon SQS</a:t>
            </a:r>
            <a:br>
              <a:rPr lang="en-US" sz="2400" dirty="0">
                <a:latin typeface="Amazon Ember Light" charset="0"/>
                <a:ea typeface="Amazon Ember Light" charset="0"/>
                <a:cs typeface="Amazon Ember Light" charset="0"/>
              </a:rPr>
            </a:br>
            <a:r>
              <a:rPr lang="en-US" sz="2400" dirty="0">
                <a:latin typeface="Amazon Ember Light" charset="0"/>
                <a:ea typeface="Amazon Ember Light" charset="0"/>
                <a:cs typeface="Amazon Ember Light" charset="0"/>
              </a:rPr>
              <a:t>servers are </a:t>
            </a:r>
            <a:r>
              <a:rPr lang="en-US" sz="2400" dirty="0">
                <a:solidFill>
                  <a:srgbClr val="000000"/>
                </a:solidFill>
                <a:latin typeface="Amazon Ember Light" charset="0"/>
                <a:ea typeface="Amazon Ember Light" charset="0"/>
                <a:cs typeface="Amazon Ember Light" charset="0"/>
              </a:rPr>
              <a:t>sampled</a:t>
            </a:r>
            <a:endParaRPr lang="en-US" sz="2400" dirty="0">
              <a:solidFill>
                <a:srgbClr val="000000"/>
              </a:solidFill>
              <a:latin typeface="Amazon Ember Light" panose="020B0403020204020204"/>
              <a:ea typeface="Amazon Ember Light" charset="0"/>
              <a:cs typeface="Amazon Ember Light" charset="0"/>
            </a:endParaRPr>
          </a:p>
        </p:txBody>
      </p:sp>
      <p:sp>
        <p:nvSpPr>
          <p:cNvPr id="120" name="TextBox 119"/>
          <p:cNvSpPr txBox="1"/>
          <p:nvPr/>
        </p:nvSpPr>
        <p:spPr>
          <a:xfrm>
            <a:off x="7152302" y="1567852"/>
            <a:ext cx="2304303" cy="830997"/>
          </a:xfrm>
          <a:prstGeom prst="rect">
            <a:avLst/>
          </a:prstGeom>
          <a:noFill/>
        </p:spPr>
        <p:txBody>
          <a:bodyPr wrap="square" rtlCol="0">
            <a:spAutoFit/>
          </a:bodyPr>
          <a:lstStyle/>
          <a:p>
            <a:pPr algn="ctr"/>
            <a:r>
              <a:rPr lang="en-US" sz="1600" dirty="0">
                <a:latin typeface="Amazon Ember Light" charset="0"/>
                <a:ea typeface="Amazon Ember Light" charset="0"/>
                <a:cs typeface="Amazon Ember Light" charset="0"/>
              </a:rPr>
              <a:t>Your </a:t>
            </a:r>
            <a:r>
              <a:rPr lang="en-US" sz="1600" dirty="0">
                <a:solidFill>
                  <a:srgbClr val="000000"/>
                </a:solidFill>
                <a:latin typeface="Amazon Ember Light" charset="0"/>
                <a:ea typeface="Amazon Ember Light" charset="0"/>
                <a:cs typeface="Amazon Ember Light" charset="0"/>
              </a:rPr>
              <a:t>queue</a:t>
            </a:r>
            <a:endParaRPr lang="en-US" sz="1600" dirty="0">
              <a:solidFill>
                <a:srgbClr val="000000"/>
              </a:solidFill>
              <a:latin typeface="Amazon Ember Light" panose="020B0403020204020204"/>
              <a:ea typeface="Amazon Ember Light" charset="0"/>
              <a:cs typeface="Amazon Ember Light" charset="0"/>
            </a:endParaRPr>
          </a:p>
          <a:p>
            <a:pPr algn="ctr"/>
            <a:r>
              <a:rPr lang="en-US" sz="1600" dirty="0">
                <a:latin typeface="Amazon Ember Light" charset="0"/>
                <a:ea typeface="Amazon Ember Light" charset="0"/>
                <a:cs typeface="Amazon Ember Light" charset="0"/>
              </a:rPr>
              <a:t>(distributed on </a:t>
            </a:r>
          </a:p>
          <a:p>
            <a:pPr algn="ctr"/>
            <a:r>
              <a:rPr lang="en-US" sz="1600" dirty="0">
                <a:latin typeface="Amazon Ember Light" charset="0"/>
                <a:ea typeface="Amazon Ember Light" charset="0"/>
                <a:cs typeface="Amazon Ember Light" charset="0"/>
              </a:rPr>
              <a:t>Amazon SQS s</a:t>
            </a:r>
            <a:r>
              <a:rPr lang="en-US" sz="1600" dirty="0">
                <a:solidFill>
                  <a:srgbClr val="000000"/>
                </a:solidFill>
                <a:latin typeface="Amazon Ember Light" charset="0"/>
                <a:ea typeface="Amazon Ember Light" charset="0"/>
                <a:cs typeface="Amazon Ember Light" charset="0"/>
              </a:rPr>
              <a:t>ervers</a:t>
            </a:r>
            <a:r>
              <a:rPr lang="en-US" sz="1600" dirty="0">
                <a:latin typeface="Amazon Ember Light" charset="0"/>
                <a:ea typeface="Amazon Ember Light" charset="0"/>
                <a:cs typeface="Amazon Ember Light" charset="0"/>
              </a:rPr>
              <a:t>)</a:t>
            </a:r>
          </a:p>
        </p:txBody>
      </p:sp>
      <p:grpSp>
        <p:nvGrpSpPr>
          <p:cNvPr id="121" name="Group 120"/>
          <p:cNvGrpSpPr/>
          <p:nvPr/>
        </p:nvGrpSpPr>
        <p:grpSpPr>
          <a:xfrm>
            <a:off x="3062469" y="2645636"/>
            <a:ext cx="2317227" cy="515309"/>
            <a:chOff x="3062469" y="2645636"/>
            <a:chExt cx="2317227" cy="515309"/>
          </a:xfrm>
        </p:grpSpPr>
        <p:sp>
          <p:nvSpPr>
            <p:cNvPr id="122" name="TextBox 121"/>
            <p:cNvSpPr txBox="1"/>
            <p:nvPr/>
          </p:nvSpPr>
          <p:spPr>
            <a:xfrm>
              <a:off x="3420128" y="2645636"/>
              <a:ext cx="1635384" cy="338554"/>
            </a:xfrm>
            <a:prstGeom prst="rect">
              <a:avLst/>
            </a:prstGeom>
            <a:noFill/>
          </p:spPr>
          <p:txBody>
            <a:bodyPr wrap="none" rtlCol="0">
              <a:spAutoFit/>
            </a:bodyPr>
            <a:lstStyle/>
            <a:p>
              <a:pPr algn="ctr"/>
              <a:r>
                <a:rPr lang="en-US" sz="1600" dirty="0">
                  <a:latin typeface="Amazon Ember Light" charset="0"/>
                  <a:ea typeface="Amazon Ember Light" charset="0"/>
                  <a:cs typeface="Amazon Ember Light" charset="0"/>
                </a:rPr>
                <a:t>ReceiveMessage</a:t>
              </a:r>
            </a:p>
          </p:txBody>
        </p:sp>
        <p:cxnSp>
          <p:nvCxnSpPr>
            <p:cNvPr id="123" name="Straight Arrow Connector 122"/>
            <p:cNvCxnSpPr/>
            <p:nvPr/>
          </p:nvCxnSpPr>
          <p:spPr>
            <a:xfrm>
              <a:off x="3062469" y="3146638"/>
              <a:ext cx="2317227" cy="14307"/>
            </a:xfrm>
            <a:prstGeom prst="straightConnector1">
              <a:avLst/>
            </a:prstGeom>
            <a:ln w="12700">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grpSp>
      <p:sp>
        <p:nvSpPr>
          <p:cNvPr id="124" name="Rounded Rectangle 123"/>
          <p:cNvSpPr/>
          <p:nvPr/>
        </p:nvSpPr>
        <p:spPr>
          <a:xfrm>
            <a:off x="5956466" y="2860669"/>
            <a:ext cx="4878451" cy="2393317"/>
          </a:xfrm>
          <a:prstGeom prst="roundRect">
            <a:avLst>
              <a:gd name="adj" fmla="val 0"/>
            </a:avLst>
          </a:prstGeom>
          <a:noFill/>
          <a:ln>
            <a:solidFill>
              <a:schemeClr val="accent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125" name="Can 124"/>
          <p:cNvSpPr/>
          <p:nvPr/>
        </p:nvSpPr>
        <p:spPr>
          <a:xfrm>
            <a:off x="6586746" y="3232984"/>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126" name="Can 125"/>
          <p:cNvSpPr/>
          <p:nvPr/>
        </p:nvSpPr>
        <p:spPr>
          <a:xfrm>
            <a:off x="7537719" y="3232984"/>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127" name="Can 126"/>
          <p:cNvSpPr/>
          <p:nvPr/>
        </p:nvSpPr>
        <p:spPr>
          <a:xfrm>
            <a:off x="8488692" y="3232984"/>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pic>
        <p:nvPicPr>
          <p:cNvPr id="128" name="Graphic 39">
            <a:extLst>
              <a:ext uri="{FF2B5EF4-FFF2-40B4-BE49-F238E27FC236}">
                <a16:creationId xmlns:a16="http://schemas.microsoft.com/office/drawing/2014/main" id="{2ACAD885-5F52-504F-842D-3D87E199BD5D}"/>
              </a:ext>
            </a:extLst>
          </p:cNvPr>
          <p:cNvPicPr>
            <a:picLocks noChangeAspect="1"/>
          </p:cNvPicPr>
          <p:nvPr/>
        </p:nvPicPr>
        <p:blipFill>
          <a:blip r:embed="rId4"/>
          <a:stretch>
            <a:fillRect/>
          </a:stretch>
        </p:blipFill>
        <p:spPr>
          <a:xfrm>
            <a:off x="5972546" y="2776981"/>
            <a:ext cx="469900" cy="469900"/>
          </a:xfrm>
          <a:prstGeom prst="rect">
            <a:avLst/>
          </a:prstGeom>
        </p:spPr>
      </p:pic>
      <p:sp>
        <p:nvSpPr>
          <p:cNvPr id="129" name="Can 128"/>
          <p:cNvSpPr/>
          <p:nvPr/>
        </p:nvSpPr>
        <p:spPr>
          <a:xfrm>
            <a:off x="9439666" y="3249300"/>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130" name="Can 129"/>
          <p:cNvSpPr/>
          <p:nvPr/>
        </p:nvSpPr>
        <p:spPr>
          <a:xfrm>
            <a:off x="6601092" y="4165628"/>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131" name="Can 130"/>
          <p:cNvSpPr/>
          <p:nvPr/>
        </p:nvSpPr>
        <p:spPr>
          <a:xfrm>
            <a:off x="7552065" y="4165628"/>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132" name="Can 131"/>
          <p:cNvSpPr/>
          <p:nvPr/>
        </p:nvSpPr>
        <p:spPr>
          <a:xfrm>
            <a:off x="8503038" y="4165628"/>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133" name="Can 132"/>
          <p:cNvSpPr/>
          <p:nvPr/>
        </p:nvSpPr>
        <p:spPr>
          <a:xfrm>
            <a:off x="9454012" y="4181944"/>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134" name="Oval 133"/>
          <p:cNvSpPr/>
          <p:nvPr/>
        </p:nvSpPr>
        <p:spPr>
          <a:xfrm>
            <a:off x="7026719" y="3498943"/>
            <a:ext cx="330721" cy="286586"/>
          </a:xfrm>
          <a:prstGeom prst="ellipse">
            <a:avLst/>
          </a:prstGeom>
          <a:solidFill>
            <a:schemeClr val="tx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latin typeface="Amazon Ember Light" charset="0"/>
                <a:ea typeface="Amazon Ember Light" charset="0"/>
                <a:cs typeface="Amazon Ember Light" charset="0"/>
              </a:rPr>
              <a:t>A</a:t>
            </a:r>
          </a:p>
        </p:txBody>
      </p:sp>
      <p:sp>
        <p:nvSpPr>
          <p:cNvPr id="135" name="Oval 134"/>
          <p:cNvSpPr/>
          <p:nvPr/>
        </p:nvSpPr>
        <p:spPr>
          <a:xfrm>
            <a:off x="7401716" y="4423803"/>
            <a:ext cx="330721" cy="286586"/>
          </a:xfrm>
          <a:prstGeom prst="ellipse">
            <a:avLst/>
          </a:prstGeom>
          <a:solidFill>
            <a:schemeClr val="bg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solidFill>
                  <a:schemeClr val="tx1"/>
                </a:solidFill>
                <a:latin typeface="Amazon Ember Light" charset="0"/>
                <a:ea typeface="Amazon Ember Light" charset="0"/>
                <a:cs typeface="Amazon Ember Light" charset="0"/>
              </a:rPr>
              <a:t>E</a:t>
            </a:r>
            <a:endParaRPr lang="en-US" sz="1600" dirty="0">
              <a:solidFill>
                <a:schemeClr val="tx1"/>
              </a:solidFill>
              <a:latin typeface="Amazon Ember Light" charset="0"/>
              <a:ea typeface="Amazon Ember Light" charset="0"/>
              <a:cs typeface="Amazon Ember Light" charset="0"/>
            </a:endParaRPr>
          </a:p>
        </p:txBody>
      </p:sp>
      <p:sp>
        <p:nvSpPr>
          <p:cNvPr id="136" name="Oval 135"/>
          <p:cNvSpPr/>
          <p:nvPr/>
        </p:nvSpPr>
        <p:spPr>
          <a:xfrm>
            <a:off x="8392227" y="3498943"/>
            <a:ext cx="330721" cy="286586"/>
          </a:xfrm>
          <a:prstGeom prst="ellipse">
            <a:avLst/>
          </a:prstGeom>
          <a:solidFill>
            <a:schemeClr val="tx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latin typeface="Amazon Ember Light" charset="0"/>
                <a:ea typeface="Amazon Ember Light" charset="0"/>
                <a:cs typeface="Amazon Ember Light" charset="0"/>
              </a:rPr>
              <a:t>A</a:t>
            </a:r>
          </a:p>
        </p:txBody>
      </p:sp>
      <p:grpSp>
        <p:nvGrpSpPr>
          <p:cNvPr id="137" name="Group 136"/>
          <p:cNvGrpSpPr/>
          <p:nvPr/>
        </p:nvGrpSpPr>
        <p:grpSpPr>
          <a:xfrm>
            <a:off x="2973719" y="3429209"/>
            <a:ext cx="2465729" cy="1234870"/>
            <a:chOff x="2973719" y="3429209"/>
            <a:chExt cx="2465729" cy="1234870"/>
          </a:xfrm>
        </p:grpSpPr>
        <p:sp>
          <p:nvSpPr>
            <p:cNvPr id="138" name="TextBox 137"/>
            <p:cNvSpPr txBox="1"/>
            <p:nvPr/>
          </p:nvSpPr>
          <p:spPr>
            <a:xfrm>
              <a:off x="3396662" y="3429209"/>
              <a:ext cx="1825628" cy="830997"/>
            </a:xfrm>
            <a:prstGeom prst="rect">
              <a:avLst/>
            </a:prstGeom>
            <a:noFill/>
          </p:spPr>
          <p:txBody>
            <a:bodyPr wrap="none" rtlCol="0">
              <a:spAutoFit/>
            </a:bodyPr>
            <a:lstStyle/>
            <a:p>
              <a:pPr algn="ctr"/>
              <a:r>
                <a:rPr lang="en-US" sz="1600" dirty="0">
                  <a:latin typeface="Amazon Ember Light" charset="0"/>
                  <a:ea typeface="Amazon Ember Light" charset="0"/>
                  <a:cs typeface="Amazon Ember Light" charset="0"/>
                </a:rPr>
                <a:t>Messages</a:t>
              </a:r>
            </a:p>
            <a:p>
              <a:pPr algn="ctr"/>
              <a:r>
                <a:rPr lang="en-US" sz="1600" dirty="0">
                  <a:latin typeface="Amazon Ember Light" charset="0"/>
                  <a:ea typeface="Amazon Ember Light" charset="0"/>
                  <a:cs typeface="Amazon Ember Light" charset="0"/>
                </a:rPr>
                <a:t>received from </a:t>
              </a:r>
            </a:p>
            <a:p>
              <a:pPr algn="ctr"/>
              <a:r>
                <a:rPr lang="en-US" sz="1600" dirty="0">
                  <a:latin typeface="Amazon Ember Light" charset="0"/>
                  <a:ea typeface="Amazon Ember Light" charset="0"/>
                  <a:cs typeface="Amazon Ember Light" charset="0"/>
                </a:rPr>
                <a:t>sampled </a:t>
              </a:r>
              <a:r>
                <a:rPr lang="en-US" sz="1600" dirty="0">
                  <a:solidFill>
                    <a:srgbClr val="000000"/>
                  </a:solidFill>
                  <a:latin typeface="Amazon Ember Light" charset="0"/>
                  <a:ea typeface="Amazon Ember Light" charset="0"/>
                  <a:cs typeface="Amazon Ember Light" charset="0"/>
                </a:rPr>
                <a:t>servers</a:t>
              </a:r>
              <a:endParaRPr lang="en-US" sz="1600" dirty="0">
                <a:solidFill>
                  <a:srgbClr val="000000"/>
                </a:solidFill>
                <a:latin typeface="Amazon Ember Light" panose="020B0403020204020204"/>
                <a:ea typeface="Amazon Ember Light" charset="0"/>
                <a:cs typeface="Amazon Ember Light" charset="0"/>
              </a:endParaRPr>
            </a:p>
          </p:txBody>
        </p:sp>
        <p:cxnSp>
          <p:nvCxnSpPr>
            <p:cNvPr id="139" name="Straight Arrow Connector 138"/>
            <p:cNvCxnSpPr/>
            <p:nvPr/>
          </p:nvCxnSpPr>
          <p:spPr>
            <a:xfrm>
              <a:off x="2973719" y="4520298"/>
              <a:ext cx="768230" cy="0"/>
            </a:xfrm>
            <a:prstGeom prst="straightConnector1">
              <a:avLst/>
            </a:prstGeom>
            <a:ln w="12700">
              <a:solidFill>
                <a:schemeClr val="tx1">
                  <a:lumMod val="50000"/>
                  <a:lumOff val="50000"/>
                </a:schemeClr>
              </a:solidFill>
              <a:headEnd type="arrow"/>
              <a:tailEnd type="none"/>
            </a:ln>
          </p:spPr>
          <p:style>
            <a:lnRef idx="2">
              <a:schemeClr val="accent1"/>
            </a:lnRef>
            <a:fillRef idx="0">
              <a:schemeClr val="accent1"/>
            </a:fillRef>
            <a:effectRef idx="1">
              <a:schemeClr val="accent1"/>
            </a:effectRef>
            <a:fontRef idx="minor">
              <a:schemeClr val="tx1"/>
            </a:fontRef>
          </p:style>
        </p:cxnSp>
        <p:sp>
          <p:nvSpPr>
            <p:cNvPr id="140" name="Oval 139"/>
            <p:cNvSpPr/>
            <p:nvPr/>
          </p:nvSpPr>
          <p:spPr>
            <a:xfrm>
              <a:off x="3823836" y="4377005"/>
              <a:ext cx="330721" cy="286586"/>
            </a:xfrm>
            <a:prstGeom prst="ellipse">
              <a:avLst/>
            </a:prstGeom>
            <a:solidFill>
              <a:schemeClr val="tx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latin typeface="Amazon Ember Light" charset="0"/>
                  <a:ea typeface="Amazon Ember Light" charset="0"/>
                  <a:cs typeface="Amazon Ember Light" charset="0"/>
                </a:rPr>
                <a:t>A</a:t>
              </a:r>
            </a:p>
          </p:txBody>
        </p:sp>
        <p:sp>
          <p:nvSpPr>
            <p:cNvPr id="141" name="Oval 140"/>
            <p:cNvSpPr/>
            <p:nvPr/>
          </p:nvSpPr>
          <p:spPr>
            <a:xfrm>
              <a:off x="4252133" y="4377493"/>
              <a:ext cx="330721" cy="286586"/>
            </a:xfrm>
            <a:prstGeom prst="ellipse">
              <a:avLst/>
            </a:prstGeom>
            <a:solidFill>
              <a:schemeClr val="accent6"/>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2"/>
                  </a:solidFill>
                  <a:latin typeface="Amazon Ember Light" charset="0"/>
                  <a:ea typeface="Amazon Ember Light" charset="0"/>
                  <a:cs typeface="Amazon Ember Light" charset="0"/>
                </a:rPr>
                <a:t>B</a:t>
              </a:r>
            </a:p>
          </p:txBody>
        </p:sp>
        <p:sp>
          <p:nvSpPr>
            <p:cNvPr id="142" name="Oval 141"/>
            <p:cNvSpPr/>
            <p:nvPr/>
          </p:nvSpPr>
          <p:spPr>
            <a:xfrm>
              <a:off x="4680430" y="4369873"/>
              <a:ext cx="330721" cy="286586"/>
            </a:xfrm>
            <a:prstGeom prst="ellipse">
              <a:avLst/>
            </a:prstGeom>
            <a:solidFill>
              <a:schemeClr val="accent4"/>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accent1"/>
                  </a:solidFill>
                  <a:latin typeface="Amazon Ember Light" charset="0"/>
                  <a:ea typeface="Amazon Ember Light" charset="0"/>
                  <a:cs typeface="Amazon Ember Light" charset="0"/>
                </a:rPr>
                <a:t>C</a:t>
              </a:r>
            </a:p>
          </p:txBody>
        </p:sp>
        <p:sp>
          <p:nvSpPr>
            <p:cNvPr id="143" name="Oval 142"/>
            <p:cNvSpPr/>
            <p:nvPr/>
          </p:nvSpPr>
          <p:spPr>
            <a:xfrm>
              <a:off x="5108727" y="4369873"/>
              <a:ext cx="330721" cy="286586"/>
            </a:xfrm>
            <a:prstGeom prst="ellipse">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Amazon Ember Light" charset="0"/>
                  <a:ea typeface="Amazon Ember Light" charset="0"/>
                  <a:cs typeface="Amazon Ember Light" charset="0"/>
                </a:rPr>
                <a:t>D</a:t>
              </a:r>
            </a:p>
          </p:txBody>
        </p:sp>
      </p:grpSp>
      <p:sp>
        <p:nvSpPr>
          <p:cNvPr id="144" name="Oval 143"/>
          <p:cNvSpPr/>
          <p:nvPr/>
        </p:nvSpPr>
        <p:spPr>
          <a:xfrm>
            <a:off x="8392227" y="4423803"/>
            <a:ext cx="330721" cy="286586"/>
          </a:xfrm>
          <a:prstGeom prst="ellipse">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Amazon Ember Light" charset="0"/>
                <a:ea typeface="Amazon Ember Light" charset="0"/>
                <a:cs typeface="Amazon Ember Light" charset="0"/>
              </a:rPr>
              <a:t>D</a:t>
            </a:r>
          </a:p>
        </p:txBody>
      </p:sp>
      <p:sp>
        <p:nvSpPr>
          <p:cNvPr id="145" name="Oval 144"/>
          <p:cNvSpPr/>
          <p:nvPr/>
        </p:nvSpPr>
        <p:spPr>
          <a:xfrm>
            <a:off x="7026719" y="4423803"/>
            <a:ext cx="330721" cy="286586"/>
          </a:xfrm>
          <a:prstGeom prst="ellipse">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Amazon Ember Light" charset="0"/>
                <a:ea typeface="Amazon Ember Light" charset="0"/>
                <a:cs typeface="Amazon Ember Light" charset="0"/>
              </a:rPr>
              <a:t>D</a:t>
            </a:r>
          </a:p>
        </p:txBody>
      </p:sp>
      <p:sp>
        <p:nvSpPr>
          <p:cNvPr id="146" name="Oval 145"/>
          <p:cNvSpPr/>
          <p:nvPr/>
        </p:nvSpPr>
        <p:spPr>
          <a:xfrm>
            <a:off x="9365667" y="3498943"/>
            <a:ext cx="330721" cy="286586"/>
          </a:xfrm>
          <a:prstGeom prst="ellipse">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Amazon Ember Light" charset="0"/>
                <a:ea typeface="Amazon Ember Light" charset="0"/>
                <a:cs typeface="Amazon Ember Light" charset="0"/>
              </a:rPr>
              <a:t>D</a:t>
            </a:r>
          </a:p>
        </p:txBody>
      </p:sp>
      <p:sp>
        <p:nvSpPr>
          <p:cNvPr id="147" name="Oval 146"/>
          <p:cNvSpPr/>
          <p:nvPr/>
        </p:nvSpPr>
        <p:spPr>
          <a:xfrm>
            <a:off x="9931019" y="3498943"/>
            <a:ext cx="330721" cy="286586"/>
          </a:xfrm>
          <a:prstGeom prst="ellipse">
            <a:avLst/>
          </a:prstGeom>
          <a:solidFill>
            <a:schemeClr val="accent6"/>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2"/>
                </a:solidFill>
                <a:latin typeface="Amazon Ember Light" charset="0"/>
                <a:ea typeface="Amazon Ember Light" charset="0"/>
                <a:cs typeface="Amazon Ember Light" charset="0"/>
              </a:rPr>
              <a:t>B</a:t>
            </a:r>
          </a:p>
        </p:txBody>
      </p:sp>
      <p:sp>
        <p:nvSpPr>
          <p:cNvPr id="148" name="Oval 147"/>
          <p:cNvSpPr/>
          <p:nvPr/>
        </p:nvSpPr>
        <p:spPr>
          <a:xfrm>
            <a:off x="6442103" y="3498943"/>
            <a:ext cx="330721" cy="286586"/>
          </a:xfrm>
          <a:prstGeom prst="ellipse">
            <a:avLst/>
          </a:prstGeom>
          <a:solidFill>
            <a:schemeClr val="accent6"/>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2"/>
                </a:solidFill>
                <a:latin typeface="Amazon Ember Light" charset="0"/>
                <a:ea typeface="Amazon Ember Light" charset="0"/>
                <a:cs typeface="Amazon Ember Light" charset="0"/>
              </a:rPr>
              <a:t>B</a:t>
            </a:r>
          </a:p>
        </p:txBody>
      </p:sp>
      <p:sp>
        <p:nvSpPr>
          <p:cNvPr id="149" name="Oval 148"/>
          <p:cNvSpPr/>
          <p:nvPr/>
        </p:nvSpPr>
        <p:spPr>
          <a:xfrm>
            <a:off x="6442103" y="4423803"/>
            <a:ext cx="330721" cy="286586"/>
          </a:xfrm>
          <a:prstGeom prst="ellipse">
            <a:avLst/>
          </a:prstGeom>
          <a:solidFill>
            <a:schemeClr val="bg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solidFill>
                  <a:schemeClr val="accent1"/>
                </a:solidFill>
                <a:latin typeface="Amazon Ember Light" charset="0"/>
                <a:ea typeface="Amazon Ember Light" charset="0"/>
                <a:cs typeface="Amazon Ember Light" charset="0"/>
              </a:rPr>
              <a:t>E</a:t>
            </a:r>
            <a:endParaRPr lang="en-US" sz="1600" dirty="0">
              <a:solidFill>
                <a:schemeClr val="accent1"/>
              </a:solidFill>
              <a:latin typeface="Amazon Ember Light" charset="0"/>
              <a:ea typeface="Amazon Ember Light" charset="0"/>
              <a:cs typeface="Amazon Ember Light" charset="0"/>
            </a:endParaRPr>
          </a:p>
        </p:txBody>
      </p:sp>
      <p:sp>
        <p:nvSpPr>
          <p:cNvPr id="150" name="Oval 149"/>
          <p:cNvSpPr/>
          <p:nvPr/>
        </p:nvSpPr>
        <p:spPr>
          <a:xfrm>
            <a:off x="8005698" y="3498943"/>
            <a:ext cx="330721" cy="286586"/>
          </a:xfrm>
          <a:prstGeom prst="ellipse">
            <a:avLst/>
          </a:prstGeom>
          <a:solidFill>
            <a:schemeClr val="accent4"/>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accent1"/>
                </a:solidFill>
                <a:latin typeface="Amazon Ember Light" charset="0"/>
                <a:ea typeface="Amazon Ember Light" charset="0"/>
                <a:cs typeface="Amazon Ember Light" charset="0"/>
              </a:rPr>
              <a:t>C</a:t>
            </a:r>
          </a:p>
        </p:txBody>
      </p:sp>
      <p:sp>
        <p:nvSpPr>
          <p:cNvPr id="151" name="Oval 150"/>
          <p:cNvSpPr/>
          <p:nvPr/>
        </p:nvSpPr>
        <p:spPr>
          <a:xfrm>
            <a:off x="8950089" y="4423803"/>
            <a:ext cx="330721" cy="286586"/>
          </a:xfrm>
          <a:prstGeom prst="ellipse">
            <a:avLst/>
          </a:prstGeom>
          <a:solidFill>
            <a:schemeClr val="accent4"/>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accent1"/>
                </a:solidFill>
                <a:latin typeface="Amazon Ember Light" charset="0"/>
                <a:ea typeface="Amazon Ember Light" charset="0"/>
                <a:cs typeface="Amazon Ember Light" charset="0"/>
              </a:rPr>
              <a:t>C</a:t>
            </a:r>
          </a:p>
        </p:txBody>
      </p:sp>
      <p:sp>
        <p:nvSpPr>
          <p:cNvPr id="152" name="Oval 151"/>
          <p:cNvSpPr/>
          <p:nvPr/>
        </p:nvSpPr>
        <p:spPr>
          <a:xfrm>
            <a:off x="7401716" y="3498943"/>
            <a:ext cx="330721" cy="286586"/>
          </a:xfrm>
          <a:prstGeom prst="ellipse">
            <a:avLst/>
          </a:prstGeom>
          <a:solidFill>
            <a:schemeClr val="accent6"/>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2"/>
                </a:solidFill>
                <a:latin typeface="Amazon Ember Light" charset="0"/>
                <a:ea typeface="Amazon Ember Light" charset="0"/>
                <a:cs typeface="Amazon Ember Light" charset="0"/>
              </a:rPr>
              <a:t>B</a:t>
            </a:r>
          </a:p>
        </p:txBody>
      </p:sp>
      <p:sp>
        <p:nvSpPr>
          <p:cNvPr id="153" name="Oval 152"/>
          <p:cNvSpPr/>
          <p:nvPr/>
        </p:nvSpPr>
        <p:spPr>
          <a:xfrm>
            <a:off x="9931019" y="4423803"/>
            <a:ext cx="330721" cy="286586"/>
          </a:xfrm>
          <a:prstGeom prst="ellipse">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Amazon Ember Light" charset="0"/>
                <a:ea typeface="Amazon Ember Light" charset="0"/>
                <a:cs typeface="Amazon Ember Light" charset="0"/>
              </a:rPr>
              <a:t>D</a:t>
            </a:r>
          </a:p>
        </p:txBody>
      </p:sp>
      <p:sp>
        <p:nvSpPr>
          <p:cNvPr id="154" name="Oval 153"/>
          <p:cNvSpPr/>
          <p:nvPr/>
        </p:nvSpPr>
        <p:spPr>
          <a:xfrm>
            <a:off x="8005698" y="4423803"/>
            <a:ext cx="330721" cy="286586"/>
          </a:xfrm>
          <a:prstGeom prst="ellipse">
            <a:avLst/>
          </a:prstGeom>
          <a:solidFill>
            <a:schemeClr val="accent6"/>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2"/>
                </a:solidFill>
                <a:latin typeface="Amazon Ember Light" charset="0"/>
                <a:ea typeface="Amazon Ember Light" charset="0"/>
                <a:cs typeface="Amazon Ember Light" charset="0"/>
              </a:rPr>
              <a:t>B</a:t>
            </a:r>
          </a:p>
        </p:txBody>
      </p:sp>
      <p:sp>
        <p:nvSpPr>
          <p:cNvPr id="155" name="Oval 154"/>
          <p:cNvSpPr/>
          <p:nvPr/>
        </p:nvSpPr>
        <p:spPr>
          <a:xfrm>
            <a:off x="9365667" y="4423803"/>
            <a:ext cx="330721" cy="286586"/>
          </a:xfrm>
          <a:prstGeom prst="ellipse">
            <a:avLst/>
          </a:prstGeom>
          <a:solidFill>
            <a:schemeClr val="accent4"/>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accent1"/>
                </a:solidFill>
                <a:latin typeface="Amazon Ember Light" charset="0"/>
                <a:ea typeface="Amazon Ember Light" charset="0"/>
                <a:cs typeface="Amazon Ember Light" charset="0"/>
              </a:rPr>
              <a:t>C</a:t>
            </a:r>
          </a:p>
        </p:txBody>
      </p:sp>
      <p:sp>
        <p:nvSpPr>
          <p:cNvPr id="156" name="Oval 155"/>
          <p:cNvSpPr/>
          <p:nvPr/>
        </p:nvSpPr>
        <p:spPr>
          <a:xfrm>
            <a:off x="8950089" y="3498943"/>
            <a:ext cx="330721" cy="286586"/>
          </a:xfrm>
          <a:prstGeom prst="ellipse">
            <a:avLst/>
          </a:prstGeom>
          <a:solidFill>
            <a:schemeClr val="accent4"/>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accent1"/>
                </a:solidFill>
                <a:latin typeface="Amazon Ember Light" charset="0"/>
                <a:ea typeface="Amazon Ember Light" charset="0"/>
                <a:cs typeface="Amazon Ember Light" charset="0"/>
              </a:rPr>
              <a:t>C</a:t>
            </a:r>
          </a:p>
        </p:txBody>
      </p:sp>
      <p:sp>
        <p:nvSpPr>
          <p:cNvPr id="48" name="TextBox 47"/>
          <p:cNvSpPr txBox="1"/>
          <p:nvPr/>
        </p:nvSpPr>
        <p:spPr>
          <a:xfrm>
            <a:off x="1048916" y="1898412"/>
            <a:ext cx="2124300" cy="584775"/>
          </a:xfrm>
          <a:prstGeom prst="rect">
            <a:avLst/>
          </a:prstGeom>
          <a:noFill/>
        </p:spPr>
        <p:txBody>
          <a:bodyPr wrap="none" rtlCol="0">
            <a:spAutoFit/>
          </a:bodyPr>
          <a:lstStyle/>
          <a:p>
            <a:pPr algn="ctr"/>
            <a:r>
              <a:rPr lang="en-US" sz="1600" dirty="0" smtClean="0">
                <a:solidFill>
                  <a:srgbClr val="000000"/>
                </a:solidFill>
                <a:latin typeface="Amazon Ember Light" charset="0"/>
                <a:ea typeface="Amazon Ember Light" charset="0"/>
                <a:cs typeface="Amazon Ember Light" charset="0"/>
              </a:rPr>
              <a:t>Your</a:t>
            </a:r>
            <a:r>
              <a:rPr lang="en-US" sz="1600" dirty="0" smtClean="0">
                <a:latin typeface="Amazon Ember Light" charset="0"/>
                <a:ea typeface="Amazon Ember Light" charset="0"/>
                <a:cs typeface="Amazon Ember Light" charset="0"/>
              </a:rPr>
              <a:t> </a:t>
            </a:r>
            <a:r>
              <a:rPr lang="en-US" sz="1600" dirty="0">
                <a:latin typeface="Amazon Ember Light" charset="0"/>
                <a:ea typeface="Amazon Ember Light" charset="0"/>
                <a:cs typeface="Amazon Ember Light" charset="0"/>
              </a:rPr>
              <a:t>distributed</a:t>
            </a:r>
          </a:p>
          <a:p>
            <a:pPr algn="ctr"/>
            <a:r>
              <a:rPr lang="en-US" sz="1600" dirty="0" smtClean="0">
                <a:latin typeface="Amazon Ember Light" charset="0"/>
                <a:ea typeface="Amazon Ember Light" charset="0"/>
                <a:cs typeface="Amazon Ember Light" charset="0"/>
              </a:rPr>
              <a:t>system’s components</a:t>
            </a:r>
            <a:endParaRPr lang="en-US" sz="1600" dirty="0">
              <a:latin typeface="Amazon Ember Light" charset="0"/>
              <a:ea typeface="Amazon Ember Light" charset="0"/>
              <a:cs typeface="Amazon Ember Light" charset="0"/>
            </a:endParaRPr>
          </a:p>
        </p:txBody>
      </p:sp>
    </p:spTree>
    <p:custDataLst>
      <p:tags r:id="rId1"/>
    </p:custDataLst>
    <p:extLst>
      <p:ext uri="{BB962C8B-B14F-4D97-AF65-F5344CB8AC3E}">
        <p14:creationId xmlns:p14="http://schemas.microsoft.com/office/powerpoint/2010/main" val="27822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mph" presetSubtype="2" fill="hold" nodeType="clickEffect">
                                  <p:stCondLst>
                                    <p:cond delay="0"/>
                                  </p:stCondLst>
                                  <p:childTnLst>
                                    <p:animClr clrSpc="rgb" dir="cw">
                                      <p:cBhvr>
                                        <p:cTn id="12" dur="100" fill="hold"/>
                                        <p:tgtEl>
                                          <p:spTgt spid="125"/>
                                        </p:tgtEl>
                                        <p:attrNameLst>
                                          <p:attrName>fillcolor</p:attrName>
                                        </p:attrNameLst>
                                      </p:cBhvr>
                                      <p:to>
                                        <a:schemeClr val="accent2"/>
                                      </p:to>
                                    </p:animClr>
                                    <p:set>
                                      <p:cBhvr>
                                        <p:cTn id="13" dur="100" fill="hold"/>
                                        <p:tgtEl>
                                          <p:spTgt spid="125"/>
                                        </p:tgtEl>
                                        <p:attrNameLst>
                                          <p:attrName>fill.type</p:attrName>
                                        </p:attrNameLst>
                                      </p:cBhvr>
                                      <p:to>
                                        <p:strVal val="solid"/>
                                      </p:to>
                                    </p:set>
                                    <p:set>
                                      <p:cBhvr>
                                        <p:cTn id="14" dur="100" fill="hold"/>
                                        <p:tgtEl>
                                          <p:spTgt spid="125"/>
                                        </p:tgtEl>
                                        <p:attrNameLst>
                                          <p:attrName>fill.on</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 presetClass="emph" presetSubtype="2" fill="hold" nodeType="clickEffect">
                                  <p:stCondLst>
                                    <p:cond delay="0"/>
                                  </p:stCondLst>
                                  <p:childTnLst>
                                    <p:animClr clrSpc="rgb" dir="cw">
                                      <p:cBhvr>
                                        <p:cTn id="18" dur="100" fill="hold"/>
                                        <p:tgtEl>
                                          <p:spTgt spid="133"/>
                                        </p:tgtEl>
                                        <p:attrNameLst>
                                          <p:attrName>fillcolor</p:attrName>
                                        </p:attrNameLst>
                                      </p:cBhvr>
                                      <p:to>
                                        <a:schemeClr val="accent2"/>
                                      </p:to>
                                    </p:animClr>
                                    <p:set>
                                      <p:cBhvr>
                                        <p:cTn id="19" dur="100" fill="hold"/>
                                        <p:tgtEl>
                                          <p:spTgt spid="133"/>
                                        </p:tgtEl>
                                        <p:attrNameLst>
                                          <p:attrName>fill.type</p:attrName>
                                        </p:attrNameLst>
                                      </p:cBhvr>
                                      <p:to>
                                        <p:strVal val="solid"/>
                                      </p:to>
                                    </p:set>
                                    <p:set>
                                      <p:cBhvr>
                                        <p:cTn id="20" dur="100" fill="hold"/>
                                        <p:tgtEl>
                                          <p:spTgt spid="133"/>
                                        </p:tgtEl>
                                        <p:attrNameLst>
                                          <p:attrName>fill.on</p:attrName>
                                        </p:attrNameLst>
                                      </p:cBhvr>
                                      <p:to>
                                        <p:strVal val="true"/>
                                      </p:to>
                                    </p:set>
                                  </p:childTnLst>
                                </p:cTn>
                              </p:par>
                            </p:childTnLst>
                          </p:cTn>
                        </p:par>
                      </p:childTnLst>
                    </p:cTn>
                  </p:par>
                  <p:par>
                    <p:cTn id="21" fill="hold">
                      <p:stCondLst>
                        <p:cond delay="indefinite"/>
                      </p:stCondLst>
                      <p:childTnLst>
                        <p:par>
                          <p:cTn id="22" fill="hold">
                            <p:stCondLst>
                              <p:cond delay="0"/>
                            </p:stCondLst>
                            <p:childTnLst>
                              <p:par>
                                <p:cTn id="23" presetID="1" presetClass="emph" presetSubtype="2" fill="hold" nodeType="clickEffect">
                                  <p:stCondLst>
                                    <p:cond delay="0"/>
                                  </p:stCondLst>
                                  <p:childTnLst>
                                    <p:animClr clrSpc="rgb" dir="cw">
                                      <p:cBhvr>
                                        <p:cTn id="24" dur="100" fill="hold"/>
                                        <p:tgtEl>
                                          <p:spTgt spid="127"/>
                                        </p:tgtEl>
                                        <p:attrNameLst>
                                          <p:attrName>fillcolor</p:attrName>
                                        </p:attrNameLst>
                                      </p:cBhvr>
                                      <p:to>
                                        <a:schemeClr val="accent2"/>
                                      </p:to>
                                    </p:animClr>
                                    <p:set>
                                      <p:cBhvr>
                                        <p:cTn id="25" dur="100" fill="hold"/>
                                        <p:tgtEl>
                                          <p:spTgt spid="127"/>
                                        </p:tgtEl>
                                        <p:attrNameLst>
                                          <p:attrName>fill.type</p:attrName>
                                        </p:attrNameLst>
                                      </p:cBhvr>
                                      <p:to>
                                        <p:strVal val="solid"/>
                                      </p:to>
                                    </p:set>
                                    <p:set>
                                      <p:cBhvr>
                                        <p:cTn id="26" dur="100" fill="hold"/>
                                        <p:tgtEl>
                                          <p:spTgt spid="127"/>
                                        </p:tgtEl>
                                        <p:attrNameLst>
                                          <p:attrName>fill.on</p:attrName>
                                        </p:attrNameLst>
                                      </p:cBhvr>
                                      <p:to>
                                        <p:strVal val="true"/>
                                      </p:to>
                                    </p:set>
                                  </p:childTnLst>
                                </p:cTn>
                              </p:par>
                            </p:childTnLst>
                          </p:cTn>
                        </p:par>
                      </p:childTnLst>
                    </p:cTn>
                  </p:par>
                  <p:par>
                    <p:cTn id="27" fill="hold">
                      <p:stCondLst>
                        <p:cond delay="indefinite"/>
                      </p:stCondLst>
                      <p:childTnLst>
                        <p:par>
                          <p:cTn id="28" fill="hold">
                            <p:stCondLst>
                              <p:cond delay="0"/>
                            </p:stCondLst>
                            <p:childTnLst>
                              <p:par>
                                <p:cTn id="29" presetID="1" presetClass="emph" presetSubtype="2" fill="hold" nodeType="clickEffect">
                                  <p:stCondLst>
                                    <p:cond delay="0"/>
                                  </p:stCondLst>
                                  <p:childTnLst>
                                    <p:animClr clrSpc="rgb" dir="cw">
                                      <p:cBhvr>
                                        <p:cTn id="30" dur="100" fill="hold"/>
                                        <p:tgtEl>
                                          <p:spTgt spid="129"/>
                                        </p:tgtEl>
                                        <p:attrNameLst>
                                          <p:attrName>fillcolor</p:attrName>
                                        </p:attrNameLst>
                                      </p:cBhvr>
                                      <p:to>
                                        <a:schemeClr val="accent2"/>
                                      </p:to>
                                    </p:animClr>
                                    <p:set>
                                      <p:cBhvr>
                                        <p:cTn id="31" dur="100" fill="hold"/>
                                        <p:tgtEl>
                                          <p:spTgt spid="129"/>
                                        </p:tgtEl>
                                        <p:attrNameLst>
                                          <p:attrName>fill.type</p:attrName>
                                        </p:attrNameLst>
                                      </p:cBhvr>
                                      <p:to>
                                        <p:strVal val="solid"/>
                                      </p:to>
                                    </p:set>
                                    <p:set>
                                      <p:cBhvr>
                                        <p:cTn id="32" dur="100" fill="hold"/>
                                        <p:tgtEl>
                                          <p:spTgt spid="129"/>
                                        </p:tgtEl>
                                        <p:attrNameLst>
                                          <p:attrName>fill.on</p:attrName>
                                        </p:attrNameLst>
                                      </p:cBhvr>
                                      <p:to>
                                        <p:strVal val="tru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Rounded Rectangle 92"/>
          <p:cNvSpPr/>
          <p:nvPr/>
        </p:nvSpPr>
        <p:spPr>
          <a:xfrm>
            <a:off x="1326234" y="2515821"/>
            <a:ext cx="1569665" cy="3426115"/>
          </a:xfrm>
          <a:prstGeom prst="roundRect">
            <a:avLst>
              <a:gd name="adj" fmla="val 0"/>
            </a:avLst>
          </a:prstGeom>
          <a:noFill/>
          <a:ln>
            <a:solidFill>
              <a:schemeClr val="bg1">
                <a:lumMod val="50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97" name="TextBox 96"/>
          <p:cNvSpPr txBox="1"/>
          <p:nvPr/>
        </p:nvSpPr>
        <p:spPr>
          <a:xfrm>
            <a:off x="1584754" y="2920155"/>
            <a:ext cx="1075936" cy="502573"/>
          </a:xfrm>
          <a:prstGeom prst="rect">
            <a:avLst/>
          </a:prstGeom>
          <a:solidFill>
            <a:schemeClr val="tx2"/>
          </a:solidFill>
          <a:ln>
            <a:solidFill>
              <a:schemeClr val="bg1">
                <a:lumMod val="50000"/>
              </a:schemeClr>
            </a:solidFill>
          </a:ln>
        </p:spPr>
        <p:txBody>
          <a:bodyPr wrap="none" rtlCol="0">
            <a:spAutoFit/>
          </a:bodyPr>
          <a:lstStyle/>
          <a:p>
            <a:pPr algn="ctr"/>
            <a:r>
              <a:rPr lang="en-US" sz="1333" dirty="0">
                <a:latin typeface="Amazon Ember Light" charset="0"/>
                <a:ea typeface="Amazon Ember Light" charset="0"/>
                <a:cs typeface="Amazon Ember Light" charset="0"/>
              </a:rPr>
              <a:t>Component</a:t>
            </a:r>
          </a:p>
          <a:p>
            <a:pPr algn="ctr"/>
            <a:r>
              <a:rPr lang="en-US" sz="1333" dirty="0">
                <a:latin typeface="Amazon Ember Light" charset="0"/>
                <a:ea typeface="Amazon Ember Light" charset="0"/>
                <a:cs typeface="Amazon Ember Light" charset="0"/>
              </a:rPr>
              <a:t>1</a:t>
            </a:r>
          </a:p>
        </p:txBody>
      </p:sp>
      <p:sp>
        <p:nvSpPr>
          <p:cNvPr id="98" name="TextBox 97"/>
          <p:cNvSpPr txBox="1"/>
          <p:nvPr/>
        </p:nvSpPr>
        <p:spPr>
          <a:xfrm>
            <a:off x="1577724" y="3939454"/>
            <a:ext cx="1075936" cy="502573"/>
          </a:xfrm>
          <a:prstGeom prst="rect">
            <a:avLst/>
          </a:prstGeom>
          <a:solidFill>
            <a:schemeClr val="tx2"/>
          </a:solidFill>
          <a:ln>
            <a:solidFill>
              <a:schemeClr val="bg1">
                <a:lumMod val="50000"/>
              </a:schemeClr>
            </a:solidFill>
          </a:ln>
        </p:spPr>
        <p:txBody>
          <a:bodyPr wrap="none" rtlCol="0">
            <a:spAutoFit/>
          </a:bodyPr>
          <a:lstStyle/>
          <a:p>
            <a:pPr algn="ctr"/>
            <a:r>
              <a:rPr lang="en-US" sz="1333" dirty="0">
                <a:latin typeface="Amazon Ember Light" charset="0"/>
                <a:ea typeface="Amazon Ember Light" charset="0"/>
                <a:cs typeface="Amazon Ember Light" charset="0"/>
              </a:rPr>
              <a:t>Component</a:t>
            </a:r>
          </a:p>
          <a:p>
            <a:pPr algn="ctr"/>
            <a:r>
              <a:rPr lang="en-US" sz="1333" dirty="0">
                <a:latin typeface="Amazon Ember Light" charset="0"/>
                <a:ea typeface="Amazon Ember Light" charset="0"/>
                <a:cs typeface="Amazon Ember Light" charset="0"/>
              </a:rPr>
              <a:t>2</a:t>
            </a:r>
          </a:p>
        </p:txBody>
      </p:sp>
      <p:sp>
        <p:nvSpPr>
          <p:cNvPr id="99" name="TextBox 98"/>
          <p:cNvSpPr txBox="1"/>
          <p:nvPr/>
        </p:nvSpPr>
        <p:spPr>
          <a:xfrm>
            <a:off x="1584754" y="4965348"/>
            <a:ext cx="1075936" cy="502573"/>
          </a:xfrm>
          <a:prstGeom prst="rect">
            <a:avLst/>
          </a:prstGeom>
          <a:solidFill>
            <a:schemeClr val="tx2"/>
          </a:solidFill>
          <a:ln>
            <a:solidFill>
              <a:schemeClr val="bg1">
                <a:lumMod val="50000"/>
              </a:schemeClr>
            </a:solidFill>
          </a:ln>
        </p:spPr>
        <p:txBody>
          <a:bodyPr wrap="none" rtlCol="0">
            <a:spAutoFit/>
          </a:bodyPr>
          <a:lstStyle/>
          <a:p>
            <a:pPr algn="ctr"/>
            <a:r>
              <a:rPr lang="en-US" sz="1333" dirty="0">
                <a:latin typeface="Amazon Ember Light" charset="0"/>
                <a:ea typeface="Amazon Ember Light" charset="0"/>
                <a:cs typeface="Amazon Ember Light" charset="0"/>
              </a:rPr>
              <a:t>Component</a:t>
            </a:r>
          </a:p>
          <a:p>
            <a:pPr algn="ctr"/>
            <a:r>
              <a:rPr lang="en-US" sz="1333" dirty="0">
                <a:latin typeface="Amazon Ember Light" charset="0"/>
                <a:ea typeface="Amazon Ember Light" charset="0"/>
                <a:cs typeface="Amazon Ember Light" charset="0"/>
              </a:rPr>
              <a:t>3</a:t>
            </a:r>
          </a:p>
        </p:txBody>
      </p:sp>
      <p:sp>
        <p:nvSpPr>
          <p:cNvPr id="103" name="TextBox 102"/>
          <p:cNvSpPr txBox="1"/>
          <p:nvPr/>
        </p:nvSpPr>
        <p:spPr>
          <a:xfrm>
            <a:off x="6977495" y="5337674"/>
            <a:ext cx="2848857" cy="830997"/>
          </a:xfrm>
          <a:prstGeom prst="rect">
            <a:avLst/>
          </a:prstGeom>
          <a:noFill/>
        </p:spPr>
        <p:txBody>
          <a:bodyPr wrap="none" rtlCol="0">
            <a:spAutoFit/>
          </a:bodyPr>
          <a:lstStyle/>
          <a:p>
            <a:pPr algn="ctr"/>
            <a:r>
              <a:rPr lang="en-US" sz="2400" dirty="0">
                <a:latin typeface="Amazon Ember Light" charset="0"/>
                <a:ea typeface="Amazon Ember Light" charset="0"/>
                <a:cs typeface="Amazon Ember Light" charset="0"/>
              </a:rPr>
              <a:t>All Amazon SQS</a:t>
            </a:r>
            <a:br>
              <a:rPr lang="en-US" sz="2400" dirty="0">
                <a:latin typeface="Amazon Ember Light" charset="0"/>
                <a:ea typeface="Amazon Ember Light" charset="0"/>
                <a:cs typeface="Amazon Ember Light" charset="0"/>
              </a:rPr>
            </a:br>
            <a:r>
              <a:rPr lang="en-US" sz="2400" dirty="0">
                <a:latin typeface="Amazon Ember Light" charset="0"/>
                <a:ea typeface="Amazon Ember Light" charset="0"/>
                <a:cs typeface="Amazon Ember Light" charset="0"/>
              </a:rPr>
              <a:t>servers are </a:t>
            </a:r>
            <a:r>
              <a:rPr lang="en-US" sz="2400" dirty="0">
                <a:solidFill>
                  <a:srgbClr val="000000"/>
                </a:solidFill>
                <a:latin typeface="Amazon Ember Light" charset="0"/>
                <a:ea typeface="Amazon Ember Light" charset="0"/>
                <a:cs typeface="Amazon Ember Light" charset="0"/>
              </a:rPr>
              <a:t>sampled</a:t>
            </a:r>
            <a:endParaRPr lang="en-US" sz="2400" dirty="0">
              <a:solidFill>
                <a:srgbClr val="000000"/>
              </a:solidFill>
              <a:latin typeface="Amazon Ember Light" panose="020B0403020204020204"/>
              <a:ea typeface="Amazon Ember Light" charset="0"/>
              <a:cs typeface="Amazon Ember Light" charset="0"/>
            </a:endParaRPr>
          </a:p>
        </p:txBody>
      </p:sp>
      <p:sp>
        <p:nvSpPr>
          <p:cNvPr id="105" name="Title 4"/>
          <p:cNvSpPr>
            <a:spLocks noGrp="1"/>
          </p:cNvSpPr>
          <p:nvPr>
            <p:ph type="title"/>
          </p:nvPr>
        </p:nvSpPr>
        <p:spPr/>
        <p:txBody>
          <a:bodyPr/>
          <a:lstStyle/>
          <a:p>
            <a:r>
              <a:rPr lang="en-US" dirty="0"/>
              <a:t>Receiving messages: Long polling</a:t>
            </a:r>
          </a:p>
        </p:txBody>
      </p:sp>
      <p:sp>
        <p:nvSpPr>
          <p:cNvPr id="2" name="Slide Number Placeholder 1"/>
          <p:cNvSpPr>
            <a:spLocks noGrp="1"/>
          </p:cNvSpPr>
          <p:nvPr>
            <p:ph type="sldNum" sz="quarter" idx="12"/>
          </p:nvPr>
        </p:nvSpPr>
        <p:spPr/>
        <p:txBody>
          <a:bodyPr/>
          <a:lstStyle/>
          <a:p>
            <a:fld id="{9FC43BFD-8FF7-A343-A8A6-E2338FCE8046}" type="slidenum">
              <a:rPr lang="en-US" smtClean="0"/>
              <a:pPr/>
              <a:t>21</a:t>
            </a:fld>
            <a:endParaRPr lang="en-US" dirty="0"/>
          </a:p>
        </p:txBody>
      </p:sp>
      <p:grpSp>
        <p:nvGrpSpPr>
          <p:cNvPr id="4" name="Group 3"/>
          <p:cNvGrpSpPr/>
          <p:nvPr/>
        </p:nvGrpSpPr>
        <p:grpSpPr>
          <a:xfrm>
            <a:off x="3062469" y="2604055"/>
            <a:ext cx="2317227" cy="556890"/>
            <a:chOff x="3062469" y="2604055"/>
            <a:chExt cx="2317227" cy="556890"/>
          </a:xfrm>
        </p:grpSpPr>
        <p:sp>
          <p:nvSpPr>
            <p:cNvPr id="102" name="TextBox 101"/>
            <p:cNvSpPr txBox="1"/>
            <p:nvPr/>
          </p:nvSpPr>
          <p:spPr>
            <a:xfrm>
              <a:off x="3230844" y="2604055"/>
              <a:ext cx="1635384" cy="338554"/>
            </a:xfrm>
            <a:prstGeom prst="rect">
              <a:avLst/>
            </a:prstGeom>
            <a:noFill/>
          </p:spPr>
          <p:txBody>
            <a:bodyPr wrap="none" rtlCol="0">
              <a:spAutoFit/>
            </a:bodyPr>
            <a:lstStyle/>
            <a:p>
              <a:pPr algn="ctr"/>
              <a:r>
                <a:rPr lang="en-US" sz="1600" dirty="0">
                  <a:latin typeface="Amazon Ember Light" charset="0"/>
                  <a:ea typeface="Amazon Ember Light" charset="0"/>
                  <a:cs typeface="Amazon Ember Light" charset="0"/>
                </a:rPr>
                <a:t>ReceiveMessage</a:t>
              </a:r>
            </a:p>
          </p:txBody>
        </p:sp>
        <p:cxnSp>
          <p:nvCxnSpPr>
            <p:cNvPr id="104" name="Straight Arrow Connector 103"/>
            <p:cNvCxnSpPr/>
            <p:nvPr/>
          </p:nvCxnSpPr>
          <p:spPr>
            <a:xfrm>
              <a:off x="3062469" y="3146638"/>
              <a:ext cx="2317227" cy="14307"/>
            </a:xfrm>
            <a:prstGeom prst="straightConnector1">
              <a:avLst/>
            </a:prstGeom>
            <a:ln w="12700">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grpSp>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sp>
        <p:nvSpPr>
          <p:cNvPr id="107" name="Rounded Rectangle 106"/>
          <p:cNvSpPr/>
          <p:nvPr/>
        </p:nvSpPr>
        <p:spPr>
          <a:xfrm>
            <a:off x="5956466" y="2860669"/>
            <a:ext cx="4878451" cy="2393317"/>
          </a:xfrm>
          <a:prstGeom prst="roundRect">
            <a:avLst>
              <a:gd name="adj" fmla="val 0"/>
            </a:avLst>
          </a:prstGeom>
          <a:noFill/>
          <a:ln>
            <a:solidFill>
              <a:schemeClr val="accent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108" name="Can 107"/>
          <p:cNvSpPr/>
          <p:nvPr/>
        </p:nvSpPr>
        <p:spPr>
          <a:xfrm>
            <a:off x="6586746" y="3232984"/>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109" name="Can 108"/>
          <p:cNvSpPr/>
          <p:nvPr/>
        </p:nvSpPr>
        <p:spPr>
          <a:xfrm>
            <a:off x="7537719" y="3232984"/>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110" name="Can 109"/>
          <p:cNvSpPr/>
          <p:nvPr/>
        </p:nvSpPr>
        <p:spPr>
          <a:xfrm>
            <a:off x="8488692" y="3232984"/>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pic>
        <p:nvPicPr>
          <p:cNvPr id="112" name="Graphic 39">
            <a:extLst>
              <a:ext uri="{FF2B5EF4-FFF2-40B4-BE49-F238E27FC236}">
                <a16:creationId xmlns:a16="http://schemas.microsoft.com/office/drawing/2014/main" id="{2ACAD885-5F52-504F-842D-3D87E199BD5D}"/>
              </a:ext>
            </a:extLst>
          </p:cNvPr>
          <p:cNvPicPr>
            <a:picLocks noChangeAspect="1"/>
          </p:cNvPicPr>
          <p:nvPr/>
        </p:nvPicPr>
        <p:blipFill>
          <a:blip r:embed="rId4"/>
          <a:stretch>
            <a:fillRect/>
          </a:stretch>
        </p:blipFill>
        <p:spPr>
          <a:xfrm>
            <a:off x="5972546" y="2776981"/>
            <a:ext cx="469900" cy="469900"/>
          </a:xfrm>
          <a:prstGeom prst="rect">
            <a:avLst/>
          </a:prstGeom>
        </p:spPr>
      </p:pic>
      <p:sp>
        <p:nvSpPr>
          <p:cNvPr id="113" name="Can 112"/>
          <p:cNvSpPr/>
          <p:nvPr/>
        </p:nvSpPr>
        <p:spPr>
          <a:xfrm>
            <a:off x="9439666" y="3249300"/>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114" name="Can 113"/>
          <p:cNvSpPr/>
          <p:nvPr/>
        </p:nvSpPr>
        <p:spPr>
          <a:xfrm>
            <a:off x="6601092" y="4165628"/>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115" name="Can 114"/>
          <p:cNvSpPr/>
          <p:nvPr/>
        </p:nvSpPr>
        <p:spPr>
          <a:xfrm>
            <a:off x="7552065" y="4165628"/>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116" name="Can 115"/>
          <p:cNvSpPr/>
          <p:nvPr/>
        </p:nvSpPr>
        <p:spPr>
          <a:xfrm>
            <a:off x="8503038" y="4165628"/>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117" name="Can 116"/>
          <p:cNvSpPr/>
          <p:nvPr/>
        </p:nvSpPr>
        <p:spPr>
          <a:xfrm>
            <a:off x="9454012" y="4181944"/>
            <a:ext cx="662373" cy="723931"/>
          </a:xfrm>
          <a:prstGeom prst="can">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latin typeface="Amazon Ember Light" charset="0"/>
              <a:ea typeface="Amazon Ember Light" charset="0"/>
              <a:cs typeface="Amazon Ember Light" charset="0"/>
            </a:endParaRPr>
          </a:p>
        </p:txBody>
      </p:sp>
      <p:sp>
        <p:nvSpPr>
          <p:cNvPr id="118" name="Oval 117"/>
          <p:cNvSpPr/>
          <p:nvPr/>
        </p:nvSpPr>
        <p:spPr>
          <a:xfrm>
            <a:off x="7026719" y="3498943"/>
            <a:ext cx="330721" cy="286586"/>
          </a:xfrm>
          <a:prstGeom prst="ellipse">
            <a:avLst/>
          </a:prstGeom>
          <a:solidFill>
            <a:schemeClr val="tx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latin typeface="Amazon Ember Light" charset="0"/>
                <a:ea typeface="Amazon Ember Light" charset="0"/>
                <a:cs typeface="Amazon Ember Light" charset="0"/>
              </a:rPr>
              <a:t>A</a:t>
            </a:r>
          </a:p>
        </p:txBody>
      </p:sp>
      <p:sp>
        <p:nvSpPr>
          <p:cNvPr id="119" name="Oval 118"/>
          <p:cNvSpPr/>
          <p:nvPr/>
        </p:nvSpPr>
        <p:spPr>
          <a:xfrm>
            <a:off x="7401716" y="4423803"/>
            <a:ext cx="330721" cy="286586"/>
          </a:xfrm>
          <a:prstGeom prst="ellipse">
            <a:avLst/>
          </a:prstGeom>
          <a:solidFill>
            <a:schemeClr val="bg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solidFill>
                  <a:schemeClr val="tx1"/>
                </a:solidFill>
                <a:latin typeface="Amazon Ember Light" charset="0"/>
                <a:ea typeface="Amazon Ember Light" charset="0"/>
                <a:cs typeface="Amazon Ember Light" charset="0"/>
              </a:rPr>
              <a:t>E</a:t>
            </a:r>
            <a:endParaRPr lang="en-US" sz="1600" dirty="0">
              <a:solidFill>
                <a:schemeClr val="tx1"/>
              </a:solidFill>
              <a:latin typeface="Amazon Ember Light" charset="0"/>
              <a:ea typeface="Amazon Ember Light" charset="0"/>
              <a:cs typeface="Amazon Ember Light" charset="0"/>
            </a:endParaRPr>
          </a:p>
        </p:txBody>
      </p:sp>
      <p:sp>
        <p:nvSpPr>
          <p:cNvPr id="120" name="Oval 119"/>
          <p:cNvSpPr/>
          <p:nvPr/>
        </p:nvSpPr>
        <p:spPr>
          <a:xfrm>
            <a:off x="8392227" y="3498943"/>
            <a:ext cx="330721" cy="286586"/>
          </a:xfrm>
          <a:prstGeom prst="ellipse">
            <a:avLst/>
          </a:prstGeom>
          <a:solidFill>
            <a:schemeClr val="tx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latin typeface="Amazon Ember Light" charset="0"/>
                <a:ea typeface="Amazon Ember Light" charset="0"/>
                <a:cs typeface="Amazon Ember Light" charset="0"/>
              </a:rPr>
              <a:t>A</a:t>
            </a:r>
          </a:p>
        </p:txBody>
      </p:sp>
      <p:sp>
        <p:nvSpPr>
          <p:cNvPr id="127" name="Oval 126"/>
          <p:cNvSpPr/>
          <p:nvPr/>
        </p:nvSpPr>
        <p:spPr>
          <a:xfrm>
            <a:off x="8392227" y="4423803"/>
            <a:ext cx="330721" cy="286586"/>
          </a:xfrm>
          <a:prstGeom prst="ellipse">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Amazon Ember Light" charset="0"/>
                <a:ea typeface="Amazon Ember Light" charset="0"/>
                <a:cs typeface="Amazon Ember Light" charset="0"/>
              </a:rPr>
              <a:t>D</a:t>
            </a:r>
          </a:p>
        </p:txBody>
      </p:sp>
      <p:sp>
        <p:nvSpPr>
          <p:cNvPr id="128" name="Oval 127"/>
          <p:cNvSpPr/>
          <p:nvPr/>
        </p:nvSpPr>
        <p:spPr>
          <a:xfrm>
            <a:off x="7026719" y="4423803"/>
            <a:ext cx="330721" cy="286586"/>
          </a:xfrm>
          <a:prstGeom prst="ellipse">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Amazon Ember Light" charset="0"/>
                <a:ea typeface="Amazon Ember Light" charset="0"/>
                <a:cs typeface="Amazon Ember Light" charset="0"/>
              </a:rPr>
              <a:t>D</a:t>
            </a:r>
          </a:p>
        </p:txBody>
      </p:sp>
      <p:sp>
        <p:nvSpPr>
          <p:cNvPr id="129" name="Oval 128"/>
          <p:cNvSpPr/>
          <p:nvPr/>
        </p:nvSpPr>
        <p:spPr>
          <a:xfrm>
            <a:off x="9365667" y="3498943"/>
            <a:ext cx="330721" cy="286586"/>
          </a:xfrm>
          <a:prstGeom prst="ellipse">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Amazon Ember Light" charset="0"/>
                <a:ea typeface="Amazon Ember Light" charset="0"/>
                <a:cs typeface="Amazon Ember Light" charset="0"/>
              </a:rPr>
              <a:t>D</a:t>
            </a:r>
          </a:p>
        </p:txBody>
      </p:sp>
      <p:sp>
        <p:nvSpPr>
          <p:cNvPr id="130" name="Oval 129"/>
          <p:cNvSpPr/>
          <p:nvPr/>
        </p:nvSpPr>
        <p:spPr>
          <a:xfrm>
            <a:off x="9931019" y="3498943"/>
            <a:ext cx="330721" cy="286586"/>
          </a:xfrm>
          <a:prstGeom prst="ellipse">
            <a:avLst/>
          </a:prstGeom>
          <a:solidFill>
            <a:schemeClr val="accent6"/>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2"/>
                </a:solidFill>
                <a:latin typeface="Amazon Ember Light" charset="0"/>
                <a:ea typeface="Amazon Ember Light" charset="0"/>
                <a:cs typeface="Amazon Ember Light" charset="0"/>
              </a:rPr>
              <a:t>B</a:t>
            </a:r>
          </a:p>
        </p:txBody>
      </p:sp>
      <p:sp>
        <p:nvSpPr>
          <p:cNvPr id="131" name="Oval 130"/>
          <p:cNvSpPr/>
          <p:nvPr/>
        </p:nvSpPr>
        <p:spPr>
          <a:xfrm>
            <a:off x="6442103" y="3498943"/>
            <a:ext cx="330721" cy="286586"/>
          </a:xfrm>
          <a:prstGeom prst="ellipse">
            <a:avLst/>
          </a:prstGeom>
          <a:solidFill>
            <a:schemeClr val="accent6"/>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2"/>
                </a:solidFill>
                <a:latin typeface="Amazon Ember Light" charset="0"/>
                <a:ea typeface="Amazon Ember Light" charset="0"/>
                <a:cs typeface="Amazon Ember Light" charset="0"/>
              </a:rPr>
              <a:t>B</a:t>
            </a:r>
          </a:p>
        </p:txBody>
      </p:sp>
      <p:sp>
        <p:nvSpPr>
          <p:cNvPr id="133" name="Oval 132"/>
          <p:cNvSpPr/>
          <p:nvPr/>
        </p:nvSpPr>
        <p:spPr>
          <a:xfrm>
            <a:off x="6442103" y="4423803"/>
            <a:ext cx="330721" cy="286586"/>
          </a:xfrm>
          <a:prstGeom prst="ellipse">
            <a:avLst/>
          </a:prstGeom>
          <a:solidFill>
            <a:schemeClr val="bg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solidFill>
                  <a:schemeClr val="accent1"/>
                </a:solidFill>
                <a:latin typeface="Amazon Ember Light" charset="0"/>
                <a:ea typeface="Amazon Ember Light" charset="0"/>
                <a:cs typeface="Amazon Ember Light" charset="0"/>
              </a:rPr>
              <a:t>E</a:t>
            </a:r>
            <a:endParaRPr lang="en-US" sz="1600" dirty="0">
              <a:solidFill>
                <a:schemeClr val="accent1"/>
              </a:solidFill>
              <a:latin typeface="Amazon Ember Light" charset="0"/>
              <a:ea typeface="Amazon Ember Light" charset="0"/>
              <a:cs typeface="Amazon Ember Light" charset="0"/>
            </a:endParaRPr>
          </a:p>
        </p:txBody>
      </p:sp>
      <p:sp>
        <p:nvSpPr>
          <p:cNvPr id="134" name="Oval 133"/>
          <p:cNvSpPr/>
          <p:nvPr/>
        </p:nvSpPr>
        <p:spPr>
          <a:xfrm>
            <a:off x="8005698" y="3498943"/>
            <a:ext cx="330721" cy="286586"/>
          </a:xfrm>
          <a:prstGeom prst="ellipse">
            <a:avLst/>
          </a:prstGeom>
          <a:solidFill>
            <a:schemeClr val="accent4"/>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accent1"/>
                </a:solidFill>
                <a:latin typeface="Amazon Ember Light" charset="0"/>
                <a:ea typeface="Amazon Ember Light" charset="0"/>
                <a:cs typeface="Amazon Ember Light" charset="0"/>
              </a:rPr>
              <a:t>C</a:t>
            </a:r>
          </a:p>
        </p:txBody>
      </p:sp>
      <p:sp>
        <p:nvSpPr>
          <p:cNvPr id="135" name="Oval 134"/>
          <p:cNvSpPr/>
          <p:nvPr/>
        </p:nvSpPr>
        <p:spPr>
          <a:xfrm>
            <a:off x="8950089" y="4423803"/>
            <a:ext cx="330721" cy="286586"/>
          </a:xfrm>
          <a:prstGeom prst="ellipse">
            <a:avLst/>
          </a:prstGeom>
          <a:solidFill>
            <a:schemeClr val="accent4"/>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accent1"/>
                </a:solidFill>
                <a:latin typeface="Amazon Ember Light" charset="0"/>
                <a:ea typeface="Amazon Ember Light" charset="0"/>
                <a:cs typeface="Amazon Ember Light" charset="0"/>
              </a:rPr>
              <a:t>C</a:t>
            </a:r>
          </a:p>
        </p:txBody>
      </p:sp>
      <p:sp>
        <p:nvSpPr>
          <p:cNvPr id="136" name="Oval 135"/>
          <p:cNvSpPr/>
          <p:nvPr/>
        </p:nvSpPr>
        <p:spPr>
          <a:xfrm>
            <a:off x="7401716" y="3498943"/>
            <a:ext cx="330721" cy="286586"/>
          </a:xfrm>
          <a:prstGeom prst="ellipse">
            <a:avLst/>
          </a:prstGeom>
          <a:solidFill>
            <a:schemeClr val="accent6"/>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2"/>
                </a:solidFill>
                <a:latin typeface="Amazon Ember Light" charset="0"/>
                <a:ea typeface="Amazon Ember Light" charset="0"/>
                <a:cs typeface="Amazon Ember Light" charset="0"/>
              </a:rPr>
              <a:t>B</a:t>
            </a:r>
          </a:p>
        </p:txBody>
      </p:sp>
      <p:sp>
        <p:nvSpPr>
          <p:cNvPr id="137" name="Oval 136"/>
          <p:cNvSpPr/>
          <p:nvPr/>
        </p:nvSpPr>
        <p:spPr>
          <a:xfrm>
            <a:off x="9931019" y="4423803"/>
            <a:ext cx="330721" cy="286586"/>
          </a:xfrm>
          <a:prstGeom prst="ellipse">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Amazon Ember Light" charset="0"/>
                <a:ea typeface="Amazon Ember Light" charset="0"/>
                <a:cs typeface="Amazon Ember Light" charset="0"/>
              </a:rPr>
              <a:t>D</a:t>
            </a:r>
          </a:p>
        </p:txBody>
      </p:sp>
      <p:sp>
        <p:nvSpPr>
          <p:cNvPr id="138" name="Oval 137"/>
          <p:cNvSpPr/>
          <p:nvPr/>
        </p:nvSpPr>
        <p:spPr>
          <a:xfrm>
            <a:off x="8005698" y="4423803"/>
            <a:ext cx="330721" cy="286586"/>
          </a:xfrm>
          <a:prstGeom prst="ellipse">
            <a:avLst/>
          </a:prstGeom>
          <a:solidFill>
            <a:schemeClr val="accent6"/>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2"/>
                </a:solidFill>
                <a:latin typeface="Amazon Ember Light" charset="0"/>
                <a:ea typeface="Amazon Ember Light" charset="0"/>
                <a:cs typeface="Amazon Ember Light" charset="0"/>
              </a:rPr>
              <a:t>B</a:t>
            </a:r>
          </a:p>
        </p:txBody>
      </p:sp>
      <p:sp>
        <p:nvSpPr>
          <p:cNvPr id="139" name="Oval 138"/>
          <p:cNvSpPr/>
          <p:nvPr/>
        </p:nvSpPr>
        <p:spPr>
          <a:xfrm>
            <a:off x="9365667" y="4423803"/>
            <a:ext cx="330721" cy="286586"/>
          </a:xfrm>
          <a:prstGeom prst="ellipse">
            <a:avLst/>
          </a:prstGeom>
          <a:solidFill>
            <a:schemeClr val="accent4"/>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accent1"/>
                </a:solidFill>
                <a:latin typeface="Amazon Ember Light" charset="0"/>
                <a:ea typeface="Amazon Ember Light" charset="0"/>
                <a:cs typeface="Amazon Ember Light" charset="0"/>
              </a:rPr>
              <a:t>C</a:t>
            </a:r>
          </a:p>
        </p:txBody>
      </p:sp>
      <p:sp>
        <p:nvSpPr>
          <p:cNvPr id="141" name="Oval 140"/>
          <p:cNvSpPr/>
          <p:nvPr/>
        </p:nvSpPr>
        <p:spPr>
          <a:xfrm>
            <a:off x="8950089" y="3498943"/>
            <a:ext cx="330721" cy="286586"/>
          </a:xfrm>
          <a:prstGeom prst="ellipse">
            <a:avLst/>
          </a:prstGeom>
          <a:solidFill>
            <a:schemeClr val="accent4"/>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accent1"/>
                </a:solidFill>
                <a:latin typeface="Amazon Ember Light" charset="0"/>
                <a:ea typeface="Amazon Ember Light" charset="0"/>
                <a:cs typeface="Amazon Ember Light" charset="0"/>
              </a:rPr>
              <a:t>C</a:t>
            </a:r>
          </a:p>
        </p:txBody>
      </p:sp>
      <p:sp>
        <p:nvSpPr>
          <p:cNvPr id="144" name="TextBox 143"/>
          <p:cNvSpPr txBox="1"/>
          <p:nvPr/>
        </p:nvSpPr>
        <p:spPr>
          <a:xfrm>
            <a:off x="7152302" y="1567852"/>
            <a:ext cx="2304303" cy="830997"/>
          </a:xfrm>
          <a:prstGeom prst="rect">
            <a:avLst/>
          </a:prstGeom>
          <a:noFill/>
        </p:spPr>
        <p:txBody>
          <a:bodyPr wrap="square" rtlCol="0">
            <a:spAutoFit/>
          </a:bodyPr>
          <a:lstStyle/>
          <a:p>
            <a:pPr algn="ctr"/>
            <a:r>
              <a:rPr lang="en-US" sz="1600" dirty="0">
                <a:latin typeface="Amazon Ember Light" charset="0"/>
                <a:ea typeface="Amazon Ember Light" charset="0"/>
                <a:cs typeface="Amazon Ember Light" charset="0"/>
              </a:rPr>
              <a:t>Your </a:t>
            </a:r>
            <a:r>
              <a:rPr lang="en-US" sz="1600" dirty="0">
                <a:solidFill>
                  <a:srgbClr val="000000"/>
                </a:solidFill>
                <a:latin typeface="Amazon Ember Light" charset="0"/>
                <a:ea typeface="Amazon Ember Light" charset="0"/>
                <a:cs typeface="Amazon Ember Light" charset="0"/>
              </a:rPr>
              <a:t>queue</a:t>
            </a:r>
            <a:endParaRPr lang="en-US" sz="1600" dirty="0">
              <a:solidFill>
                <a:srgbClr val="000000"/>
              </a:solidFill>
              <a:latin typeface="Amazon Ember Light" panose="020B0403020204020204"/>
              <a:ea typeface="Amazon Ember Light" charset="0"/>
              <a:cs typeface="Amazon Ember Light" charset="0"/>
            </a:endParaRPr>
          </a:p>
          <a:p>
            <a:pPr algn="ctr"/>
            <a:r>
              <a:rPr lang="en-US" sz="1600" dirty="0">
                <a:latin typeface="Amazon Ember Light" charset="0"/>
                <a:ea typeface="Amazon Ember Light" charset="0"/>
                <a:cs typeface="Amazon Ember Light" charset="0"/>
              </a:rPr>
              <a:t>(distributed on </a:t>
            </a:r>
          </a:p>
          <a:p>
            <a:pPr algn="ctr"/>
            <a:r>
              <a:rPr lang="en-US" sz="1600" dirty="0">
                <a:latin typeface="Amazon Ember Light" charset="0"/>
                <a:ea typeface="Amazon Ember Light" charset="0"/>
                <a:cs typeface="Amazon Ember Light" charset="0"/>
              </a:rPr>
              <a:t>Amazon SQS s</a:t>
            </a:r>
            <a:r>
              <a:rPr lang="en-US" sz="1600" dirty="0">
                <a:solidFill>
                  <a:srgbClr val="000000"/>
                </a:solidFill>
                <a:latin typeface="Amazon Ember Light" charset="0"/>
                <a:ea typeface="Amazon Ember Light" charset="0"/>
                <a:cs typeface="Amazon Ember Light" charset="0"/>
              </a:rPr>
              <a:t>ervers</a:t>
            </a:r>
            <a:r>
              <a:rPr lang="en-US" sz="1600" dirty="0">
                <a:latin typeface="Amazon Ember Light" charset="0"/>
                <a:ea typeface="Amazon Ember Light" charset="0"/>
                <a:cs typeface="Amazon Ember Light" charset="0"/>
              </a:rPr>
              <a:t>)</a:t>
            </a:r>
          </a:p>
        </p:txBody>
      </p:sp>
      <p:grpSp>
        <p:nvGrpSpPr>
          <p:cNvPr id="6" name="Group 5"/>
          <p:cNvGrpSpPr/>
          <p:nvPr/>
        </p:nvGrpSpPr>
        <p:grpSpPr>
          <a:xfrm>
            <a:off x="2973719" y="3429209"/>
            <a:ext cx="2897455" cy="1234870"/>
            <a:chOff x="2973719" y="3429209"/>
            <a:chExt cx="2897455" cy="1234870"/>
          </a:xfrm>
        </p:grpSpPr>
        <p:sp>
          <p:nvSpPr>
            <p:cNvPr id="90" name="TextBox 89"/>
            <p:cNvSpPr txBox="1"/>
            <p:nvPr/>
          </p:nvSpPr>
          <p:spPr>
            <a:xfrm>
              <a:off x="3396662" y="3429209"/>
              <a:ext cx="1825628" cy="830997"/>
            </a:xfrm>
            <a:prstGeom prst="rect">
              <a:avLst/>
            </a:prstGeom>
            <a:noFill/>
          </p:spPr>
          <p:txBody>
            <a:bodyPr wrap="none" rtlCol="0">
              <a:spAutoFit/>
            </a:bodyPr>
            <a:lstStyle/>
            <a:p>
              <a:pPr algn="ctr"/>
              <a:r>
                <a:rPr lang="en-US" sz="1600" dirty="0">
                  <a:latin typeface="Amazon Ember Light" charset="0"/>
                  <a:ea typeface="Amazon Ember Light" charset="0"/>
                  <a:cs typeface="Amazon Ember Light" charset="0"/>
                </a:rPr>
                <a:t>Messages</a:t>
              </a:r>
            </a:p>
            <a:p>
              <a:pPr algn="ctr"/>
              <a:r>
                <a:rPr lang="en-US" sz="1600" dirty="0">
                  <a:latin typeface="Amazon Ember Light" charset="0"/>
                  <a:ea typeface="Amazon Ember Light" charset="0"/>
                  <a:cs typeface="Amazon Ember Light" charset="0"/>
                </a:rPr>
                <a:t>received from </a:t>
              </a:r>
            </a:p>
            <a:p>
              <a:pPr algn="ctr"/>
              <a:r>
                <a:rPr lang="en-US" sz="1600" dirty="0">
                  <a:latin typeface="Amazon Ember Light" charset="0"/>
                  <a:ea typeface="Amazon Ember Light" charset="0"/>
                  <a:cs typeface="Amazon Ember Light" charset="0"/>
                </a:rPr>
                <a:t>sampled </a:t>
              </a:r>
              <a:r>
                <a:rPr lang="en-US" sz="1600" dirty="0">
                  <a:solidFill>
                    <a:srgbClr val="000000"/>
                  </a:solidFill>
                  <a:latin typeface="Amazon Ember Light" charset="0"/>
                  <a:ea typeface="Amazon Ember Light" charset="0"/>
                  <a:cs typeface="Amazon Ember Light" charset="0"/>
                </a:rPr>
                <a:t>servers</a:t>
              </a:r>
              <a:endParaRPr lang="en-US" sz="1600" dirty="0">
                <a:solidFill>
                  <a:srgbClr val="000000"/>
                </a:solidFill>
                <a:latin typeface="Amazon Ember Light" panose="020B0403020204020204"/>
                <a:ea typeface="Amazon Ember Light" charset="0"/>
                <a:cs typeface="Amazon Ember Light" charset="0"/>
              </a:endParaRPr>
            </a:p>
          </p:txBody>
        </p:sp>
        <p:cxnSp>
          <p:nvCxnSpPr>
            <p:cNvPr id="106" name="Straight Arrow Connector 105"/>
            <p:cNvCxnSpPr/>
            <p:nvPr/>
          </p:nvCxnSpPr>
          <p:spPr>
            <a:xfrm>
              <a:off x="2973719" y="4520298"/>
              <a:ext cx="768230" cy="0"/>
            </a:xfrm>
            <a:prstGeom prst="straightConnector1">
              <a:avLst/>
            </a:prstGeom>
            <a:ln w="12700">
              <a:solidFill>
                <a:schemeClr val="tx1">
                  <a:lumMod val="50000"/>
                  <a:lumOff val="50000"/>
                </a:schemeClr>
              </a:solidFill>
              <a:headEnd type="arrow"/>
              <a:tailEnd type="none"/>
            </a:ln>
          </p:spPr>
          <p:style>
            <a:lnRef idx="2">
              <a:schemeClr val="accent1"/>
            </a:lnRef>
            <a:fillRef idx="0">
              <a:schemeClr val="accent1"/>
            </a:fillRef>
            <a:effectRef idx="1">
              <a:schemeClr val="accent1"/>
            </a:effectRef>
            <a:fontRef idx="minor">
              <a:schemeClr val="tx1"/>
            </a:fontRef>
          </p:style>
        </p:cxnSp>
        <p:sp>
          <p:nvSpPr>
            <p:cNvPr id="121" name="Oval 120"/>
            <p:cNvSpPr/>
            <p:nvPr/>
          </p:nvSpPr>
          <p:spPr>
            <a:xfrm>
              <a:off x="3823836" y="4377005"/>
              <a:ext cx="330721" cy="286586"/>
            </a:xfrm>
            <a:prstGeom prst="ellipse">
              <a:avLst/>
            </a:prstGeom>
            <a:solidFill>
              <a:schemeClr val="tx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latin typeface="Amazon Ember Light" charset="0"/>
                  <a:ea typeface="Amazon Ember Light" charset="0"/>
                  <a:cs typeface="Amazon Ember Light" charset="0"/>
                </a:rPr>
                <a:t>A</a:t>
              </a:r>
            </a:p>
          </p:txBody>
        </p:sp>
        <p:sp>
          <p:nvSpPr>
            <p:cNvPr id="123" name="Oval 122"/>
            <p:cNvSpPr/>
            <p:nvPr/>
          </p:nvSpPr>
          <p:spPr>
            <a:xfrm>
              <a:off x="4252133" y="4377493"/>
              <a:ext cx="330721" cy="286586"/>
            </a:xfrm>
            <a:prstGeom prst="ellipse">
              <a:avLst/>
            </a:prstGeom>
            <a:solidFill>
              <a:schemeClr val="accent6"/>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2"/>
                  </a:solidFill>
                  <a:latin typeface="Amazon Ember Light" charset="0"/>
                  <a:ea typeface="Amazon Ember Light" charset="0"/>
                  <a:cs typeface="Amazon Ember Light" charset="0"/>
                </a:rPr>
                <a:t>B</a:t>
              </a:r>
            </a:p>
          </p:txBody>
        </p:sp>
        <p:sp>
          <p:nvSpPr>
            <p:cNvPr id="125" name="Oval 124"/>
            <p:cNvSpPr/>
            <p:nvPr/>
          </p:nvSpPr>
          <p:spPr>
            <a:xfrm>
              <a:off x="4680430" y="4369873"/>
              <a:ext cx="330721" cy="286586"/>
            </a:xfrm>
            <a:prstGeom prst="ellipse">
              <a:avLst/>
            </a:prstGeom>
            <a:solidFill>
              <a:schemeClr val="accent4"/>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accent1"/>
                  </a:solidFill>
                  <a:latin typeface="Amazon Ember Light" charset="0"/>
                  <a:ea typeface="Amazon Ember Light" charset="0"/>
                  <a:cs typeface="Amazon Ember Light" charset="0"/>
                </a:rPr>
                <a:t>C</a:t>
              </a:r>
            </a:p>
          </p:txBody>
        </p:sp>
        <p:sp>
          <p:nvSpPr>
            <p:cNvPr id="126" name="Oval 125"/>
            <p:cNvSpPr/>
            <p:nvPr/>
          </p:nvSpPr>
          <p:spPr>
            <a:xfrm>
              <a:off x="5108727" y="4369873"/>
              <a:ext cx="330721" cy="286586"/>
            </a:xfrm>
            <a:prstGeom prst="ellipse">
              <a:avLst/>
            </a:prstGeom>
            <a:solidFill>
              <a:schemeClr val="accent5"/>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Amazon Ember Light" charset="0"/>
                  <a:ea typeface="Amazon Ember Light" charset="0"/>
                  <a:cs typeface="Amazon Ember Light" charset="0"/>
                </a:rPr>
                <a:t>D</a:t>
              </a:r>
            </a:p>
          </p:txBody>
        </p:sp>
        <p:sp>
          <p:nvSpPr>
            <p:cNvPr id="48" name="Oval 47"/>
            <p:cNvSpPr/>
            <p:nvPr/>
          </p:nvSpPr>
          <p:spPr>
            <a:xfrm>
              <a:off x="5540453" y="4369873"/>
              <a:ext cx="330721" cy="286586"/>
            </a:xfrm>
            <a:prstGeom prst="ellipse">
              <a:avLst/>
            </a:prstGeom>
            <a:solidFill>
              <a:schemeClr val="bg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solidFill>
                    <a:schemeClr val="accent1"/>
                  </a:solidFill>
                  <a:latin typeface="Amazon Ember Light" charset="0"/>
                  <a:ea typeface="Amazon Ember Light" charset="0"/>
                  <a:cs typeface="Amazon Ember Light" charset="0"/>
                </a:rPr>
                <a:t>E</a:t>
              </a:r>
              <a:endParaRPr lang="en-US" sz="1600" dirty="0">
                <a:solidFill>
                  <a:schemeClr val="accent1"/>
                </a:solidFill>
                <a:latin typeface="Amazon Ember Light" charset="0"/>
                <a:ea typeface="Amazon Ember Light" charset="0"/>
                <a:cs typeface="Amazon Ember Light" charset="0"/>
              </a:endParaRPr>
            </a:p>
          </p:txBody>
        </p:sp>
      </p:grpSp>
      <p:sp>
        <p:nvSpPr>
          <p:cNvPr id="49" name="TextBox 48"/>
          <p:cNvSpPr txBox="1"/>
          <p:nvPr/>
        </p:nvSpPr>
        <p:spPr>
          <a:xfrm>
            <a:off x="1048916" y="1898412"/>
            <a:ext cx="2124300" cy="584775"/>
          </a:xfrm>
          <a:prstGeom prst="rect">
            <a:avLst/>
          </a:prstGeom>
          <a:noFill/>
        </p:spPr>
        <p:txBody>
          <a:bodyPr wrap="none" rtlCol="0">
            <a:spAutoFit/>
          </a:bodyPr>
          <a:lstStyle/>
          <a:p>
            <a:pPr algn="ctr"/>
            <a:r>
              <a:rPr lang="en-US" sz="1600" dirty="0" smtClean="0">
                <a:solidFill>
                  <a:srgbClr val="000000"/>
                </a:solidFill>
                <a:latin typeface="Amazon Ember Light" charset="0"/>
                <a:ea typeface="Amazon Ember Light" charset="0"/>
                <a:cs typeface="Amazon Ember Light" charset="0"/>
              </a:rPr>
              <a:t>Your</a:t>
            </a:r>
            <a:r>
              <a:rPr lang="en-US" sz="1600" dirty="0" smtClean="0">
                <a:latin typeface="Amazon Ember Light" charset="0"/>
                <a:ea typeface="Amazon Ember Light" charset="0"/>
                <a:cs typeface="Amazon Ember Light" charset="0"/>
              </a:rPr>
              <a:t> </a:t>
            </a:r>
            <a:r>
              <a:rPr lang="en-US" sz="1600" dirty="0">
                <a:latin typeface="Amazon Ember Light" charset="0"/>
                <a:ea typeface="Amazon Ember Light" charset="0"/>
                <a:cs typeface="Amazon Ember Light" charset="0"/>
              </a:rPr>
              <a:t>distributed</a:t>
            </a:r>
          </a:p>
          <a:p>
            <a:pPr algn="ctr"/>
            <a:r>
              <a:rPr lang="en-US" sz="1600" dirty="0" smtClean="0">
                <a:latin typeface="Amazon Ember Light" charset="0"/>
                <a:ea typeface="Amazon Ember Light" charset="0"/>
                <a:cs typeface="Amazon Ember Light" charset="0"/>
              </a:rPr>
              <a:t>system’s components</a:t>
            </a:r>
            <a:endParaRPr lang="en-US" sz="1600" dirty="0">
              <a:latin typeface="Amazon Ember Light" charset="0"/>
              <a:ea typeface="Amazon Ember Light" charset="0"/>
              <a:cs typeface="Amazon Ember Light" charset="0"/>
            </a:endParaRPr>
          </a:p>
        </p:txBody>
      </p:sp>
    </p:spTree>
    <p:custDataLst>
      <p:tags r:id="rId1"/>
    </p:custDataLst>
    <p:extLst>
      <p:ext uri="{BB962C8B-B14F-4D97-AF65-F5344CB8AC3E}">
        <p14:creationId xmlns:p14="http://schemas.microsoft.com/office/powerpoint/2010/main" val="1423627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3"/>
                                        </p:tgtEl>
                                        <p:attrNameLst>
                                          <p:attrName>style.visibility</p:attrName>
                                        </p:attrNameLst>
                                      </p:cBhvr>
                                      <p:to>
                                        <p:strVal val="visible"/>
                                      </p:to>
                                    </p:set>
                                  </p:childTnLst>
                                </p:cTn>
                              </p:par>
                            </p:childTnLst>
                          </p:cTn>
                        </p:par>
                        <p:par>
                          <p:cTn id="9" fill="hold">
                            <p:stCondLst>
                              <p:cond delay="0"/>
                            </p:stCondLst>
                            <p:childTnLst>
                              <p:par>
                                <p:cTn id="10" presetID="1" presetClass="emph" presetSubtype="2" fill="hold" nodeType="afterEffect">
                                  <p:stCondLst>
                                    <p:cond delay="0"/>
                                  </p:stCondLst>
                                  <p:childTnLst>
                                    <p:animClr clrSpc="rgb" dir="cw">
                                      <p:cBhvr>
                                        <p:cTn id="11" dur="100" fill="hold"/>
                                        <p:tgtEl>
                                          <p:spTgt spid="108"/>
                                        </p:tgtEl>
                                        <p:attrNameLst>
                                          <p:attrName>fillcolor</p:attrName>
                                        </p:attrNameLst>
                                      </p:cBhvr>
                                      <p:to>
                                        <a:schemeClr val="accent2"/>
                                      </p:to>
                                    </p:animClr>
                                    <p:set>
                                      <p:cBhvr>
                                        <p:cTn id="12" dur="100" fill="hold"/>
                                        <p:tgtEl>
                                          <p:spTgt spid="108"/>
                                        </p:tgtEl>
                                        <p:attrNameLst>
                                          <p:attrName>fill.type</p:attrName>
                                        </p:attrNameLst>
                                      </p:cBhvr>
                                      <p:to>
                                        <p:strVal val="solid"/>
                                      </p:to>
                                    </p:set>
                                    <p:set>
                                      <p:cBhvr>
                                        <p:cTn id="13" dur="100" fill="hold"/>
                                        <p:tgtEl>
                                          <p:spTgt spid="108"/>
                                        </p:tgtEl>
                                        <p:attrNameLst>
                                          <p:attrName>fill.on</p:attrName>
                                        </p:attrNameLst>
                                      </p:cBhvr>
                                      <p:to>
                                        <p:strVal val="true"/>
                                      </p:to>
                                    </p:set>
                                  </p:childTnLst>
                                </p:cTn>
                              </p:par>
                            </p:childTnLst>
                          </p:cTn>
                        </p:par>
                        <p:par>
                          <p:cTn id="14" fill="hold">
                            <p:stCondLst>
                              <p:cond delay="100"/>
                            </p:stCondLst>
                            <p:childTnLst>
                              <p:par>
                                <p:cTn id="15" presetID="1" presetClass="emph" presetSubtype="2" fill="hold" nodeType="afterEffect">
                                  <p:stCondLst>
                                    <p:cond delay="0"/>
                                  </p:stCondLst>
                                  <p:childTnLst>
                                    <p:animClr clrSpc="rgb" dir="cw">
                                      <p:cBhvr>
                                        <p:cTn id="16" dur="100" fill="hold"/>
                                        <p:tgtEl>
                                          <p:spTgt spid="117"/>
                                        </p:tgtEl>
                                        <p:attrNameLst>
                                          <p:attrName>fillcolor</p:attrName>
                                        </p:attrNameLst>
                                      </p:cBhvr>
                                      <p:to>
                                        <a:schemeClr val="accent2"/>
                                      </p:to>
                                    </p:animClr>
                                    <p:set>
                                      <p:cBhvr>
                                        <p:cTn id="17" dur="100" fill="hold"/>
                                        <p:tgtEl>
                                          <p:spTgt spid="117"/>
                                        </p:tgtEl>
                                        <p:attrNameLst>
                                          <p:attrName>fill.type</p:attrName>
                                        </p:attrNameLst>
                                      </p:cBhvr>
                                      <p:to>
                                        <p:strVal val="solid"/>
                                      </p:to>
                                    </p:set>
                                    <p:set>
                                      <p:cBhvr>
                                        <p:cTn id="18" dur="100" fill="hold"/>
                                        <p:tgtEl>
                                          <p:spTgt spid="117"/>
                                        </p:tgtEl>
                                        <p:attrNameLst>
                                          <p:attrName>fill.on</p:attrName>
                                        </p:attrNameLst>
                                      </p:cBhvr>
                                      <p:to>
                                        <p:strVal val="true"/>
                                      </p:to>
                                    </p:set>
                                  </p:childTnLst>
                                </p:cTn>
                              </p:par>
                            </p:childTnLst>
                          </p:cTn>
                        </p:par>
                        <p:par>
                          <p:cTn id="19" fill="hold">
                            <p:stCondLst>
                              <p:cond delay="200"/>
                            </p:stCondLst>
                            <p:childTnLst>
                              <p:par>
                                <p:cTn id="20" presetID="1" presetClass="emph" presetSubtype="2" fill="hold" nodeType="afterEffect">
                                  <p:stCondLst>
                                    <p:cond delay="0"/>
                                  </p:stCondLst>
                                  <p:childTnLst>
                                    <p:animClr clrSpc="rgb" dir="cw">
                                      <p:cBhvr>
                                        <p:cTn id="21" dur="100" fill="hold"/>
                                        <p:tgtEl>
                                          <p:spTgt spid="110"/>
                                        </p:tgtEl>
                                        <p:attrNameLst>
                                          <p:attrName>fillcolor</p:attrName>
                                        </p:attrNameLst>
                                      </p:cBhvr>
                                      <p:to>
                                        <a:schemeClr val="accent2"/>
                                      </p:to>
                                    </p:animClr>
                                    <p:set>
                                      <p:cBhvr>
                                        <p:cTn id="22" dur="100" fill="hold"/>
                                        <p:tgtEl>
                                          <p:spTgt spid="110"/>
                                        </p:tgtEl>
                                        <p:attrNameLst>
                                          <p:attrName>fill.type</p:attrName>
                                        </p:attrNameLst>
                                      </p:cBhvr>
                                      <p:to>
                                        <p:strVal val="solid"/>
                                      </p:to>
                                    </p:set>
                                    <p:set>
                                      <p:cBhvr>
                                        <p:cTn id="23" dur="100" fill="hold"/>
                                        <p:tgtEl>
                                          <p:spTgt spid="110"/>
                                        </p:tgtEl>
                                        <p:attrNameLst>
                                          <p:attrName>fill.on</p:attrName>
                                        </p:attrNameLst>
                                      </p:cBhvr>
                                      <p:to>
                                        <p:strVal val="true"/>
                                      </p:to>
                                    </p:set>
                                  </p:childTnLst>
                                </p:cTn>
                              </p:par>
                            </p:childTnLst>
                          </p:cTn>
                        </p:par>
                        <p:par>
                          <p:cTn id="24" fill="hold">
                            <p:stCondLst>
                              <p:cond delay="300"/>
                            </p:stCondLst>
                            <p:childTnLst>
                              <p:par>
                                <p:cTn id="25" presetID="1" presetClass="emph" presetSubtype="2" fill="hold" nodeType="afterEffect">
                                  <p:stCondLst>
                                    <p:cond delay="0"/>
                                  </p:stCondLst>
                                  <p:childTnLst>
                                    <p:animClr clrSpc="rgb" dir="cw">
                                      <p:cBhvr>
                                        <p:cTn id="26" dur="100" fill="hold"/>
                                        <p:tgtEl>
                                          <p:spTgt spid="113"/>
                                        </p:tgtEl>
                                        <p:attrNameLst>
                                          <p:attrName>fillcolor</p:attrName>
                                        </p:attrNameLst>
                                      </p:cBhvr>
                                      <p:to>
                                        <a:schemeClr val="accent2"/>
                                      </p:to>
                                    </p:animClr>
                                    <p:set>
                                      <p:cBhvr>
                                        <p:cTn id="27" dur="100" fill="hold"/>
                                        <p:tgtEl>
                                          <p:spTgt spid="113"/>
                                        </p:tgtEl>
                                        <p:attrNameLst>
                                          <p:attrName>fill.type</p:attrName>
                                        </p:attrNameLst>
                                      </p:cBhvr>
                                      <p:to>
                                        <p:strVal val="solid"/>
                                      </p:to>
                                    </p:set>
                                    <p:set>
                                      <p:cBhvr>
                                        <p:cTn id="28" dur="100" fill="hold"/>
                                        <p:tgtEl>
                                          <p:spTgt spid="113"/>
                                        </p:tgtEl>
                                        <p:attrNameLst>
                                          <p:attrName>fill.on</p:attrName>
                                        </p:attrNameLst>
                                      </p:cBhvr>
                                      <p:to>
                                        <p:strVal val="true"/>
                                      </p:to>
                                    </p:set>
                                  </p:childTnLst>
                                </p:cTn>
                              </p:par>
                            </p:childTnLst>
                          </p:cTn>
                        </p:par>
                        <p:par>
                          <p:cTn id="29" fill="hold">
                            <p:stCondLst>
                              <p:cond delay="400"/>
                            </p:stCondLst>
                            <p:childTnLst>
                              <p:par>
                                <p:cTn id="30" presetID="1" presetClass="emph" presetSubtype="2" fill="hold" nodeType="afterEffect">
                                  <p:stCondLst>
                                    <p:cond delay="0"/>
                                  </p:stCondLst>
                                  <p:childTnLst>
                                    <p:animClr clrSpc="rgb" dir="cw">
                                      <p:cBhvr>
                                        <p:cTn id="31" dur="100" fill="hold"/>
                                        <p:tgtEl>
                                          <p:spTgt spid="109"/>
                                        </p:tgtEl>
                                        <p:attrNameLst>
                                          <p:attrName>fillcolor</p:attrName>
                                        </p:attrNameLst>
                                      </p:cBhvr>
                                      <p:to>
                                        <a:schemeClr val="accent2"/>
                                      </p:to>
                                    </p:animClr>
                                    <p:set>
                                      <p:cBhvr>
                                        <p:cTn id="32" dur="100" fill="hold"/>
                                        <p:tgtEl>
                                          <p:spTgt spid="109"/>
                                        </p:tgtEl>
                                        <p:attrNameLst>
                                          <p:attrName>fill.type</p:attrName>
                                        </p:attrNameLst>
                                      </p:cBhvr>
                                      <p:to>
                                        <p:strVal val="solid"/>
                                      </p:to>
                                    </p:set>
                                    <p:set>
                                      <p:cBhvr>
                                        <p:cTn id="33" dur="100" fill="hold"/>
                                        <p:tgtEl>
                                          <p:spTgt spid="109"/>
                                        </p:tgtEl>
                                        <p:attrNameLst>
                                          <p:attrName>fill.on</p:attrName>
                                        </p:attrNameLst>
                                      </p:cBhvr>
                                      <p:to>
                                        <p:strVal val="true"/>
                                      </p:to>
                                    </p:set>
                                  </p:childTnLst>
                                </p:cTn>
                              </p:par>
                            </p:childTnLst>
                          </p:cTn>
                        </p:par>
                        <p:par>
                          <p:cTn id="34" fill="hold">
                            <p:stCondLst>
                              <p:cond delay="500"/>
                            </p:stCondLst>
                            <p:childTnLst>
                              <p:par>
                                <p:cTn id="35" presetID="1" presetClass="emph" presetSubtype="2" fill="hold" nodeType="afterEffect">
                                  <p:stCondLst>
                                    <p:cond delay="0"/>
                                  </p:stCondLst>
                                  <p:childTnLst>
                                    <p:animClr clrSpc="rgb" dir="cw">
                                      <p:cBhvr>
                                        <p:cTn id="36" dur="100" fill="hold"/>
                                        <p:tgtEl>
                                          <p:spTgt spid="115"/>
                                        </p:tgtEl>
                                        <p:attrNameLst>
                                          <p:attrName>fillcolor</p:attrName>
                                        </p:attrNameLst>
                                      </p:cBhvr>
                                      <p:to>
                                        <a:schemeClr val="accent2"/>
                                      </p:to>
                                    </p:animClr>
                                    <p:set>
                                      <p:cBhvr>
                                        <p:cTn id="37" dur="100" fill="hold"/>
                                        <p:tgtEl>
                                          <p:spTgt spid="115"/>
                                        </p:tgtEl>
                                        <p:attrNameLst>
                                          <p:attrName>fill.type</p:attrName>
                                        </p:attrNameLst>
                                      </p:cBhvr>
                                      <p:to>
                                        <p:strVal val="solid"/>
                                      </p:to>
                                    </p:set>
                                    <p:set>
                                      <p:cBhvr>
                                        <p:cTn id="38" dur="100" fill="hold"/>
                                        <p:tgtEl>
                                          <p:spTgt spid="115"/>
                                        </p:tgtEl>
                                        <p:attrNameLst>
                                          <p:attrName>fill.on</p:attrName>
                                        </p:attrNameLst>
                                      </p:cBhvr>
                                      <p:to>
                                        <p:strVal val="true"/>
                                      </p:to>
                                    </p:set>
                                  </p:childTnLst>
                                </p:cTn>
                              </p:par>
                            </p:childTnLst>
                          </p:cTn>
                        </p:par>
                        <p:par>
                          <p:cTn id="39" fill="hold">
                            <p:stCondLst>
                              <p:cond delay="600"/>
                            </p:stCondLst>
                            <p:childTnLst>
                              <p:par>
                                <p:cTn id="40" presetID="1" presetClass="emph" presetSubtype="2" fill="hold" nodeType="afterEffect">
                                  <p:stCondLst>
                                    <p:cond delay="0"/>
                                  </p:stCondLst>
                                  <p:childTnLst>
                                    <p:animClr clrSpc="rgb" dir="cw">
                                      <p:cBhvr>
                                        <p:cTn id="41" dur="100" fill="hold"/>
                                        <p:tgtEl>
                                          <p:spTgt spid="114"/>
                                        </p:tgtEl>
                                        <p:attrNameLst>
                                          <p:attrName>fillcolor</p:attrName>
                                        </p:attrNameLst>
                                      </p:cBhvr>
                                      <p:to>
                                        <a:schemeClr val="accent2"/>
                                      </p:to>
                                    </p:animClr>
                                    <p:set>
                                      <p:cBhvr>
                                        <p:cTn id="42" dur="100" fill="hold"/>
                                        <p:tgtEl>
                                          <p:spTgt spid="114"/>
                                        </p:tgtEl>
                                        <p:attrNameLst>
                                          <p:attrName>fill.type</p:attrName>
                                        </p:attrNameLst>
                                      </p:cBhvr>
                                      <p:to>
                                        <p:strVal val="solid"/>
                                      </p:to>
                                    </p:set>
                                    <p:set>
                                      <p:cBhvr>
                                        <p:cTn id="43" dur="100" fill="hold"/>
                                        <p:tgtEl>
                                          <p:spTgt spid="114"/>
                                        </p:tgtEl>
                                        <p:attrNameLst>
                                          <p:attrName>fill.on</p:attrName>
                                        </p:attrNameLst>
                                      </p:cBhvr>
                                      <p:to>
                                        <p:strVal val="true"/>
                                      </p:to>
                                    </p:set>
                                  </p:childTnLst>
                                </p:cTn>
                              </p:par>
                            </p:childTnLst>
                          </p:cTn>
                        </p:par>
                        <p:par>
                          <p:cTn id="44" fill="hold">
                            <p:stCondLst>
                              <p:cond delay="700"/>
                            </p:stCondLst>
                            <p:childTnLst>
                              <p:par>
                                <p:cTn id="45" presetID="1" presetClass="emph" presetSubtype="2" fill="hold" nodeType="afterEffect">
                                  <p:stCondLst>
                                    <p:cond delay="0"/>
                                  </p:stCondLst>
                                  <p:childTnLst>
                                    <p:animClr clrSpc="rgb" dir="cw">
                                      <p:cBhvr>
                                        <p:cTn id="46" dur="100" fill="hold"/>
                                        <p:tgtEl>
                                          <p:spTgt spid="116"/>
                                        </p:tgtEl>
                                        <p:attrNameLst>
                                          <p:attrName>fillcolor</p:attrName>
                                        </p:attrNameLst>
                                      </p:cBhvr>
                                      <p:to>
                                        <a:schemeClr val="accent2"/>
                                      </p:to>
                                    </p:animClr>
                                    <p:set>
                                      <p:cBhvr>
                                        <p:cTn id="47" dur="100" fill="hold"/>
                                        <p:tgtEl>
                                          <p:spTgt spid="116"/>
                                        </p:tgtEl>
                                        <p:attrNameLst>
                                          <p:attrName>fill.type</p:attrName>
                                        </p:attrNameLst>
                                      </p:cBhvr>
                                      <p:to>
                                        <p:strVal val="solid"/>
                                      </p:to>
                                    </p:set>
                                    <p:set>
                                      <p:cBhvr>
                                        <p:cTn id="48" dur="100" fill="hold"/>
                                        <p:tgtEl>
                                          <p:spTgt spid="116"/>
                                        </p:tgtEl>
                                        <p:attrNameLst>
                                          <p:attrName>fill.on</p:attrName>
                                        </p:attrNameLst>
                                      </p:cBhvr>
                                      <p:to>
                                        <p:strVal val="tru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Dead-letter </a:t>
            </a:r>
            <a:r>
              <a:rPr lang="en-US" dirty="0">
                <a:solidFill>
                  <a:srgbClr val="FFFFFF"/>
                </a:solidFill>
              </a:rPr>
              <a:t>queues</a:t>
            </a:r>
            <a:endParaRPr lang="en-US" dirty="0">
              <a:solidFill>
                <a:srgbClr val="FFFFFF"/>
              </a:solidFill>
              <a:latin typeface="Amazon Ember Light" panose="020B0403020204020204"/>
            </a:endParaRPr>
          </a:p>
        </p:txBody>
      </p:sp>
      <p:sp>
        <p:nvSpPr>
          <p:cNvPr id="3" name="Content Placeholder 2"/>
          <p:cNvSpPr>
            <a:spLocks noGrp="1"/>
          </p:cNvSpPr>
          <p:nvPr>
            <p:ph idx="1"/>
          </p:nvPr>
        </p:nvSpPr>
        <p:spPr/>
        <p:txBody>
          <a:bodyPr/>
          <a:lstStyle/>
          <a:p>
            <a:r>
              <a:rPr lang="en-US" dirty="0"/>
              <a:t>A dead-letter queue is a queue of messages that </a:t>
            </a:r>
            <a:r>
              <a:rPr lang="en-US" dirty="0">
                <a:solidFill>
                  <a:srgbClr val="000000"/>
                </a:solidFill>
              </a:rPr>
              <a:t>were not able to be processed</a:t>
            </a:r>
            <a:r>
              <a:rPr lang="en-US" dirty="0"/>
              <a:t>.</a:t>
            </a:r>
          </a:p>
          <a:p>
            <a:pPr lvl="1"/>
            <a:endParaRPr lang="en-US" dirty="0"/>
          </a:p>
          <a:p>
            <a:r>
              <a:rPr lang="en-US" dirty="0"/>
              <a:t>Use dead-letter queues with standard queues. </a:t>
            </a:r>
          </a:p>
          <a:p>
            <a:endParaRPr lang="en-US" dirty="0"/>
          </a:p>
          <a:p>
            <a:r>
              <a:rPr lang="en-US" dirty="0"/>
              <a:t>Dead-letter queues </a:t>
            </a:r>
            <a:r>
              <a:rPr lang="en-US" dirty="0">
                <a:solidFill>
                  <a:srgbClr val="000000"/>
                </a:solidFill>
              </a:rPr>
              <a:t>help</a:t>
            </a:r>
            <a:r>
              <a:rPr lang="en-US" dirty="0"/>
              <a:t> you troubleshoot incorrect message transmission operations. </a:t>
            </a:r>
          </a:p>
          <a:p>
            <a:pPr marL="0" indent="0">
              <a:buNone/>
            </a:pPr>
            <a:endParaRPr lang="en-US" dirty="0"/>
          </a:p>
        </p:txBody>
      </p:sp>
      <p:sp>
        <p:nvSpPr>
          <p:cNvPr id="4" name="Slide Number Placeholder 3"/>
          <p:cNvSpPr>
            <a:spLocks noGrp="1"/>
          </p:cNvSpPr>
          <p:nvPr>
            <p:ph type="sldNum" sz="quarter" idx="12"/>
          </p:nvPr>
        </p:nvSpPr>
        <p:spPr/>
        <p:txBody>
          <a:bodyPr/>
          <a:lstStyle/>
          <a:p>
            <a:fld id="{9FC43BFD-8FF7-A343-A8A6-E2338FCE8046}" type="slidenum">
              <a:rPr lang="en-US" smtClean="0"/>
              <a:pPr/>
              <a:t>22</a:t>
            </a:fld>
            <a:endParaRPr lang="en-US" dirty="0"/>
          </a:p>
        </p:txBody>
      </p:sp>
      <p:sp>
        <p:nvSpPr>
          <p:cNvPr id="6" name="Footer Placeholder 5"/>
          <p:cNvSpPr>
            <a:spLocks noGrp="1"/>
          </p:cNvSpPr>
          <p:nvPr>
            <p:ph type="ftr" sz="quarter" idx="3"/>
          </p:nvPr>
        </p:nvSpPr>
        <p:spPr/>
        <p:txBody>
          <a:bodyPr/>
          <a:lstStyle/>
          <a:p>
            <a:r>
              <a:rPr lang="en-US"/>
              <a:t>© 2020 Amazon Web Services, Inc. or its Affiliates. All rights reserved.</a:t>
            </a:r>
            <a:endParaRPr lang="en-US" dirty="0"/>
          </a:p>
        </p:txBody>
      </p:sp>
      <p:sp>
        <p:nvSpPr>
          <p:cNvPr id="5" name="TextBox 4"/>
          <p:cNvSpPr txBox="1"/>
          <p:nvPr/>
        </p:nvSpPr>
        <p:spPr>
          <a:xfrm>
            <a:off x="1083734" y="5139170"/>
            <a:ext cx="10024533" cy="830997"/>
          </a:xfrm>
          <a:prstGeom prst="rect">
            <a:avLst/>
          </a:prstGeom>
          <a:noFill/>
          <a:ln w="28575">
            <a:noFill/>
          </a:ln>
        </p:spPr>
        <p:txBody>
          <a:bodyPr wrap="square" rtlCol="0">
            <a:spAutoFit/>
          </a:bodyPr>
          <a:lstStyle/>
          <a:p>
            <a:r>
              <a:rPr lang="en-US" sz="2400" b="1" dirty="0">
                <a:latin typeface="Amazon Ember Light" charset="0"/>
                <a:ea typeface="Amazon Ember Light" charset="0"/>
                <a:cs typeface="Amazon Ember Light" charset="0"/>
              </a:rPr>
              <a:t>Note:</a:t>
            </a:r>
            <a:r>
              <a:rPr lang="en-US" sz="2400" dirty="0">
                <a:latin typeface="Amazon Ember Light" charset="0"/>
                <a:ea typeface="Amazon Ember Light" charset="0"/>
                <a:cs typeface="Amazon Ember Light" charset="0"/>
              </a:rPr>
              <a:t> Dead letter queues must reside in the same account and AWS region as the other queues that use the dead letter queue.</a:t>
            </a:r>
          </a:p>
        </p:txBody>
      </p:sp>
    </p:spTree>
    <p:custDataLst>
      <p:tags r:id="rId1"/>
    </p:custDataLst>
    <p:extLst>
      <p:ext uri="{BB962C8B-B14F-4D97-AF65-F5344CB8AC3E}">
        <p14:creationId xmlns:p14="http://schemas.microsoft.com/office/powerpoint/2010/main" val="38340869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solidFill>
                  <a:srgbClr val="FFFFFF"/>
                </a:solidFill>
              </a:rPr>
              <a:t>Resource-based</a:t>
            </a:r>
            <a:r>
              <a:rPr lang="en-US" dirty="0" smtClean="0"/>
              <a:t> </a:t>
            </a:r>
            <a:r>
              <a:rPr lang="en-US" dirty="0" smtClean="0">
                <a:solidFill>
                  <a:srgbClr val="FFFFFF"/>
                </a:solidFill>
              </a:rPr>
              <a:t>permissions</a:t>
            </a:r>
            <a:r>
              <a:rPr lang="en-US" dirty="0" smtClean="0"/>
              <a:t>:</a:t>
            </a:r>
            <a:br>
              <a:rPr lang="en-US" dirty="0" smtClean="0"/>
            </a:br>
            <a:r>
              <a:rPr lang="en-US" dirty="0" smtClean="0"/>
              <a:t>Sharing </a:t>
            </a:r>
            <a:r>
              <a:rPr lang="en-US" dirty="0"/>
              <a:t>a </a:t>
            </a:r>
            <a:r>
              <a:rPr lang="en-US" dirty="0">
                <a:solidFill>
                  <a:srgbClr val="FFFFFF"/>
                </a:solidFill>
              </a:rPr>
              <a:t>queue</a:t>
            </a:r>
            <a:endParaRPr lang="en-US" dirty="0">
              <a:solidFill>
                <a:srgbClr val="FFFFFF"/>
              </a:solidFill>
              <a:latin typeface="Amazon Ember Light" panose="020B0403020204020204"/>
            </a:endParaRPr>
          </a:p>
        </p:txBody>
      </p:sp>
      <p:sp>
        <p:nvSpPr>
          <p:cNvPr id="3" name="Content Placeholder 2"/>
          <p:cNvSpPr>
            <a:spLocks noGrp="1"/>
          </p:cNvSpPr>
          <p:nvPr>
            <p:ph idx="1"/>
          </p:nvPr>
        </p:nvSpPr>
        <p:spPr/>
        <p:txBody>
          <a:bodyPr/>
          <a:lstStyle/>
          <a:p>
            <a:pPr marL="0" indent="0">
              <a:buNone/>
            </a:pPr>
            <a:r>
              <a:rPr lang="en-US" sz="3200" dirty="0"/>
              <a:t>Shared </a:t>
            </a:r>
            <a:r>
              <a:rPr lang="en-US" sz="3200" dirty="0">
                <a:solidFill>
                  <a:srgbClr val="000000"/>
                </a:solidFill>
              </a:rPr>
              <a:t>Queues</a:t>
            </a:r>
            <a:endParaRPr lang="en-US" sz="3200" dirty="0">
              <a:solidFill>
                <a:srgbClr val="000000"/>
              </a:solidFill>
              <a:latin typeface="Amazon Ember Light" panose="020B0403020204020204"/>
            </a:endParaRPr>
          </a:p>
          <a:p>
            <a:pPr lvl="1"/>
            <a:r>
              <a:rPr lang="en-US" sz="2800" dirty="0"/>
              <a:t>Queues can be shared with other AWS accounts.</a:t>
            </a:r>
          </a:p>
          <a:p>
            <a:pPr lvl="1"/>
            <a:r>
              <a:rPr lang="en-US" sz="2800" dirty="0"/>
              <a:t>Queues can be shared anonymously.</a:t>
            </a:r>
          </a:p>
          <a:p>
            <a:pPr lvl="1"/>
            <a:r>
              <a:rPr lang="en-US" sz="2800" dirty="0"/>
              <a:t>A </a:t>
            </a:r>
            <a:r>
              <a:rPr lang="en-US" sz="2800" dirty="0">
                <a:solidFill>
                  <a:schemeClr val="accent6"/>
                </a:solidFill>
                <a:latin typeface="+mj-lt"/>
                <a:ea typeface="Amazon Ember" panose="02000000000000000000" pitchFamily="2" charset="0"/>
              </a:rPr>
              <a:t>permission</a:t>
            </a:r>
            <a:r>
              <a:rPr lang="en-US" sz="2800" dirty="0"/>
              <a:t> gives access to another person to use your queue in some particular way.</a:t>
            </a:r>
          </a:p>
          <a:p>
            <a:pPr lvl="1"/>
            <a:r>
              <a:rPr lang="en-US" sz="2800" dirty="0"/>
              <a:t>A </a:t>
            </a:r>
            <a:r>
              <a:rPr lang="en-US" sz="2800" dirty="0">
                <a:solidFill>
                  <a:schemeClr val="accent6"/>
                </a:solidFill>
                <a:latin typeface="+mn-lt"/>
                <a:ea typeface="Amazon Ember" panose="02000000000000000000" pitchFamily="2" charset="0"/>
              </a:rPr>
              <a:t>policy</a:t>
            </a:r>
            <a:r>
              <a:rPr lang="en-US" sz="2800" dirty="0"/>
              <a:t> is the actual document that contains the permissions you granted.</a:t>
            </a:r>
          </a:p>
          <a:p>
            <a:pPr lvl="1"/>
            <a:endParaRPr lang="en-US" sz="1200" dirty="0"/>
          </a:p>
          <a:p>
            <a:pPr marL="0" indent="0">
              <a:buNone/>
            </a:pPr>
            <a:r>
              <a:rPr lang="en-US" sz="3200" dirty="0"/>
              <a:t>Who pays for </a:t>
            </a:r>
            <a:r>
              <a:rPr lang="en-US" sz="3200" dirty="0">
                <a:solidFill>
                  <a:srgbClr val="000000"/>
                </a:solidFill>
              </a:rPr>
              <a:t>shared queue access</a:t>
            </a:r>
            <a:r>
              <a:rPr lang="en-US" sz="3200" dirty="0"/>
              <a:t>?</a:t>
            </a:r>
          </a:p>
          <a:p>
            <a:pPr lvl="1"/>
            <a:r>
              <a:rPr lang="en-US" sz="2800" dirty="0"/>
              <a:t>The queue </a:t>
            </a:r>
            <a:r>
              <a:rPr lang="en-US" sz="2800" dirty="0">
                <a:solidFill>
                  <a:schemeClr val="accent6"/>
                </a:solidFill>
                <a:latin typeface="+mn-lt"/>
                <a:ea typeface="Amazon Ember" panose="02000000000000000000" pitchFamily="2" charset="0"/>
              </a:rPr>
              <a:t>owner</a:t>
            </a:r>
            <a:r>
              <a:rPr lang="en-US" sz="2800" dirty="0"/>
              <a:t> pays for </a:t>
            </a:r>
            <a:r>
              <a:rPr lang="en-US" sz="2800" dirty="0">
                <a:solidFill>
                  <a:srgbClr val="000000"/>
                </a:solidFill>
              </a:rPr>
              <a:t>shared queue access</a:t>
            </a:r>
            <a:r>
              <a:rPr lang="en-US" sz="2800" dirty="0"/>
              <a:t>.</a:t>
            </a:r>
          </a:p>
        </p:txBody>
      </p:sp>
      <p:sp>
        <p:nvSpPr>
          <p:cNvPr id="4" name="Slide Number Placeholder 3"/>
          <p:cNvSpPr>
            <a:spLocks noGrp="1"/>
          </p:cNvSpPr>
          <p:nvPr>
            <p:ph type="sldNum" sz="quarter" idx="12"/>
          </p:nvPr>
        </p:nvSpPr>
        <p:spPr/>
        <p:txBody>
          <a:bodyPr/>
          <a:lstStyle/>
          <a:p>
            <a:fld id="{9FC43BFD-8FF7-A343-A8A6-E2338FCE8046}" type="slidenum">
              <a:rPr lang="en-US" smtClean="0"/>
              <a:pPr/>
              <a:t>23</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679676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Server-side </a:t>
            </a:r>
            <a:r>
              <a:rPr lang="en-US" dirty="0">
                <a:solidFill>
                  <a:srgbClr val="FFFFFF"/>
                </a:solidFill>
              </a:rPr>
              <a:t>encryption</a:t>
            </a:r>
            <a:endParaRPr lang="en-US" dirty="0">
              <a:solidFill>
                <a:srgbClr val="FFFFFF"/>
              </a:solidFill>
              <a:latin typeface="Amazon Ember Light" panose="020B0403020204020204"/>
            </a:endParaRPr>
          </a:p>
        </p:txBody>
      </p:sp>
      <p:sp>
        <p:nvSpPr>
          <p:cNvPr id="3" name="Content Placeholder 2"/>
          <p:cNvSpPr>
            <a:spLocks noGrp="1"/>
          </p:cNvSpPr>
          <p:nvPr>
            <p:ph idx="1"/>
          </p:nvPr>
        </p:nvSpPr>
        <p:spPr/>
        <p:txBody>
          <a:bodyPr>
            <a:normAutofit/>
          </a:bodyPr>
          <a:lstStyle/>
          <a:p>
            <a:pPr marL="0" indent="0">
              <a:buNone/>
            </a:pPr>
            <a:r>
              <a:rPr lang="en-US" sz="3200" dirty="0">
                <a:solidFill>
                  <a:srgbClr val="000000"/>
                </a:solidFill>
              </a:rPr>
              <a:t>Allows</a:t>
            </a:r>
            <a:r>
              <a:rPr lang="en-US" sz="3200" dirty="0"/>
              <a:t> for encryption of queues and encryption and decryption of </a:t>
            </a:r>
            <a:r>
              <a:rPr lang="en-US" sz="3200" dirty="0" smtClean="0"/>
              <a:t>messages</a:t>
            </a:r>
            <a:endParaRPr lang="en-US" sz="3200" dirty="0"/>
          </a:p>
          <a:p>
            <a:pPr marL="0" indent="0">
              <a:buNone/>
            </a:pPr>
            <a:endParaRPr lang="en-US" dirty="0"/>
          </a:p>
          <a:p>
            <a:pPr lvl="2"/>
            <a:endParaRPr lang="en-US" sz="2400" dirty="0"/>
          </a:p>
        </p:txBody>
      </p:sp>
      <p:sp>
        <p:nvSpPr>
          <p:cNvPr id="4" name="Slide Number Placeholder 3"/>
          <p:cNvSpPr>
            <a:spLocks noGrp="1"/>
          </p:cNvSpPr>
          <p:nvPr>
            <p:ph type="sldNum" sz="quarter" idx="12"/>
          </p:nvPr>
        </p:nvSpPr>
        <p:spPr/>
        <p:txBody>
          <a:bodyPr/>
          <a:lstStyle/>
          <a:p>
            <a:fld id="{9FC43BFD-8FF7-A343-A8A6-E2338FCE8046}" type="slidenum">
              <a:rPr lang="en-US" smtClean="0"/>
              <a:pPr/>
              <a:t>24</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
        <p:nvSpPr>
          <p:cNvPr id="6" name="TextBox 5"/>
          <p:cNvSpPr txBox="1"/>
          <p:nvPr/>
        </p:nvSpPr>
        <p:spPr>
          <a:xfrm>
            <a:off x="277656" y="2993484"/>
            <a:ext cx="11521440" cy="2708434"/>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US" sz="1700" dirty="0">
                <a:solidFill>
                  <a:srgbClr val="000000"/>
                </a:solidFill>
                <a:latin typeface="Lucida Console" panose="020B0609040504020204" pitchFamily="49" charset="0"/>
                <a:cs typeface="Courier New" panose="02070309020205020404" pitchFamily="49" charset="0"/>
              </a:rPr>
              <a:t>final</a:t>
            </a:r>
            <a:r>
              <a:rPr lang="en-US" sz="1700" dirty="0">
                <a:solidFill>
                  <a:schemeClr val="tx1"/>
                </a:solidFill>
                <a:latin typeface="Lucida Console" panose="020B0609040504020204" pitchFamily="49" charset="0"/>
                <a:cs typeface="Courier New" panose="02070309020205020404" pitchFamily="49" charset="0"/>
              </a:rPr>
              <a:t> SetQueueAttributesRequest setAttributesRequest = new SetQueueAttributesRequest(); </a:t>
            </a:r>
            <a:r>
              <a:rPr lang="en-US" sz="1700" dirty="0" err="1">
                <a:solidFill>
                  <a:schemeClr val="tx1"/>
                </a:solidFill>
                <a:latin typeface="Lucida Console" panose="020B0609040504020204" pitchFamily="49" charset="0"/>
                <a:cs typeface="Courier New" panose="02070309020205020404" pitchFamily="49" charset="0"/>
              </a:rPr>
              <a:t>setAttributesRequest.setQueueUrl</a:t>
            </a:r>
            <a:r>
              <a:rPr lang="en-US" sz="1700" dirty="0">
                <a:solidFill>
                  <a:schemeClr val="tx1"/>
                </a:solidFill>
                <a:latin typeface="Lucida Console" panose="020B0609040504020204" pitchFamily="49" charset="0"/>
                <a:cs typeface="Courier New" panose="02070309020205020404" pitchFamily="49" charset="0"/>
              </a:rPr>
              <a:t>(</a:t>
            </a:r>
            <a:r>
              <a:rPr lang="en-US" sz="1700" dirty="0" err="1">
                <a:solidFill>
                  <a:srgbClr val="000000"/>
                </a:solidFill>
                <a:latin typeface="Lucida Console" panose="020B0609040504020204" pitchFamily="49" charset="0"/>
                <a:cs typeface="Courier New" panose="02070309020205020404" pitchFamily="49" charset="0"/>
              </a:rPr>
              <a:t>queueUrl</a:t>
            </a:r>
            <a:r>
              <a:rPr lang="en-US" sz="1700" dirty="0">
                <a:solidFill>
                  <a:schemeClr val="tx1"/>
                </a:solidFill>
                <a:latin typeface="Lucida Console" panose="020B0609040504020204" pitchFamily="49" charset="0"/>
                <a:cs typeface="Courier New" panose="02070309020205020404" pitchFamily="49" charset="0"/>
              </a:rPr>
              <a:t>);</a:t>
            </a:r>
          </a:p>
          <a:p>
            <a:endParaRPr lang="en-US" sz="1700" dirty="0">
              <a:solidFill>
                <a:schemeClr val="tx1"/>
              </a:solidFill>
              <a:latin typeface="Lucida Console" panose="020B0609040504020204" pitchFamily="49" charset="0"/>
              <a:cs typeface="Courier New" panose="02070309020205020404" pitchFamily="49" charset="0"/>
            </a:endParaRPr>
          </a:p>
          <a:p>
            <a:r>
              <a:rPr lang="en-US" sz="1700" dirty="0">
                <a:solidFill>
                  <a:schemeClr val="tx1"/>
                </a:solidFill>
                <a:latin typeface="Lucida Console" panose="020B0609040504020204" pitchFamily="49" charset="0"/>
                <a:cs typeface="Courier New" panose="02070309020205020404" pitchFamily="49" charset="0"/>
              </a:rPr>
              <a:t>// </a:t>
            </a:r>
            <a:r>
              <a:rPr lang="en-US" sz="1700" dirty="0">
                <a:solidFill>
                  <a:srgbClr val="000000"/>
                </a:solidFill>
                <a:latin typeface="Lucida Console" panose="020B0609040504020204" pitchFamily="49" charset="0"/>
                <a:cs typeface="Courier New" panose="02070309020205020404" pitchFamily="49" charset="0"/>
              </a:rPr>
              <a:t>Enable</a:t>
            </a:r>
            <a:r>
              <a:rPr lang="en-US" sz="1700" dirty="0">
                <a:solidFill>
                  <a:schemeClr val="tx1"/>
                </a:solidFill>
                <a:latin typeface="Lucida Console" panose="020B0609040504020204" pitchFamily="49" charset="0"/>
                <a:cs typeface="Courier New" panose="02070309020205020404" pitchFamily="49" charset="0"/>
              </a:rPr>
              <a:t> server-side encryption by specifying the alias ARS of the</a:t>
            </a:r>
          </a:p>
          <a:p>
            <a:r>
              <a:rPr lang="en-US" sz="1700" dirty="0">
                <a:solidFill>
                  <a:schemeClr val="tx1"/>
                </a:solidFill>
                <a:latin typeface="Lucida Console" panose="020B0609040504020204" pitchFamily="49" charset="0"/>
                <a:cs typeface="Courier New" panose="02070309020205020404" pitchFamily="49" charset="0"/>
              </a:rPr>
              <a:t>// </a:t>
            </a:r>
            <a:r>
              <a:rPr lang="en-US" sz="1700" dirty="0">
                <a:solidFill>
                  <a:srgbClr val="000000"/>
                </a:solidFill>
                <a:latin typeface="Lucida Console" panose="020B0609040504020204" pitchFamily="49" charset="0"/>
                <a:cs typeface="Courier New" panose="02070309020205020404" pitchFamily="49" charset="0"/>
              </a:rPr>
              <a:t>AWS-managed</a:t>
            </a:r>
            <a:r>
              <a:rPr lang="en-US" sz="1700" dirty="0">
                <a:solidFill>
                  <a:schemeClr val="tx1"/>
                </a:solidFill>
                <a:latin typeface="Lucida Console" panose="020B0609040504020204" pitchFamily="49" charset="0"/>
                <a:cs typeface="Courier New" panose="02070309020205020404" pitchFamily="49" charset="0"/>
              </a:rPr>
              <a:t> CMK for Amazon SQS.</a:t>
            </a:r>
          </a:p>
          <a:p>
            <a:r>
              <a:rPr lang="en-US" sz="1700" dirty="0">
                <a:solidFill>
                  <a:srgbClr val="000000"/>
                </a:solidFill>
                <a:latin typeface="Lucida Console" panose="020B0609040504020204" pitchFamily="49" charset="0"/>
                <a:cs typeface="Courier New" panose="02070309020205020404" pitchFamily="49" charset="0"/>
              </a:rPr>
              <a:t>final</a:t>
            </a:r>
            <a:r>
              <a:rPr lang="en-US" sz="1700" dirty="0">
                <a:solidFill>
                  <a:schemeClr val="tx1"/>
                </a:solidFill>
                <a:latin typeface="Lucida Console" panose="020B0609040504020204" pitchFamily="49" charset="0"/>
                <a:cs typeface="Courier New" panose="02070309020205020404" pitchFamily="49" charset="0"/>
              </a:rPr>
              <a:t> String kmsMasterKeyAlias = “</a:t>
            </a:r>
            <a:r>
              <a:rPr lang="en-US" sz="1700" b="1" dirty="0">
                <a:solidFill>
                  <a:schemeClr val="tx1"/>
                </a:solidFill>
                <a:latin typeface="Lucida Console" panose="020B0609040504020204" pitchFamily="49" charset="0"/>
                <a:cs typeface="Courier New" panose="02070309020205020404" pitchFamily="49" charset="0"/>
              </a:rPr>
              <a:t>arn:aws:kms:us-east-2:123456789012:alias/aws/sqs</a:t>
            </a:r>
            <a:r>
              <a:rPr lang="en-US" sz="1700" dirty="0">
                <a:solidFill>
                  <a:schemeClr val="tx1"/>
                </a:solidFill>
                <a:latin typeface="Lucida Console" panose="020B0609040504020204" pitchFamily="49" charset="0"/>
                <a:cs typeface="Courier New" panose="02070309020205020404" pitchFamily="49" charset="0"/>
              </a:rPr>
              <a:t>”;</a:t>
            </a:r>
          </a:p>
          <a:p>
            <a:r>
              <a:rPr lang="en-US" sz="1700" dirty="0">
                <a:solidFill>
                  <a:schemeClr val="tx1"/>
                </a:solidFill>
                <a:latin typeface="Lucida Console" panose="020B0609040504020204" pitchFamily="49" charset="0"/>
                <a:cs typeface="Courier New" panose="02070309020205020404" pitchFamily="49" charset="0"/>
              </a:rPr>
              <a:t>Attributes.put(“</a:t>
            </a:r>
            <a:r>
              <a:rPr lang="en-US" sz="1700" b="1" dirty="0" err="1">
                <a:solidFill>
                  <a:schemeClr val="tx1"/>
                </a:solidFill>
                <a:latin typeface="Lucida Console" panose="020B0609040504020204" pitchFamily="49" charset="0"/>
                <a:cs typeface="Courier New" panose="02070309020205020404" pitchFamily="49" charset="0"/>
              </a:rPr>
              <a:t>KmsMasterKeyId</a:t>
            </a:r>
            <a:r>
              <a:rPr lang="en-US" sz="1700" dirty="0">
                <a:solidFill>
                  <a:srgbClr val="000000"/>
                </a:solidFill>
                <a:latin typeface="Lucida Console" panose="020B0609040504020204" pitchFamily="49" charset="0"/>
                <a:cs typeface="Courier New" panose="02070309020205020404" pitchFamily="49" charset="0"/>
              </a:rPr>
              <a:t>”,</a:t>
            </a:r>
            <a:r>
              <a:rPr lang="en-US" sz="1700" dirty="0">
                <a:solidFill>
                  <a:schemeClr val="tx1"/>
                </a:solidFill>
                <a:latin typeface="Lucida Console" panose="020B0609040504020204" pitchFamily="49" charset="0"/>
                <a:cs typeface="Courier New" panose="02070309020205020404" pitchFamily="49" charset="0"/>
              </a:rPr>
              <a:t> kmsMasterKeyAlias);</a:t>
            </a:r>
          </a:p>
          <a:p>
            <a:endParaRPr lang="en-US" sz="1700" dirty="0">
              <a:solidFill>
                <a:schemeClr val="tx1"/>
              </a:solidFill>
              <a:latin typeface="Lucida Console" panose="020B0609040504020204" pitchFamily="49" charset="0"/>
              <a:cs typeface="Courier New" panose="02070309020205020404" pitchFamily="49" charset="0"/>
            </a:endParaRPr>
          </a:p>
          <a:p>
            <a:r>
              <a:rPr lang="en-US" sz="1700" dirty="0">
                <a:solidFill>
                  <a:schemeClr val="tx1"/>
                </a:solidFill>
                <a:latin typeface="Lucida Console" panose="020B0609040504020204" pitchFamily="49" charset="0"/>
                <a:cs typeface="Courier New" panose="02070309020205020404" pitchFamily="49" charset="0"/>
              </a:rPr>
              <a:t>final SetQueueAttributesResult setAttributesResult = client.setQueueAttributes(setAttributesRequest);</a:t>
            </a:r>
          </a:p>
        </p:txBody>
      </p:sp>
    </p:spTree>
    <p:custDataLst>
      <p:tags r:id="rId1"/>
    </p:custDataLst>
    <p:extLst>
      <p:ext uri="{BB962C8B-B14F-4D97-AF65-F5344CB8AC3E}">
        <p14:creationId xmlns:p14="http://schemas.microsoft.com/office/powerpoint/2010/main" val="297995170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SQS use cases</a:t>
            </a:r>
          </a:p>
        </p:txBody>
      </p:sp>
      <p:sp>
        <p:nvSpPr>
          <p:cNvPr id="3" name="Slide Number Placeholder 2"/>
          <p:cNvSpPr>
            <a:spLocks noGrp="1"/>
          </p:cNvSpPr>
          <p:nvPr>
            <p:ph type="sldNum" sz="quarter" idx="12"/>
          </p:nvPr>
        </p:nvSpPr>
        <p:spPr/>
        <p:txBody>
          <a:bodyPr/>
          <a:lstStyle/>
          <a:p>
            <a:fld id="{9FC43BFD-8FF7-A343-A8A6-E2338FCE8046}" type="slidenum">
              <a:rPr lang="en-US" smtClean="0"/>
              <a:pPr/>
              <a:t>25</a:t>
            </a:fld>
            <a:endParaRPr lang="en-US" dirty="0"/>
          </a:p>
        </p:txBody>
      </p:sp>
      <p:sp>
        <p:nvSpPr>
          <p:cNvPr id="5" name="Rounded Rectangle 4"/>
          <p:cNvSpPr/>
          <p:nvPr/>
        </p:nvSpPr>
        <p:spPr>
          <a:xfrm>
            <a:off x="3113910" y="1915297"/>
            <a:ext cx="2619632" cy="1297460"/>
          </a:xfrm>
          <a:prstGeom prst="roundRect">
            <a:avLst>
              <a:gd name="adj" fmla="val 0"/>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mazon Ember Light" charset="0"/>
                <a:ea typeface="Amazon Ember Light" charset="0"/>
                <a:cs typeface="Amazon Ember Light" charset="0"/>
              </a:rPr>
              <a:t>Work</a:t>
            </a:r>
            <a:br>
              <a:rPr lang="en-US" sz="2800" dirty="0">
                <a:solidFill>
                  <a:schemeClr val="tx1"/>
                </a:solidFill>
                <a:latin typeface="Amazon Ember Light" charset="0"/>
                <a:ea typeface="Amazon Ember Light" charset="0"/>
                <a:cs typeface="Amazon Ember Light" charset="0"/>
              </a:rPr>
            </a:br>
            <a:r>
              <a:rPr lang="en-US" sz="2800" dirty="0">
                <a:solidFill>
                  <a:schemeClr val="tx1"/>
                </a:solidFill>
                <a:latin typeface="Amazon Ember Light" charset="0"/>
                <a:ea typeface="Amazon Ember Light" charset="0"/>
                <a:cs typeface="Amazon Ember Light" charset="0"/>
              </a:rPr>
              <a:t>queues</a:t>
            </a:r>
          </a:p>
        </p:txBody>
      </p:sp>
      <p:sp>
        <p:nvSpPr>
          <p:cNvPr id="9" name="Rounded Rectangle 8"/>
          <p:cNvSpPr/>
          <p:nvPr/>
        </p:nvSpPr>
        <p:spPr>
          <a:xfrm>
            <a:off x="6624079" y="1924624"/>
            <a:ext cx="2619632" cy="1297460"/>
          </a:xfrm>
          <a:prstGeom prst="roundRect">
            <a:avLst>
              <a:gd name="adj" fmla="val 0"/>
            </a:avLst>
          </a:prstGeom>
          <a:solidFill>
            <a:schemeClr val="bg1"/>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mazon Ember Light" charset="0"/>
                <a:ea typeface="Amazon Ember Light" charset="0"/>
                <a:cs typeface="Amazon Ember Light" charset="0"/>
              </a:rPr>
              <a:t>Buffer and batch operations</a:t>
            </a:r>
          </a:p>
        </p:txBody>
      </p:sp>
      <p:sp>
        <p:nvSpPr>
          <p:cNvPr id="12" name="Rounded Rectangle 11"/>
          <p:cNvSpPr/>
          <p:nvPr/>
        </p:nvSpPr>
        <p:spPr>
          <a:xfrm>
            <a:off x="1083276" y="3711143"/>
            <a:ext cx="2619632" cy="1297460"/>
          </a:xfrm>
          <a:prstGeom prst="roundRect">
            <a:avLst>
              <a:gd name="adj" fmla="val 0"/>
            </a:avLst>
          </a:prstGeom>
          <a:solidFill>
            <a:schemeClr val="bg1"/>
          </a:solid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mazon Ember Light" charset="0"/>
                <a:ea typeface="Amazon Ember Light" charset="0"/>
                <a:cs typeface="Amazon Ember Light" charset="0"/>
              </a:rPr>
              <a:t>Request offloading</a:t>
            </a:r>
          </a:p>
        </p:txBody>
      </p:sp>
      <p:sp>
        <p:nvSpPr>
          <p:cNvPr id="21" name="Rounded Rectangle 20"/>
          <p:cNvSpPr/>
          <p:nvPr/>
        </p:nvSpPr>
        <p:spPr>
          <a:xfrm>
            <a:off x="4786184" y="3711143"/>
            <a:ext cx="2619632" cy="1297460"/>
          </a:xfrm>
          <a:prstGeom prst="roundRect">
            <a:avLst>
              <a:gd name="adj" fmla="val 0"/>
            </a:avLst>
          </a:prstGeom>
          <a:solidFill>
            <a:schemeClr val="bg1"/>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00000"/>
                </a:solidFill>
                <a:latin typeface="Amazon Ember Light" charset="0"/>
                <a:ea typeface="Amazon Ember Light" charset="0"/>
                <a:cs typeface="Amazon Ember Light" charset="0"/>
              </a:rPr>
              <a:t>Auto</a:t>
            </a:r>
            <a:br>
              <a:rPr lang="en-US" sz="2800" dirty="0">
                <a:solidFill>
                  <a:srgbClr val="000000"/>
                </a:solidFill>
                <a:latin typeface="Amazon Ember Light" charset="0"/>
                <a:ea typeface="Amazon Ember Light" charset="0"/>
                <a:cs typeface="Amazon Ember Light" charset="0"/>
              </a:rPr>
            </a:br>
            <a:r>
              <a:rPr lang="en-US" sz="2800" dirty="0" smtClean="0">
                <a:solidFill>
                  <a:srgbClr val="000000"/>
                </a:solidFill>
                <a:latin typeface="Amazon Ember Light" charset="0"/>
                <a:ea typeface="Amazon Ember Light" charset="0"/>
                <a:cs typeface="Amazon Ember Light" charset="0"/>
              </a:rPr>
              <a:t>scaling</a:t>
            </a:r>
            <a:endParaRPr lang="en-US" sz="2800" dirty="0">
              <a:solidFill>
                <a:srgbClr val="000000"/>
              </a:solidFill>
              <a:ea typeface="Amazon Ember Light" charset="0"/>
              <a:cs typeface="Amazon Ember Light" charset="0"/>
            </a:endParaRPr>
          </a:p>
        </p:txBody>
      </p:sp>
      <p:sp>
        <p:nvSpPr>
          <p:cNvPr id="24" name="Rounded Rectangle 23"/>
          <p:cNvSpPr/>
          <p:nvPr/>
        </p:nvSpPr>
        <p:spPr>
          <a:xfrm>
            <a:off x="8489092" y="3711143"/>
            <a:ext cx="2619632" cy="1297460"/>
          </a:xfrm>
          <a:prstGeom prst="roundRect">
            <a:avLst>
              <a:gd name="adj" fmla="val 0"/>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mazon Ember Light" charset="0"/>
                <a:ea typeface="Amazon Ember Light" charset="0"/>
                <a:cs typeface="Amazon Ember Light" charset="0"/>
              </a:rPr>
              <a:t>Fan-out: Uses Amazon SNS </a:t>
            </a:r>
          </a:p>
        </p:txBody>
      </p:sp>
      <p:sp>
        <p:nvSpPr>
          <p:cNvPr id="4" name="Footer Placeholder 3"/>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1281717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FF"/>
                </a:solidFill>
              </a:rPr>
              <a:t>Amazon Simple Queue Service</a:t>
            </a:r>
            <a:endParaRPr lang="en-US" dirty="0"/>
          </a:p>
        </p:txBody>
      </p:sp>
      <p:sp>
        <p:nvSpPr>
          <p:cNvPr id="4" name="Slide Number Placeholder 3"/>
          <p:cNvSpPr>
            <a:spLocks noGrp="1"/>
          </p:cNvSpPr>
          <p:nvPr>
            <p:ph type="sldNum" sz="quarter" idx="12"/>
          </p:nvPr>
        </p:nvSpPr>
        <p:spPr/>
        <p:txBody>
          <a:bodyPr/>
          <a:lstStyle/>
          <a:p>
            <a:fld id="{9FC43BFD-8FF7-A343-A8A6-E2338FCE8046}" type="slidenum">
              <a:rPr lang="en-US" smtClean="0"/>
              <a:pPr/>
              <a:t>26</a:t>
            </a:fld>
            <a:endParaRPr lang="en-US" dirty="0"/>
          </a:p>
        </p:txBody>
      </p:sp>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cxnSp>
        <p:nvCxnSpPr>
          <p:cNvPr id="7" name="Straight Arrow Connector 6"/>
          <p:cNvCxnSpPr>
            <a:stCxn id="45" idx="1"/>
            <a:endCxn id="56" idx="1"/>
          </p:cNvCxnSpPr>
          <p:nvPr/>
        </p:nvCxnSpPr>
        <p:spPr>
          <a:xfrm>
            <a:off x="2105289" y="3651391"/>
            <a:ext cx="1225944" cy="0"/>
          </a:xfrm>
          <a:prstGeom prst="straightConnector1">
            <a:avLst/>
          </a:prstGeom>
          <a:ln>
            <a:solidFill>
              <a:schemeClr val="tx1">
                <a:lumMod val="50000"/>
                <a:lumOff val="50000"/>
              </a:schemeClr>
            </a:solidFill>
            <a:headEnd type="arrow" w="med" len="sm"/>
            <a:tailEnd type="arrow" w="med" len="sm"/>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912357" y="4163706"/>
            <a:ext cx="1750172" cy="646331"/>
          </a:xfrm>
          <a:prstGeom prst="rect">
            <a:avLst/>
          </a:prstGeom>
          <a:noFill/>
        </p:spPr>
        <p:txBody>
          <a:bodyPr wrap="square" rtlCol="0">
            <a:spAutoFit/>
          </a:bodyPr>
          <a:lstStyle/>
          <a:p>
            <a:pPr algn="ctr"/>
            <a:r>
              <a:rPr lang="en-US" dirty="0">
                <a:latin typeface="Amazon Ember Light" charset="0"/>
                <a:ea typeface="Amazon Ember Light" charset="0"/>
                <a:cs typeface="Amazon Ember Light" charset="0"/>
              </a:rPr>
              <a:t>Web </a:t>
            </a:r>
            <a:r>
              <a:rPr lang="en-US" dirty="0">
                <a:solidFill>
                  <a:srgbClr val="000000"/>
                </a:solidFill>
                <a:latin typeface="Amazon Ember Light" charset="0"/>
                <a:ea typeface="Amazon Ember Light" charset="0"/>
                <a:cs typeface="Amazon Ember Light" charset="0"/>
              </a:rPr>
              <a:t>server</a:t>
            </a:r>
            <a:endParaRPr lang="en-US" dirty="0">
              <a:solidFill>
                <a:srgbClr val="000000"/>
              </a:solidFill>
              <a:latin typeface="Amazon Ember Light" panose="020B0403020204020204"/>
              <a:ea typeface="Amazon Ember Light" charset="0"/>
              <a:cs typeface="Amazon Ember Light" charset="0"/>
            </a:endParaRPr>
          </a:p>
          <a:p>
            <a:pPr algn="ctr"/>
            <a:r>
              <a:rPr lang="en-US" dirty="0">
                <a:latin typeface="Amazon Ember Light" charset="0"/>
                <a:ea typeface="Amazon Ember Light" charset="0"/>
                <a:cs typeface="Amazon Ember Light" charset="0"/>
              </a:rPr>
              <a:t>(EC2 instance)</a:t>
            </a:r>
          </a:p>
        </p:txBody>
      </p:sp>
      <p:sp>
        <p:nvSpPr>
          <p:cNvPr id="23" name="TextBox 22"/>
          <p:cNvSpPr txBox="1"/>
          <p:nvPr/>
        </p:nvSpPr>
        <p:spPr>
          <a:xfrm>
            <a:off x="1192408" y="4069433"/>
            <a:ext cx="1171819" cy="276999"/>
          </a:xfrm>
          <a:prstGeom prst="rect">
            <a:avLst/>
          </a:prstGeom>
          <a:noFill/>
        </p:spPr>
        <p:txBody>
          <a:bodyPr wrap="square" lIns="0" tIns="0" rIns="0" bIns="0" rtlCol="0">
            <a:spAutoFit/>
          </a:bodyPr>
          <a:lstStyle/>
          <a:p>
            <a:pPr algn="ctr"/>
            <a:r>
              <a:rPr lang="en-US" dirty="0">
                <a:solidFill>
                  <a:srgbClr val="000000"/>
                </a:solidFill>
                <a:latin typeface="Amazon Ember Light" charset="0"/>
                <a:ea typeface="Amazon Ember Light" charset="0"/>
                <a:cs typeface="Amazon Ember Light" charset="0"/>
              </a:rPr>
              <a:t>Users</a:t>
            </a:r>
            <a:endParaRPr lang="en-US" dirty="0">
              <a:solidFill>
                <a:srgbClr val="000000"/>
              </a:solidFill>
              <a:latin typeface="Amazon Ember Light" panose="020B0403020204020204"/>
              <a:ea typeface="Amazon Ember Light" charset="0"/>
              <a:cs typeface="Amazon Ember Light" charset="0"/>
            </a:endParaRPr>
          </a:p>
        </p:txBody>
      </p:sp>
      <p:sp>
        <p:nvSpPr>
          <p:cNvPr id="36" name="Rectangle 35">
            <a:extLst>
              <a:ext uri="{FF2B5EF4-FFF2-40B4-BE49-F238E27FC236}">
                <a16:creationId xmlns:a16="http://schemas.microsoft.com/office/drawing/2014/main" id="{CE7F7081-419C-2E4F-A999-2923C4338FC0}"/>
              </a:ext>
            </a:extLst>
          </p:cNvPr>
          <p:cNvSpPr/>
          <p:nvPr/>
        </p:nvSpPr>
        <p:spPr>
          <a:xfrm>
            <a:off x="2831777" y="1774878"/>
            <a:ext cx="8167816" cy="413295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AWS Cloud</a:t>
            </a:r>
          </a:p>
        </p:txBody>
      </p:sp>
      <p:pic>
        <p:nvPicPr>
          <p:cNvPr id="44" name="Graphic 11">
            <a:extLst>
              <a:ext uri="{FF2B5EF4-FFF2-40B4-BE49-F238E27FC236}">
                <a16:creationId xmlns:a16="http://schemas.microsoft.com/office/drawing/2014/main" id="{CE52C9D7-11B0-9E41-AB16-2C9849C3ECBE}"/>
              </a:ext>
            </a:extLst>
          </p:cNvPr>
          <p:cNvPicPr>
            <a:picLocks noChangeAspect="1"/>
          </p:cNvPicPr>
          <p:nvPr/>
        </p:nvPicPr>
        <p:blipFill>
          <a:blip r:embed="rId4"/>
          <a:stretch>
            <a:fillRect/>
          </a:stretch>
        </p:blipFill>
        <p:spPr>
          <a:xfrm>
            <a:off x="2831777" y="1774879"/>
            <a:ext cx="330200" cy="330200"/>
          </a:xfrm>
          <a:prstGeom prst="rect">
            <a:avLst/>
          </a:prstGeom>
        </p:spPr>
      </p:pic>
      <p:pic>
        <p:nvPicPr>
          <p:cNvPr id="45" name="Graphic 32">
            <a:extLst>
              <a:ext uri="{FF2B5EF4-FFF2-40B4-BE49-F238E27FC236}">
                <a16:creationId xmlns:a16="http://schemas.microsoft.com/office/drawing/2014/main" id="{50D454A7-825D-8A40-A013-745A422C40BE}"/>
              </a:ext>
            </a:extLst>
          </p:cNvPr>
          <p:cNvPicPr>
            <a:picLocks noChangeAspect="1"/>
          </p:cNvPicPr>
          <p:nvPr/>
        </p:nvPicPr>
        <p:blipFill>
          <a:blip r:embed="rId5"/>
          <a:stretch>
            <a:fillRect/>
          </a:stretch>
        </p:blipFill>
        <p:spPr>
          <a:xfrm flipH="1">
            <a:off x="1430610" y="3323598"/>
            <a:ext cx="674679" cy="655585"/>
          </a:xfrm>
          <a:prstGeom prst="rect">
            <a:avLst/>
          </a:prstGeom>
        </p:spPr>
      </p:pic>
      <p:grpSp>
        <p:nvGrpSpPr>
          <p:cNvPr id="16" name="Group 15"/>
          <p:cNvGrpSpPr/>
          <p:nvPr/>
        </p:nvGrpSpPr>
        <p:grpSpPr>
          <a:xfrm>
            <a:off x="3331233" y="2219138"/>
            <a:ext cx="7124785" cy="3333453"/>
            <a:chOff x="3675145" y="2256209"/>
            <a:chExt cx="7124785" cy="3333453"/>
          </a:xfrm>
        </p:grpSpPr>
        <p:cxnSp>
          <p:nvCxnSpPr>
            <p:cNvPr id="5" name="Straight Arrow Connector 4"/>
            <p:cNvCxnSpPr/>
            <p:nvPr/>
          </p:nvCxnSpPr>
          <p:spPr>
            <a:xfrm>
              <a:off x="4732638" y="3436995"/>
              <a:ext cx="692828" cy="0"/>
            </a:xfrm>
            <a:prstGeom prst="straightConnector1">
              <a:avLst/>
            </a:prstGeom>
            <a:ln>
              <a:solidFill>
                <a:schemeClr val="tx1">
                  <a:lumMod val="50000"/>
                  <a:lumOff val="50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5425466" y="4643172"/>
              <a:ext cx="1142570" cy="0"/>
            </a:xfrm>
            <a:prstGeom prst="straightConnector1">
              <a:avLst/>
            </a:prstGeom>
            <a:ln>
              <a:solidFill>
                <a:schemeClr val="tx1">
                  <a:lumMod val="50000"/>
                  <a:lumOff val="50000"/>
                </a:schemeClr>
              </a:solidFill>
              <a:tailEnd type="none"/>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a:off x="7664905" y="4643172"/>
              <a:ext cx="725333" cy="0"/>
            </a:xfrm>
            <a:prstGeom prst="straightConnector1">
              <a:avLst/>
            </a:prstGeom>
            <a:ln>
              <a:solidFill>
                <a:schemeClr val="tx1">
                  <a:lumMod val="50000"/>
                  <a:lumOff val="50000"/>
                </a:schemeClr>
              </a:solidFill>
              <a:headEnd type="arrow" w="med" len="sm"/>
              <a:tailEnd type="arrow" w="med" len="sm"/>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5409310" y="2750591"/>
              <a:ext cx="1142570" cy="1"/>
            </a:xfrm>
            <a:prstGeom prst="straightConnector1">
              <a:avLst/>
            </a:prstGeom>
            <a:ln>
              <a:solidFill>
                <a:schemeClr val="tx1">
                  <a:lumMod val="50000"/>
                  <a:lumOff val="50000"/>
                </a:schemeClr>
              </a:solidFill>
              <a:tailEnd type="arrow" w="med" len="sm"/>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a:off x="7648749" y="2750591"/>
              <a:ext cx="741489" cy="1"/>
            </a:xfrm>
            <a:prstGeom prst="straightConnector1">
              <a:avLst/>
            </a:prstGeom>
            <a:ln>
              <a:solidFill>
                <a:schemeClr val="tx1">
                  <a:lumMod val="50000"/>
                  <a:lumOff val="50000"/>
                </a:schemeClr>
              </a:solidFill>
              <a:headEnd type="arrow" w="med" len="sm"/>
              <a:tailEnd type="arrow" w="med" len="sm"/>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flipV="1">
              <a:off x="5413109" y="2759884"/>
              <a:ext cx="0" cy="660815"/>
            </a:xfrm>
            <a:prstGeom prst="straightConnector1">
              <a:avLst/>
            </a:prstGeom>
            <a:ln>
              <a:solidFill>
                <a:schemeClr val="tx1">
                  <a:lumMod val="50000"/>
                  <a:lumOff val="50000"/>
                </a:schemeClr>
              </a:solidFill>
              <a:tailEnd type="none"/>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468644" y="4774054"/>
              <a:ext cx="2331286" cy="492443"/>
            </a:xfrm>
            <a:prstGeom prst="rect">
              <a:avLst/>
            </a:prstGeom>
            <a:noFill/>
          </p:spPr>
          <p:txBody>
            <a:bodyPr wrap="square" lIns="0" tIns="0" rIns="0" bIns="0" rtlCol="0">
              <a:spAutoFit/>
            </a:bodyPr>
            <a:lstStyle/>
            <a:p>
              <a:pPr algn="ctr"/>
              <a:r>
                <a:rPr lang="en-US" sz="1600" dirty="0">
                  <a:latin typeface="Amazon Ember Light" charset="0"/>
                  <a:ea typeface="Amazon Ember Light" charset="0"/>
                  <a:cs typeface="Amazon Ember Light" charset="0"/>
                </a:rPr>
                <a:t>Processing </a:t>
              </a:r>
              <a:r>
                <a:rPr lang="en-US" sz="1600" dirty="0">
                  <a:solidFill>
                    <a:srgbClr val="000000"/>
                  </a:solidFill>
                  <a:latin typeface="Amazon Ember Light" charset="0"/>
                  <a:ea typeface="Amazon Ember Light" charset="0"/>
                  <a:cs typeface="Amazon Ember Light" charset="0"/>
                </a:rPr>
                <a:t>servers</a:t>
              </a:r>
              <a:endParaRPr lang="en-US" sz="1600" dirty="0">
                <a:solidFill>
                  <a:srgbClr val="000000"/>
                </a:solidFill>
                <a:latin typeface="Amazon Ember Light" panose="020B0403020204020204"/>
                <a:ea typeface="Amazon Ember Light" charset="0"/>
                <a:cs typeface="Amazon Ember Light" charset="0"/>
              </a:endParaRPr>
            </a:p>
            <a:p>
              <a:pPr algn="ctr"/>
              <a:r>
                <a:rPr lang="en-US" sz="1600" dirty="0">
                  <a:latin typeface="Amazon Ember Light" charset="0"/>
                  <a:ea typeface="Amazon Ember Light" charset="0"/>
                  <a:cs typeface="Amazon Ember Light" charset="0"/>
                </a:rPr>
                <a:t>(</a:t>
              </a:r>
              <a:r>
                <a:rPr lang="en-US" sz="1600" dirty="0">
                  <a:solidFill>
                    <a:srgbClr val="000000"/>
                  </a:solidFill>
                  <a:latin typeface="Amazon Ember Light" charset="0"/>
                  <a:ea typeface="Amazon Ember Light" charset="0"/>
                  <a:cs typeface="Amazon Ember Light" charset="0"/>
                </a:rPr>
                <a:t>Auto </a:t>
              </a:r>
              <a:r>
                <a:rPr lang="en-US" sz="1600" dirty="0" smtClean="0">
                  <a:solidFill>
                    <a:srgbClr val="000000"/>
                  </a:solidFill>
                  <a:latin typeface="Amazon Ember Light" charset="0"/>
                  <a:ea typeface="Amazon Ember Light" charset="0"/>
                  <a:cs typeface="Amazon Ember Light" charset="0"/>
                </a:rPr>
                <a:t>scaling </a:t>
              </a:r>
              <a:r>
                <a:rPr lang="en-US" sz="1600" dirty="0">
                  <a:solidFill>
                    <a:srgbClr val="000000"/>
                  </a:solidFill>
                  <a:latin typeface="Amazon Ember Light" charset="0"/>
                  <a:ea typeface="Amazon Ember Light" charset="0"/>
                  <a:cs typeface="Amazon Ember Light" charset="0"/>
                </a:rPr>
                <a:t>g</a:t>
              </a:r>
              <a:r>
                <a:rPr lang="en-US" sz="1600" dirty="0" smtClean="0">
                  <a:solidFill>
                    <a:srgbClr val="000000"/>
                  </a:solidFill>
                  <a:latin typeface="Amazon Ember Light" charset="0"/>
                  <a:ea typeface="Amazon Ember Light" charset="0"/>
                  <a:cs typeface="Amazon Ember Light" charset="0"/>
                </a:rPr>
                <a:t>roup</a:t>
              </a:r>
              <a:r>
                <a:rPr lang="en-US" sz="1600" dirty="0">
                  <a:latin typeface="Amazon Ember Light" charset="0"/>
                  <a:ea typeface="Amazon Ember Light" charset="0"/>
                  <a:cs typeface="Amazon Ember Light" charset="0"/>
                </a:rPr>
                <a:t>)</a:t>
              </a:r>
            </a:p>
          </p:txBody>
        </p:sp>
        <p:cxnSp>
          <p:nvCxnSpPr>
            <p:cNvPr id="46" name="Straight Arrow Connector 45"/>
            <p:cNvCxnSpPr/>
            <p:nvPr/>
          </p:nvCxnSpPr>
          <p:spPr>
            <a:xfrm>
              <a:off x="4732638" y="3981781"/>
              <a:ext cx="705185" cy="0"/>
            </a:xfrm>
            <a:prstGeom prst="straightConnector1">
              <a:avLst/>
            </a:prstGeom>
            <a:ln>
              <a:solidFill>
                <a:schemeClr val="tx1">
                  <a:lumMod val="50000"/>
                  <a:lumOff val="50000"/>
                </a:schemeClr>
              </a:solidFill>
              <a:headEnd type="arrow" w="med" len="sm"/>
              <a:tailEnd type="none"/>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flipV="1">
              <a:off x="5437823" y="3981781"/>
              <a:ext cx="0" cy="660815"/>
            </a:xfrm>
            <a:prstGeom prst="straightConnector1">
              <a:avLst/>
            </a:prstGeom>
            <a:ln>
              <a:solidFill>
                <a:schemeClr val="tx1">
                  <a:lumMod val="50000"/>
                  <a:lumOff val="50000"/>
                </a:schemeClr>
              </a:solidFill>
              <a:tailEnd type="none"/>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228914" y="2992013"/>
              <a:ext cx="1798557" cy="646331"/>
            </a:xfrm>
            <a:prstGeom prst="rect">
              <a:avLst/>
            </a:prstGeom>
            <a:noFill/>
          </p:spPr>
          <p:txBody>
            <a:bodyPr wrap="square" rtlCol="0">
              <a:spAutoFit/>
            </a:bodyPr>
            <a:lstStyle/>
            <a:p>
              <a:pPr algn="ctr"/>
              <a:r>
                <a:rPr lang="en-US" dirty="0">
                  <a:solidFill>
                    <a:srgbClr val="000000"/>
                  </a:solidFill>
                  <a:latin typeface="Amazon Ember Light" charset="0"/>
                  <a:ea typeface="Amazon Ember Light" charset="0"/>
                  <a:cs typeface="Amazon Ember Light" charset="0"/>
                </a:rPr>
                <a:t>Amazon SQS</a:t>
              </a:r>
              <a:br>
                <a:rPr lang="en-US" dirty="0">
                  <a:solidFill>
                    <a:srgbClr val="000000"/>
                  </a:solidFill>
                  <a:latin typeface="Amazon Ember Light" charset="0"/>
                  <a:ea typeface="Amazon Ember Light" charset="0"/>
                  <a:cs typeface="Amazon Ember Light" charset="0"/>
                </a:rPr>
              </a:br>
              <a:r>
                <a:rPr lang="en-US" dirty="0" smtClean="0">
                  <a:solidFill>
                    <a:schemeClr val="accent6"/>
                  </a:solidFill>
                  <a:latin typeface="Amazon Ember Light" charset="0"/>
                  <a:ea typeface="Amazon Ember Light" charset="0"/>
                  <a:cs typeface="Amazon Ember Light" charset="0"/>
                </a:rPr>
                <a:t>Request</a:t>
              </a:r>
              <a:r>
                <a:rPr lang="en-US" dirty="0">
                  <a:solidFill>
                    <a:srgbClr val="FF0000"/>
                  </a:solidFill>
                  <a:latin typeface="Amazon Ember Light" charset="0"/>
                  <a:ea typeface="Amazon Ember Light" charset="0"/>
                  <a:cs typeface="Amazon Ember Light" charset="0"/>
                </a:rPr>
                <a:t> </a:t>
              </a:r>
              <a:r>
                <a:rPr lang="en-US" dirty="0" smtClean="0">
                  <a:solidFill>
                    <a:srgbClr val="000000"/>
                  </a:solidFill>
                  <a:latin typeface="Amazon Ember Light" charset="0"/>
                  <a:ea typeface="Amazon Ember Light" charset="0"/>
                  <a:cs typeface="Amazon Ember Light" charset="0"/>
                </a:rPr>
                <a:t>queue</a:t>
              </a:r>
              <a:endParaRPr lang="en-US" dirty="0">
                <a:solidFill>
                  <a:srgbClr val="000000"/>
                </a:solidFill>
                <a:latin typeface="Amazon Ember Light" panose="020B0403020204020204"/>
                <a:ea typeface="Amazon Ember Light" charset="0"/>
                <a:cs typeface="Amazon Ember Light" charset="0"/>
              </a:endParaRPr>
            </a:p>
          </p:txBody>
        </p:sp>
        <p:pic>
          <p:nvPicPr>
            <p:cNvPr id="43" name="Graphic 39">
              <a:extLst>
                <a:ext uri="{FF2B5EF4-FFF2-40B4-BE49-F238E27FC236}">
                  <a16:creationId xmlns:a16="http://schemas.microsoft.com/office/drawing/2014/main" id="{2ACAD885-5F52-504F-842D-3D87E199BD5D}"/>
                </a:ext>
              </a:extLst>
            </p:cNvPr>
            <p:cNvPicPr>
              <a:picLocks noChangeAspect="1"/>
            </p:cNvPicPr>
            <p:nvPr/>
          </p:nvPicPr>
          <p:blipFill>
            <a:blip r:embed="rId6"/>
            <a:stretch>
              <a:fillRect/>
            </a:stretch>
          </p:blipFill>
          <p:spPr>
            <a:xfrm>
              <a:off x="6670992" y="2268805"/>
              <a:ext cx="914400" cy="914400"/>
            </a:xfrm>
            <a:prstGeom prst="rect">
              <a:avLst/>
            </a:prstGeom>
          </p:spPr>
        </p:pic>
        <p:sp>
          <p:nvSpPr>
            <p:cNvPr id="48" name="Rectangle 47">
              <a:extLst>
                <a:ext uri="{FF2B5EF4-FFF2-40B4-BE49-F238E27FC236}">
                  <a16:creationId xmlns:a16="http://schemas.microsoft.com/office/drawing/2014/main" id="{029B160E-4DC3-C741-A322-32F6A7160F4E}"/>
                </a:ext>
              </a:extLst>
            </p:cNvPr>
            <p:cNvSpPr/>
            <p:nvPr/>
          </p:nvSpPr>
          <p:spPr>
            <a:xfrm>
              <a:off x="8520518" y="2265252"/>
              <a:ext cx="2193847" cy="3122294"/>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400" dirty="0">
                <a:solidFill>
                  <a:srgbClr val="D86613"/>
                </a:solidFill>
              </a:endParaRPr>
            </a:p>
            <a:p>
              <a:pPr algn="ctr"/>
              <a:r>
                <a:rPr lang="en-US" sz="1600" dirty="0">
                  <a:solidFill>
                    <a:srgbClr val="D86613"/>
                  </a:solidFill>
                </a:rPr>
                <a:t>Auto </a:t>
              </a:r>
              <a:r>
                <a:rPr lang="en-US" sz="1600" dirty="0" smtClean="0">
                  <a:solidFill>
                    <a:srgbClr val="D86613"/>
                  </a:solidFill>
                </a:rPr>
                <a:t>scaling </a:t>
              </a:r>
              <a:r>
                <a:rPr lang="en-US" sz="1600" dirty="0">
                  <a:solidFill>
                    <a:srgbClr val="D86613"/>
                  </a:solidFill>
                </a:rPr>
                <a:t>group</a:t>
              </a:r>
            </a:p>
          </p:txBody>
        </p:sp>
        <p:pic>
          <p:nvPicPr>
            <p:cNvPr id="49" name="Graphic 9">
              <a:extLst>
                <a:ext uri="{FF2B5EF4-FFF2-40B4-BE49-F238E27FC236}">
                  <a16:creationId xmlns:a16="http://schemas.microsoft.com/office/drawing/2014/main" id="{639E0105-2524-DA4F-9D8A-2B27398A61BB}"/>
                </a:ext>
              </a:extLst>
            </p:cNvPr>
            <p:cNvPicPr>
              <a:picLocks noChangeAspect="1"/>
            </p:cNvPicPr>
            <p:nvPr/>
          </p:nvPicPr>
          <p:blipFill>
            <a:blip r:embed="rId7"/>
            <a:stretch>
              <a:fillRect/>
            </a:stretch>
          </p:blipFill>
          <p:spPr>
            <a:xfrm>
              <a:off x="9469187" y="2256209"/>
              <a:ext cx="330200" cy="330200"/>
            </a:xfrm>
            <a:prstGeom prst="rect">
              <a:avLst/>
            </a:prstGeom>
          </p:spPr>
        </p:pic>
        <p:pic>
          <p:nvPicPr>
            <p:cNvPr id="50" name="Graphic 24">
              <a:extLst>
                <a:ext uri="{FF2B5EF4-FFF2-40B4-BE49-F238E27FC236}">
                  <a16:creationId xmlns:a16="http://schemas.microsoft.com/office/drawing/2014/main" id="{DD01F647-5021-2945-A1F9-4FD26EC69AC6}"/>
                </a:ext>
              </a:extLst>
            </p:cNvPr>
            <p:cNvPicPr>
              <a:picLocks noChangeAspect="1"/>
            </p:cNvPicPr>
            <p:nvPr/>
          </p:nvPicPr>
          <p:blipFill>
            <a:blip r:embed="rId8"/>
            <a:stretch>
              <a:fillRect/>
            </a:stretch>
          </p:blipFill>
          <p:spPr>
            <a:xfrm>
              <a:off x="9399337" y="2947317"/>
              <a:ext cx="469900" cy="469900"/>
            </a:xfrm>
            <a:prstGeom prst="rect">
              <a:avLst/>
            </a:prstGeom>
          </p:spPr>
        </p:pic>
        <p:sp>
          <p:nvSpPr>
            <p:cNvPr id="51" name="TextBox 50">
              <a:extLst>
                <a:ext uri="{FF2B5EF4-FFF2-40B4-BE49-F238E27FC236}">
                  <a16:creationId xmlns:a16="http://schemas.microsoft.com/office/drawing/2014/main" id="{B441238E-2FC5-B944-B600-89749B5AC47A}"/>
                </a:ext>
              </a:extLst>
            </p:cNvPr>
            <p:cNvSpPr txBox="1"/>
            <p:nvPr/>
          </p:nvSpPr>
          <p:spPr>
            <a:xfrm>
              <a:off x="8750831" y="3392869"/>
              <a:ext cx="1766913" cy="338554"/>
            </a:xfrm>
            <a:prstGeom prst="rect">
              <a:avLst/>
            </a:prstGeom>
            <a:noFill/>
          </p:spPr>
          <p:txBody>
            <a:bodyPr wrap="square" rtlCol="0">
              <a:spAutoFit/>
            </a:bodyPr>
            <a:lstStyle/>
            <a:p>
              <a:pPr algn="ctr"/>
              <a:r>
                <a:rPr lang="en-US" sz="1600" dirty="0">
                  <a:solidFill>
                    <a:srgbClr val="232F3E"/>
                  </a:solidFill>
                </a:rPr>
                <a:t>Instance</a:t>
              </a:r>
            </a:p>
          </p:txBody>
        </p:sp>
        <p:pic>
          <p:nvPicPr>
            <p:cNvPr id="52" name="Graphic 26">
              <a:extLst>
                <a:ext uri="{FF2B5EF4-FFF2-40B4-BE49-F238E27FC236}">
                  <a16:creationId xmlns:a16="http://schemas.microsoft.com/office/drawing/2014/main" id="{B23FFE59-5298-FE4A-8901-30803395EF7B}"/>
                </a:ext>
              </a:extLst>
            </p:cNvPr>
            <p:cNvPicPr>
              <a:picLocks noChangeAspect="1"/>
            </p:cNvPicPr>
            <p:nvPr/>
          </p:nvPicPr>
          <p:blipFill>
            <a:blip r:embed="rId8"/>
            <a:stretch>
              <a:fillRect/>
            </a:stretch>
          </p:blipFill>
          <p:spPr>
            <a:xfrm>
              <a:off x="9399337" y="3800079"/>
              <a:ext cx="469900" cy="469900"/>
            </a:xfrm>
            <a:prstGeom prst="rect">
              <a:avLst/>
            </a:prstGeom>
          </p:spPr>
        </p:pic>
        <p:sp>
          <p:nvSpPr>
            <p:cNvPr id="53" name="TextBox 52">
              <a:extLst>
                <a:ext uri="{FF2B5EF4-FFF2-40B4-BE49-F238E27FC236}">
                  <a16:creationId xmlns:a16="http://schemas.microsoft.com/office/drawing/2014/main" id="{8B49AB76-4D14-A041-9513-C8F4756C70F3}"/>
                </a:ext>
              </a:extLst>
            </p:cNvPr>
            <p:cNvSpPr txBox="1"/>
            <p:nvPr/>
          </p:nvSpPr>
          <p:spPr>
            <a:xfrm>
              <a:off x="8750831" y="4245631"/>
              <a:ext cx="1766913" cy="338554"/>
            </a:xfrm>
            <a:prstGeom prst="rect">
              <a:avLst/>
            </a:prstGeom>
            <a:noFill/>
          </p:spPr>
          <p:txBody>
            <a:bodyPr wrap="square" rtlCol="0">
              <a:spAutoFit/>
            </a:bodyPr>
            <a:lstStyle/>
            <a:p>
              <a:pPr algn="ctr"/>
              <a:r>
                <a:rPr lang="en-US" sz="1600" dirty="0">
                  <a:solidFill>
                    <a:srgbClr val="232F3E"/>
                  </a:solidFill>
                </a:rPr>
                <a:t>Instance</a:t>
              </a:r>
            </a:p>
          </p:txBody>
        </p:sp>
        <p:sp>
          <p:nvSpPr>
            <p:cNvPr id="54" name="TextBox 53"/>
            <p:cNvSpPr txBox="1"/>
            <p:nvPr/>
          </p:nvSpPr>
          <p:spPr>
            <a:xfrm>
              <a:off x="6006503" y="4943331"/>
              <a:ext cx="2243379" cy="646331"/>
            </a:xfrm>
            <a:prstGeom prst="rect">
              <a:avLst/>
            </a:prstGeom>
            <a:noFill/>
          </p:spPr>
          <p:txBody>
            <a:bodyPr wrap="square" rtlCol="0">
              <a:spAutoFit/>
            </a:bodyPr>
            <a:lstStyle/>
            <a:p>
              <a:pPr algn="ctr"/>
              <a:r>
                <a:rPr lang="en-US" dirty="0">
                  <a:solidFill>
                    <a:srgbClr val="000000"/>
                  </a:solidFill>
                  <a:latin typeface="Amazon Ember Light" charset="0"/>
                  <a:ea typeface="Amazon Ember Light" charset="0"/>
                  <a:cs typeface="Amazon Ember Light" charset="0"/>
                </a:rPr>
                <a:t>Amazon SQS</a:t>
              </a:r>
              <a:br>
                <a:rPr lang="en-US" dirty="0">
                  <a:solidFill>
                    <a:srgbClr val="000000"/>
                  </a:solidFill>
                  <a:latin typeface="Amazon Ember Light" charset="0"/>
                  <a:ea typeface="Amazon Ember Light" charset="0"/>
                  <a:cs typeface="Amazon Ember Light" charset="0"/>
                </a:rPr>
              </a:br>
              <a:r>
                <a:rPr lang="en-US" dirty="0" smtClean="0">
                  <a:solidFill>
                    <a:schemeClr val="accent6"/>
                  </a:solidFill>
                  <a:latin typeface="Amazon Ember Light" charset="0"/>
                  <a:ea typeface="Amazon Ember Light" charset="0"/>
                  <a:cs typeface="Amazon Ember Light" charset="0"/>
                </a:rPr>
                <a:t>Response </a:t>
              </a:r>
              <a:r>
                <a:rPr lang="en-US" dirty="0" smtClean="0">
                  <a:solidFill>
                    <a:srgbClr val="000000"/>
                  </a:solidFill>
                  <a:latin typeface="Amazon Ember Light" charset="0"/>
                  <a:ea typeface="Amazon Ember Light" charset="0"/>
                  <a:cs typeface="Amazon Ember Light" charset="0"/>
                </a:rPr>
                <a:t>queue</a:t>
              </a:r>
              <a:endParaRPr lang="en-US" dirty="0">
                <a:solidFill>
                  <a:srgbClr val="000000"/>
                </a:solidFill>
                <a:latin typeface="Amazon Ember Light" panose="020B0403020204020204"/>
                <a:ea typeface="Amazon Ember Light" charset="0"/>
                <a:cs typeface="Amazon Ember Light" charset="0"/>
              </a:endParaRPr>
            </a:p>
          </p:txBody>
        </p:sp>
        <p:pic>
          <p:nvPicPr>
            <p:cNvPr id="55" name="Graphic 39">
              <a:extLst>
                <a:ext uri="{FF2B5EF4-FFF2-40B4-BE49-F238E27FC236}">
                  <a16:creationId xmlns:a16="http://schemas.microsoft.com/office/drawing/2014/main" id="{2ACAD885-5F52-504F-842D-3D87E199BD5D}"/>
                </a:ext>
              </a:extLst>
            </p:cNvPr>
            <p:cNvPicPr>
              <a:picLocks noChangeAspect="1"/>
            </p:cNvPicPr>
            <p:nvPr/>
          </p:nvPicPr>
          <p:blipFill>
            <a:blip r:embed="rId6"/>
            <a:stretch>
              <a:fillRect/>
            </a:stretch>
          </p:blipFill>
          <p:spPr>
            <a:xfrm>
              <a:off x="6670992" y="4185396"/>
              <a:ext cx="914400" cy="914400"/>
            </a:xfrm>
            <a:prstGeom prst="rect">
              <a:avLst/>
            </a:prstGeom>
          </p:spPr>
        </p:pic>
        <p:pic>
          <p:nvPicPr>
            <p:cNvPr id="56" name="Graphic 24">
              <a:extLst>
                <a:ext uri="{FF2B5EF4-FFF2-40B4-BE49-F238E27FC236}">
                  <a16:creationId xmlns:a16="http://schemas.microsoft.com/office/drawing/2014/main" id="{DD01F647-5021-2945-A1F9-4FD26EC69AC6}"/>
                </a:ext>
              </a:extLst>
            </p:cNvPr>
            <p:cNvPicPr>
              <a:picLocks noChangeAspect="1"/>
            </p:cNvPicPr>
            <p:nvPr/>
          </p:nvPicPr>
          <p:blipFill>
            <a:blip r:embed="rId8"/>
            <a:stretch>
              <a:fillRect/>
            </a:stretch>
          </p:blipFill>
          <p:spPr>
            <a:xfrm>
              <a:off x="3675145" y="3231262"/>
              <a:ext cx="914400" cy="914400"/>
            </a:xfrm>
            <a:prstGeom prst="rect">
              <a:avLst/>
            </a:prstGeom>
          </p:spPr>
        </p:pic>
      </p:grpSp>
    </p:spTree>
    <p:custDataLst>
      <p:tags r:id="rId1"/>
    </p:custDataLst>
    <p:extLst>
      <p:ext uri="{BB962C8B-B14F-4D97-AF65-F5344CB8AC3E}">
        <p14:creationId xmlns:p14="http://schemas.microsoft.com/office/powerpoint/2010/main" val="3413869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mn-lt"/>
              </a:rPr>
              <a:t>Developing with</a:t>
            </a:r>
            <a:br>
              <a:rPr lang="en-US" dirty="0">
                <a:latin typeface="+mn-lt"/>
              </a:rPr>
            </a:br>
            <a:r>
              <a:rPr lang="en-US" dirty="0">
                <a:solidFill>
                  <a:srgbClr val="FFFFFF"/>
                </a:solidFill>
                <a:latin typeface="+mn-lt"/>
              </a:rPr>
              <a:t>Amazon Simple Notification </a:t>
            </a:r>
            <a:r>
              <a:rPr lang="en-US" dirty="0" smtClean="0">
                <a:solidFill>
                  <a:srgbClr val="FFFFFF"/>
                </a:solidFill>
                <a:latin typeface="+mn-lt"/>
              </a:rPr>
              <a:t>Service</a:t>
            </a:r>
            <a:endParaRPr lang="en-US" dirty="0">
              <a:latin typeface="+mn-lt"/>
            </a:endParaRPr>
          </a:p>
        </p:txBody>
      </p:sp>
      <p:sp>
        <p:nvSpPr>
          <p:cNvPr id="3" name="Slide Number Placeholder 2"/>
          <p:cNvSpPr>
            <a:spLocks noGrp="1"/>
          </p:cNvSpPr>
          <p:nvPr>
            <p:ph type="sldNum" sz="quarter" idx="4294967295"/>
          </p:nvPr>
        </p:nvSpPr>
        <p:spPr>
          <a:xfrm>
            <a:off x="9448800" y="6356350"/>
            <a:ext cx="2743200" cy="365125"/>
          </a:xfrm>
        </p:spPr>
        <p:txBody>
          <a:bodyPr/>
          <a:lstStyle/>
          <a:p>
            <a:fld id="{9FC43BFD-8FF7-A343-A8A6-E2338FCE8046}" type="slidenum">
              <a:rPr lang="en-US" smtClean="0"/>
              <a:pPr/>
              <a:t>27</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75536506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solidFill>
                  <a:srgbClr val="FFFFFF"/>
                </a:solidFill>
              </a:rPr>
              <a:t>Amazon </a:t>
            </a:r>
            <a:r>
              <a:rPr lang="en-US" dirty="0" smtClean="0">
                <a:solidFill>
                  <a:srgbClr val="FFFFFF"/>
                </a:solidFill>
              </a:rPr>
              <a:t>SNS</a:t>
            </a:r>
            <a:endParaRPr lang="en-US" dirty="0">
              <a:solidFill>
                <a:srgbClr val="FFFFFF"/>
              </a:solidFill>
              <a:latin typeface="Amazon Ember Light" panose="020B0403020204020204"/>
            </a:endParaRPr>
          </a:p>
        </p:txBody>
      </p:sp>
      <p:sp>
        <p:nvSpPr>
          <p:cNvPr id="2" name="Slide Number Placeholder 1"/>
          <p:cNvSpPr>
            <a:spLocks noGrp="1"/>
          </p:cNvSpPr>
          <p:nvPr>
            <p:ph type="sldNum" sz="quarter" idx="12"/>
          </p:nvPr>
        </p:nvSpPr>
        <p:spPr/>
        <p:txBody>
          <a:bodyPr/>
          <a:lstStyle/>
          <a:p>
            <a:fld id="{9FC43BFD-8FF7-A343-A8A6-E2338FCE8046}" type="slidenum">
              <a:rPr lang="en-US" smtClean="0"/>
              <a:pPr/>
              <a:t>28</a:t>
            </a:fld>
            <a:endParaRPr lang="en-US" dirty="0"/>
          </a:p>
        </p:txBody>
      </p:sp>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sp>
        <p:nvSpPr>
          <p:cNvPr id="10" name="TextBox 9"/>
          <p:cNvSpPr txBox="1"/>
          <p:nvPr/>
        </p:nvSpPr>
        <p:spPr>
          <a:xfrm>
            <a:off x="5261713" y="4509696"/>
            <a:ext cx="1248082" cy="307777"/>
          </a:xfrm>
          <a:prstGeom prst="rect">
            <a:avLst/>
          </a:prstGeom>
          <a:noFill/>
        </p:spPr>
        <p:txBody>
          <a:bodyPr wrap="square" lIns="0" tIns="0" rIns="0" bIns="0" rtlCol="0">
            <a:spAutoFit/>
          </a:bodyPr>
          <a:lstStyle/>
          <a:p>
            <a:pPr algn="ctr"/>
            <a:r>
              <a:rPr lang="en-US" sz="2000" dirty="0">
                <a:latin typeface="Amazon Ember Light" charset="0"/>
                <a:ea typeface="Amazon Ember Light" charset="0"/>
                <a:cs typeface="Amazon Ember Light" charset="0"/>
              </a:rPr>
              <a:t>SNS topic</a:t>
            </a:r>
          </a:p>
        </p:txBody>
      </p:sp>
      <p:sp>
        <p:nvSpPr>
          <p:cNvPr id="11" name="Rounded Rectangle 10"/>
          <p:cNvSpPr/>
          <p:nvPr/>
        </p:nvSpPr>
        <p:spPr>
          <a:xfrm>
            <a:off x="9039722" y="4257185"/>
            <a:ext cx="1895499" cy="406400"/>
          </a:xfrm>
          <a:prstGeom prst="roundRect">
            <a:avLst>
              <a:gd name="adj" fmla="val 0"/>
            </a:avLst>
          </a:prstGeom>
          <a:solidFill>
            <a:schemeClr val="accent2"/>
          </a:solidFill>
          <a:effectLst/>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200" dirty="0">
                <a:solidFill>
                  <a:schemeClr val="accent1"/>
                </a:solidFill>
                <a:latin typeface="Amazon Ember Light" charset="0"/>
                <a:ea typeface="Amazon Ember Light" charset="0"/>
                <a:cs typeface="Amazon Ember Light" charset="0"/>
              </a:rPr>
              <a:t>Email</a:t>
            </a:r>
          </a:p>
        </p:txBody>
      </p:sp>
      <p:sp>
        <p:nvSpPr>
          <p:cNvPr id="12" name="Rounded Rectangle 11"/>
          <p:cNvSpPr/>
          <p:nvPr/>
        </p:nvSpPr>
        <p:spPr>
          <a:xfrm>
            <a:off x="9039722" y="2506325"/>
            <a:ext cx="1895499" cy="406400"/>
          </a:xfrm>
          <a:prstGeom prst="roundRect">
            <a:avLst>
              <a:gd name="adj" fmla="val 0"/>
            </a:avLst>
          </a:prstGeom>
          <a:solidFill>
            <a:schemeClr val="accent2"/>
          </a:solidFill>
          <a:effectLst/>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200" dirty="0" smtClean="0">
                <a:solidFill>
                  <a:schemeClr val="accent1"/>
                </a:solidFill>
                <a:latin typeface="Amazon Ember Light" charset="0"/>
                <a:ea typeface="Amazon Ember Light" charset="0"/>
                <a:cs typeface="Amazon Ember Light" charset="0"/>
              </a:rPr>
              <a:t>AWS Lambda</a:t>
            </a:r>
            <a:endParaRPr lang="en-US" sz="2200" dirty="0">
              <a:solidFill>
                <a:schemeClr val="accent1"/>
              </a:solidFill>
              <a:latin typeface="Amazon Ember Light" charset="0"/>
              <a:ea typeface="Amazon Ember Light" charset="0"/>
              <a:cs typeface="Amazon Ember Light" charset="0"/>
            </a:endParaRPr>
          </a:p>
        </p:txBody>
      </p:sp>
      <p:sp>
        <p:nvSpPr>
          <p:cNvPr id="13" name="Rounded Rectangle 12"/>
          <p:cNvSpPr/>
          <p:nvPr/>
        </p:nvSpPr>
        <p:spPr>
          <a:xfrm>
            <a:off x="9039722" y="3673565"/>
            <a:ext cx="1895499" cy="406400"/>
          </a:xfrm>
          <a:prstGeom prst="roundRect">
            <a:avLst>
              <a:gd name="adj" fmla="val 0"/>
            </a:avLst>
          </a:prstGeom>
          <a:solidFill>
            <a:schemeClr val="accent2"/>
          </a:solidFill>
          <a:effectLst/>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200" dirty="0">
                <a:solidFill>
                  <a:schemeClr val="accent1"/>
                </a:solidFill>
                <a:latin typeface="Amazon Ember Light" charset="0"/>
                <a:ea typeface="Amazon Ember Light" charset="0"/>
                <a:cs typeface="Amazon Ember Light" charset="0"/>
              </a:rPr>
              <a:t>HTTP(S)</a:t>
            </a:r>
            <a:endParaRPr lang="en-US" sz="2200" dirty="0">
              <a:solidFill>
                <a:schemeClr val="accent1"/>
              </a:solidFill>
              <a:latin typeface="Amazon Ember Light" panose="020B0403020204020204"/>
              <a:ea typeface="Amazon Ember Light" charset="0"/>
              <a:cs typeface="Amazon Ember Light" charset="0"/>
            </a:endParaRPr>
          </a:p>
        </p:txBody>
      </p:sp>
      <p:sp>
        <p:nvSpPr>
          <p:cNvPr id="14" name="Rounded Rectangle 13"/>
          <p:cNvSpPr/>
          <p:nvPr/>
        </p:nvSpPr>
        <p:spPr>
          <a:xfrm>
            <a:off x="9039722" y="3089945"/>
            <a:ext cx="1895499" cy="406400"/>
          </a:xfrm>
          <a:prstGeom prst="roundRect">
            <a:avLst>
              <a:gd name="adj" fmla="val 0"/>
            </a:avLst>
          </a:prstGeom>
          <a:solidFill>
            <a:schemeClr val="accent2"/>
          </a:solidFill>
          <a:effectLst/>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200" dirty="0" smtClean="0">
                <a:solidFill>
                  <a:schemeClr val="accent1"/>
                </a:solidFill>
                <a:latin typeface="Amazon Ember Light" charset="0"/>
                <a:ea typeface="Amazon Ember Light" charset="0"/>
                <a:cs typeface="Amazon Ember Light" charset="0"/>
              </a:rPr>
              <a:t>Amazon SQS</a:t>
            </a:r>
            <a:endParaRPr lang="en-US" sz="2200" dirty="0">
              <a:solidFill>
                <a:schemeClr val="accent1"/>
              </a:solidFill>
              <a:latin typeface="Amazon Ember Light" panose="020B0403020204020204"/>
              <a:ea typeface="Amazon Ember Light" charset="0"/>
              <a:cs typeface="Amazon Ember Light" charset="0"/>
            </a:endParaRPr>
          </a:p>
        </p:txBody>
      </p:sp>
      <p:sp>
        <p:nvSpPr>
          <p:cNvPr id="15" name="Rounded Rectangle 14"/>
          <p:cNvSpPr/>
          <p:nvPr/>
        </p:nvSpPr>
        <p:spPr>
          <a:xfrm>
            <a:off x="9039722" y="4840805"/>
            <a:ext cx="1895499" cy="406400"/>
          </a:xfrm>
          <a:prstGeom prst="roundRect">
            <a:avLst>
              <a:gd name="adj" fmla="val 0"/>
            </a:avLst>
          </a:prstGeom>
          <a:solidFill>
            <a:schemeClr val="accent2"/>
          </a:solidFill>
          <a:effectLst/>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200" dirty="0">
                <a:solidFill>
                  <a:schemeClr val="accent1"/>
                </a:solidFill>
                <a:latin typeface="Amazon Ember Light" charset="0"/>
                <a:ea typeface="Amazon Ember Light" charset="0"/>
                <a:cs typeface="Amazon Ember Light" charset="0"/>
              </a:rPr>
              <a:t>SMS</a:t>
            </a:r>
            <a:endParaRPr lang="en-US" sz="2200" dirty="0">
              <a:solidFill>
                <a:schemeClr val="accent1"/>
              </a:solidFill>
              <a:latin typeface="Amazon Ember Light" panose="020B0403020204020204"/>
              <a:ea typeface="Amazon Ember Light" charset="0"/>
              <a:cs typeface="Amazon Ember Light" charset="0"/>
            </a:endParaRPr>
          </a:p>
        </p:txBody>
      </p:sp>
      <p:cxnSp>
        <p:nvCxnSpPr>
          <p:cNvPr id="16" name="Straight Arrow Connector 15"/>
          <p:cNvCxnSpPr/>
          <p:nvPr/>
        </p:nvCxnSpPr>
        <p:spPr>
          <a:xfrm>
            <a:off x="7798406" y="2675442"/>
            <a:ext cx="1058573" cy="1"/>
          </a:xfrm>
          <a:prstGeom prst="straightConnector1">
            <a:avLst/>
          </a:prstGeom>
          <a:ln w="12700">
            <a:solidFill>
              <a:schemeClr val="tx1"/>
            </a:solidFill>
            <a:tailEnd type="arrow" w="med" len="sm"/>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7798406" y="2685830"/>
            <a:ext cx="0" cy="2918099"/>
          </a:xfrm>
          <a:prstGeom prst="straightConnector1">
            <a:avLst/>
          </a:prstGeom>
          <a:ln w="12700">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a:stCxn id="22" idx="3"/>
            <a:endCxn id="31" idx="1"/>
          </p:cNvCxnSpPr>
          <p:nvPr/>
        </p:nvCxnSpPr>
        <p:spPr>
          <a:xfrm flipV="1">
            <a:off x="2560409" y="4093833"/>
            <a:ext cx="2982445" cy="1"/>
          </a:xfrm>
          <a:prstGeom prst="straightConnector1">
            <a:avLst/>
          </a:prstGeom>
          <a:ln w="12700">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08353" y="3863001"/>
            <a:ext cx="1652056" cy="461665"/>
          </a:xfrm>
          <a:prstGeom prst="rect">
            <a:avLst/>
          </a:prstGeom>
          <a:solidFill>
            <a:schemeClr val="tx2"/>
          </a:solidFill>
          <a:effectLst/>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n-US" sz="2400" dirty="0">
                <a:solidFill>
                  <a:schemeClr val="accent1"/>
                </a:solidFill>
                <a:latin typeface="Amazon Ember Light" charset="0"/>
                <a:ea typeface="Amazon Ember Light" charset="0"/>
                <a:cs typeface="Amazon Ember Light" charset="0"/>
              </a:rPr>
              <a:t>Publisher</a:t>
            </a:r>
          </a:p>
        </p:txBody>
      </p:sp>
      <p:sp>
        <p:nvSpPr>
          <p:cNvPr id="24" name="TextBox 23"/>
          <p:cNvSpPr txBox="1"/>
          <p:nvPr/>
        </p:nvSpPr>
        <p:spPr>
          <a:xfrm>
            <a:off x="2914897" y="4098452"/>
            <a:ext cx="1625600" cy="400110"/>
          </a:xfrm>
          <a:prstGeom prst="rect">
            <a:avLst/>
          </a:prstGeom>
          <a:noFill/>
        </p:spPr>
        <p:txBody>
          <a:bodyPr wrap="square" rtlCol="0">
            <a:spAutoFit/>
          </a:bodyPr>
          <a:lstStyle/>
          <a:p>
            <a:pPr algn="ctr"/>
            <a:r>
              <a:rPr lang="en-US" sz="2000" dirty="0">
                <a:solidFill>
                  <a:srgbClr val="000000"/>
                </a:solidFill>
                <a:latin typeface="Amazon Ember Light" charset="0"/>
                <a:ea typeface="Amazon Ember Light" charset="0"/>
                <a:cs typeface="Amazon Ember Light" charset="0"/>
              </a:rPr>
              <a:t>messages</a:t>
            </a:r>
            <a:endParaRPr lang="en-US" sz="2000" dirty="0">
              <a:solidFill>
                <a:srgbClr val="000000"/>
              </a:solidFill>
              <a:latin typeface="Amazon Ember Light" panose="020B0403020204020204"/>
              <a:ea typeface="Amazon Ember Light" charset="0"/>
              <a:cs typeface="Amazon Ember Light" charset="0"/>
            </a:endParaRPr>
          </a:p>
        </p:txBody>
      </p:sp>
      <p:sp>
        <p:nvSpPr>
          <p:cNvPr id="25" name="Rounded Rectangle 24"/>
          <p:cNvSpPr/>
          <p:nvPr/>
        </p:nvSpPr>
        <p:spPr>
          <a:xfrm>
            <a:off x="9039722" y="5424425"/>
            <a:ext cx="1895499" cy="406400"/>
          </a:xfrm>
          <a:prstGeom prst="roundRect">
            <a:avLst>
              <a:gd name="adj" fmla="val 0"/>
            </a:avLst>
          </a:prstGeom>
          <a:solidFill>
            <a:schemeClr val="accent2"/>
          </a:solidFill>
          <a:effectLst/>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200" dirty="0">
                <a:solidFill>
                  <a:schemeClr val="accent1"/>
                </a:solidFill>
                <a:latin typeface="Amazon Ember Light" charset="0"/>
                <a:ea typeface="Amazon Ember Light" charset="0"/>
                <a:cs typeface="Amazon Ember Light" charset="0"/>
              </a:rPr>
              <a:t>Mobile</a:t>
            </a:r>
          </a:p>
        </p:txBody>
      </p:sp>
      <p:cxnSp>
        <p:nvCxnSpPr>
          <p:cNvPr id="32" name="Straight Arrow Connector 31"/>
          <p:cNvCxnSpPr>
            <a:endCxn id="31" idx="3"/>
          </p:cNvCxnSpPr>
          <p:nvPr/>
        </p:nvCxnSpPr>
        <p:spPr>
          <a:xfrm flipH="1">
            <a:off x="6228654" y="4093833"/>
            <a:ext cx="1569752" cy="0"/>
          </a:xfrm>
          <a:prstGeom prst="straightConnector1">
            <a:avLst/>
          </a:prstGeom>
          <a:ln w="12700">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a:off x="7811106" y="3246256"/>
            <a:ext cx="1058573" cy="1"/>
          </a:xfrm>
          <a:prstGeom prst="straightConnector1">
            <a:avLst/>
          </a:prstGeom>
          <a:ln w="12700">
            <a:solidFill>
              <a:schemeClr val="tx1"/>
            </a:solidFill>
            <a:tailEnd type="arrow" w="med" len="sm"/>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7811106" y="3873198"/>
            <a:ext cx="1058573" cy="1"/>
          </a:xfrm>
          <a:prstGeom prst="straightConnector1">
            <a:avLst/>
          </a:prstGeom>
          <a:ln w="12700">
            <a:solidFill>
              <a:schemeClr val="tx1"/>
            </a:solidFill>
            <a:tailEnd type="arrow" w="med" len="sm"/>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a:off x="7805350" y="4446233"/>
            <a:ext cx="1058573" cy="1"/>
          </a:xfrm>
          <a:prstGeom prst="straightConnector1">
            <a:avLst/>
          </a:prstGeom>
          <a:ln w="12700">
            <a:solidFill>
              <a:schemeClr val="tx1"/>
            </a:solidFill>
            <a:tailEnd type="arrow" w="med" len="sm"/>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7795591" y="5044004"/>
            <a:ext cx="1058573" cy="1"/>
          </a:xfrm>
          <a:prstGeom prst="straightConnector1">
            <a:avLst/>
          </a:prstGeom>
          <a:ln w="12700">
            <a:solidFill>
              <a:schemeClr val="tx1"/>
            </a:solidFill>
            <a:tailEnd type="arrow" w="med" len="sm"/>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a:off x="7798406" y="5621259"/>
            <a:ext cx="1058573" cy="1"/>
          </a:xfrm>
          <a:prstGeom prst="straightConnector1">
            <a:avLst/>
          </a:prstGeom>
          <a:ln w="12700">
            <a:solidFill>
              <a:schemeClr val="tx1"/>
            </a:solidFill>
            <a:tailEnd type="arrow" w="med" len="sm"/>
          </a:ln>
        </p:spPr>
        <p:style>
          <a:lnRef idx="2">
            <a:schemeClr val="accent1"/>
          </a:lnRef>
          <a:fillRef idx="0">
            <a:schemeClr val="accent1"/>
          </a:fillRef>
          <a:effectRef idx="1">
            <a:schemeClr val="accent1"/>
          </a:effectRef>
          <a:fontRef idx="minor">
            <a:schemeClr val="tx1"/>
          </a:fontRef>
        </p:style>
      </p:cxnSp>
      <p:pic>
        <p:nvPicPr>
          <p:cNvPr id="31" name="Graphic 31">
            <a:extLst>
              <a:ext uri="{FF2B5EF4-FFF2-40B4-BE49-F238E27FC236}">
                <a16:creationId xmlns:a16="http://schemas.microsoft.com/office/drawing/2014/main" id="{075C7C7E-0733-F14B-BBD3-48FCFF6D5EA5}"/>
              </a:ext>
            </a:extLst>
          </p:cNvPr>
          <p:cNvPicPr>
            <a:picLocks noChangeAspect="1"/>
          </p:cNvPicPr>
          <p:nvPr/>
        </p:nvPicPr>
        <p:blipFill>
          <a:blip r:embed="rId4"/>
          <a:stretch>
            <a:fillRect/>
          </a:stretch>
        </p:blipFill>
        <p:spPr>
          <a:xfrm>
            <a:off x="5542854" y="3750933"/>
            <a:ext cx="685800" cy="685800"/>
          </a:xfrm>
          <a:prstGeom prst="rect">
            <a:avLst/>
          </a:prstGeom>
        </p:spPr>
      </p:pic>
      <p:pic>
        <p:nvPicPr>
          <p:cNvPr id="33" name="Graphic 37">
            <a:extLst>
              <a:ext uri="{FF2B5EF4-FFF2-40B4-BE49-F238E27FC236}">
                <a16:creationId xmlns:a16="http://schemas.microsoft.com/office/drawing/2014/main" id="{8CB142E1-5B51-1E4C-AFA8-54BFF6177BAB}"/>
              </a:ext>
            </a:extLst>
          </p:cNvPr>
          <p:cNvPicPr>
            <a:picLocks noChangeAspect="1"/>
          </p:cNvPicPr>
          <p:nvPr/>
        </p:nvPicPr>
        <p:blipFill>
          <a:blip r:embed="rId5"/>
          <a:stretch>
            <a:fillRect/>
          </a:stretch>
        </p:blipFill>
        <p:spPr>
          <a:xfrm>
            <a:off x="3497025" y="3535696"/>
            <a:ext cx="469900" cy="469900"/>
          </a:xfrm>
          <a:prstGeom prst="rect">
            <a:avLst/>
          </a:prstGeom>
        </p:spPr>
      </p:pic>
      <p:sp>
        <p:nvSpPr>
          <p:cNvPr id="26" name="TextBox 25"/>
          <p:cNvSpPr txBox="1"/>
          <p:nvPr/>
        </p:nvSpPr>
        <p:spPr>
          <a:xfrm>
            <a:off x="8258234" y="1819485"/>
            <a:ext cx="3441754" cy="4250575"/>
          </a:xfrm>
          <a:prstGeom prst="rect">
            <a:avLst/>
          </a:prstGeom>
          <a:noFill/>
          <a:ln w="12700">
            <a:solidFill>
              <a:schemeClr val="accent1"/>
            </a:solidFill>
            <a:prstDash val="dash"/>
          </a:ln>
          <a:effectLst/>
        </p:spPr>
        <p:style>
          <a:lnRef idx="0">
            <a:schemeClr val="accent3"/>
          </a:lnRef>
          <a:fillRef idx="3">
            <a:schemeClr val="accent3"/>
          </a:fillRef>
          <a:effectRef idx="3">
            <a:schemeClr val="accent3"/>
          </a:effectRef>
          <a:fontRef idx="minor">
            <a:schemeClr val="lt1"/>
          </a:fontRef>
        </p:style>
        <p:txBody>
          <a:bodyPr wrap="square" rtlCol="0">
            <a:noAutofit/>
          </a:bodyPr>
          <a:lstStyle/>
          <a:p>
            <a:pPr algn="ctr"/>
            <a:r>
              <a:rPr lang="en-US" sz="2800" dirty="0">
                <a:solidFill>
                  <a:schemeClr val="accent1"/>
                </a:solidFill>
                <a:latin typeface="Amazon Ember Light" charset="0"/>
                <a:ea typeface="Amazon Ember Light" charset="0"/>
                <a:cs typeface="Amazon Ember Light" charset="0"/>
              </a:rPr>
              <a:t>Subscribers</a:t>
            </a:r>
          </a:p>
        </p:txBody>
      </p:sp>
    </p:spTree>
    <p:custDataLst>
      <p:tags r:id="rId1"/>
    </p:custDataLst>
    <p:extLst>
      <p:ext uri="{BB962C8B-B14F-4D97-AF65-F5344CB8AC3E}">
        <p14:creationId xmlns:p14="http://schemas.microsoft.com/office/powerpoint/2010/main" val="6411171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Fan-out</a:t>
            </a:r>
          </a:p>
        </p:txBody>
      </p:sp>
      <p:sp>
        <p:nvSpPr>
          <p:cNvPr id="3" name="Slide Number Placeholder 2"/>
          <p:cNvSpPr>
            <a:spLocks noGrp="1"/>
          </p:cNvSpPr>
          <p:nvPr>
            <p:ph type="sldNum" sz="quarter" idx="12"/>
          </p:nvPr>
        </p:nvSpPr>
        <p:spPr/>
        <p:txBody>
          <a:bodyPr/>
          <a:lstStyle/>
          <a:p>
            <a:fld id="{9FC43BFD-8FF7-A343-A8A6-E2338FCE8046}" type="slidenum">
              <a:rPr lang="en-US" smtClean="0"/>
              <a:pPr/>
              <a:t>29</a:t>
            </a:fld>
            <a:endParaRPr lang="en-US" dirty="0"/>
          </a:p>
        </p:txBody>
      </p:sp>
      <p:sp>
        <p:nvSpPr>
          <p:cNvPr id="4" name="Footer Placeholder 3"/>
          <p:cNvSpPr>
            <a:spLocks noGrp="1"/>
          </p:cNvSpPr>
          <p:nvPr>
            <p:ph type="ftr" sz="quarter" idx="3"/>
          </p:nvPr>
        </p:nvSpPr>
        <p:spPr/>
        <p:txBody>
          <a:bodyPr/>
          <a:lstStyle/>
          <a:p>
            <a:r>
              <a:rPr lang="en-US"/>
              <a:t>© 2020 Amazon Web Services, Inc. or its Affiliates. All rights reserved.</a:t>
            </a:r>
            <a:endParaRPr lang="en-US" dirty="0"/>
          </a:p>
        </p:txBody>
      </p:sp>
      <p:pic>
        <p:nvPicPr>
          <p:cNvPr id="56" name="Graphic 39">
            <a:extLst>
              <a:ext uri="{FF2B5EF4-FFF2-40B4-BE49-F238E27FC236}">
                <a16:creationId xmlns:a16="http://schemas.microsoft.com/office/drawing/2014/main" id="{2ACAD885-5F52-504F-842D-3D87E199BD5D}"/>
              </a:ext>
            </a:extLst>
          </p:cNvPr>
          <p:cNvPicPr>
            <a:picLocks noChangeAspect="1"/>
          </p:cNvPicPr>
          <p:nvPr/>
        </p:nvPicPr>
        <p:blipFill>
          <a:blip r:embed="rId4"/>
          <a:stretch>
            <a:fillRect/>
          </a:stretch>
        </p:blipFill>
        <p:spPr>
          <a:xfrm>
            <a:off x="6810847" y="2311325"/>
            <a:ext cx="1143000" cy="1143000"/>
          </a:xfrm>
          <a:prstGeom prst="rect">
            <a:avLst/>
          </a:prstGeom>
        </p:spPr>
      </p:pic>
      <p:pic>
        <p:nvPicPr>
          <p:cNvPr id="57" name="Graphic 39">
            <a:extLst>
              <a:ext uri="{FF2B5EF4-FFF2-40B4-BE49-F238E27FC236}">
                <a16:creationId xmlns:a16="http://schemas.microsoft.com/office/drawing/2014/main" id="{2ACAD885-5F52-504F-842D-3D87E199BD5D}"/>
              </a:ext>
            </a:extLst>
          </p:cNvPr>
          <p:cNvPicPr>
            <a:picLocks noChangeAspect="1"/>
          </p:cNvPicPr>
          <p:nvPr/>
        </p:nvPicPr>
        <p:blipFill>
          <a:blip r:embed="rId4"/>
          <a:stretch>
            <a:fillRect/>
          </a:stretch>
        </p:blipFill>
        <p:spPr>
          <a:xfrm>
            <a:off x="6810847" y="4203905"/>
            <a:ext cx="1143000" cy="1143000"/>
          </a:xfrm>
          <a:prstGeom prst="rect">
            <a:avLst/>
          </a:prstGeom>
        </p:spPr>
      </p:pic>
      <p:cxnSp>
        <p:nvCxnSpPr>
          <p:cNvPr id="31" name="Straight Arrow Connector 30"/>
          <p:cNvCxnSpPr/>
          <p:nvPr/>
        </p:nvCxnSpPr>
        <p:spPr>
          <a:xfrm flipV="1">
            <a:off x="5210828" y="3935153"/>
            <a:ext cx="987326" cy="1"/>
          </a:xfrm>
          <a:prstGeom prst="straightConnector1">
            <a:avLst/>
          </a:prstGeom>
          <a:ln>
            <a:solidFill>
              <a:schemeClr val="tx1">
                <a:lumMod val="50000"/>
                <a:lumOff val="50000"/>
              </a:schemeClr>
            </a:solidFill>
            <a:tailEnd type="non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096759" y="4287838"/>
            <a:ext cx="1404595" cy="307777"/>
          </a:xfrm>
          <a:prstGeom prst="rect">
            <a:avLst/>
          </a:prstGeom>
          <a:noFill/>
        </p:spPr>
        <p:txBody>
          <a:bodyPr wrap="square" lIns="0" tIns="0" rIns="0" bIns="0" rtlCol="0">
            <a:spAutoFit/>
          </a:bodyPr>
          <a:lstStyle/>
          <a:p>
            <a:pPr algn="ctr"/>
            <a:r>
              <a:rPr lang="en-US" sz="2000" dirty="0">
                <a:latin typeface="Amazon Ember Light" charset="0"/>
                <a:ea typeface="Amazon Ember Light" charset="0"/>
                <a:cs typeface="Amazon Ember Light" charset="0"/>
              </a:rPr>
              <a:t>SNS topic</a:t>
            </a:r>
          </a:p>
        </p:txBody>
      </p:sp>
      <p:cxnSp>
        <p:nvCxnSpPr>
          <p:cNvPr id="47" name="Straight Arrow Connector 46"/>
          <p:cNvCxnSpPr>
            <a:stCxn id="23" idx="3"/>
            <a:endCxn id="49" idx="1"/>
          </p:cNvCxnSpPr>
          <p:nvPr/>
        </p:nvCxnSpPr>
        <p:spPr>
          <a:xfrm flipV="1">
            <a:off x="2091611" y="3935153"/>
            <a:ext cx="2364545" cy="1"/>
          </a:xfrm>
          <a:prstGeom prst="straightConnector1">
            <a:avLst/>
          </a:prstGeom>
          <a:ln>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492011" y="2753915"/>
            <a:ext cx="1713857" cy="519178"/>
          </a:xfrm>
          <a:prstGeom prst="rect">
            <a:avLst/>
          </a:prstGeom>
          <a:solidFill>
            <a:schemeClr val="tx2"/>
          </a:solidFill>
          <a:effectLst/>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n-US" sz="2800" dirty="0">
                <a:solidFill>
                  <a:schemeClr val="accent1"/>
                </a:solidFill>
                <a:latin typeface="Amazon Ember Light" charset="0"/>
                <a:ea typeface="Amazon Ember Light" charset="0"/>
                <a:cs typeface="Amazon Ember Light" charset="0"/>
              </a:rPr>
              <a:t>Publisher</a:t>
            </a:r>
          </a:p>
        </p:txBody>
      </p:sp>
      <p:sp>
        <p:nvSpPr>
          <p:cNvPr id="53" name="TextBox 52"/>
          <p:cNvSpPr txBox="1"/>
          <p:nvPr/>
        </p:nvSpPr>
        <p:spPr>
          <a:xfrm>
            <a:off x="2428229" y="3267230"/>
            <a:ext cx="1371086" cy="400110"/>
          </a:xfrm>
          <a:prstGeom prst="rect">
            <a:avLst/>
          </a:prstGeom>
          <a:noFill/>
        </p:spPr>
        <p:txBody>
          <a:bodyPr wrap="square" rtlCol="0">
            <a:spAutoFit/>
          </a:bodyPr>
          <a:lstStyle/>
          <a:p>
            <a:r>
              <a:rPr lang="en-US" sz="2000" dirty="0">
                <a:solidFill>
                  <a:srgbClr val="000000"/>
                </a:solidFill>
                <a:latin typeface="Amazon Ember Light" charset="0"/>
                <a:ea typeface="Amazon Ember Light" charset="0"/>
                <a:cs typeface="Amazon Ember Light" charset="0"/>
              </a:rPr>
              <a:t>messages</a:t>
            </a:r>
            <a:endParaRPr lang="en-US" sz="2000" dirty="0">
              <a:solidFill>
                <a:srgbClr val="000000"/>
              </a:solidFill>
              <a:latin typeface="Amazon Ember Light" panose="020B0403020204020204"/>
              <a:ea typeface="Amazon Ember Light" charset="0"/>
              <a:cs typeface="Amazon Ember Light" charset="0"/>
            </a:endParaRPr>
          </a:p>
        </p:txBody>
      </p:sp>
      <p:sp>
        <p:nvSpPr>
          <p:cNvPr id="22" name="TextBox 21"/>
          <p:cNvSpPr txBox="1"/>
          <p:nvPr/>
        </p:nvSpPr>
        <p:spPr>
          <a:xfrm>
            <a:off x="3718522" y="4595615"/>
            <a:ext cx="2285143" cy="615553"/>
          </a:xfrm>
          <a:prstGeom prst="rect">
            <a:avLst/>
          </a:prstGeom>
          <a:noFill/>
        </p:spPr>
        <p:txBody>
          <a:bodyPr wrap="square" lIns="0" tIns="0" rIns="0" bIns="0" rtlCol="0">
            <a:spAutoFit/>
          </a:bodyPr>
          <a:lstStyle/>
          <a:p>
            <a:pPr algn="ctr"/>
            <a:r>
              <a:rPr lang="en-US" sz="2000" dirty="0">
                <a:solidFill>
                  <a:srgbClr val="FF0000"/>
                </a:solidFill>
                <a:latin typeface="Amazon Ember Light" charset="0"/>
                <a:ea typeface="Amazon Ember Light" charset="0"/>
                <a:cs typeface="Amazon Ember Light" charset="0"/>
              </a:rPr>
              <a:t>“trading-stock-ABCD”</a:t>
            </a:r>
          </a:p>
        </p:txBody>
      </p:sp>
      <p:sp>
        <p:nvSpPr>
          <p:cNvPr id="23" name="Rounded Rectangle 22"/>
          <p:cNvSpPr/>
          <p:nvPr/>
        </p:nvSpPr>
        <p:spPr>
          <a:xfrm>
            <a:off x="606268" y="3478125"/>
            <a:ext cx="1485343" cy="914057"/>
          </a:xfrm>
          <a:prstGeom prst="roundRect">
            <a:avLst>
              <a:gd name="adj" fmla="val 0"/>
            </a:avLst>
          </a:prstGeom>
          <a:solidFill>
            <a:schemeClr val="accent2"/>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000" dirty="0">
                <a:solidFill>
                  <a:schemeClr val="accent1"/>
                </a:solidFill>
                <a:latin typeface="Amazon Ember Light" charset="0"/>
                <a:ea typeface="Amazon Ember Light" charset="0"/>
                <a:cs typeface="Amazon Ember Light" charset="0"/>
              </a:rPr>
              <a:t>Trading</a:t>
            </a:r>
          </a:p>
          <a:p>
            <a:pPr algn="ctr"/>
            <a:r>
              <a:rPr lang="en-US" sz="2000" dirty="0">
                <a:solidFill>
                  <a:schemeClr val="accent1"/>
                </a:solidFill>
                <a:latin typeface="Amazon Ember Light" charset="0"/>
                <a:ea typeface="Amazon Ember Light" charset="0"/>
                <a:cs typeface="Amazon Ember Light" charset="0"/>
              </a:rPr>
              <a:t>System</a:t>
            </a:r>
          </a:p>
        </p:txBody>
      </p:sp>
      <p:sp>
        <p:nvSpPr>
          <p:cNvPr id="24" name="TextBox 23"/>
          <p:cNvSpPr txBox="1"/>
          <p:nvPr/>
        </p:nvSpPr>
        <p:spPr>
          <a:xfrm>
            <a:off x="2093717" y="3571618"/>
            <a:ext cx="2211677" cy="307777"/>
          </a:xfrm>
          <a:prstGeom prst="rect">
            <a:avLst/>
          </a:prstGeom>
          <a:noFill/>
        </p:spPr>
        <p:txBody>
          <a:bodyPr wrap="square" lIns="0" tIns="0" rIns="0" bIns="0" rtlCol="0">
            <a:spAutoFit/>
          </a:bodyPr>
          <a:lstStyle/>
          <a:p>
            <a:pPr algn="ctr"/>
            <a:r>
              <a:rPr lang="en-US" sz="2000" dirty="0">
                <a:solidFill>
                  <a:srgbClr val="FF0000"/>
                </a:solidFill>
                <a:latin typeface="Amazon Ember Light" charset="0"/>
                <a:ea typeface="Amazon Ember Light" charset="0"/>
                <a:cs typeface="Amazon Ember Light" charset="0"/>
              </a:rPr>
              <a:t>“new stock price”</a:t>
            </a:r>
          </a:p>
        </p:txBody>
      </p:sp>
      <p:cxnSp>
        <p:nvCxnSpPr>
          <p:cNvPr id="35" name="Straight Arrow Connector 34"/>
          <p:cNvCxnSpPr/>
          <p:nvPr/>
        </p:nvCxnSpPr>
        <p:spPr>
          <a:xfrm>
            <a:off x="6198154" y="4802467"/>
            <a:ext cx="596406" cy="5448"/>
          </a:xfrm>
          <a:prstGeom prst="straightConnector1">
            <a:avLst/>
          </a:prstGeom>
          <a:ln>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511304" y="5250011"/>
            <a:ext cx="1742086" cy="615553"/>
          </a:xfrm>
          <a:prstGeom prst="rect">
            <a:avLst/>
          </a:prstGeom>
          <a:noFill/>
        </p:spPr>
        <p:txBody>
          <a:bodyPr wrap="square" lIns="0" tIns="0" rIns="0" bIns="0" rtlCol="0">
            <a:spAutoFit/>
          </a:bodyPr>
          <a:lstStyle/>
          <a:p>
            <a:pPr algn="ctr"/>
            <a:r>
              <a:rPr lang="en-US" sz="2000" dirty="0" smtClean="0">
                <a:solidFill>
                  <a:srgbClr val="000000"/>
                </a:solidFill>
                <a:latin typeface="Amazon Ember Light" charset="0"/>
                <a:ea typeface="Amazon Ember Light" charset="0"/>
                <a:cs typeface="Amazon Ember Light" charset="0"/>
              </a:rPr>
              <a:t>Amazon SQS </a:t>
            </a:r>
            <a:r>
              <a:rPr lang="en-US" sz="2000" dirty="0">
                <a:solidFill>
                  <a:srgbClr val="000000"/>
                </a:solidFill>
                <a:latin typeface="Amazon Ember Light" charset="0"/>
                <a:ea typeface="Amazon Ember Light" charset="0"/>
                <a:cs typeface="Amazon Ember Light" charset="0"/>
              </a:rPr>
              <a:t>Queue</a:t>
            </a:r>
            <a:endParaRPr lang="en-US" sz="2000" dirty="0">
              <a:solidFill>
                <a:srgbClr val="000000"/>
              </a:solidFill>
              <a:latin typeface="Amazon Ember Light" panose="020B0403020204020204"/>
              <a:ea typeface="Amazon Ember Light" charset="0"/>
              <a:cs typeface="Amazon Ember Light" charset="0"/>
            </a:endParaRPr>
          </a:p>
        </p:txBody>
      </p:sp>
      <p:cxnSp>
        <p:nvCxnSpPr>
          <p:cNvPr id="54" name="Straight Arrow Connector 53"/>
          <p:cNvCxnSpPr/>
          <p:nvPr/>
        </p:nvCxnSpPr>
        <p:spPr>
          <a:xfrm>
            <a:off x="8006966" y="4775405"/>
            <a:ext cx="616989" cy="0"/>
          </a:xfrm>
          <a:prstGeom prst="straightConnector1">
            <a:avLst/>
          </a:prstGeom>
          <a:ln>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0004866" y="4494690"/>
            <a:ext cx="2056628" cy="615553"/>
          </a:xfrm>
          <a:prstGeom prst="rect">
            <a:avLst/>
          </a:prstGeom>
          <a:noFill/>
        </p:spPr>
        <p:txBody>
          <a:bodyPr wrap="square" lIns="0" tIns="0" rIns="0" bIns="0" rtlCol="0">
            <a:spAutoFit/>
          </a:bodyPr>
          <a:lstStyle/>
          <a:p>
            <a:r>
              <a:rPr lang="en-US" sz="2000" dirty="0">
                <a:solidFill>
                  <a:srgbClr val="FF0000"/>
                </a:solidFill>
                <a:latin typeface="Amazon Ember Light" charset="0"/>
                <a:ea typeface="Amazon Ember Light" charset="0"/>
                <a:cs typeface="Amazon Ember Light" charset="0"/>
              </a:rPr>
              <a:t>Trade Reporting System</a:t>
            </a:r>
            <a:endParaRPr lang="en-US" sz="2000" dirty="0">
              <a:solidFill>
                <a:srgbClr val="FF0000"/>
              </a:solidFill>
              <a:latin typeface="Amazon Ember Light" panose="020B0403020204020204"/>
              <a:ea typeface="Amazon Ember Light" charset="0"/>
              <a:cs typeface="Amazon Ember Light" charset="0"/>
            </a:endParaRPr>
          </a:p>
        </p:txBody>
      </p:sp>
      <p:cxnSp>
        <p:nvCxnSpPr>
          <p:cNvPr id="25" name="Straight Arrow Connector 24"/>
          <p:cNvCxnSpPr/>
          <p:nvPr/>
        </p:nvCxnSpPr>
        <p:spPr>
          <a:xfrm>
            <a:off x="6183571" y="2882824"/>
            <a:ext cx="572584" cy="1"/>
          </a:xfrm>
          <a:prstGeom prst="straightConnector1">
            <a:avLst/>
          </a:prstGeom>
          <a:ln>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607442" y="3372018"/>
            <a:ext cx="1549810" cy="615553"/>
          </a:xfrm>
          <a:prstGeom prst="rect">
            <a:avLst/>
          </a:prstGeom>
          <a:noFill/>
        </p:spPr>
        <p:txBody>
          <a:bodyPr wrap="square" lIns="0" tIns="0" rIns="0" bIns="0" rtlCol="0">
            <a:spAutoFit/>
          </a:bodyPr>
          <a:lstStyle/>
          <a:p>
            <a:pPr algn="ctr"/>
            <a:r>
              <a:rPr lang="en-US" sz="2000" dirty="0" smtClean="0">
                <a:solidFill>
                  <a:srgbClr val="000000"/>
                </a:solidFill>
                <a:latin typeface="Amazon Ember Light" charset="0"/>
                <a:ea typeface="Amazon Ember Light" charset="0"/>
                <a:cs typeface="Amazon Ember Light" charset="0"/>
              </a:rPr>
              <a:t>Amazon SQS </a:t>
            </a:r>
            <a:r>
              <a:rPr lang="en-US" sz="2000" dirty="0">
                <a:solidFill>
                  <a:srgbClr val="000000"/>
                </a:solidFill>
                <a:latin typeface="Amazon Ember Light" charset="0"/>
                <a:ea typeface="Amazon Ember Light" charset="0"/>
                <a:cs typeface="Amazon Ember Light" charset="0"/>
              </a:rPr>
              <a:t>Queue</a:t>
            </a:r>
            <a:endParaRPr lang="en-US" sz="2000" dirty="0">
              <a:solidFill>
                <a:srgbClr val="000000"/>
              </a:solidFill>
              <a:latin typeface="Amazon Ember Light" panose="020B0403020204020204"/>
              <a:ea typeface="Amazon Ember Light" charset="0"/>
              <a:cs typeface="Amazon Ember Light" charset="0"/>
            </a:endParaRPr>
          </a:p>
        </p:txBody>
      </p:sp>
      <p:cxnSp>
        <p:nvCxnSpPr>
          <p:cNvPr id="46" name="Straight Arrow Connector 45"/>
          <p:cNvCxnSpPr/>
          <p:nvPr/>
        </p:nvCxnSpPr>
        <p:spPr>
          <a:xfrm>
            <a:off x="7990810" y="2882824"/>
            <a:ext cx="616989" cy="0"/>
          </a:xfrm>
          <a:prstGeom prst="straightConnector1">
            <a:avLst/>
          </a:prstGeom>
          <a:ln>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004866" y="2610512"/>
            <a:ext cx="1645303" cy="615553"/>
          </a:xfrm>
          <a:prstGeom prst="rect">
            <a:avLst/>
          </a:prstGeom>
          <a:noFill/>
        </p:spPr>
        <p:txBody>
          <a:bodyPr wrap="square" lIns="0" tIns="0" rIns="0" bIns="0" rtlCol="0">
            <a:spAutoFit/>
          </a:bodyPr>
          <a:lstStyle/>
          <a:p>
            <a:r>
              <a:rPr lang="en-US" sz="2000" dirty="0">
                <a:solidFill>
                  <a:srgbClr val="FF0000"/>
                </a:solidFill>
                <a:latin typeface="Amazon Ember Light" charset="0"/>
                <a:ea typeface="Amazon Ember Light" charset="0"/>
                <a:cs typeface="Amazon Ember Light" charset="0"/>
              </a:rPr>
              <a:t>Calculation Engine</a:t>
            </a:r>
          </a:p>
        </p:txBody>
      </p:sp>
      <p:cxnSp>
        <p:nvCxnSpPr>
          <p:cNvPr id="34" name="Straight Arrow Connector 33"/>
          <p:cNvCxnSpPr/>
          <p:nvPr/>
        </p:nvCxnSpPr>
        <p:spPr>
          <a:xfrm flipV="1">
            <a:off x="6198154" y="2879758"/>
            <a:ext cx="0" cy="1922709"/>
          </a:xfrm>
          <a:prstGeom prst="straightConnector1">
            <a:avLst/>
          </a:prstGeom>
          <a:ln>
            <a:solidFill>
              <a:schemeClr val="tx1">
                <a:lumMod val="50000"/>
                <a:lumOff val="50000"/>
              </a:schemeClr>
            </a:solidFill>
            <a:tailEnd type="none"/>
          </a:ln>
        </p:spPr>
        <p:style>
          <a:lnRef idx="2">
            <a:schemeClr val="accent1"/>
          </a:lnRef>
          <a:fillRef idx="0">
            <a:schemeClr val="accent1"/>
          </a:fillRef>
          <a:effectRef idx="1">
            <a:schemeClr val="accent1"/>
          </a:effectRef>
          <a:fontRef idx="minor">
            <a:schemeClr val="tx1"/>
          </a:fontRef>
        </p:style>
      </p:cxnSp>
      <p:pic>
        <p:nvPicPr>
          <p:cNvPr id="49" name="Graphic 31">
            <a:extLst>
              <a:ext uri="{FF2B5EF4-FFF2-40B4-BE49-F238E27FC236}">
                <a16:creationId xmlns:a16="http://schemas.microsoft.com/office/drawing/2014/main" id="{075C7C7E-0733-F14B-BBD3-48FCFF6D5EA5}"/>
              </a:ext>
            </a:extLst>
          </p:cNvPr>
          <p:cNvPicPr>
            <a:picLocks noChangeAspect="1"/>
          </p:cNvPicPr>
          <p:nvPr/>
        </p:nvPicPr>
        <p:blipFill>
          <a:blip r:embed="rId5"/>
          <a:stretch>
            <a:fillRect/>
          </a:stretch>
        </p:blipFill>
        <p:spPr>
          <a:xfrm>
            <a:off x="4456156" y="3592253"/>
            <a:ext cx="685800" cy="685800"/>
          </a:xfrm>
          <a:prstGeom prst="rect">
            <a:avLst/>
          </a:prstGeom>
        </p:spPr>
      </p:pic>
      <p:pic>
        <p:nvPicPr>
          <p:cNvPr id="55" name="Graphic 37">
            <a:extLst>
              <a:ext uri="{FF2B5EF4-FFF2-40B4-BE49-F238E27FC236}">
                <a16:creationId xmlns:a16="http://schemas.microsoft.com/office/drawing/2014/main" id="{8CB142E1-5B51-1E4C-AFA8-54BFF6177BAB}"/>
              </a:ext>
            </a:extLst>
          </p:cNvPr>
          <p:cNvPicPr>
            <a:picLocks noChangeAspect="1"/>
          </p:cNvPicPr>
          <p:nvPr/>
        </p:nvPicPr>
        <p:blipFill>
          <a:blip r:embed="rId6"/>
          <a:stretch>
            <a:fillRect/>
          </a:stretch>
        </p:blipFill>
        <p:spPr>
          <a:xfrm>
            <a:off x="2815695" y="2773029"/>
            <a:ext cx="469900" cy="469900"/>
          </a:xfrm>
          <a:prstGeom prst="rect">
            <a:avLst/>
          </a:prstGeom>
        </p:spPr>
      </p:pic>
      <p:pic>
        <p:nvPicPr>
          <p:cNvPr id="58" name="Graphic 24">
            <a:extLst>
              <a:ext uri="{FF2B5EF4-FFF2-40B4-BE49-F238E27FC236}">
                <a16:creationId xmlns:a16="http://schemas.microsoft.com/office/drawing/2014/main" id="{DD01F647-5021-2945-A1F9-4FD26EC69AC6}"/>
              </a:ext>
            </a:extLst>
          </p:cNvPr>
          <p:cNvPicPr>
            <a:picLocks noChangeAspect="1"/>
          </p:cNvPicPr>
          <p:nvPr/>
        </p:nvPicPr>
        <p:blipFill>
          <a:blip r:embed="rId7"/>
          <a:stretch>
            <a:fillRect/>
          </a:stretch>
        </p:blipFill>
        <p:spPr>
          <a:xfrm>
            <a:off x="9004481" y="2443057"/>
            <a:ext cx="914400" cy="914400"/>
          </a:xfrm>
          <a:prstGeom prst="rect">
            <a:avLst/>
          </a:prstGeom>
        </p:spPr>
      </p:pic>
      <p:sp>
        <p:nvSpPr>
          <p:cNvPr id="59" name="TextBox 58">
            <a:extLst>
              <a:ext uri="{FF2B5EF4-FFF2-40B4-BE49-F238E27FC236}">
                <a16:creationId xmlns:a16="http://schemas.microsoft.com/office/drawing/2014/main" id="{B441238E-2FC5-B944-B600-89749B5AC47A}"/>
              </a:ext>
            </a:extLst>
          </p:cNvPr>
          <p:cNvSpPr txBox="1"/>
          <p:nvPr/>
        </p:nvSpPr>
        <p:spPr>
          <a:xfrm>
            <a:off x="8578225" y="3372018"/>
            <a:ext cx="1766913" cy="400110"/>
          </a:xfrm>
          <a:prstGeom prst="rect">
            <a:avLst/>
          </a:prstGeom>
          <a:noFill/>
        </p:spPr>
        <p:txBody>
          <a:bodyPr wrap="square" rtlCol="0">
            <a:spAutoFit/>
          </a:bodyPr>
          <a:lstStyle/>
          <a:p>
            <a:pPr algn="ctr"/>
            <a:r>
              <a:rPr lang="en-US" sz="2000" dirty="0">
                <a:solidFill>
                  <a:srgbClr val="232F3E"/>
                </a:solidFill>
              </a:rPr>
              <a:t>EC2 Instance</a:t>
            </a:r>
          </a:p>
        </p:txBody>
      </p:sp>
      <p:pic>
        <p:nvPicPr>
          <p:cNvPr id="60" name="Graphic 26">
            <a:extLst>
              <a:ext uri="{FF2B5EF4-FFF2-40B4-BE49-F238E27FC236}">
                <a16:creationId xmlns:a16="http://schemas.microsoft.com/office/drawing/2014/main" id="{B23FFE59-5298-FE4A-8901-30803395EF7B}"/>
              </a:ext>
            </a:extLst>
          </p:cNvPr>
          <p:cNvPicPr>
            <a:picLocks noChangeAspect="1"/>
          </p:cNvPicPr>
          <p:nvPr/>
        </p:nvPicPr>
        <p:blipFill>
          <a:blip r:embed="rId7"/>
          <a:stretch>
            <a:fillRect/>
          </a:stretch>
        </p:blipFill>
        <p:spPr>
          <a:xfrm>
            <a:off x="9004481" y="4318205"/>
            <a:ext cx="914400" cy="914400"/>
          </a:xfrm>
          <a:prstGeom prst="rect">
            <a:avLst/>
          </a:prstGeom>
        </p:spPr>
      </p:pic>
      <p:sp>
        <p:nvSpPr>
          <p:cNvPr id="61" name="TextBox 60">
            <a:extLst>
              <a:ext uri="{FF2B5EF4-FFF2-40B4-BE49-F238E27FC236}">
                <a16:creationId xmlns:a16="http://schemas.microsoft.com/office/drawing/2014/main" id="{8B49AB76-4D14-A041-9513-C8F4756C70F3}"/>
              </a:ext>
            </a:extLst>
          </p:cNvPr>
          <p:cNvSpPr txBox="1"/>
          <p:nvPr/>
        </p:nvSpPr>
        <p:spPr>
          <a:xfrm>
            <a:off x="8578225" y="5250011"/>
            <a:ext cx="1766913" cy="400110"/>
          </a:xfrm>
          <a:prstGeom prst="rect">
            <a:avLst/>
          </a:prstGeom>
          <a:noFill/>
        </p:spPr>
        <p:txBody>
          <a:bodyPr wrap="square" rtlCol="0">
            <a:spAutoFit/>
          </a:bodyPr>
          <a:lstStyle/>
          <a:p>
            <a:pPr algn="ctr"/>
            <a:r>
              <a:rPr lang="en-US" sz="2000" dirty="0" smtClean="0">
                <a:solidFill>
                  <a:srgbClr val="232F3E"/>
                </a:solidFill>
              </a:rPr>
              <a:t>EC2 Instance</a:t>
            </a:r>
            <a:endParaRPr lang="en-US" sz="2000" dirty="0">
              <a:solidFill>
                <a:srgbClr val="232F3E"/>
              </a:solidFill>
            </a:endParaRPr>
          </a:p>
        </p:txBody>
      </p:sp>
      <p:sp>
        <p:nvSpPr>
          <p:cNvPr id="32" name="TextBox 31"/>
          <p:cNvSpPr txBox="1"/>
          <p:nvPr/>
        </p:nvSpPr>
        <p:spPr>
          <a:xfrm>
            <a:off x="6089649" y="1715824"/>
            <a:ext cx="2467342" cy="4250575"/>
          </a:xfrm>
          <a:prstGeom prst="rect">
            <a:avLst/>
          </a:prstGeom>
          <a:noFill/>
          <a:ln w="12700">
            <a:solidFill>
              <a:schemeClr val="accent1"/>
            </a:solidFill>
            <a:prstDash val="dash"/>
          </a:ln>
          <a:effectLst/>
        </p:spPr>
        <p:style>
          <a:lnRef idx="0">
            <a:schemeClr val="accent3"/>
          </a:lnRef>
          <a:fillRef idx="3">
            <a:schemeClr val="accent3"/>
          </a:fillRef>
          <a:effectRef idx="3">
            <a:schemeClr val="accent3"/>
          </a:effectRef>
          <a:fontRef idx="minor">
            <a:schemeClr val="lt1"/>
          </a:fontRef>
        </p:style>
        <p:txBody>
          <a:bodyPr wrap="square" rtlCol="0">
            <a:noAutofit/>
          </a:bodyPr>
          <a:lstStyle/>
          <a:p>
            <a:pPr algn="ctr"/>
            <a:r>
              <a:rPr lang="en-US" sz="2800" dirty="0">
                <a:solidFill>
                  <a:schemeClr val="accent1"/>
                </a:solidFill>
                <a:latin typeface="Amazon Ember Light" charset="0"/>
                <a:ea typeface="Amazon Ember Light" charset="0"/>
                <a:cs typeface="Amazon Ember Light" charset="0"/>
              </a:rPr>
              <a:t>Subscribers</a:t>
            </a:r>
          </a:p>
        </p:txBody>
      </p:sp>
    </p:spTree>
    <p:custDataLst>
      <p:tags r:id="rId1"/>
    </p:custDataLst>
    <p:extLst>
      <p:ext uri="{BB962C8B-B14F-4D97-AF65-F5344CB8AC3E}">
        <p14:creationId xmlns:p14="http://schemas.microsoft.com/office/powerpoint/2010/main" val="160864049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SNS message </a:t>
            </a:r>
            <a:r>
              <a:rPr lang="en-US" dirty="0" smtClean="0"/>
              <a:t>sent</a:t>
            </a:r>
            <a:br>
              <a:rPr lang="en-US" dirty="0" smtClean="0"/>
            </a:br>
            <a:r>
              <a:rPr lang="en-US" dirty="0" smtClean="0"/>
              <a:t>to </a:t>
            </a:r>
            <a:r>
              <a:rPr lang="en-US" dirty="0"/>
              <a:t>Amazon SQS</a:t>
            </a:r>
          </a:p>
        </p:txBody>
      </p:sp>
      <p:sp>
        <p:nvSpPr>
          <p:cNvPr id="3" name="Content Placeholder 2"/>
          <p:cNvSpPr>
            <a:spLocks noGrp="1"/>
          </p:cNvSpPr>
          <p:nvPr>
            <p:ph idx="1"/>
          </p:nvPr>
        </p:nvSpPr>
        <p:spPr>
          <a:ln>
            <a:noFill/>
          </a:ln>
        </p:spPr>
        <p:txBody>
          <a:bodyPr>
            <a:noAutofit/>
          </a:bodyPr>
          <a:lstStyle/>
          <a:p>
            <a:pPr marL="285750" indent="-285750">
              <a:buFont typeface="Arial" panose="020B0604020202020204" pitchFamily="34" charset="0"/>
              <a:buChar char="•"/>
            </a:pPr>
            <a:r>
              <a:rPr lang="en-US" sz="2400" dirty="0">
                <a:solidFill>
                  <a:srgbClr val="000000"/>
                </a:solidFill>
                <a:latin typeface="Amazon Ember Light" charset="0"/>
                <a:ea typeface="Amazon Ember Light" charset="0"/>
                <a:cs typeface="Amazon Ember Light" charset="0"/>
              </a:rPr>
              <a:t>SNS</a:t>
            </a:r>
            <a:r>
              <a:rPr lang="en-US" sz="2400" dirty="0">
                <a:latin typeface="Amazon Ember Light" charset="0"/>
                <a:ea typeface="Amazon Ember Light" charset="0"/>
                <a:cs typeface="Amazon Ember Light" charset="0"/>
              </a:rPr>
              <a:t> encodes the message in </a:t>
            </a:r>
            <a:r>
              <a:rPr lang="en-US" sz="2400" dirty="0">
                <a:solidFill>
                  <a:srgbClr val="000000"/>
                </a:solidFill>
                <a:latin typeface="Amazon Ember Light" charset="0"/>
                <a:ea typeface="Amazon Ember Light" charset="0"/>
                <a:cs typeface="Amazon Ember Light" charset="0"/>
              </a:rPr>
              <a:t>JSON format  and</a:t>
            </a:r>
            <a:r>
              <a:rPr lang="en-US" sz="2400" dirty="0">
                <a:latin typeface="Amazon Ember Light" charset="0"/>
                <a:ea typeface="Amazon Ember Light" charset="0"/>
                <a:cs typeface="Amazon Ember Light" charset="0"/>
              </a:rPr>
              <a:t> adds metadata</a:t>
            </a:r>
            <a:r>
              <a:rPr lang="en-US" sz="2400" dirty="0" smtClean="0">
                <a:latin typeface="Amazon Ember Light" charset="0"/>
                <a:ea typeface="Amazon Ember Light" charset="0"/>
                <a:cs typeface="Amazon Ember Light" charset="0"/>
              </a:rPr>
              <a:t>.</a:t>
            </a:r>
            <a:r>
              <a:rPr lang="en-US" sz="1800" dirty="0" smtClean="0">
                <a:latin typeface="Amazon Ember Light" charset="0"/>
                <a:ea typeface="Amazon Ember Light" charset="0"/>
                <a:cs typeface="Amazon Ember Light" charset="0"/>
              </a:rPr>
              <a:t/>
            </a:r>
            <a:br>
              <a:rPr lang="en-US" sz="1800" dirty="0" smtClean="0">
                <a:latin typeface="Amazon Ember Light" charset="0"/>
                <a:ea typeface="Amazon Ember Light" charset="0"/>
                <a:cs typeface="Amazon Ember Light" charset="0"/>
              </a:rPr>
            </a:br>
            <a:r>
              <a:rPr lang="en-US" sz="1600" dirty="0" smtClean="0">
                <a:cs typeface="Courier New" panose="02070309020205020404" pitchFamily="49" charset="0"/>
              </a:rPr>
              <a:t/>
            </a:r>
            <a:br>
              <a:rPr lang="en-US" sz="1600" dirty="0" smtClean="0">
                <a:cs typeface="Courier New" panose="02070309020205020404" pitchFamily="49" charset="0"/>
              </a:rPr>
            </a:br>
            <a:r>
              <a:rPr lang="en-US" sz="1200" dirty="0" smtClean="0">
                <a:latin typeface="Lucida Console" panose="020B0609040504020204" pitchFamily="49" charset="0"/>
                <a:cs typeface="Courier New" panose="02070309020205020404" pitchFamily="49" charset="0"/>
              </a:rPr>
              <a:t>{ </a:t>
            </a:r>
          </a:p>
          <a:p>
            <a:pPr marL="0" indent="0">
              <a:buNone/>
            </a:pPr>
            <a:r>
              <a:rPr lang="en-US" sz="1600" dirty="0">
                <a:latin typeface="Lucida Console" panose="020B0609040504020204" pitchFamily="49" charset="0"/>
                <a:cs typeface="Courier New" panose="02070309020205020404" pitchFamily="49" charset="0"/>
              </a:rPr>
              <a:t>	"</a:t>
            </a:r>
            <a:r>
              <a:rPr lang="en-US" sz="1600" dirty="0">
                <a:solidFill>
                  <a:srgbClr val="000000"/>
                </a:solidFill>
                <a:latin typeface="Lucida Console" panose="020B0609040504020204" pitchFamily="49" charset="0"/>
                <a:cs typeface="Courier New" panose="02070309020205020404" pitchFamily="49" charset="0"/>
              </a:rPr>
              <a:t>Type" :</a:t>
            </a:r>
            <a:r>
              <a:rPr lang="en-US" sz="1600" dirty="0">
                <a:latin typeface="Lucida Console" panose="020B0609040504020204" pitchFamily="49" charset="0"/>
                <a:cs typeface="Courier New" panose="02070309020205020404" pitchFamily="49" charset="0"/>
              </a:rPr>
              <a:t> "Notification</a:t>
            </a:r>
            <a:r>
              <a:rPr lang="en-US" sz="1600" dirty="0">
                <a:solidFill>
                  <a:srgbClr val="000000"/>
                </a:solidFill>
                <a:latin typeface="Lucida Console" panose="020B0609040504020204" pitchFamily="49" charset="0"/>
                <a:cs typeface="Courier New" panose="02070309020205020404" pitchFamily="49" charset="0"/>
              </a:rPr>
              <a:t>",</a:t>
            </a:r>
            <a:r>
              <a:rPr lang="en-US" sz="1600" dirty="0">
                <a:latin typeface="Lucida Console" panose="020B0609040504020204" pitchFamily="49" charset="0"/>
                <a:cs typeface="Courier New" panose="02070309020205020404" pitchFamily="49" charset="0"/>
              </a:rPr>
              <a:t> </a:t>
            </a:r>
            <a:br>
              <a:rPr lang="en-US" sz="1600" dirty="0">
                <a:latin typeface="Lucida Console" panose="020B0609040504020204" pitchFamily="49" charset="0"/>
                <a:cs typeface="Courier New" panose="02070309020205020404" pitchFamily="49" charset="0"/>
              </a:rPr>
            </a:br>
            <a:r>
              <a:rPr lang="en-US" sz="1600" dirty="0">
                <a:latin typeface="Lucida Console" panose="020B0609040504020204" pitchFamily="49" charset="0"/>
                <a:cs typeface="Courier New" panose="02070309020205020404" pitchFamily="49" charset="0"/>
              </a:rPr>
              <a:t>	"</a:t>
            </a:r>
            <a:r>
              <a:rPr lang="en-US" sz="1600" dirty="0" err="1">
                <a:solidFill>
                  <a:srgbClr val="000000"/>
                </a:solidFill>
                <a:latin typeface="Lucida Console" panose="020B0609040504020204" pitchFamily="49" charset="0"/>
                <a:cs typeface="Courier New" panose="02070309020205020404" pitchFamily="49" charset="0"/>
              </a:rPr>
              <a:t>MessageId</a:t>
            </a:r>
            <a:r>
              <a:rPr lang="en-US" sz="1600" dirty="0">
                <a:solidFill>
                  <a:srgbClr val="000000"/>
                </a:solidFill>
                <a:latin typeface="Lucida Console" panose="020B0609040504020204" pitchFamily="49" charset="0"/>
                <a:cs typeface="Courier New" panose="02070309020205020404" pitchFamily="49" charset="0"/>
              </a:rPr>
              <a:t>" :</a:t>
            </a:r>
            <a:r>
              <a:rPr lang="en-US" sz="1600" dirty="0">
                <a:latin typeface="Lucida Console" panose="020B0609040504020204" pitchFamily="49" charset="0"/>
                <a:cs typeface="Courier New" panose="02070309020205020404" pitchFamily="49" charset="0"/>
              </a:rPr>
              <a:t> "63a3f6b6-d533-4a47-aef9-fcf5cf758c76",</a:t>
            </a:r>
            <a:br>
              <a:rPr lang="en-US" sz="1600" dirty="0">
                <a:latin typeface="Lucida Console" panose="020B0609040504020204" pitchFamily="49" charset="0"/>
                <a:cs typeface="Courier New" panose="02070309020205020404" pitchFamily="49" charset="0"/>
              </a:rPr>
            </a:br>
            <a:r>
              <a:rPr lang="en-US" sz="1600" dirty="0">
                <a:latin typeface="Lucida Console" panose="020B0609040504020204" pitchFamily="49" charset="0"/>
                <a:cs typeface="Courier New" panose="02070309020205020404" pitchFamily="49" charset="0"/>
              </a:rPr>
              <a:t>	"</a:t>
            </a:r>
            <a:r>
              <a:rPr lang="en-US" sz="1600" dirty="0" err="1">
                <a:latin typeface="Lucida Console" panose="020B0609040504020204" pitchFamily="49" charset="0"/>
                <a:cs typeface="Courier New" panose="02070309020205020404" pitchFamily="49" charset="0"/>
              </a:rPr>
              <a:t>TopicArn</a:t>
            </a:r>
            <a:r>
              <a:rPr lang="en-US" sz="1600" dirty="0">
                <a:solidFill>
                  <a:srgbClr val="000000"/>
                </a:solidFill>
                <a:latin typeface="Lucida Console" panose="020B0609040504020204" pitchFamily="49" charset="0"/>
                <a:cs typeface="Courier New" panose="02070309020205020404" pitchFamily="49" charset="0"/>
              </a:rPr>
              <a:t>" :</a:t>
            </a:r>
            <a:r>
              <a:rPr lang="en-US" sz="1600" dirty="0">
                <a:latin typeface="Lucida Console" panose="020B0609040504020204" pitchFamily="49" charset="0"/>
                <a:cs typeface="Courier New" panose="02070309020205020404" pitchFamily="49" charset="0"/>
              </a:rPr>
              <a:t> "arn:aws:sns:us-west-2:123456789012:MyTopic", </a:t>
            </a:r>
            <a:br>
              <a:rPr lang="en-US" sz="1600" dirty="0">
                <a:latin typeface="Lucida Console" panose="020B0609040504020204" pitchFamily="49" charset="0"/>
                <a:cs typeface="Courier New" panose="02070309020205020404" pitchFamily="49" charset="0"/>
              </a:rPr>
            </a:br>
            <a:r>
              <a:rPr lang="en-US" sz="1600" dirty="0">
                <a:latin typeface="Lucida Console" panose="020B0609040504020204" pitchFamily="49" charset="0"/>
                <a:cs typeface="Courier New" panose="02070309020205020404" pitchFamily="49" charset="0"/>
              </a:rPr>
              <a:t>	"Subject</a:t>
            </a:r>
            <a:r>
              <a:rPr lang="en-US" sz="1600" dirty="0">
                <a:solidFill>
                  <a:srgbClr val="000000"/>
                </a:solidFill>
                <a:latin typeface="Lucida Console" panose="020B0609040504020204" pitchFamily="49" charset="0"/>
                <a:cs typeface="Courier New" panose="02070309020205020404" pitchFamily="49" charset="0"/>
              </a:rPr>
              <a:t>" :</a:t>
            </a:r>
            <a:r>
              <a:rPr lang="en-US" sz="1600" dirty="0">
                <a:latin typeface="Lucida Console" panose="020B0609040504020204" pitchFamily="49" charset="0"/>
                <a:cs typeface="Courier New" panose="02070309020205020404" pitchFamily="49" charset="0"/>
              </a:rPr>
              <a:t> "</a:t>
            </a:r>
            <a:r>
              <a:rPr lang="en-US" sz="1600" dirty="0">
                <a:solidFill>
                  <a:srgbClr val="000000"/>
                </a:solidFill>
                <a:latin typeface="Lucida Console" panose="020B0609040504020204" pitchFamily="49" charset="0"/>
                <a:cs typeface="Courier New" panose="02070309020205020404" pitchFamily="49" charset="0"/>
              </a:rPr>
              <a:t>Testing publish</a:t>
            </a:r>
            <a:r>
              <a:rPr lang="en-US" sz="1600" dirty="0">
                <a:latin typeface="Lucida Console" panose="020B0609040504020204" pitchFamily="49" charset="0"/>
                <a:cs typeface="Courier New" panose="02070309020205020404" pitchFamily="49" charset="0"/>
              </a:rPr>
              <a:t> to subscribed queues</a:t>
            </a:r>
            <a:r>
              <a:rPr lang="en-US" sz="1600" dirty="0">
                <a:solidFill>
                  <a:srgbClr val="000000"/>
                </a:solidFill>
                <a:latin typeface="Lucida Console" panose="020B0609040504020204" pitchFamily="49" charset="0"/>
                <a:cs typeface="Courier New" panose="02070309020205020404" pitchFamily="49" charset="0"/>
              </a:rPr>
              <a:t>",</a:t>
            </a:r>
            <a:r>
              <a:rPr lang="en-US" sz="1600" dirty="0">
                <a:latin typeface="Lucida Console" panose="020B0609040504020204" pitchFamily="49" charset="0"/>
                <a:cs typeface="Courier New" panose="02070309020205020404" pitchFamily="49" charset="0"/>
              </a:rPr>
              <a:t> </a:t>
            </a:r>
            <a:br>
              <a:rPr lang="en-US" sz="1600" dirty="0">
                <a:latin typeface="Lucida Console" panose="020B0609040504020204" pitchFamily="49" charset="0"/>
                <a:cs typeface="Courier New" panose="02070309020205020404" pitchFamily="49" charset="0"/>
              </a:rPr>
            </a:br>
            <a:r>
              <a:rPr lang="en-US" sz="1600" dirty="0">
                <a:latin typeface="Lucida Console" panose="020B0609040504020204" pitchFamily="49" charset="0"/>
                <a:cs typeface="Courier New" panose="02070309020205020404" pitchFamily="49" charset="0"/>
              </a:rPr>
              <a:t>	</a:t>
            </a:r>
            <a:r>
              <a:rPr lang="en-US" sz="1600" b="1" dirty="0">
                <a:latin typeface="Lucida Console" panose="020B0609040504020204" pitchFamily="49" charset="0"/>
                <a:cs typeface="Courier New" panose="02070309020205020404" pitchFamily="49" charset="0"/>
              </a:rPr>
              <a:t>"Message</a:t>
            </a:r>
            <a:r>
              <a:rPr lang="en-US" sz="1600" b="1" dirty="0">
                <a:solidFill>
                  <a:srgbClr val="000000"/>
                </a:solidFill>
                <a:latin typeface="Lucida Console" panose="020B0609040504020204" pitchFamily="49" charset="0"/>
                <a:cs typeface="Courier New" panose="02070309020205020404" pitchFamily="49" charset="0"/>
              </a:rPr>
              <a:t>" :</a:t>
            </a:r>
            <a:r>
              <a:rPr lang="en-US" sz="1600" b="1" dirty="0">
                <a:latin typeface="Lucida Console" panose="020B0609040504020204" pitchFamily="49" charset="0"/>
                <a:cs typeface="Courier New" panose="02070309020205020404" pitchFamily="49" charset="0"/>
              </a:rPr>
              <a:t> </a:t>
            </a:r>
            <a:r>
              <a:rPr lang="en-US" sz="1600" b="1" dirty="0">
                <a:solidFill>
                  <a:srgbClr val="000000"/>
                </a:solidFill>
                <a:latin typeface="Lucida Console" panose="020B0609040504020204" pitchFamily="49" charset="0"/>
                <a:cs typeface="Courier New" panose="02070309020205020404" pitchFamily="49" charset="0"/>
              </a:rPr>
              <a:t>"Hello world!"</a:t>
            </a:r>
            <a:r>
              <a:rPr lang="en-US" sz="1600" dirty="0">
                <a:latin typeface="Lucida Console" panose="020B0609040504020204" pitchFamily="49" charset="0"/>
                <a:cs typeface="Courier New" panose="02070309020205020404" pitchFamily="49" charset="0"/>
              </a:rPr>
              <a:t>, </a:t>
            </a:r>
            <a:br>
              <a:rPr lang="en-US" sz="1600" dirty="0">
                <a:latin typeface="Lucida Console" panose="020B0609040504020204" pitchFamily="49" charset="0"/>
                <a:cs typeface="Courier New" panose="02070309020205020404" pitchFamily="49" charset="0"/>
              </a:rPr>
            </a:br>
            <a:r>
              <a:rPr lang="en-US" sz="1600" dirty="0">
                <a:latin typeface="Lucida Console" panose="020B0609040504020204" pitchFamily="49" charset="0"/>
                <a:cs typeface="Courier New" panose="02070309020205020404" pitchFamily="49" charset="0"/>
              </a:rPr>
              <a:t>	"Timestamp</a:t>
            </a:r>
            <a:r>
              <a:rPr lang="en-US" sz="1600" dirty="0">
                <a:solidFill>
                  <a:srgbClr val="000000"/>
                </a:solidFill>
                <a:latin typeface="Lucida Console" panose="020B0609040504020204" pitchFamily="49" charset="0"/>
                <a:cs typeface="Courier New" panose="02070309020205020404" pitchFamily="49" charset="0"/>
              </a:rPr>
              <a:t>" :</a:t>
            </a:r>
            <a:r>
              <a:rPr lang="en-US" sz="1600" dirty="0">
                <a:latin typeface="Lucida Console" panose="020B0609040504020204" pitchFamily="49" charset="0"/>
                <a:cs typeface="Courier New" panose="02070309020205020404" pitchFamily="49" charset="0"/>
              </a:rPr>
              <a:t> "</a:t>
            </a:r>
            <a:r>
              <a:rPr lang="en-US" sz="1600" dirty="0" smtClean="0">
                <a:solidFill>
                  <a:srgbClr val="000000"/>
                </a:solidFill>
                <a:latin typeface="Lucida Console" panose="020B0609040504020204" pitchFamily="49" charset="0"/>
                <a:cs typeface="Courier New" panose="02070309020205020404" pitchFamily="49" charset="0"/>
              </a:rPr>
              <a:t>2020-03-29</a:t>
            </a:r>
            <a:r>
              <a:rPr lang="en-US" sz="1600" dirty="0" smtClean="0">
                <a:latin typeface="Lucida Console" panose="020B0609040504020204" pitchFamily="49" charset="0"/>
                <a:cs typeface="Courier New" panose="02070309020205020404" pitchFamily="49" charset="0"/>
              </a:rPr>
              <a:t>T05:12:16.901Z</a:t>
            </a:r>
            <a:r>
              <a:rPr lang="en-US" sz="1600" dirty="0">
                <a:latin typeface="Lucida Console" panose="020B0609040504020204" pitchFamily="49" charset="0"/>
                <a:cs typeface="Courier New" panose="02070309020205020404" pitchFamily="49" charset="0"/>
              </a:rPr>
              <a:t>", </a:t>
            </a:r>
            <a:br>
              <a:rPr lang="en-US" sz="1600" dirty="0">
                <a:latin typeface="Lucida Console" panose="020B0609040504020204" pitchFamily="49" charset="0"/>
                <a:cs typeface="Courier New" panose="02070309020205020404" pitchFamily="49" charset="0"/>
              </a:rPr>
            </a:br>
            <a:r>
              <a:rPr lang="en-US" sz="1600" dirty="0">
                <a:latin typeface="Lucida Console" panose="020B0609040504020204" pitchFamily="49" charset="0"/>
                <a:cs typeface="Courier New" panose="02070309020205020404" pitchFamily="49" charset="0"/>
              </a:rPr>
              <a:t>	"</a:t>
            </a:r>
            <a:r>
              <a:rPr lang="en-US" sz="1600" dirty="0" err="1">
                <a:latin typeface="Lucida Console" panose="020B0609040504020204" pitchFamily="49" charset="0"/>
                <a:cs typeface="Courier New" panose="02070309020205020404" pitchFamily="49" charset="0"/>
              </a:rPr>
              <a:t>SignatureVersion</a:t>
            </a:r>
            <a:r>
              <a:rPr lang="en-US" sz="1600" dirty="0">
                <a:solidFill>
                  <a:srgbClr val="000000"/>
                </a:solidFill>
                <a:latin typeface="Lucida Console" panose="020B0609040504020204" pitchFamily="49" charset="0"/>
                <a:cs typeface="Courier New" panose="02070309020205020404" pitchFamily="49" charset="0"/>
              </a:rPr>
              <a:t>" :</a:t>
            </a:r>
            <a:r>
              <a:rPr lang="en-US" sz="1600" dirty="0">
                <a:latin typeface="Lucida Console" panose="020B0609040504020204" pitchFamily="49" charset="0"/>
                <a:cs typeface="Courier New" panose="02070309020205020404" pitchFamily="49" charset="0"/>
              </a:rPr>
              <a:t> "1", </a:t>
            </a:r>
            <a:br>
              <a:rPr lang="en-US" sz="1600" dirty="0">
                <a:latin typeface="Lucida Console" panose="020B0609040504020204" pitchFamily="49" charset="0"/>
                <a:cs typeface="Courier New" panose="02070309020205020404" pitchFamily="49" charset="0"/>
              </a:rPr>
            </a:br>
            <a:r>
              <a:rPr lang="en-US" sz="1600" dirty="0">
                <a:latin typeface="Lucida Console" panose="020B0609040504020204" pitchFamily="49" charset="0"/>
                <a:cs typeface="Courier New" panose="02070309020205020404" pitchFamily="49" charset="0"/>
              </a:rPr>
              <a:t>	"Signature</a:t>
            </a:r>
            <a:r>
              <a:rPr lang="en-US" sz="1600" dirty="0">
                <a:solidFill>
                  <a:srgbClr val="000000"/>
                </a:solidFill>
                <a:latin typeface="Lucida Console" panose="020B0609040504020204" pitchFamily="49" charset="0"/>
                <a:cs typeface="Courier New" panose="02070309020205020404" pitchFamily="49" charset="0"/>
              </a:rPr>
              <a:t>" :</a:t>
            </a:r>
            <a:r>
              <a:rPr lang="en-US" sz="1600" dirty="0">
                <a:latin typeface="Lucida Console" panose="020B0609040504020204" pitchFamily="49" charset="0"/>
                <a:cs typeface="Courier New" panose="02070309020205020404" pitchFamily="49" charset="0"/>
              </a:rPr>
              <a:t> "EXAMPLEnTrFPa37tnVO0FF9Iau3MGzjlJLRfySEoWz4uZHSj6ycK4ph71Zm 		               dv0NtJ4dC/Vz20zxm87HiM6CYDTo3l7LMwFT4VUyaBBafhPTg9O5CnKkg=", 	"</a:t>
            </a:r>
            <a:r>
              <a:rPr lang="en-US" sz="1600" dirty="0" err="1">
                <a:latin typeface="Lucida Console" panose="020B0609040504020204" pitchFamily="49" charset="0"/>
                <a:cs typeface="Courier New" panose="02070309020205020404" pitchFamily="49" charset="0"/>
              </a:rPr>
              <a:t>SigningCertURL</a:t>
            </a:r>
            <a:r>
              <a:rPr lang="en-US" sz="1600" dirty="0">
                <a:solidFill>
                  <a:srgbClr val="000000"/>
                </a:solidFill>
                <a:latin typeface="Lucida Console" panose="020B0609040504020204" pitchFamily="49" charset="0"/>
                <a:cs typeface="Courier New" panose="02070309020205020404" pitchFamily="49" charset="0"/>
              </a:rPr>
              <a:t>" :</a:t>
            </a:r>
            <a:r>
              <a:rPr lang="en-US" sz="1600" dirty="0">
                <a:latin typeface="Lucida Console" panose="020B0609040504020204" pitchFamily="49" charset="0"/>
                <a:cs typeface="Courier New" panose="02070309020205020404" pitchFamily="49" charset="0"/>
              </a:rPr>
              <a:t> "https://sns.us-west-2.amazonaws.com/</a:t>
            </a:r>
            <a:r>
              <a:rPr lang="en-US" sz="1600" dirty="0" err="1">
                <a:latin typeface="Lucida Console" panose="020B0609040504020204" pitchFamily="49" charset="0"/>
                <a:cs typeface="Courier New" panose="02070309020205020404" pitchFamily="49" charset="0"/>
              </a:rPr>
              <a:t>SimpleNotificationService</a:t>
            </a:r>
            <a:r>
              <a:rPr lang="en-US" sz="1600" dirty="0">
                <a:latin typeface="Lucida Console" panose="020B0609040504020204" pitchFamily="49" charset="0"/>
                <a:cs typeface="Courier New" panose="02070309020205020404" pitchFamily="49" charset="0"/>
              </a:rPr>
              <a:t>-				     f3ecfb7224c7233fe7bb5f59f96de52f.pem", </a:t>
            </a:r>
            <a:br>
              <a:rPr lang="en-US" sz="1600" dirty="0">
                <a:latin typeface="Lucida Console" panose="020B0609040504020204" pitchFamily="49" charset="0"/>
                <a:cs typeface="Courier New" panose="02070309020205020404" pitchFamily="49" charset="0"/>
              </a:rPr>
            </a:br>
            <a:r>
              <a:rPr lang="en-US" sz="1600" dirty="0">
                <a:latin typeface="Lucida Console" panose="020B0609040504020204" pitchFamily="49" charset="0"/>
                <a:cs typeface="Courier New" panose="02070309020205020404" pitchFamily="49" charset="0"/>
              </a:rPr>
              <a:t>	"</a:t>
            </a:r>
            <a:r>
              <a:rPr lang="en-US" sz="1600" dirty="0" err="1">
                <a:latin typeface="Lucida Console" panose="020B0609040504020204" pitchFamily="49" charset="0"/>
                <a:cs typeface="Courier New" panose="02070309020205020404" pitchFamily="49" charset="0"/>
              </a:rPr>
              <a:t>UnsubscribeURL</a:t>
            </a:r>
            <a:r>
              <a:rPr lang="en-US" sz="1600" dirty="0">
                <a:solidFill>
                  <a:srgbClr val="000000"/>
                </a:solidFill>
                <a:latin typeface="Lucida Console" panose="020B0609040504020204" pitchFamily="49" charset="0"/>
                <a:cs typeface="Courier New" panose="02070309020205020404" pitchFamily="49" charset="0"/>
              </a:rPr>
              <a:t>" :</a:t>
            </a:r>
            <a:r>
              <a:rPr lang="en-US" sz="1600" dirty="0">
                <a:latin typeface="Lucida Console" panose="020B0609040504020204" pitchFamily="49" charset="0"/>
                <a:cs typeface="Courier New" panose="02070309020205020404" pitchFamily="49" charset="0"/>
              </a:rPr>
              <a:t> "https://</a:t>
            </a:r>
            <a:r>
              <a:rPr lang="en-US" sz="1600" dirty="0" smtClean="0">
                <a:latin typeface="Lucida Console" panose="020B0609040504020204" pitchFamily="49" charset="0"/>
                <a:cs typeface="Courier New" panose="02070309020205020404" pitchFamily="49" charset="0"/>
              </a:rPr>
              <a:t>sns.us-...</a:t>
            </a:r>
          </a:p>
          <a:p>
            <a:pPr marL="285750" indent="-285750">
              <a:buFont typeface="Arial" panose="020B0604020202020204" pitchFamily="34" charset="0"/>
              <a:buChar char="•"/>
            </a:pPr>
            <a:r>
              <a:rPr lang="en-US" sz="2400" dirty="0">
                <a:latin typeface="Amazon Ember Light" charset="0"/>
                <a:ea typeface="Amazon Ember Light" charset="0"/>
                <a:cs typeface="Amazon Ember Light" charset="0"/>
              </a:rPr>
              <a:t>With </a:t>
            </a:r>
            <a:r>
              <a:rPr lang="en-US" sz="2400" dirty="0">
                <a:solidFill>
                  <a:srgbClr val="000000"/>
                </a:solidFill>
                <a:latin typeface="Amazon Ember Light" charset="0"/>
                <a:ea typeface="Amazon Ember Light" charset="0"/>
                <a:cs typeface="Amazon Ember Light" charset="0"/>
              </a:rPr>
              <a:t>raw message delivery</a:t>
            </a:r>
            <a:r>
              <a:rPr lang="en-US" sz="2400" dirty="0">
                <a:latin typeface="Amazon Ember Light" charset="0"/>
                <a:ea typeface="Amazon Ember Light" charset="0"/>
                <a:cs typeface="Amazon Ember Light" charset="0"/>
              </a:rPr>
              <a:t> enabled, </a:t>
            </a:r>
            <a:r>
              <a:rPr lang="en-US" sz="2400" dirty="0">
                <a:solidFill>
                  <a:srgbClr val="000000"/>
                </a:solidFill>
                <a:latin typeface="Amazon Ember Light" charset="0"/>
                <a:ea typeface="Amazon Ember Light" charset="0"/>
                <a:cs typeface="Amazon Ember Light" charset="0"/>
              </a:rPr>
              <a:t>SNS</a:t>
            </a:r>
            <a:r>
              <a:rPr lang="en-US" sz="2400" dirty="0">
                <a:latin typeface="Amazon Ember Light" charset="0"/>
                <a:ea typeface="Amazon Ember Light" charset="0"/>
                <a:cs typeface="Amazon Ember Light" charset="0"/>
              </a:rPr>
              <a:t> delivers the message as is</a:t>
            </a:r>
            <a:endParaRPr lang="en-US" sz="2400" dirty="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9FC43BFD-8FF7-A343-A8A6-E2338FCE8046}" type="slidenum">
              <a:rPr lang="en-US" smtClean="0"/>
              <a:pPr/>
              <a:t>30</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grpSp>
        <p:nvGrpSpPr>
          <p:cNvPr id="12" name="Group 11"/>
          <p:cNvGrpSpPr/>
          <p:nvPr/>
        </p:nvGrpSpPr>
        <p:grpSpPr>
          <a:xfrm>
            <a:off x="827607" y="5736652"/>
            <a:ext cx="10257987" cy="338555"/>
            <a:chOff x="738409" y="3128330"/>
            <a:chExt cx="7693491" cy="253916"/>
          </a:xfrm>
        </p:grpSpPr>
        <p:sp>
          <p:nvSpPr>
            <p:cNvPr id="7" name="TextBox 6"/>
            <p:cNvSpPr txBox="1"/>
            <p:nvPr/>
          </p:nvSpPr>
          <p:spPr>
            <a:xfrm>
              <a:off x="738409" y="3128330"/>
              <a:ext cx="1249381" cy="253916"/>
            </a:xfrm>
            <a:prstGeom prst="rect">
              <a:avLst/>
            </a:prstGeom>
            <a:noFill/>
            <a:ln>
              <a:noFill/>
            </a:ln>
          </p:spPr>
          <p:txBody>
            <a:bodyPr wrap="none" rtlCol="0">
              <a:spAutoFit/>
            </a:bodyPr>
            <a:lstStyle/>
            <a:p>
              <a:r>
                <a:rPr lang="en-US" sz="1600" dirty="0">
                  <a:latin typeface="Lucida Console" panose="020B0609040504020204" pitchFamily="49" charset="0"/>
                  <a:cs typeface="Courier New" panose="02070309020205020404" pitchFamily="49" charset="0"/>
                </a:rPr>
                <a:t>Hello world!</a:t>
              </a:r>
              <a:endParaRPr lang="en-US" sz="1600" dirty="0">
                <a:latin typeface="Lucida Console" panose="020B0609040504020204" pitchFamily="49" charset="0"/>
              </a:endParaRPr>
            </a:p>
          </p:txBody>
        </p:sp>
        <p:sp>
          <p:nvSpPr>
            <p:cNvPr id="11" name="Rectangle 10"/>
            <p:cNvSpPr/>
            <p:nvPr/>
          </p:nvSpPr>
          <p:spPr>
            <a:xfrm>
              <a:off x="1947208" y="3128330"/>
              <a:ext cx="6484692" cy="253916"/>
            </a:xfrm>
            <a:prstGeom prst="rect">
              <a:avLst/>
            </a:prstGeom>
            <a:noFill/>
            <a:ln>
              <a:noFill/>
            </a:ln>
          </p:spPr>
          <p:txBody>
            <a:bodyPr wrap="square">
              <a:spAutoFit/>
            </a:bodyPr>
            <a:lstStyle/>
            <a:p>
              <a:r>
                <a:rPr lang="en-US" sz="1600" dirty="0">
                  <a:latin typeface="Lucida Console" panose="020B0609040504020204" pitchFamily="49" charset="0"/>
                  <a:cs typeface="Courier New" panose="02070309020205020404" pitchFamily="49" charset="0"/>
                </a:rPr>
                <a:t>{"orderId":10,"orderDate":"</a:t>
              </a:r>
              <a:r>
                <a:rPr lang="en-US" sz="1600" dirty="0" smtClean="0">
                  <a:solidFill>
                    <a:srgbClr val="000000"/>
                  </a:solidFill>
                  <a:latin typeface="Lucida Console" panose="020B0609040504020204" pitchFamily="49" charset="0"/>
                  <a:cs typeface="Courier New" panose="02070309020205020404" pitchFamily="49" charset="0"/>
                </a:rPr>
                <a:t>2020/03/29</a:t>
              </a:r>
              <a:r>
                <a:rPr lang="en-US" sz="1600" dirty="0" smtClean="0">
                  <a:latin typeface="Lucida Console" panose="020B0609040504020204" pitchFamily="49" charset="0"/>
                  <a:cs typeface="Courier New" panose="02070309020205020404" pitchFamily="49" charset="0"/>
                </a:rPr>
                <a:t>","</a:t>
              </a:r>
              <a:r>
                <a:rPr lang="en-US" sz="1600" dirty="0">
                  <a:latin typeface="Lucida Console" panose="020B0609040504020204" pitchFamily="49" charset="0"/>
                  <a:cs typeface="Courier New" panose="02070309020205020404" pitchFamily="49" charset="0"/>
                </a:rPr>
                <a:t>orderDetails":"Thermometer"}</a:t>
              </a:r>
            </a:p>
          </p:txBody>
        </p:sp>
      </p:grpSp>
    </p:spTree>
    <p:custDataLst>
      <p:tags r:id="rId1"/>
    </p:custDataLst>
    <p:extLst>
      <p:ext uri="{BB962C8B-B14F-4D97-AF65-F5344CB8AC3E}">
        <p14:creationId xmlns:p14="http://schemas.microsoft.com/office/powerpoint/2010/main" val="1070070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TextBox 66"/>
          <p:cNvSpPr txBox="1"/>
          <p:nvPr/>
        </p:nvSpPr>
        <p:spPr>
          <a:xfrm>
            <a:off x="1778689" y="2737020"/>
            <a:ext cx="1786373" cy="584775"/>
          </a:xfrm>
          <a:prstGeom prst="rect">
            <a:avLst/>
          </a:prstGeom>
          <a:noFill/>
        </p:spPr>
        <p:txBody>
          <a:bodyPr wrap="square" rtlCol="0">
            <a:spAutoFit/>
          </a:bodyPr>
          <a:lstStyle/>
          <a:p>
            <a:pPr algn="ctr"/>
            <a:r>
              <a:rPr lang="en-US" sz="1600" dirty="0" smtClean="0">
                <a:solidFill>
                  <a:srgbClr val="000000"/>
                </a:solidFill>
                <a:latin typeface="Amazon Ember Light" charset="0"/>
                <a:ea typeface="Amazon Ember Light" charset="0"/>
                <a:cs typeface="Amazon Ember Light" charset="0"/>
              </a:rPr>
              <a:t>Amazon S3 </a:t>
            </a:r>
            <a:r>
              <a:rPr lang="en-US" sz="1600" dirty="0">
                <a:solidFill>
                  <a:srgbClr val="000000"/>
                </a:solidFill>
                <a:latin typeface="Amazon Ember Light" charset="0"/>
                <a:ea typeface="Amazon Ember Light" charset="0"/>
                <a:cs typeface="Amazon Ember Light" charset="0"/>
              </a:rPr>
              <a:t>bucket</a:t>
            </a:r>
            <a:r>
              <a:rPr lang="en-US" sz="1600" dirty="0">
                <a:latin typeface="Amazon Ember Light" charset="0"/>
                <a:ea typeface="Amazon Ember Light" charset="0"/>
                <a:cs typeface="Amazon Ember Light" charset="0"/>
              </a:rPr>
              <a:t> For Ingest</a:t>
            </a:r>
          </a:p>
        </p:txBody>
      </p:sp>
      <p:sp>
        <p:nvSpPr>
          <p:cNvPr id="8" name="TextBox 7"/>
          <p:cNvSpPr txBox="1"/>
          <p:nvPr/>
        </p:nvSpPr>
        <p:spPr>
          <a:xfrm>
            <a:off x="245557" y="2633004"/>
            <a:ext cx="737200" cy="338554"/>
          </a:xfrm>
          <a:prstGeom prst="rect">
            <a:avLst/>
          </a:prstGeom>
          <a:noFill/>
        </p:spPr>
        <p:txBody>
          <a:bodyPr wrap="square" rtlCol="0">
            <a:spAutoFit/>
          </a:bodyPr>
          <a:lstStyle/>
          <a:p>
            <a:pPr algn="ctr"/>
            <a:r>
              <a:rPr lang="en-US" sz="1600" dirty="0">
                <a:solidFill>
                  <a:srgbClr val="000000"/>
                </a:solidFill>
                <a:latin typeface="Amazon Ember Light" charset="0"/>
                <a:ea typeface="Amazon Ember Light" charset="0"/>
                <a:cs typeface="Amazon Ember Light" charset="0"/>
              </a:rPr>
              <a:t>User</a:t>
            </a:r>
            <a:endParaRPr lang="en-US" sz="1600" dirty="0">
              <a:solidFill>
                <a:srgbClr val="000000"/>
              </a:solidFill>
              <a:latin typeface="Amazon Ember Light" panose="020B0403020204020204"/>
              <a:ea typeface="Amazon Ember Light" charset="0"/>
              <a:cs typeface="Amazon Ember Light" charset="0"/>
            </a:endParaRPr>
          </a:p>
        </p:txBody>
      </p:sp>
      <p:sp>
        <p:nvSpPr>
          <p:cNvPr id="65" name="TextBox 64"/>
          <p:cNvSpPr txBox="1"/>
          <p:nvPr/>
        </p:nvSpPr>
        <p:spPr>
          <a:xfrm>
            <a:off x="1966935" y="5647614"/>
            <a:ext cx="1409880" cy="584775"/>
          </a:xfrm>
          <a:prstGeom prst="rect">
            <a:avLst/>
          </a:prstGeom>
          <a:noFill/>
        </p:spPr>
        <p:txBody>
          <a:bodyPr wrap="square" rtlCol="0">
            <a:spAutoFit/>
          </a:bodyPr>
          <a:lstStyle/>
          <a:p>
            <a:pPr algn="ctr"/>
            <a:r>
              <a:rPr lang="en-US" sz="1600" dirty="0" smtClean="0">
                <a:solidFill>
                  <a:srgbClr val="000000"/>
                </a:solidFill>
                <a:latin typeface="Amazon Ember Light" charset="0"/>
                <a:ea typeface="Amazon Ember Light" charset="0"/>
                <a:cs typeface="Amazon Ember Light" charset="0"/>
              </a:rPr>
              <a:t>Amazon SNS </a:t>
            </a:r>
            <a:r>
              <a:rPr lang="en-US" sz="1600" dirty="0">
                <a:solidFill>
                  <a:srgbClr val="000000"/>
                </a:solidFill>
                <a:latin typeface="Amazon Ember Light" charset="0"/>
                <a:ea typeface="Amazon Ember Light" charset="0"/>
                <a:cs typeface="Amazon Ember Light" charset="0"/>
              </a:rPr>
              <a:t>topic</a:t>
            </a:r>
            <a:endParaRPr lang="en-US" sz="1600" dirty="0">
              <a:solidFill>
                <a:srgbClr val="000000"/>
              </a:solidFill>
              <a:latin typeface="Amazon Ember Light" panose="020B0403020204020204"/>
              <a:ea typeface="Amazon Ember Light" charset="0"/>
              <a:cs typeface="Amazon Ember Light" charset="0"/>
            </a:endParaRPr>
          </a:p>
        </p:txBody>
      </p:sp>
      <p:cxnSp>
        <p:nvCxnSpPr>
          <p:cNvPr id="10" name="Straight Arrow Connector 9"/>
          <p:cNvCxnSpPr>
            <a:stCxn id="43" idx="3"/>
          </p:cNvCxnSpPr>
          <p:nvPr/>
        </p:nvCxnSpPr>
        <p:spPr>
          <a:xfrm>
            <a:off x="957057" y="2296967"/>
            <a:ext cx="1416987" cy="0"/>
          </a:xfrm>
          <a:prstGeom prst="straightConnector1">
            <a:avLst/>
          </a:prstGeom>
          <a:ln w="12700">
            <a:solidFill>
              <a:schemeClr val="tx1">
                <a:lumMod val="50000"/>
                <a:lumOff val="50000"/>
              </a:schemeClr>
            </a:solidFill>
            <a:tailEnd type="arrow" w="med" len="sm"/>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a:stCxn id="67" idx="2"/>
            <a:endCxn id="45" idx="0"/>
          </p:cNvCxnSpPr>
          <p:nvPr/>
        </p:nvCxnSpPr>
        <p:spPr>
          <a:xfrm flipH="1">
            <a:off x="2671875" y="3321795"/>
            <a:ext cx="1" cy="1450085"/>
          </a:xfrm>
          <a:prstGeom prst="straightConnector1">
            <a:avLst/>
          </a:prstGeom>
          <a:ln w="12700">
            <a:solidFill>
              <a:schemeClr val="tx1">
                <a:lumMod val="50000"/>
                <a:lumOff val="50000"/>
              </a:schemeClr>
            </a:solidFill>
            <a:tailEnd type="arrow" w="med" len="sm"/>
          </a:ln>
        </p:spPr>
        <p:style>
          <a:lnRef idx="2">
            <a:schemeClr val="accent1"/>
          </a:lnRef>
          <a:fillRef idx="0">
            <a:schemeClr val="accent1"/>
          </a:fillRef>
          <a:effectRef idx="1">
            <a:schemeClr val="accent1"/>
          </a:effectRef>
          <a:fontRef idx="minor">
            <a:schemeClr val="tx1"/>
          </a:fontRef>
        </p:style>
      </p:cxnSp>
      <p:sp>
        <p:nvSpPr>
          <p:cNvPr id="58" name="Title 1"/>
          <p:cNvSpPr>
            <a:spLocks noGrp="1"/>
          </p:cNvSpPr>
          <p:nvPr>
            <p:ph type="title"/>
          </p:nvPr>
        </p:nvSpPr>
        <p:spPr/>
        <p:txBody>
          <a:bodyPr>
            <a:noAutofit/>
          </a:bodyPr>
          <a:lstStyle/>
          <a:p>
            <a:r>
              <a:rPr lang="en-US" dirty="0"/>
              <a:t>Scenario: Image processing</a:t>
            </a:r>
          </a:p>
        </p:txBody>
      </p:sp>
      <p:sp>
        <p:nvSpPr>
          <p:cNvPr id="2" name="Slide Number Placeholder 1"/>
          <p:cNvSpPr>
            <a:spLocks noGrp="1"/>
          </p:cNvSpPr>
          <p:nvPr>
            <p:ph type="sldNum" sz="quarter" idx="12"/>
          </p:nvPr>
        </p:nvSpPr>
        <p:spPr/>
        <p:txBody>
          <a:bodyPr/>
          <a:lstStyle/>
          <a:p>
            <a:fld id="{9FC43BFD-8FF7-A343-A8A6-E2338FCE8046}" type="slidenum">
              <a:rPr lang="en-US" smtClean="0"/>
              <a:pPr/>
              <a:t>31</a:t>
            </a:fld>
            <a:endParaRPr lang="en-US" dirty="0"/>
          </a:p>
        </p:txBody>
      </p:sp>
      <p:sp>
        <p:nvSpPr>
          <p:cNvPr id="49" name="TextBox 48"/>
          <p:cNvSpPr txBox="1"/>
          <p:nvPr/>
        </p:nvSpPr>
        <p:spPr>
          <a:xfrm>
            <a:off x="9563952" y="2659731"/>
            <a:ext cx="1786373" cy="584775"/>
          </a:xfrm>
          <a:prstGeom prst="rect">
            <a:avLst/>
          </a:prstGeom>
          <a:noFill/>
        </p:spPr>
        <p:txBody>
          <a:bodyPr wrap="square" rtlCol="0">
            <a:spAutoFit/>
          </a:bodyPr>
          <a:lstStyle/>
          <a:p>
            <a:pPr algn="ctr"/>
            <a:r>
              <a:rPr lang="en-US" sz="1600" dirty="0">
                <a:latin typeface="Amazon Ember Light" charset="0"/>
                <a:ea typeface="Amazon Ember Light" charset="0"/>
                <a:cs typeface="Amazon Ember Light" charset="0"/>
              </a:rPr>
              <a:t>Destination </a:t>
            </a:r>
            <a:r>
              <a:rPr lang="en-US" sz="1600" dirty="0">
                <a:solidFill>
                  <a:srgbClr val="000000"/>
                </a:solidFill>
                <a:latin typeface="Amazon Ember Light" charset="0"/>
                <a:ea typeface="Amazon Ember Light" charset="0"/>
                <a:cs typeface="Amazon Ember Light" charset="0"/>
              </a:rPr>
              <a:t>S3 Bucket</a:t>
            </a:r>
            <a:endParaRPr lang="en-US" sz="1600" dirty="0">
              <a:solidFill>
                <a:srgbClr val="000000"/>
              </a:solidFill>
              <a:latin typeface="Amazon Ember Light" panose="020B0403020204020204"/>
              <a:ea typeface="Amazon Ember Light" charset="0"/>
              <a:cs typeface="Amazon Ember Light" charset="0"/>
            </a:endParaRPr>
          </a:p>
        </p:txBody>
      </p:sp>
      <p:grpSp>
        <p:nvGrpSpPr>
          <p:cNvPr id="4" name="Group 3"/>
          <p:cNvGrpSpPr/>
          <p:nvPr/>
        </p:nvGrpSpPr>
        <p:grpSpPr>
          <a:xfrm>
            <a:off x="3200633" y="1999185"/>
            <a:ext cx="961183" cy="833634"/>
            <a:chOff x="4242324" y="1912568"/>
            <a:chExt cx="961183" cy="833634"/>
          </a:xfrm>
        </p:grpSpPr>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9495" y="2185366"/>
              <a:ext cx="544012" cy="560836"/>
            </a:xfrm>
            <a:prstGeom prst="rect">
              <a:avLst/>
            </a:prstGeom>
          </p:spPr>
        </p:pic>
        <p:pic>
          <p:nvPicPr>
            <p:cNvPr id="33" name="Picture 3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6368" y="2089173"/>
              <a:ext cx="544012" cy="560836"/>
            </a:xfrm>
            <a:prstGeom prst="rect">
              <a:avLst/>
            </a:prstGeom>
          </p:spPr>
        </p:pic>
        <p:pic>
          <p:nvPicPr>
            <p:cNvPr id="34" name="Picture 3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02778" y="1992115"/>
              <a:ext cx="544012" cy="560836"/>
            </a:xfrm>
            <a:prstGeom prst="rect">
              <a:avLst/>
            </a:prstGeom>
          </p:spPr>
        </p:pic>
        <p:pic>
          <p:nvPicPr>
            <p:cNvPr id="35" name="Picture 3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42324" y="1912568"/>
              <a:ext cx="544012" cy="560836"/>
            </a:xfrm>
            <a:prstGeom prst="rect">
              <a:avLst/>
            </a:prstGeom>
          </p:spPr>
        </p:pic>
      </p:grpSp>
      <p:grpSp>
        <p:nvGrpSpPr>
          <p:cNvPr id="37" name="Group 36"/>
          <p:cNvGrpSpPr/>
          <p:nvPr/>
        </p:nvGrpSpPr>
        <p:grpSpPr>
          <a:xfrm>
            <a:off x="10979933" y="2139567"/>
            <a:ext cx="447750" cy="388334"/>
            <a:chOff x="4242324" y="1912568"/>
            <a:chExt cx="961183" cy="833634"/>
          </a:xfrm>
        </p:grpSpPr>
        <p:pic>
          <p:nvPicPr>
            <p:cNvPr id="38" name="Picture 3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9495" y="2185366"/>
              <a:ext cx="544012" cy="560836"/>
            </a:xfrm>
            <a:prstGeom prst="rect">
              <a:avLst/>
            </a:prstGeom>
          </p:spPr>
        </p:pic>
        <p:pic>
          <p:nvPicPr>
            <p:cNvPr id="39" name="Picture 3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6368" y="2089173"/>
              <a:ext cx="544012" cy="560836"/>
            </a:xfrm>
            <a:prstGeom prst="rect">
              <a:avLst/>
            </a:prstGeom>
          </p:spPr>
        </p:pic>
        <p:pic>
          <p:nvPicPr>
            <p:cNvPr id="40" name="Picture 3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02778" y="1992115"/>
              <a:ext cx="544012" cy="560836"/>
            </a:xfrm>
            <a:prstGeom prst="rect">
              <a:avLst/>
            </a:prstGeom>
          </p:spPr>
        </p:pic>
        <p:pic>
          <p:nvPicPr>
            <p:cNvPr id="41" name="Picture 4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42324" y="1912568"/>
              <a:ext cx="544012" cy="560836"/>
            </a:xfrm>
            <a:prstGeom prst="rect">
              <a:avLst/>
            </a:prstGeom>
          </p:spPr>
        </p:pic>
      </p:gr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pic>
        <p:nvPicPr>
          <p:cNvPr id="43" name="Graphic 39">
            <a:extLst>
              <a:ext uri="{FF2B5EF4-FFF2-40B4-BE49-F238E27FC236}">
                <a16:creationId xmlns:a16="http://schemas.microsoft.com/office/drawing/2014/main" id="{6FA71975-EA2D-784E-8A28-738A17320E91}"/>
              </a:ext>
            </a:extLst>
          </p:cNvPr>
          <p:cNvPicPr>
            <a:picLocks noChangeAspect="1"/>
          </p:cNvPicPr>
          <p:nvPr/>
        </p:nvPicPr>
        <p:blipFill>
          <a:blip r:embed="rId5"/>
          <a:stretch>
            <a:fillRect/>
          </a:stretch>
        </p:blipFill>
        <p:spPr>
          <a:xfrm>
            <a:off x="271257" y="1954067"/>
            <a:ext cx="685800" cy="685800"/>
          </a:xfrm>
          <a:prstGeom prst="rect">
            <a:avLst/>
          </a:prstGeom>
        </p:spPr>
      </p:pic>
      <p:pic>
        <p:nvPicPr>
          <p:cNvPr id="44" name="Graphic 68">
            <a:extLst>
              <a:ext uri="{FF2B5EF4-FFF2-40B4-BE49-F238E27FC236}">
                <a16:creationId xmlns:a16="http://schemas.microsoft.com/office/drawing/2014/main" id="{1BC192AB-8D67-7746-A2C0-E289C568EA2D}"/>
              </a:ext>
            </a:extLst>
          </p:cNvPr>
          <p:cNvPicPr>
            <a:picLocks noChangeAspect="1"/>
          </p:cNvPicPr>
          <p:nvPr/>
        </p:nvPicPr>
        <p:blipFill>
          <a:blip r:embed="rId6"/>
          <a:stretch>
            <a:fillRect/>
          </a:stretch>
        </p:blipFill>
        <p:spPr>
          <a:xfrm>
            <a:off x="2328975" y="2015569"/>
            <a:ext cx="685800" cy="685800"/>
          </a:xfrm>
          <a:prstGeom prst="rect">
            <a:avLst/>
          </a:prstGeom>
        </p:spPr>
      </p:pic>
      <p:pic>
        <p:nvPicPr>
          <p:cNvPr id="45" name="Graphic 31">
            <a:extLst>
              <a:ext uri="{FF2B5EF4-FFF2-40B4-BE49-F238E27FC236}">
                <a16:creationId xmlns:a16="http://schemas.microsoft.com/office/drawing/2014/main" id="{075C7C7E-0733-F14B-BBD3-48FCFF6D5EA5}"/>
              </a:ext>
            </a:extLst>
          </p:cNvPr>
          <p:cNvPicPr>
            <a:picLocks noChangeAspect="1"/>
          </p:cNvPicPr>
          <p:nvPr/>
        </p:nvPicPr>
        <p:blipFill>
          <a:blip r:embed="rId7"/>
          <a:stretch>
            <a:fillRect/>
          </a:stretch>
        </p:blipFill>
        <p:spPr>
          <a:xfrm>
            <a:off x="2214675" y="4771880"/>
            <a:ext cx="914400" cy="914400"/>
          </a:xfrm>
          <a:prstGeom prst="rect">
            <a:avLst/>
          </a:prstGeom>
        </p:spPr>
      </p:pic>
      <p:sp>
        <p:nvSpPr>
          <p:cNvPr id="57" name="TextBox 56"/>
          <p:cNvSpPr txBox="1"/>
          <p:nvPr/>
        </p:nvSpPr>
        <p:spPr>
          <a:xfrm>
            <a:off x="5393693" y="2333734"/>
            <a:ext cx="1905120" cy="830997"/>
          </a:xfrm>
          <a:prstGeom prst="rect">
            <a:avLst/>
          </a:prstGeom>
          <a:noFill/>
        </p:spPr>
        <p:txBody>
          <a:bodyPr wrap="square" rtlCol="0">
            <a:spAutoFit/>
          </a:bodyPr>
          <a:lstStyle/>
          <a:p>
            <a:pPr algn="ctr"/>
            <a:r>
              <a:rPr lang="en-US" sz="1600" dirty="0" smtClean="0">
                <a:solidFill>
                  <a:srgbClr val="000000"/>
                </a:solidFill>
                <a:latin typeface="Amazon Ember Light" charset="0"/>
                <a:ea typeface="Amazon Ember Light" charset="0"/>
                <a:cs typeface="Amazon Ember Light" charset="0"/>
              </a:rPr>
              <a:t>Amazon SQS queue</a:t>
            </a:r>
            <a:r>
              <a:rPr lang="en-US" sz="1600" dirty="0">
                <a:solidFill>
                  <a:srgbClr val="000000"/>
                </a:solidFill>
                <a:latin typeface="Amazon Ember Light" panose="020B0403020204020204"/>
                <a:ea typeface="Amazon Ember Light" charset="0"/>
                <a:cs typeface="Amazon Ember Light" charset="0"/>
              </a:rPr>
              <a:t> </a:t>
            </a:r>
            <a:r>
              <a:rPr lang="en-US" sz="1600" dirty="0" smtClean="0">
                <a:latin typeface="Amazon Ember Light" charset="0"/>
                <a:ea typeface="Amazon Ember Light" charset="0"/>
                <a:cs typeface="Amazon Ember Light" charset="0"/>
              </a:rPr>
              <a:t>generate </a:t>
            </a:r>
            <a:r>
              <a:rPr lang="en-US" sz="1600" dirty="0">
                <a:solidFill>
                  <a:srgbClr val="000000"/>
                </a:solidFill>
                <a:latin typeface="Amazon Ember Light" charset="0"/>
                <a:ea typeface="Amazon Ember Light" charset="0"/>
                <a:cs typeface="Amazon Ember Light" charset="0"/>
              </a:rPr>
              <a:t>thumbnail</a:t>
            </a:r>
            <a:endParaRPr lang="en-US" sz="1600" dirty="0">
              <a:solidFill>
                <a:srgbClr val="000000"/>
              </a:solidFill>
              <a:latin typeface="&lt;acro1227"/>
              <a:ea typeface="Amazon Ember Light" charset="0"/>
              <a:cs typeface="Amazon Ember Light" charset="0"/>
            </a:endParaRPr>
          </a:p>
        </p:txBody>
      </p:sp>
      <p:pic>
        <p:nvPicPr>
          <p:cNvPr id="46" name="Graphic 39">
            <a:extLst>
              <a:ext uri="{FF2B5EF4-FFF2-40B4-BE49-F238E27FC236}">
                <a16:creationId xmlns:a16="http://schemas.microsoft.com/office/drawing/2014/main" id="{2ACAD885-5F52-504F-842D-3D87E199BD5D}"/>
              </a:ext>
            </a:extLst>
          </p:cNvPr>
          <p:cNvPicPr>
            <a:picLocks noChangeAspect="1"/>
          </p:cNvPicPr>
          <p:nvPr/>
        </p:nvPicPr>
        <p:blipFill>
          <a:blip r:embed="rId8"/>
          <a:stretch>
            <a:fillRect/>
          </a:stretch>
        </p:blipFill>
        <p:spPr>
          <a:xfrm>
            <a:off x="5889053" y="1560564"/>
            <a:ext cx="914400" cy="914400"/>
          </a:xfrm>
          <a:prstGeom prst="rect">
            <a:avLst/>
          </a:prstGeom>
        </p:spPr>
      </p:pic>
      <p:sp>
        <p:nvSpPr>
          <p:cNvPr id="55" name="TextBox 54"/>
          <p:cNvSpPr txBox="1"/>
          <p:nvPr/>
        </p:nvSpPr>
        <p:spPr>
          <a:xfrm>
            <a:off x="5331443" y="3923162"/>
            <a:ext cx="2029620" cy="830997"/>
          </a:xfrm>
          <a:prstGeom prst="rect">
            <a:avLst/>
          </a:prstGeom>
          <a:noFill/>
        </p:spPr>
        <p:txBody>
          <a:bodyPr wrap="square" rtlCol="0">
            <a:spAutoFit/>
          </a:bodyPr>
          <a:lstStyle/>
          <a:p>
            <a:pPr algn="ctr"/>
            <a:r>
              <a:rPr lang="en-US" sz="1600" dirty="0">
                <a:solidFill>
                  <a:srgbClr val="000000"/>
                </a:solidFill>
                <a:latin typeface="Amazon Ember Light" charset="0"/>
                <a:ea typeface="Amazon Ember Light" charset="0"/>
                <a:cs typeface="Amazon Ember Light" charset="0"/>
              </a:rPr>
              <a:t>Amazon </a:t>
            </a:r>
            <a:r>
              <a:rPr lang="en-US" sz="1600" dirty="0" smtClean="0">
                <a:solidFill>
                  <a:srgbClr val="000000"/>
                </a:solidFill>
                <a:latin typeface="Amazon Ember Light" charset="0"/>
                <a:ea typeface="Amazon Ember Light" charset="0"/>
                <a:cs typeface="Amazon Ember Light" charset="0"/>
              </a:rPr>
              <a:t>SQS</a:t>
            </a:r>
            <a:br>
              <a:rPr lang="en-US" sz="1600" dirty="0" smtClean="0">
                <a:solidFill>
                  <a:srgbClr val="000000"/>
                </a:solidFill>
                <a:latin typeface="Amazon Ember Light" charset="0"/>
                <a:ea typeface="Amazon Ember Light" charset="0"/>
                <a:cs typeface="Amazon Ember Light" charset="0"/>
              </a:rPr>
            </a:br>
            <a:r>
              <a:rPr lang="en-US" sz="1600" dirty="0" smtClean="0">
                <a:solidFill>
                  <a:srgbClr val="000000"/>
                </a:solidFill>
                <a:latin typeface="Amazon Ember Light" charset="0"/>
                <a:ea typeface="Amazon Ember Light" charset="0"/>
                <a:cs typeface="Amazon Ember Light" charset="0"/>
              </a:rPr>
              <a:t>Queue</a:t>
            </a:r>
            <a:r>
              <a:rPr lang="en-US" sz="1600" dirty="0">
                <a:solidFill>
                  <a:srgbClr val="000000"/>
                </a:solidFill>
                <a:latin typeface="Amazon Ember Light" panose="020B0403020204020204"/>
                <a:ea typeface="Amazon Ember Light" charset="0"/>
                <a:cs typeface="Amazon Ember Light" charset="0"/>
              </a:rPr>
              <a:t> </a:t>
            </a:r>
            <a:r>
              <a:rPr lang="en-US" sz="1600" dirty="0" smtClean="0">
                <a:latin typeface="Amazon Ember Light" charset="0"/>
                <a:ea typeface="Amazon Ember Light" charset="0"/>
                <a:cs typeface="Amazon Ember Light" charset="0"/>
              </a:rPr>
              <a:t>size </a:t>
            </a:r>
            <a:r>
              <a:rPr lang="en-US" sz="1600" dirty="0">
                <a:solidFill>
                  <a:srgbClr val="000000"/>
                </a:solidFill>
                <a:latin typeface="Amazon Ember Light" charset="0"/>
                <a:ea typeface="Amazon Ember Light" charset="0"/>
                <a:cs typeface="Amazon Ember Light" charset="0"/>
              </a:rPr>
              <a:t>image</a:t>
            </a:r>
            <a:r>
              <a:rPr lang="en-US" sz="1600" dirty="0">
                <a:latin typeface="Amazon Ember Light" charset="0"/>
                <a:ea typeface="Amazon Ember Light" charset="0"/>
                <a:cs typeface="Amazon Ember Light" charset="0"/>
              </a:rPr>
              <a:t/>
            </a:r>
            <a:br>
              <a:rPr lang="en-US" sz="1600" dirty="0">
                <a:latin typeface="Amazon Ember Light" charset="0"/>
                <a:ea typeface="Amazon Ember Light" charset="0"/>
                <a:cs typeface="Amazon Ember Light" charset="0"/>
              </a:rPr>
            </a:br>
            <a:r>
              <a:rPr lang="en-US" sz="1600" dirty="0">
                <a:latin typeface="Amazon Ember Light" charset="0"/>
                <a:ea typeface="Amazon Ember Light" charset="0"/>
                <a:cs typeface="Amazon Ember Light" charset="0"/>
              </a:rPr>
              <a:t>for mobile</a:t>
            </a:r>
          </a:p>
        </p:txBody>
      </p:sp>
      <p:pic>
        <p:nvPicPr>
          <p:cNvPr id="48" name="Graphic 39">
            <a:extLst>
              <a:ext uri="{FF2B5EF4-FFF2-40B4-BE49-F238E27FC236}">
                <a16:creationId xmlns:a16="http://schemas.microsoft.com/office/drawing/2014/main" id="{2ACAD885-5F52-504F-842D-3D87E199BD5D}"/>
              </a:ext>
            </a:extLst>
          </p:cNvPr>
          <p:cNvPicPr>
            <a:picLocks noChangeAspect="1"/>
          </p:cNvPicPr>
          <p:nvPr/>
        </p:nvPicPr>
        <p:blipFill>
          <a:blip r:embed="rId8"/>
          <a:stretch>
            <a:fillRect/>
          </a:stretch>
        </p:blipFill>
        <p:spPr>
          <a:xfrm>
            <a:off x="5889053" y="3197116"/>
            <a:ext cx="914400" cy="914400"/>
          </a:xfrm>
          <a:prstGeom prst="rect">
            <a:avLst/>
          </a:prstGeom>
        </p:spPr>
      </p:pic>
      <p:sp>
        <p:nvSpPr>
          <p:cNvPr id="53" name="TextBox 52"/>
          <p:cNvSpPr txBox="1"/>
          <p:nvPr/>
        </p:nvSpPr>
        <p:spPr>
          <a:xfrm>
            <a:off x="5254821" y="5516889"/>
            <a:ext cx="2182864" cy="830997"/>
          </a:xfrm>
          <a:prstGeom prst="rect">
            <a:avLst/>
          </a:prstGeom>
          <a:noFill/>
        </p:spPr>
        <p:txBody>
          <a:bodyPr wrap="square" rtlCol="0">
            <a:spAutoFit/>
          </a:bodyPr>
          <a:lstStyle/>
          <a:p>
            <a:pPr algn="ctr"/>
            <a:r>
              <a:rPr lang="en-US" sz="1600" dirty="0">
                <a:solidFill>
                  <a:srgbClr val="000000"/>
                </a:solidFill>
                <a:latin typeface="Amazon Ember Light" charset="0"/>
                <a:ea typeface="Amazon Ember Light" charset="0"/>
                <a:cs typeface="Amazon Ember Light" charset="0"/>
              </a:rPr>
              <a:t>Amazon SQS </a:t>
            </a:r>
            <a:r>
              <a:rPr lang="en-US" sz="1600" dirty="0" smtClean="0">
                <a:solidFill>
                  <a:srgbClr val="000000"/>
                </a:solidFill>
                <a:latin typeface="Amazon Ember Light" charset="0"/>
                <a:ea typeface="Amazon Ember Light" charset="0"/>
                <a:cs typeface="Amazon Ember Light" charset="0"/>
              </a:rPr>
              <a:t/>
            </a:r>
            <a:br>
              <a:rPr lang="en-US" sz="1600" dirty="0" smtClean="0">
                <a:solidFill>
                  <a:srgbClr val="000000"/>
                </a:solidFill>
                <a:latin typeface="Amazon Ember Light" charset="0"/>
                <a:ea typeface="Amazon Ember Light" charset="0"/>
                <a:cs typeface="Amazon Ember Light" charset="0"/>
              </a:rPr>
            </a:br>
            <a:r>
              <a:rPr lang="en-US" sz="1600" dirty="0" smtClean="0">
                <a:solidFill>
                  <a:srgbClr val="000000"/>
                </a:solidFill>
                <a:latin typeface="Amazon Ember Light" charset="0"/>
                <a:ea typeface="Amazon Ember Light" charset="0"/>
                <a:cs typeface="Amazon Ember Light" charset="0"/>
              </a:rPr>
              <a:t>Queue </a:t>
            </a:r>
            <a:r>
              <a:rPr lang="en-US" sz="1600" dirty="0" smtClean="0">
                <a:solidFill>
                  <a:srgbClr val="000000"/>
                </a:solidFill>
                <a:latin typeface="Amazon Ember Light" panose="020B0403020204020204"/>
                <a:ea typeface="Amazon Ember Light" charset="0"/>
                <a:cs typeface="Amazon Ember Light" charset="0"/>
              </a:rPr>
              <a:t>s</a:t>
            </a:r>
            <a:r>
              <a:rPr lang="en-US" sz="1600" dirty="0" smtClean="0">
                <a:latin typeface="Amazon Ember Light" charset="0"/>
                <a:ea typeface="Amazon Ember Light" charset="0"/>
                <a:cs typeface="Amazon Ember Light" charset="0"/>
              </a:rPr>
              <a:t>ize </a:t>
            </a:r>
            <a:r>
              <a:rPr lang="en-US" sz="1600" dirty="0">
                <a:latin typeface="Amazon Ember Light" charset="0"/>
                <a:ea typeface="Amazon Ember Light" charset="0"/>
                <a:cs typeface="Amazon Ember Light" charset="0"/>
              </a:rPr>
              <a:t>i</a:t>
            </a:r>
            <a:r>
              <a:rPr lang="en-US" sz="1600" dirty="0">
                <a:solidFill>
                  <a:srgbClr val="000000"/>
                </a:solidFill>
                <a:latin typeface="Amazon Ember Light" charset="0"/>
                <a:ea typeface="Amazon Ember Light" charset="0"/>
                <a:cs typeface="Amazon Ember Light" charset="0"/>
              </a:rPr>
              <a:t>mage</a:t>
            </a:r>
            <a:r>
              <a:rPr lang="en-US" sz="1600" dirty="0">
                <a:latin typeface="Amazon Ember Light" charset="0"/>
                <a:ea typeface="Amazon Ember Light" charset="0"/>
                <a:cs typeface="Amazon Ember Light" charset="0"/>
              </a:rPr>
              <a:t/>
            </a:r>
            <a:br>
              <a:rPr lang="en-US" sz="1600" dirty="0">
                <a:latin typeface="Amazon Ember Light" charset="0"/>
                <a:ea typeface="Amazon Ember Light" charset="0"/>
                <a:cs typeface="Amazon Ember Light" charset="0"/>
              </a:rPr>
            </a:br>
            <a:r>
              <a:rPr lang="en-US" sz="1600" dirty="0">
                <a:latin typeface="Amazon Ember Light" charset="0"/>
                <a:ea typeface="Amazon Ember Light" charset="0"/>
                <a:cs typeface="Amazon Ember Light" charset="0"/>
              </a:rPr>
              <a:t>for w</a:t>
            </a:r>
            <a:r>
              <a:rPr lang="en-US" sz="1600" dirty="0">
                <a:solidFill>
                  <a:srgbClr val="000000"/>
                </a:solidFill>
                <a:latin typeface="Amazon Ember Light" charset="0"/>
                <a:ea typeface="Amazon Ember Light" charset="0"/>
                <a:cs typeface="Amazon Ember Light" charset="0"/>
              </a:rPr>
              <a:t>eb</a:t>
            </a:r>
            <a:endParaRPr lang="en-US" sz="1600" dirty="0">
              <a:solidFill>
                <a:srgbClr val="000000"/>
              </a:solidFill>
              <a:latin typeface="Amazon Ember Light" panose="020B0403020204020204"/>
              <a:ea typeface="Amazon Ember Light" charset="0"/>
              <a:cs typeface="Amazon Ember Light" charset="0"/>
            </a:endParaRPr>
          </a:p>
        </p:txBody>
      </p:sp>
      <p:pic>
        <p:nvPicPr>
          <p:cNvPr id="51" name="Graphic 39">
            <a:extLst>
              <a:ext uri="{FF2B5EF4-FFF2-40B4-BE49-F238E27FC236}">
                <a16:creationId xmlns:a16="http://schemas.microsoft.com/office/drawing/2014/main" id="{2ACAD885-5F52-504F-842D-3D87E199BD5D}"/>
              </a:ext>
            </a:extLst>
          </p:cNvPr>
          <p:cNvPicPr>
            <a:picLocks noChangeAspect="1"/>
          </p:cNvPicPr>
          <p:nvPr/>
        </p:nvPicPr>
        <p:blipFill>
          <a:blip r:embed="rId8"/>
          <a:stretch>
            <a:fillRect/>
          </a:stretch>
        </p:blipFill>
        <p:spPr>
          <a:xfrm>
            <a:off x="5889053" y="4766919"/>
            <a:ext cx="914400" cy="914400"/>
          </a:xfrm>
          <a:prstGeom prst="rect">
            <a:avLst/>
          </a:prstGeom>
        </p:spPr>
      </p:pic>
      <p:pic>
        <p:nvPicPr>
          <p:cNvPr id="59" name="Graphic 42">
            <a:extLst>
              <a:ext uri="{FF2B5EF4-FFF2-40B4-BE49-F238E27FC236}">
                <a16:creationId xmlns:a16="http://schemas.microsoft.com/office/drawing/2014/main" id="{4130D902-988A-C441-B94E-F5D6D001FFBA}"/>
              </a:ext>
            </a:extLst>
          </p:cNvPr>
          <p:cNvPicPr>
            <a:picLocks noChangeAspect="1"/>
          </p:cNvPicPr>
          <p:nvPr/>
        </p:nvPicPr>
        <p:blipFill>
          <a:blip r:embed="rId9"/>
          <a:stretch>
            <a:fillRect/>
          </a:stretch>
        </p:blipFill>
        <p:spPr>
          <a:xfrm>
            <a:off x="7855192" y="1560564"/>
            <a:ext cx="914400" cy="914400"/>
          </a:xfrm>
          <a:prstGeom prst="rect">
            <a:avLst/>
          </a:prstGeom>
        </p:spPr>
      </p:pic>
      <p:pic>
        <p:nvPicPr>
          <p:cNvPr id="60" name="Graphic 42">
            <a:extLst>
              <a:ext uri="{FF2B5EF4-FFF2-40B4-BE49-F238E27FC236}">
                <a16:creationId xmlns:a16="http://schemas.microsoft.com/office/drawing/2014/main" id="{4130D902-988A-C441-B94E-F5D6D001FFBA}"/>
              </a:ext>
            </a:extLst>
          </p:cNvPr>
          <p:cNvPicPr>
            <a:picLocks noChangeAspect="1"/>
          </p:cNvPicPr>
          <p:nvPr/>
        </p:nvPicPr>
        <p:blipFill>
          <a:blip r:embed="rId9"/>
          <a:stretch>
            <a:fillRect/>
          </a:stretch>
        </p:blipFill>
        <p:spPr>
          <a:xfrm>
            <a:off x="7855192" y="3197116"/>
            <a:ext cx="914400" cy="914400"/>
          </a:xfrm>
          <a:prstGeom prst="rect">
            <a:avLst/>
          </a:prstGeom>
        </p:spPr>
      </p:pic>
      <p:pic>
        <p:nvPicPr>
          <p:cNvPr id="61" name="Graphic 42">
            <a:extLst>
              <a:ext uri="{FF2B5EF4-FFF2-40B4-BE49-F238E27FC236}">
                <a16:creationId xmlns:a16="http://schemas.microsoft.com/office/drawing/2014/main" id="{4130D902-988A-C441-B94E-F5D6D001FFBA}"/>
              </a:ext>
            </a:extLst>
          </p:cNvPr>
          <p:cNvPicPr>
            <a:picLocks noChangeAspect="1"/>
          </p:cNvPicPr>
          <p:nvPr/>
        </p:nvPicPr>
        <p:blipFill>
          <a:blip r:embed="rId9"/>
          <a:stretch>
            <a:fillRect/>
          </a:stretch>
        </p:blipFill>
        <p:spPr>
          <a:xfrm>
            <a:off x="7855192" y="4766919"/>
            <a:ext cx="914400" cy="914400"/>
          </a:xfrm>
          <a:prstGeom prst="rect">
            <a:avLst/>
          </a:prstGeom>
        </p:spPr>
      </p:pic>
      <p:pic>
        <p:nvPicPr>
          <p:cNvPr id="62" name="Graphic 68">
            <a:extLst>
              <a:ext uri="{FF2B5EF4-FFF2-40B4-BE49-F238E27FC236}">
                <a16:creationId xmlns:a16="http://schemas.microsoft.com/office/drawing/2014/main" id="{1BC192AB-8D67-7746-A2C0-E289C568EA2D}"/>
              </a:ext>
            </a:extLst>
          </p:cNvPr>
          <p:cNvPicPr>
            <a:picLocks noChangeAspect="1"/>
          </p:cNvPicPr>
          <p:nvPr/>
        </p:nvPicPr>
        <p:blipFill>
          <a:blip r:embed="rId6"/>
          <a:stretch>
            <a:fillRect/>
          </a:stretch>
        </p:blipFill>
        <p:spPr>
          <a:xfrm>
            <a:off x="10124502" y="1958219"/>
            <a:ext cx="685800" cy="685800"/>
          </a:xfrm>
          <a:prstGeom prst="rect">
            <a:avLst/>
          </a:prstGeom>
        </p:spPr>
      </p:pic>
      <p:sp>
        <p:nvSpPr>
          <p:cNvPr id="63" name="Rectangle 62">
            <a:extLst>
              <a:ext uri="{FF2B5EF4-FFF2-40B4-BE49-F238E27FC236}">
                <a16:creationId xmlns:a16="http://schemas.microsoft.com/office/drawing/2014/main" id="{CE7F7081-419C-2E4F-A999-2923C4338FC0}"/>
              </a:ext>
            </a:extLst>
          </p:cNvPr>
          <p:cNvSpPr/>
          <p:nvPr/>
        </p:nvSpPr>
        <p:spPr>
          <a:xfrm>
            <a:off x="1590478" y="1439934"/>
            <a:ext cx="10269397" cy="488076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AWS Cloud</a:t>
            </a:r>
          </a:p>
        </p:txBody>
      </p:sp>
      <p:pic>
        <p:nvPicPr>
          <p:cNvPr id="64" name="Graphic 11">
            <a:extLst>
              <a:ext uri="{FF2B5EF4-FFF2-40B4-BE49-F238E27FC236}">
                <a16:creationId xmlns:a16="http://schemas.microsoft.com/office/drawing/2014/main" id="{CE52C9D7-11B0-9E41-AB16-2C9849C3ECBE}"/>
              </a:ext>
            </a:extLst>
          </p:cNvPr>
          <p:cNvPicPr>
            <a:picLocks noChangeAspect="1"/>
          </p:cNvPicPr>
          <p:nvPr/>
        </p:nvPicPr>
        <p:blipFill>
          <a:blip r:embed="rId10"/>
          <a:stretch>
            <a:fillRect/>
          </a:stretch>
        </p:blipFill>
        <p:spPr>
          <a:xfrm>
            <a:off x="1590479" y="1439935"/>
            <a:ext cx="330200" cy="330200"/>
          </a:xfrm>
          <a:prstGeom prst="rect">
            <a:avLst/>
          </a:prstGeom>
        </p:spPr>
      </p:pic>
      <p:grpSp>
        <p:nvGrpSpPr>
          <p:cNvPr id="101" name="Group 100"/>
          <p:cNvGrpSpPr/>
          <p:nvPr/>
        </p:nvGrpSpPr>
        <p:grpSpPr>
          <a:xfrm>
            <a:off x="3129075" y="2017764"/>
            <a:ext cx="2759978" cy="3211913"/>
            <a:chOff x="3129075" y="2017764"/>
            <a:chExt cx="2759978" cy="3211913"/>
          </a:xfrm>
        </p:grpSpPr>
        <p:cxnSp>
          <p:nvCxnSpPr>
            <p:cNvPr id="28" name="Elbow Connector 27"/>
            <p:cNvCxnSpPr>
              <a:stCxn id="45" idx="3"/>
              <a:endCxn id="46" idx="1"/>
            </p:cNvCxnSpPr>
            <p:nvPr/>
          </p:nvCxnSpPr>
          <p:spPr>
            <a:xfrm flipV="1">
              <a:off x="3129075" y="2017764"/>
              <a:ext cx="2759978" cy="3211316"/>
            </a:xfrm>
            <a:prstGeom prst="bentConnector3">
              <a:avLst>
                <a:gd name="adj1" fmla="val 49741"/>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72" name="Elbow Connector 71"/>
            <p:cNvCxnSpPr>
              <a:stCxn id="45" idx="3"/>
            </p:cNvCxnSpPr>
            <p:nvPr/>
          </p:nvCxnSpPr>
          <p:spPr>
            <a:xfrm flipV="1">
              <a:off x="3129075" y="3667017"/>
              <a:ext cx="2759978" cy="1562063"/>
            </a:xfrm>
            <a:prstGeom prst="bentConnector3">
              <a:avLst>
                <a:gd name="adj1" fmla="val 49741"/>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76" name="Elbow Connector 75"/>
            <p:cNvCxnSpPr/>
            <p:nvPr/>
          </p:nvCxnSpPr>
          <p:spPr>
            <a:xfrm>
              <a:off x="3129075" y="5221937"/>
              <a:ext cx="2759978" cy="7740"/>
            </a:xfrm>
            <a:prstGeom prst="bentConnector3">
              <a:avLst>
                <a:gd name="adj1" fmla="val 353"/>
              </a:avLst>
            </a:prstGeom>
            <a:ln w="12700">
              <a:tailEnd type="arrow" w="med" len="sm"/>
            </a:ln>
          </p:spPr>
          <p:style>
            <a:lnRef idx="1">
              <a:schemeClr val="accent1"/>
            </a:lnRef>
            <a:fillRef idx="0">
              <a:schemeClr val="accent1"/>
            </a:fillRef>
            <a:effectRef idx="0">
              <a:schemeClr val="accent1"/>
            </a:effectRef>
            <a:fontRef idx="minor">
              <a:schemeClr val="tx1"/>
            </a:fontRef>
          </p:style>
        </p:cxnSp>
      </p:grpSp>
      <p:grpSp>
        <p:nvGrpSpPr>
          <p:cNvPr id="103" name="Group 102"/>
          <p:cNvGrpSpPr/>
          <p:nvPr/>
        </p:nvGrpSpPr>
        <p:grpSpPr>
          <a:xfrm>
            <a:off x="8769592" y="2017764"/>
            <a:ext cx="1354910" cy="3206355"/>
            <a:chOff x="8769592" y="2017764"/>
            <a:chExt cx="1354910" cy="3206355"/>
          </a:xfrm>
        </p:grpSpPr>
        <p:cxnSp>
          <p:nvCxnSpPr>
            <p:cNvPr id="80" name="Elbow Connector 79"/>
            <p:cNvCxnSpPr>
              <a:stCxn id="59" idx="3"/>
              <a:endCxn id="62" idx="1"/>
            </p:cNvCxnSpPr>
            <p:nvPr/>
          </p:nvCxnSpPr>
          <p:spPr>
            <a:xfrm>
              <a:off x="8769592" y="2017764"/>
              <a:ext cx="1354910" cy="283355"/>
            </a:xfrm>
            <a:prstGeom prst="bentConnector3">
              <a:avLst>
                <a:gd name="adj1" fmla="val 50000"/>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83" name="Elbow Connector 82"/>
            <p:cNvCxnSpPr>
              <a:stCxn id="60" idx="3"/>
              <a:endCxn id="62" idx="1"/>
            </p:cNvCxnSpPr>
            <p:nvPr/>
          </p:nvCxnSpPr>
          <p:spPr>
            <a:xfrm flipV="1">
              <a:off x="8769592" y="2301119"/>
              <a:ext cx="1354910" cy="1353197"/>
            </a:xfrm>
            <a:prstGeom prst="bentConnector3">
              <a:avLst>
                <a:gd name="adj1" fmla="val 50000"/>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87" name="Elbow Connector 86"/>
            <p:cNvCxnSpPr>
              <a:stCxn id="61" idx="3"/>
              <a:endCxn id="62" idx="1"/>
            </p:cNvCxnSpPr>
            <p:nvPr/>
          </p:nvCxnSpPr>
          <p:spPr>
            <a:xfrm flipV="1">
              <a:off x="8769592" y="2301119"/>
              <a:ext cx="1354910" cy="2923000"/>
            </a:xfrm>
            <a:prstGeom prst="bentConnector3">
              <a:avLst>
                <a:gd name="adj1" fmla="val 50000"/>
              </a:avLst>
            </a:prstGeom>
            <a:ln w="12700">
              <a:tailEnd type="arrow" w="med" len="sm"/>
            </a:ln>
          </p:spPr>
          <p:style>
            <a:lnRef idx="1">
              <a:schemeClr val="accent1"/>
            </a:lnRef>
            <a:fillRef idx="0">
              <a:schemeClr val="accent1"/>
            </a:fillRef>
            <a:effectRef idx="0">
              <a:schemeClr val="accent1"/>
            </a:effectRef>
            <a:fontRef idx="minor">
              <a:schemeClr val="tx1"/>
            </a:fontRef>
          </p:style>
        </p:cxnSp>
      </p:grpSp>
      <p:grpSp>
        <p:nvGrpSpPr>
          <p:cNvPr id="102" name="Group 101"/>
          <p:cNvGrpSpPr/>
          <p:nvPr/>
        </p:nvGrpSpPr>
        <p:grpSpPr>
          <a:xfrm>
            <a:off x="6803453" y="2017764"/>
            <a:ext cx="1051739" cy="3206355"/>
            <a:chOff x="6803453" y="2017764"/>
            <a:chExt cx="1051739" cy="3206355"/>
          </a:xfrm>
        </p:grpSpPr>
        <p:cxnSp>
          <p:nvCxnSpPr>
            <p:cNvPr id="92" name="Straight Arrow Connector 91"/>
            <p:cNvCxnSpPr>
              <a:stCxn id="46" idx="3"/>
              <a:endCxn id="59" idx="1"/>
            </p:cNvCxnSpPr>
            <p:nvPr/>
          </p:nvCxnSpPr>
          <p:spPr>
            <a:xfrm>
              <a:off x="6803453" y="2017764"/>
              <a:ext cx="1051739" cy="0"/>
            </a:xfrm>
            <a:prstGeom prst="straightConnector1">
              <a:avLst/>
            </a:prstGeom>
            <a:ln w="12700">
              <a:solidFill>
                <a:schemeClr val="accent1"/>
              </a:solidFill>
              <a:tailEnd type="arrow" w="med" len="sm"/>
            </a:ln>
          </p:spPr>
          <p:style>
            <a:lnRef idx="2">
              <a:schemeClr val="accent1"/>
            </a:lnRef>
            <a:fillRef idx="0">
              <a:schemeClr val="accent1"/>
            </a:fillRef>
            <a:effectRef idx="1">
              <a:schemeClr val="accent1"/>
            </a:effectRef>
            <a:fontRef idx="minor">
              <a:schemeClr val="tx1"/>
            </a:fontRef>
          </p:style>
        </p:cxnSp>
        <p:cxnSp>
          <p:nvCxnSpPr>
            <p:cNvPr id="95" name="Straight Arrow Connector 94"/>
            <p:cNvCxnSpPr>
              <a:stCxn id="48" idx="3"/>
              <a:endCxn id="60" idx="1"/>
            </p:cNvCxnSpPr>
            <p:nvPr/>
          </p:nvCxnSpPr>
          <p:spPr>
            <a:xfrm>
              <a:off x="6803453" y="3654316"/>
              <a:ext cx="1051739" cy="0"/>
            </a:xfrm>
            <a:prstGeom prst="straightConnector1">
              <a:avLst/>
            </a:prstGeom>
            <a:ln w="12700">
              <a:solidFill>
                <a:schemeClr val="accent1"/>
              </a:solidFill>
              <a:tailEnd type="arrow" w="med" len="sm"/>
            </a:ln>
          </p:spPr>
          <p:style>
            <a:lnRef idx="2">
              <a:schemeClr val="accent1"/>
            </a:lnRef>
            <a:fillRef idx="0">
              <a:schemeClr val="accent1"/>
            </a:fillRef>
            <a:effectRef idx="1">
              <a:schemeClr val="accent1"/>
            </a:effectRef>
            <a:fontRef idx="minor">
              <a:schemeClr val="tx1"/>
            </a:fontRef>
          </p:style>
        </p:cxnSp>
        <p:cxnSp>
          <p:nvCxnSpPr>
            <p:cNvPr id="98" name="Straight Arrow Connector 97"/>
            <p:cNvCxnSpPr>
              <a:stCxn id="51" idx="3"/>
              <a:endCxn id="61" idx="1"/>
            </p:cNvCxnSpPr>
            <p:nvPr/>
          </p:nvCxnSpPr>
          <p:spPr>
            <a:xfrm>
              <a:off x="6803453" y="5224119"/>
              <a:ext cx="1051739" cy="0"/>
            </a:xfrm>
            <a:prstGeom prst="straightConnector1">
              <a:avLst/>
            </a:prstGeom>
            <a:ln w="12700">
              <a:solidFill>
                <a:schemeClr val="accent1"/>
              </a:solidFill>
              <a:tailEnd type="arrow" w="med" len="sm"/>
            </a:ln>
          </p:spPr>
          <p:style>
            <a:lnRef idx="2">
              <a:schemeClr val="accent1"/>
            </a:lnRef>
            <a:fillRef idx="0">
              <a:schemeClr val="accent1"/>
            </a:fillRef>
            <a:effectRef idx="1">
              <a:schemeClr val="accent1"/>
            </a:effectRef>
            <a:fontRef idx="minor">
              <a:schemeClr val="tx1"/>
            </a:fontRef>
          </p:style>
        </p:cxnSp>
      </p:grpSp>
      <p:sp>
        <p:nvSpPr>
          <p:cNvPr id="50" name="TextBox 49"/>
          <p:cNvSpPr txBox="1"/>
          <p:nvPr/>
        </p:nvSpPr>
        <p:spPr>
          <a:xfrm>
            <a:off x="7493074" y="2534619"/>
            <a:ext cx="1638637" cy="584775"/>
          </a:xfrm>
          <a:prstGeom prst="rect">
            <a:avLst/>
          </a:prstGeom>
          <a:noFill/>
        </p:spPr>
        <p:txBody>
          <a:bodyPr wrap="square" rtlCol="0">
            <a:spAutoFit/>
          </a:bodyPr>
          <a:lstStyle/>
          <a:p>
            <a:pPr algn="ctr"/>
            <a:r>
              <a:rPr lang="en-US" sz="1600" dirty="0" smtClean="0">
                <a:solidFill>
                  <a:srgbClr val="000000"/>
                </a:solidFill>
                <a:latin typeface="Amazon Ember Light" charset="0"/>
                <a:ea typeface="Amazon Ember Light" charset="0"/>
                <a:cs typeface="Amazon Ember Light" charset="0"/>
              </a:rPr>
              <a:t>AWS Lambda Function</a:t>
            </a:r>
            <a:endParaRPr lang="en-US" sz="1600" dirty="0">
              <a:solidFill>
                <a:srgbClr val="000000"/>
              </a:solidFill>
              <a:latin typeface="Amazon Ember Light" panose="020B0403020204020204"/>
              <a:ea typeface="Amazon Ember Light" charset="0"/>
              <a:cs typeface="Amazon Ember Light" charset="0"/>
            </a:endParaRPr>
          </a:p>
        </p:txBody>
      </p:sp>
      <p:sp>
        <p:nvSpPr>
          <p:cNvPr id="52" name="TextBox 51"/>
          <p:cNvSpPr txBox="1"/>
          <p:nvPr/>
        </p:nvSpPr>
        <p:spPr>
          <a:xfrm>
            <a:off x="7493074" y="4075030"/>
            <a:ext cx="1638637" cy="584775"/>
          </a:xfrm>
          <a:prstGeom prst="rect">
            <a:avLst/>
          </a:prstGeom>
          <a:noFill/>
        </p:spPr>
        <p:txBody>
          <a:bodyPr wrap="square" rtlCol="0">
            <a:spAutoFit/>
          </a:bodyPr>
          <a:lstStyle/>
          <a:p>
            <a:pPr algn="ctr"/>
            <a:r>
              <a:rPr lang="en-US" sz="1600" dirty="0" smtClean="0">
                <a:solidFill>
                  <a:srgbClr val="000000"/>
                </a:solidFill>
                <a:latin typeface="Amazon Ember Light" charset="0"/>
                <a:ea typeface="Amazon Ember Light" charset="0"/>
                <a:cs typeface="Amazon Ember Light" charset="0"/>
              </a:rPr>
              <a:t>AWS Lambda Function</a:t>
            </a:r>
            <a:endParaRPr lang="en-US" sz="1600" dirty="0">
              <a:solidFill>
                <a:srgbClr val="000000"/>
              </a:solidFill>
              <a:latin typeface="Amazon Ember Light" panose="020B0403020204020204"/>
              <a:ea typeface="Amazon Ember Light" charset="0"/>
              <a:cs typeface="Amazon Ember Light" charset="0"/>
            </a:endParaRPr>
          </a:p>
        </p:txBody>
      </p:sp>
      <p:sp>
        <p:nvSpPr>
          <p:cNvPr id="54" name="TextBox 53"/>
          <p:cNvSpPr txBox="1"/>
          <p:nvPr/>
        </p:nvSpPr>
        <p:spPr>
          <a:xfrm>
            <a:off x="7493074" y="5730948"/>
            <a:ext cx="1638637" cy="584775"/>
          </a:xfrm>
          <a:prstGeom prst="rect">
            <a:avLst/>
          </a:prstGeom>
          <a:noFill/>
        </p:spPr>
        <p:txBody>
          <a:bodyPr wrap="square" rtlCol="0">
            <a:spAutoFit/>
          </a:bodyPr>
          <a:lstStyle/>
          <a:p>
            <a:pPr algn="ctr"/>
            <a:r>
              <a:rPr lang="en-US" sz="1600" dirty="0" smtClean="0">
                <a:solidFill>
                  <a:srgbClr val="000000"/>
                </a:solidFill>
                <a:latin typeface="Amazon Ember Light" charset="0"/>
                <a:ea typeface="Amazon Ember Light" charset="0"/>
                <a:cs typeface="Amazon Ember Light" charset="0"/>
              </a:rPr>
              <a:t>AWS Lambda Function</a:t>
            </a:r>
            <a:endParaRPr lang="en-US" sz="1600" dirty="0">
              <a:solidFill>
                <a:srgbClr val="000000"/>
              </a:solidFill>
              <a:latin typeface="Amazon Ember Light" panose="020B0403020204020204"/>
              <a:ea typeface="Amazon Ember Light" charset="0"/>
              <a:cs typeface="Amazon Ember Light" charset="0"/>
            </a:endParaRPr>
          </a:p>
        </p:txBody>
      </p:sp>
    </p:spTree>
    <p:custDataLst>
      <p:tags r:id="rId1"/>
    </p:custDataLst>
    <p:extLst>
      <p:ext uri="{BB962C8B-B14F-4D97-AF65-F5344CB8AC3E}">
        <p14:creationId xmlns:p14="http://schemas.microsoft.com/office/powerpoint/2010/main" val="1274775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0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0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03"/>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nodeType="after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146119" y="1389385"/>
            <a:ext cx="3725333" cy="1417315"/>
          </a:xfrm>
          <a:prstGeom prst="roundRect">
            <a:avLst>
              <a:gd name="adj" fmla="val 0"/>
            </a:avLst>
          </a:prstGeom>
          <a:noFill/>
          <a:ln w="28575">
            <a:solidFill>
              <a:schemeClr val="accent1"/>
            </a:solidFill>
          </a:ln>
        </p:spPr>
        <p:style>
          <a:lnRef idx="1">
            <a:schemeClr val="accent6"/>
          </a:lnRef>
          <a:fillRef idx="2">
            <a:schemeClr val="accent6"/>
          </a:fillRef>
          <a:effectRef idx="1">
            <a:schemeClr val="accent6"/>
          </a:effectRef>
          <a:fontRef idx="minor">
            <a:schemeClr val="dk1"/>
          </a:fontRef>
        </p:style>
        <p:txBody>
          <a:bodyPr rtlCol="0" anchor="t"/>
          <a:lstStyle/>
          <a:p>
            <a:pPr algn="ctr"/>
            <a:r>
              <a:rPr lang="en-US" sz="2400" dirty="0" err="1">
                <a:latin typeface="Amazon Ember Light" charset="0"/>
                <a:ea typeface="Amazon Ember Light" charset="0"/>
                <a:cs typeface="Amazon Ember Light" charset="0"/>
              </a:rPr>
              <a:t>CreateTopic</a:t>
            </a:r>
            <a:endParaRPr lang="en-US" sz="1700" dirty="0">
              <a:latin typeface="Amazon Ember Light" charset="0"/>
              <a:ea typeface="Amazon Ember Light" charset="0"/>
              <a:cs typeface="Amazon Ember Light" charset="0"/>
            </a:endParaRPr>
          </a:p>
          <a:p>
            <a:pPr marL="234950" indent="-234950">
              <a:buFont typeface="Arial" panose="020B0604020202020204" pitchFamily="34" charset="0"/>
              <a:buChar char="•"/>
            </a:pPr>
            <a:r>
              <a:rPr lang="en-US" sz="2000" dirty="0">
                <a:latin typeface="Amazon Ember Light" charset="0"/>
                <a:ea typeface="Amazon Ember Light" charset="0"/>
                <a:cs typeface="Amazon Ember Light" charset="0"/>
              </a:rPr>
              <a:t>Input: Topic name</a:t>
            </a:r>
          </a:p>
          <a:p>
            <a:pPr marL="234950" indent="-234950">
              <a:buFont typeface="Arial" panose="020B0604020202020204" pitchFamily="34" charset="0"/>
              <a:buChar char="•"/>
            </a:pPr>
            <a:r>
              <a:rPr lang="en-US" sz="2000" dirty="0">
                <a:latin typeface="Amazon Ember Light" charset="0"/>
                <a:ea typeface="Amazon Ember Light" charset="0"/>
                <a:cs typeface="Amazon Ember Light" charset="0"/>
              </a:rPr>
              <a:t>Output: ARN of topic</a:t>
            </a:r>
          </a:p>
        </p:txBody>
      </p:sp>
      <p:sp>
        <p:nvSpPr>
          <p:cNvPr id="20" name="Rounded Rectangle 19"/>
          <p:cNvSpPr/>
          <p:nvPr/>
        </p:nvSpPr>
        <p:spPr>
          <a:xfrm>
            <a:off x="1146120" y="5056130"/>
            <a:ext cx="3725333" cy="1172684"/>
          </a:xfrm>
          <a:prstGeom prst="roundRect">
            <a:avLst>
              <a:gd name="adj" fmla="val 0"/>
            </a:avLst>
          </a:prstGeom>
          <a:noFill/>
          <a:ln w="28575">
            <a:solidFill>
              <a:schemeClr val="accent4"/>
            </a:solidFill>
          </a:ln>
        </p:spPr>
        <p:style>
          <a:lnRef idx="1">
            <a:schemeClr val="accent6"/>
          </a:lnRef>
          <a:fillRef idx="2">
            <a:schemeClr val="accent6"/>
          </a:fillRef>
          <a:effectRef idx="1">
            <a:schemeClr val="accent6"/>
          </a:effectRef>
          <a:fontRef idx="minor">
            <a:schemeClr val="dk1"/>
          </a:fontRef>
        </p:style>
        <p:txBody>
          <a:bodyPr rtlCol="0" anchor="t"/>
          <a:lstStyle/>
          <a:p>
            <a:pPr algn="ctr"/>
            <a:r>
              <a:rPr lang="en-US" sz="2400" dirty="0" err="1">
                <a:latin typeface="Amazon Ember Light" charset="0"/>
                <a:ea typeface="Amazon Ember Light" charset="0"/>
                <a:cs typeface="Amazon Ember Light" charset="0"/>
              </a:rPr>
              <a:t>DeleteTopic</a:t>
            </a:r>
            <a:endParaRPr lang="en-US" sz="900" dirty="0">
              <a:latin typeface="Amazon Ember Light" charset="0"/>
              <a:ea typeface="Amazon Ember Light" charset="0"/>
              <a:cs typeface="Amazon Ember Light" charset="0"/>
            </a:endParaRPr>
          </a:p>
          <a:p>
            <a:pPr marL="234950" indent="-234950">
              <a:buFont typeface="Arial" panose="020B0604020202020204" pitchFamily="34" charset="0"/>
              <a:buChar char="•"/>
            </a:pPr>
            <a:r>
              <a:rPr lang="en-US" sz="2000" dirty="0">
                <a:latin typeface="Amazon Ember Light" charset="0"/>
                <a:ea typeface="Amazon Ember Light" charset="0"/>
                <a:cs typeface="Amazon Ember Light" charset="0"/>
              </a:rPr>
              <a:t>Input: ARN of topic</a:t>
            </a:r>
          </a:p>
        </p:txBody>
      </p:sp>
      <p:sp>
        <p:nvSpPr>
          <p:cNvPr id="21" name="Rounded Rectangle 20"/>
          <p:cNvSpPr/>
          <p:nvPr/>
        </p:nvSpPr>
        <p:spPr>
          <a:xfrm>
            <a:off x="1146120" y="3025376"/>
            <a:ext cx="3725333" cy="1851423"/>
          </a:xfrm>
          <a:prstGeom prst="roundRect">
            <a:avLst>
              <a:gd name="adj" fmla="val 0"/>
            </a:avLst>
          </a:prstGeom>
          <a:noFill/>
          <a:ln w="28575">
            <a:solidFill>
              <a:schemeClr val="accent5"/>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400" dirty="0">
                <a:latin typeface="Amazon Ember Light" charset="0"/>
                <a:ea typeface="Amazon Ember Light" charset="0"/>
                <a:cs typeface="Amazon Ember Light" charset="0"/>
              </a:rPr>
              <a:t>Subscribe</a:t>
            </a:r>
            <a:endParaRPr lang="en-US" sz="2000" dirty="0">
              <a:latin typeface="Amazon Ember Light" charset="0"/>
              <a:ea typeface="Amazon Ember Light" charset="0"/>
              <a:cs typeface="Amazon Ember Light" charset="0"/>
            </a:endParaRPr>
          </a:p>
          <a:p>
            <a:pPr marL="234950" indent="-234950">
              <a:buFont typeface="Arial" panose="020B0604020202020204" pitchFamily="34" charset="0"/>
              <a:buChar char="•"/>
            </a:pPr>
            <a:r>
              <a:rPr lang="en-US" sz="2000" dirty="0">
                <a:latin typeface="Amazon Ember Light" charset="0"/>
                <a:ea typeface="Amazon Ember Light" charset="0"/>
                <a:cs typeface="Amazon Ember Light" charset="0"/>
              </a:rPr>
              <a:t>Input: </a:t>
            </a:r>
          </a:p>
          <a:p>
            <a:pPr marL="852488" lvl="1" indent="-242888">
              <a:buFont typeface="Arial" panose="020B0604020202020204" pitchFamily="34" charset="0"/>
              <a:buChar char="•"/>
            </a:pPr>
            <a:r>
              <a:rPr lang="en-US" sz="2000" dirty="0">
                <a:latin typeface="Amazon Ember Light" charset="0"/>
                <a:ea typeface="Amazon Ember Light" charset="0"/>
                <a:cs typeface="Amazon Ember Light" charset="0"/>
              </a:rPr>
              <a:t>Subscriber’s endpoint</a:t>
            </a:r>
          </a:p>
          <a:p>
            <a:pPr marL="852488" lvl="1" indent="-242888">
              <a:buFont typeface="Arial" panose="020B0604020202020204" pitchFamily="34" charset="0"/>
              <a:buChar char="•"/>
            </a:pPr>
            <a:r>
              <a:rPr lang="en-US" sz="2000" dirty="0">
                <a:latin typeface="Amazon Ember Light" charset="0"/>
                <a:ea typeface="Amazon Ember Light" charset="0"/>
                <a:cs typeface="Amazon Ember Light" charset="0"/>
              </a:rPr>
              <a:t>Protocol</a:t>
            </a:r>
          </a:p>
          <a:p>
            <a:pPr marL="852488" lvl="1" indent="-242888">
              <a:buFont typeface="Arial" panose="020B0604020202020204" pitchFamily="34" charset="0"/>
              <a:buChar char="•"/>
            </a:pPr>
            <a:r>
              <a:rPr lang="en-US" sz="2000" dirty="0">
                <a:latin typeface="Amazon Ember Light" charset="0"/>
                <a:ea typeface="Amazon Ember Light" charset="0"/>
                <a:cs typeface="Amazon Ember Light" charset="0"/>
              </a:rPr>
              <a:t>ARN of topic</a:t>
            </a:r>
          </a:p>
        </p:txBody>
      </p:sp>
      <p:sp>
        <p:nvSpPr>
          <p:cNvPr id="22" name="Rounded Rectangle 21"/>
          <p:cNvSpPr/>
          <p:nvPr/>
        </p:nvSpPr>
        <p:spPr>
          <a:xfrm>
            <a:off x="5645856" y="1389385"/>
            <a:ext cx="5667411" cy="4839429"/>
          </a:xfrm>
          <a:prstGeom prst="roundRect">
            <a:avLst>
              <a:gd name="adj" fmla="val 0"/>
            </a:avLst>
          </a:prstGeom>
          <a:noFill/>
          <a:ln w="28575">
            <a:solidFill>
              <a:schemeClr val="accent6"/>
            </a:solidFill>
          </a:ln>
        </p:spPr>
        <p:style>
          <a:lnRef idx="1">
            <a:schemeClr val="accent6"/>
          </a:lnRef>
          <a:fillRef idx="2">
            <a:schemeClr val="accent6"/>
          </a:fillRef>
          <a:effectRef idx="1">
            <a:schemeClr val="accent6"/>
          </a:effectRef>
          <a:fontRef idx="minor">
            <a:schemeClr val="dk1"/>
          </a:fontRef>
        </p:style>
        <p:txBody>
          <a:bodyPr rtlCol="0" anchor="t"/>
          <a:lstStyle/>
          <a:p>
            <a:pPr algn="ctr"/>
            <a:r>
              <a:rPr lang="en-US" sz="2400" dirty="0">
                <a:latin typeface="Amazon Ember Light" charset="0"/>
                <a:ea typeface="Amazon Ember Light" charset="0"/>
                <a:cs typeface="Amazon Ember Light" charset="0"/>
              </a:rPr>
              <a:t>Publish</a:t>
            </a:r>
          </a:p>
          <a:p>
            <a:pPr algn="ctr"/>
            <a:endParaRPr lang="en-US" sz="2400" dirty="0">
              <a:latin typeface="Amazon Ember Light" charset="0"/>
              <a:ea typeface="Amazon Ember Light" charset="0"/>
              <a:cs typeface="Amazon Ember Light" charset="0"/>
            </a:endParaRPr>
          </a:p>
          <a:p>
            <a:pPr marL="380990" indent="-380990">
              <a:buFont typeface="Arial" panose="020B0604020202020204" pitchFamily="34" charset="0"/>
              <a:buChar char="•"/>
            </a:pPr>
            <a:r>
              <a:rPr lang="en-US" sz="2400" dirty="0">
                <a:latin typeface="Amazon Ember Light" charset="0"/>
                <a:ea typeface="Amazon Ember Light" charset="0"/>
                <a:cs typeface="Amazon Ember Light" charset="0"/>
              </a:rPr>
              <a:t>Input: </a:t>
            </a:r>
          </a:p>
          <a:p>
            <a:pPr marL="990575" lvl="1" indent="-380990">
              <a:buFont typeface="Arial" panose="020B0604020202020204" pitchFamily="34" charset="0"/>
              <a:buChar char="•"/>
            </a:pPr>
            <a:r>
              <a:rPr lang="en-US" sz="2400" dirty="0">
                <a:latin typeface="Amazon Ember Light" charset="0"/>
                <a:ea typeface="Amazon Ember Light" charset="0"/>
                <a:cs typeface="Amazon Ember Light" charset="0"/>
              </a:rPr>
              <a:t>Message</a:t>
            </a:r>
          </a:p>
          <a:p>
            <a:pPr marL="990575" lvl="1" indent="-380990">
              <a:buFont typeface="Arial" panose="020B0604020202020204" pitchFamily="34" charset="0"/>
              <a:buChar char="•"/>
            </a:pPr>
            <a:r>
              <a:rPr lang="en-US" sz="2400" dirty="0">
                <a:latin typeface="Amazon Ember Light" charset="0"/>
                <a:ea typeface="Amazon Ember Light" charset="0"/>
                <a:cs typeface="Amazon Ember Light" charset="0"/>
              </a:rPr>
              <a:t>Message attributes (optional)</a:t>
            </a:r>
          </a:p>
          <a:p>
            <a:pPr marL="990575" lvl="1" indent="-380990">
              <a:buFont typeface="Arial" panose="020B0604020202020204" pitchFamily="34" charset="0"/>
              <a:buChar char="•"/>
            </a:pPr>
            <a:r>
              <a:rPr lang="en-US" sz="2400" dirty="0">
                <a:latin typeface="Amazon Ember Light" charset="0"/>
                <a:ea typeface="Amazon Ember Light" charset="0"/>
                <a:cs typeface="Amazon Ember Light" charset="0"/>
              </a:rPr>
              <a:t>Message </a:t>
            </a:r>
            <a:r>
              <a:rPr lang="en-US" sz="2400" dirty="0" err="1">
                <a:latin typeface="Amazon Ember Light" charset="0"/>
                <a:ea typeface="Amazon Ember Light" charset="0"/>
                <a:cs typeface="Amazon Ember Light" charset="0"/>
              </a:rPr>
              <a:t>structure</a:t>
            </a:r>
            <a:r>
              <a:rPr lang="en-US" sz="2400" dirty="0" err="1">
                <a:solidFill>
                  <a:srgbClr val="000000"/>
                </a:solidFill>
                <a:latin typeface="Amazon Ember Light" charset="0"/>
                <a:ea typeface="Amazon Ember Light" charset="0"/>
                <a:cs typeface="Amazon Ember Light" charset="0"/>
              </a:rPr>
              <a:t>:json</a:t>
            </a:r>
            <a:r>
              <a:rPr lang="en-US" sz="2400" dirty="0">
                <a:latin typeface="Amazon Ember Light" charset="0"/>
                <a:ea typeface="Amazon Ember Light" charset="0"/>
                <a:cs typeface="Amazon Ember Light" charset="0"/>
              </a:rPr>
              <a:t> (optional)</a:t>
            </a:r>
          </a:p>
          <a:p>
            <a:pPr marL="990575" lvl="1" indent="-380990">
              <a:buFont typeface="Arial" panose="020B0604020202020204" pitchFamily="34" charset="0"/>
              <a:buChar char="•"/>
            </a:pPr>
            <a:r>
              <a:rPr lang="en-US" sz="2400" dirty="0">
                <a:latin typeface="Amazon Ember Light" charset="0"/>
                <a:ea typeface="Amazon Ember Light" charset="0"/>
                <a:cs typeface="Amazon Ember Light" charset="0"/>
              </a:rPr>
              <a:t>Subject (optional)</a:t>
            </a:r>
          </a:p>
          <a:p>
            <a:pPr marL="990575" lvl="1" indent="-380990">
              <a:buFont typeface="Arial" panose="020B0604020202020204" pitchFamily="34" charset="0"/>
              <a:buChar char="•"/>
            </a:pPr>
            <a:r>
              <a:rPr lang="en-US" sz="2400" dirty="0">
                <a:latin typeface="Amazon Ember Light" charset="0"/>
                <a:ea typeface="Amazon Ember Light" charset="0"/>
                <a:cs typeface="Amazon Ember Light" charset="0"/>
              </a:rPr>
              <a:t>ARN of topic</a:t>
            </a:r>
          </a:p>
          <a:p>
            <a:pPr marL="380990" indent="-380990">
              <a:buFont typeface="Arial" panose="020B0604020202020204" pitchFamily="34" charset="0"/>
              <a:buChar char="•"/>
            </a:pPr>
            <a:r>
              <a:rPr lang="en-US" sz="2400" dirty="0">
                <a:latin typeface="Amazon Ember Light" charset="0"/>
                <a:ea typeface="Amazon Ember Light" charset="0"/>
                <a:cs typeface="Amazon Ember Light" charset="0"/>
              </a:rPr>
              <a:t>Output:</a:t>
            </a:r>
          </a:p>
          <a:p>
            <a:pPr marL="990575" lvl="1" indent="-380990">
              <a:buFont typeface="Arial" panose="020B0604020202020204" pitchFamily="34" charset="0"/>
              <a:buChar char="•"/>
            </a:pPr>
            <a:r>
              <a:rPr lang="en-US" sz="2400" dirty="0">
                <a:solidFill>
                  <a:srgbClr val="000000"/>
                </a:solidFill>
                <a:latin typeface="Amazon Ember Light" charset="0"/>
                <a:ea typeface="Amazon Ember Light" charset="0"/>
                <a:cs typeface="Amazon Ember Light" charset="0"/>
              </a:rPr>
              <a:t>Message ID</a:t>
            </a:r>
            <a:endParaRPr lang="en-US" sz="2400" dirty="0">
              <a:solidFill>
                <a:srgbClr val="000000"/>
              </a:solidFill>
              <a:latin typeface="Amazon Ember Light" panose="020B0403020204020204"/>
              <a:ea typeface="Amazon Ember Light" charset="0"/>
              <a:cs typeface="Amazon Ember Light" charset="0"/>
            </a:endParaRPr>
          </a:p>
        </p:txBody>
      </p:sp>
      <p:sp>
        <p:nvSpPr>
          <p:cNvPr id="10" name="Title 1"/>
          <p:cNvSpPr>
            <a:spLocks noGrp="1"/>
          </p:cNvSpPr>
          <p:nvPr>
            <p:ph type="title"/>
          </p:nvPr>
        </p:nvSpPr>
        <p:spPr/>
        <p:txBody>
          <a:bodyPr/>
          <a:lstStyle/>
          <a:p>
            <a:r>
              <a:rPr lang="en-US" dirty="0"/>
              <a:t>Amazon SNS </a:t>
            </a:r>
            <a:r>
              <a:rPr lang="en-US" dirty="0">
                <a:solidFill>
                  <a:srgbClr val="FFFFFF"/>
                </a:solidFill>
              </a:rPr>
              <a:t>operations</a:t>
            </a:r>
            <a:endParaRPr lang="en-US" dirty="0">
              <a:solidFill>
                <a:srgbClr val="FFFFFF"/>
              </a:solidFill>
              <a:latin typeface="Amazon Ember Light" panose="020B0403020204020204"/>
            </a:endParaRPr>
          </a:p>
        </p:txBody>
      </p:sp>
      <p:sp>
        <p:nvSpPr>
          <p:cNvPr id="2" name="Slide Number Placeholder 1"/>
          <p:cNvSpPr>
            <a:spLocks noGrp="1"/>
          </p:cNvSpPr>
          <p:nvPr>
            <p:ph type="sldNum" sz="quarter" idx="12"/>
          </p:nvPr>
        </p:nvSpPr>
        <p:spPr/>
        <p:txBody>
          <a:bodyPr/>
          <a:lstStyle/>
          <a:p>
            <a:fld id="{9FC43BFD-8FF7-A343-A8A6-E2338FCE8046}" type="slidenum">
              <a:rPr lang="en-US" smtClean="0"/>
              <a:pPr/>
              <a:t>32</a:t>
            </a:fld>
            <a:endParaRPr lang="en-US" dirty="0"/>
          </a:p>
        </p:txBody>
      </p:sp>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07851510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 </a:t>
            </a:r>
            <a:r>
              <a:rPr lang="en-US" dirty="0" smtClean="0">
                <a:solidFill>
                  <a:srgbClr val="FFFFFF"/>
                </a:solidFill>
              </a:rPr>
              <a:t>E-commerce</a:t>
            </a:r>
            <a:r>
              <a:rPr lang="en-US" dirty="0"/>
              <a:t> </a:t>
            </a:r>
            <a:r>
              <a:rPr lang="en-US" dirty="0" smtClean="0">
                <a:solidFill>
                  <a:srgbClr val="FFFFFF"/>
                </a:solidFill>
              </a:rPr>
              <a:t>website</a:t>
            </a:r>
            <a:endParaRPr lang="en-US" dirty="0">
              <a:solidFill>
                <a:srgbClr val="FFFFFF"/>
              </a:solidFill>
              <a:latin typeface="Amazon Ember Light" panose="020B0403020204020204"/>
            </a:endParaRPr>
          </a:p>
        </p:txBody>
      </p:sp>
      <p:sp>
        <p:nvSpPr>
          <p:cNvPr id="3" name="Slide Number Placeholder 2"/>
          <p:cNvSpPr>
            <a:spLocks noGrp="1"/>
          </p:cNvSpPr>
          <p:nvPr>
            <p:ph type="sldNum" sz="quarter" idx="12"/>
          </p:nvPr>
        </p:nvSpPr>
        <p:spPr/>
        <p:txBody>
          <a:bodyPr/>
          <a:lstStyle/>
          <a:p>
            <a:fld id="{9FC43BFD-8FF7-A343-A8A6-E2338FCE8046}" type="slidenum">
              <a:rPr lang="en-US" smtClean="0"/>
              <a:pPr/>
              <a:t>33</a:t>
            </a:fld>
            <a:endParaRPr lang="en-US" dirty="0"/>
          </a:p>
        </p:txBody>
      </p:sp>
      <p:sp>
        <p:nvSpPr>
          <p:cNvPr id="4" name="Footer Placeholder 3"/>
          <p:cNvSpPr>
            <a:spLocks noGrp="1"/>
          </p:cNvSpPr>
          <p:nvPr>
            <p:ph type="ftr" sz="quarter" idx="3"/>
          </p:nvPr>
        </p:nvSpPr>
        <p:spPr/>
        <p:txBody>
          <a:bodyPr/>
          <a:lstStyle/>
          <a:p>
            <a:r>
              <a:rPr lang="en-US"/>
              <a:t>© 2020 Amazon Web Services, Inc. or its Affiliates. All rights reserved.</a:t>
            </a:r>
            <a:endParaRPr lang="en-US" dirty="0"/>
          </a:p>
        </p:txBody>
      </p:sp>
      <p:cxnSp>
        <p:nvCxnSpPr>
          <p:cNvPr id="66" name="Straight Arrow Connector 65"/>
          <p:cNvCxnSpPr>
            <a:stCxn id="41" idx="3"/>
          </p:cNvCxnSpPr>
          <p:nvPr/>
        </p:nvCxnSpPr>
        <p:spPr>
          <a:xfrm>
            <a:off x="2583064" y="3683521"/>
            <a:ext cx="3377249" cy="19600"/>
          </a:xfrm>
          <a:prstGeom prst="straightConnector1">
            <a:avLst/>
          </a:prstGeom>
          <a:ln w="12700">
            <a:solidFill>
              <a:schemeClr val="tx1">
                <a:lumMod val="50000"/>
                <a:lumOff val="50000"/>
              </a:schemeClr>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385095" y="4097060"/>
            <a:ext cx="1786373" cy="584775"/>
          </a:xfrm>
          <a:prstGeom prst="rect">
            <a:avLst/>
          </a:prstGeom>
          <a:noFill/>
        </p:spPr>
        <p:txBody>
          <a:bodyPr wrap="square" rtlCol="0">
            <a:spAutoFit/>
          </a:bodyPr>
          <a:lstStyle/>
          <a:p>
            <a:pPr algn="ctr"/>
            <a:r>
              <a:rPr lang="en-US" sz="1600" dirty="0">
                <a:solidFill>
                  <a:srgbClr val="000000"/>
                </a:solidFill>
                <a:latin typeface="Amazon Ember Light" charset="0"/>
                <a:ea typeface="Amazon Ember Light" charset="0"/>
                <a:cs typeface="Amazon Ember Light" charset="0"/>
              </a:rPr>
              <a:t>Ecommerce</a:t>
            </a:r>
            <a:endParaRPr lang="en-US" sz="1600" dirty="0">
              <a:solidFill>
                <a:srgbClr val="000000"/>
              </a:solidFill>
              <a:latin typeface="Amazon Ember Light" panose="020B0403020204020204"/>
              <a:ea typeface="Amazon Ember Light" charset="0"/>
              <a:cs typeface="Amazon Ember Light" charset="0"/>
            </a:endParaRPr>
          </a:p>
          <a:p>
            <a:pPr algn="ctr"/>
            <a:r>
              <a:rPr lang="en-US" sz="1600" dirty="0">
                <a:latin typeface="Amazon Ember Light" charset="0"/>
                <a:ea typeface="Amazon Ember Light" charset="0"/>
                <a:cs typeface="Amazon Ember Light" charset="0"/>
              </a:rPr>
              <a:t>Website</a:t>
            </a:r>
          </a:p>
        </p:txBody>
      </p:sp>
      <p:sp>
        <p:nvSpPr>
          <p:cNvPr id="8" name="TextBox 7"/>
          <p:cNvSpPr txBox="1"/>
          <p:nvPr/>
        </p:nvSpPr>
        <p:spPr>
          <a:xfrm>
            <a:off x="152354" y="4162450"/>
            <a:ext cx="1232741" cy="584775"/>
          </a:xfrm>
          <a:prstGeom prst="rect">
            <a:avLst/>
          </a:prstGeom>
          <a:noFill/>
        </p:spPr>
        <p:txBody>
          <a:bodyPr wrap="square" rtlCol="0">
            <a:spAutoFit/>
          </a:bodyPr>
          <a:lstStyle/>
          <a:p>
            <a:pPr algn="ctr"/>
            <a:r>
              <a:rPr lang="en-US" sz="1600" dirty="0">
                <a:latin typeface="Amazon Ember Light" charset="0"/>
                <a:ea typeface="Amazon Ember Light" charset="0"/>
                <a:cs typeface="Amazon Ember Light" charset="0"/>
              </a:rPr>
              <a:t>Online Buyer</a:t>
            </a:r>
          </a:p>
        </p:txBody>
      </p:sp>
      <p:cxnSp>
        <p:nvCxnSpPr>
          <p:cNvPr id="10" name="Straight Arrow Connector 9"/>
          <p:cNvCxnSpPr/>
          <p:nvPr/>
        </p:nvCxnSpPr>
        <p:spPr>
          <a:xfrm>
            <a:off x="1227246" y="3676199"/>
            <a:ext cx="693752" cy="0"/>
          </a:xfrm>
          <a:prstGeom prst="straightConnector1">
            <a:avLst/>
          </a:prstGeom>
          <a:ln w="12700">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201595" y="2924720"/>
            <a:ext cx="1789215" cy="830997"/>
          </a:xfrm>
          <a:prstGeom prst="rect">
            <a:avLst/>
          </a:prstGeom>
          <a:noFill/>
        </p:spPr>
        <p:txBody>
          <a:bodyPr wrap="square" rtlCol="0">
            <a:spAutoFit/>
          </a:bodyPr>
          <a:lstStyle/>
          <a:p>
            <a:pPr algn="ctr"/>
            <a:r>
              <a:rPr lang="en-US" sz="1600" dirty="0" smtClean="0">
                <a:solidFill>
                  <a:srgbClr val="000000"/>
                </a:solidFill>
                <a:latin typeface="Amazon Ember Light" charset="0"/>
                <a:ea typeface="Amazon Ember Light" charset="0"/>
                <a:cs typeface="Amazon Ember Light" charset="0"/>
              </a:rPr>
              <a:t>Amazon SQS </a:t>
            </a:r>
            <a:r>
              <a:rPr lang="en-US" sz="1600" dirty="0">
                <a:solidFill>
                  <a:srgbClr val="000000"/>
                </a:solidFill>
                <a:latin typeface="Amazon Ember Light" charset="0"/>
                <a:ea typeface="Amazon Ember Light" charset="0"/>
                <a:cs typeface="Amazon Ember Light" charset="0"/>
              </a:rPr>
              <a:t>queue</a:t>
            </a:r>
            <a:endParaRPr lang="en-US" sz="1600" dirty="0">
              <a:solidFill>
                <a:srgbClr val="000000"/>
              </a:solidFill>
              <a:latin typeface="Amazon Ember Light" panose="020B0403020204020204"/>
              <a:ea typeface="Amazon Ember Light" charset="0"/>
              <a:cs typeface="Amazon Ember Light" charset="0"/>
            </a:endParaRPr>
          </a:p>
          <a:p>
            <a:pPr algn="ctr"/>
            <a:r>
              <a:rPr lang="en-US" sz="1600" dirty="0">
                <a:latin typeface="Amazon Ember Light" charset="0"/>
                <a:ea typeface="Amazon Ember Light" charset="0"/>
                <a:cs typeface="Amazon Ember Light" charset="0"/>
              </a:rPr>
              <a:t>Payment</a:t>
            </a:r>
          </a:p>
        </p:txBody>
      </p:sp>
      <p:sp>
        <p:nvSpPr>
          <p:cNvPr id="63" name="Rectangle 62"/>
          <p:cNvSpPr/>
          <p:nvPr/>
        </p:nvSpPr>
        <p:spPr>
          <a:xfrm>
            <a:off x="4525964" y="3528547"/>
            <a:ext cx="535156" cy="3099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p:cNvSpPr/>
          <p:nvPr/>
        </p:nvSpPr>
        <p:spPr>
          <a:xfrm>
            <a:off x="2893170" y="3528547"/>
            <a:ext cx="535156" cy="30994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Rectangle 68"/>
          <p:cNvSpPr/>
          <p:nvPr/>
        </p:nvSpPr>
        <p:spPr>
          <a:xfrm>
            <a:off x="3700996" y="3528547"/>
            <a:ext cx="535156" cy="30994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TextBox 69"/>
          <p:cNvSpPr txBox="1"/>
          <p:nvPr/>
        </p:nvSpPr>
        <p:spPr>
          <a:xfrm>
            <a:off x="8341817" y="5471144"/>
            <a:ext cx="1508770" cy="584775"/>
          </a:xfrm>
          <a:prstGeom prst="rect">
            <a:avLst/>
          </a:prstGeom>
          <a:noFill/>
        </p:spPr>
        <p:txBody>
          <a:bodyPr wrap="square" rtlCol="0">
            <a:spAutoFit/>
          </a:bodyPr>
          <a:lstStyle/>
          <a:p>
            <a:pPr algn="ctr"/>
            <a:r>
              <a:rPr lang="en-US" sz="1600" dirty="0" smtClean="0">
                <a:latin typeface="Amazon Ember Light" charset="0"/>
                <a:ea typeface="Amazon Ember Light" charset="0"/>
                <a:cs typeface="Amazon Ember Light" charset="0"/>
              </a:rPr>
              <a:t>AWS Lambda</a:t>
            </a:r>
            <a:endParaRPr lang="en-US" sz="1600" dirty="0">
              <a:latin typeface="Amazon Ember Light" charset="0"/>
              <a:ea typeface="Amazon Ember Light" charset="0"/>
              <a:cs typeface="Amazon Ember Light" charset="0"/>
            </a:endParaRPr>
          </a:p>
          <a:p>
            <a:pPr algn="ctr"/>
            <a:r>
              <a:rPr lang="en-US" sz="1600" dirty="0">
                <a:solidFill>
                  <a:srgbClr val="000000"/>
                </a:solidFill>
                <a:latin typeface="Amazon Ember Light" charset="0"/>
                <a:ea typeface="Amazon Ember Light" charset="0"/>
                <a:cs typeface="Amazon Ember Light" charset="0"/>
              </a:rPr>
              <a:t>function</a:t>
            </a:r>
            <a:endParaRPr lang="en-US" sz="1600" dirty="0">
              <a:solidFill>
                <a:srgbClr val="000000"/>
              </a:solidFill>
              <a:latin typeface="Amazon Ember Light" panose="020B0403020204020204"/>
              <a:ea typeface="Amazon Ember Light" charset="0"/>
              <a:cs typeface="Amazon Ember Light" charset="0"/>
            </a:endParaRPr>
          </a:p>
        </p:txBody>
      </p:sp>
      <p:sp>
        <p:nvSpPr>
          <p:cNvPr id="71" name="TextBox 70"/>
          <p:cNvSpPr txBox="1"/>
          <p:nvPr/>
        </p:nvSpPr>
        <p:spPr>
          <a:xfrm>
            <a:off x="10113865" y="2924720"/>
            <a:ext cx="1297787" cy="584775"/>
          </a:xfrm>
          <a:prstGeom prst="rect">
            <a:avLst/>
          </a:prstGeom>
          <a:noFill/>
        </p:spPr>
        <p:txBody>
          <a:bodyPr wrap="square" rtlCol="0">
            <a:spAutoFit/>
          </a:bodyPr>
          <a:lstStyle/>
          <a:p>
            <a:pPr algn="ctr"/>
            <a:r>
              <a:rPr lang="en-US" sz="1600" dirty="0">
                <a:latin typeface="Amazon Ember Light" charset="0"/>
                <a:ea typeface="Amazon Ember Light" charset="0"/>
                <a:cs typeface="Amazon Ember Light" charset="0"/>
              </a:rPr>
              <a:t>Payment</a:t>
            </a:r>
          </a:p>
          <a:p>
            <a:pPr algn="ctr"/>
            <a:r>
              <a:rPr lang="en-US" sz="1600" dirty="0">
                <a:latin typeface="Amazon Ember Light" charset="0"/>
                <a:ea typeface="Amazon Ember Light" charset="0"/>
                <a:cs typeface="Amazon Ember Light" charset="0"/>
              </a:rPr>
              <a:t>Gateway</a:t>
            </a:r>
          </a:p>
        </p:txBody>
      </p:sp>
      <p:sp>
        <p:nvSpPr>
          <p:cNvPr id="72" name="TextBox 71"/>
          <p:cNvSpPr txBox="1"/>
          <p:nvPr/>
        </p:nvSpPr>
        <p:spPr>
          <a:xfrm>
            <a:off x="10140004" y="5482677"/>
            <a:ext cx="1297787" cy="584775"/>
          </a:xfrm>
          <a:prstGeom prst="rect">
            <a:avLst/>
          </a:prstGeom>
          <a:noFill/>
        </p:spPr>
        <p:txBody>
          <a:bodyPr wrap="square" rtlCol="0">
            <a:spAutoFit/>
          </a:bodyPr>
          <a:lstStyle/>
          <a:p>
            <a:pPr algn="ctr"/>
            <a:r>
              <a:rPr lang="en-US" sz="1600" dirty="0">
                <a:latin typeface="Amazon Ember Light" charset="0"/>
                <a:ea typeface="Amazon Ember Light" charset="0"/>
                <a:cs typeface="Amazon Ember Light" charset="0"/>
              </a:rPr>
              <a:t>Search</a:t>
            </a:r>
          </a:p>
          <a:p>
            <a:pPr algn="ctr"/>
            <a:r>
              <a:rPr lang="en-US" sz="1600" dirty="0">
                <a:latin typeface="Amazon Ember Light" charset="0"/>
                <a:ea typeface="Amazon Ember Light" charset="0"/>
                <a:cs typeface="Amazon Ember Light" charset="0"/>
              </a:rPr>
              <a:t>Engine</a:t>
            </a:r>
          </a:p>
        </p:txBody>
      </p:sp>
      <p:sp>
        <p:nvSpPr>
          <p:cNvPr id="73" name="TextBox 72"/>
          <p:cNvSpPr txBox="1"/>
          <p:nvPr/>
        </p:nvSpPr>
        <p:spPr>
          <a:xfrm>
            <a:off x="3719910" y="2463636"/>
            <a:ext cx="1390196" cy="584775"/>
          </a:xfrm>
          <a:prstGeom prst="rect">
            <a:avLst/>
          </a:prstGeom>
          <a:noFill/>
          <a:ln w="15875">
            <a:solidFill>
              <a:schemeClr val="accent6"/>
            </a:solidFill>
          </a:ln>
        </p:spPr>
        <p:txBody>
          <a:bodyPr wrap="square" rtlCol="0">
            <a:spAutoFit/>
          </a:bodyPr>
          <a:lstStyle/>
          <a:p>
            <a:pPr algn="ctr"/>
            <a:r>
              <a:rPr lang="en-US" sz="1600" dirty="0">
                <a:latin typeface="Amazon Ember Light" charset="0"/>
                <a:ea typeface="Amazon Ember Light" charset="0"/>
                <a:cs typeface="Amazon Ember Light" charset="0"/>
              </a:rPr>
              <a:t>event_type=</a:t>
            </a:r>
          </a:p>
          <a:p>
            <a:pPr algn="ctr"/>
            <a:r>
              <a:rPr lang="en-US" sz="1600" dirty="0">
                <a:latin typeface="Amazon Ember Light" charset="0"/>
                <a:ea typeface="Amazon Ember Light" charset="0"/>
                <a:cs typeface="Amazon Ember Light" charset="0"/>
              </a:rPr>
              <a:t>order_placed</a:t>
            </a:r>
          </a:p>
        </p:txBody>
      </p:sp>
      <p:sp>
        <p:nvSpPr>
          <p:cNvPr id="76" name="TextBox 75"/>
          <p:cNvSpPr txBox="1"/>
          <p:nvPr/>
        </p:nvSpPr>
        <p:spPr>
          <a:xfrm>
            <a:off x="1642828" y="2456272"/>
            <a:ext cx="1938637" cy="584775"/>
          </a:xfrm>
          <a:prstGeom prst="rect">
            <a:avLst/>
          </a:prstGeom>
          <a:noFill/>
          <a:ln w="12700">
            <a:solidFill>
              <a:schemeClr val="accent6"/>
            </a:solidFill>
          </a:ln>
        </p:spPr>
        <p:txBody>
          <a:bodyPr wrap="square" rtlCol="0">
            <a:spAutoFit/>
          </a:bodyPr>
          <a:lstStyle/>
          <a:p>
            <a:pPr algn="ctr"/>
            <a:r>
              <a:rPr lang="en-US" sz="1600" dirty="0">
                <a:latin typeface="Amazon Ember Light" charset="0"/>
                <a:ea typeface="Amazon Ember Light" charset="0"/>
                <a:cs typeface="Amazon Ember Light" charset="0"/>
              </a:rPr>
              <a:t>event_type=</a:t>
            </a:r>
          </a:p>
          <a:p>
            <a:pPr algn="ctr"/>
            <a:r>
              <a:rPr lang="en-US" sz="1600" dirty="0">
                <a:latin typeface="Amazon Ember Light" charset="0"/>
                <a:ea typeface="Amazon Ember Light" charset="0"/>
                <a:cs typeface="Amazon Ember Light" charset="0"/>
              </a:rPr>
              <a:t>order_cancelled</a:t>
            </a:r>
          </a:p>
        </p:txBody>
      </p:sp>
      <p:sp>
        <p:nvSpPr>
          <p:cNvPr id="77" name="TextBox 76"/>
          <p:cNvSpPr txBox="1"/>
          <p:nvPr/>
        </p:nvSpPr>
        <p:spPr>
          <a:xfrm>
            <a:off x="3428326" y="4318947"/>
            <a:ext cx="2240753" cy="584775"/>
          </a:xfrm>
          <a:prstGeom prst="rect">
            <a:avLst/>
          </a:prstGeom>
          <a:noFill/>
          <a:ln w="15875">
            <a:solidFill>
              <a:schemeClr val="accent4"/>
            </a:solidFill>
          </a:ln>
        </p:spPr>
        <p:txBody>
          <a:bodyPr wrap="square" rtlCol="0">
            <a:spAutoFit/>
          </a:bodyPr>
          <a:lstStyle/>
          <a:p>
            <a:pPr algn="ctr"/>
            <a:r>
              <a:rPr lang="en-US" sz="1600" dirty="0">
                <a:latin typeface="Amazon Ember Light" charset="0"/>
                <a:ea typeface="Amazon Ember Light" charset="0"/>
                <a:cs typeface="Amazon Ember Light" charset="0"/>
              </a:rPr>
              <a:t>event_type=</a:t>
            </a:r>
          </a:p>
          <a:p>
            <a:pPr algn="ctr"/>
            <a:r>
              <a:rPr lang="en-US" sz="1600" dirty="0">
                <a:latin typeface="Amazon Ember Light" charset="0"/>
                <a:ea typeface="Amazon Ember Light" charset="0"/>
                <a:cs typeface="Amazon Ember Light" charset="0"/>
              </a:rPr>
              <a:t>product_page_visited</a:t>
            </a:r>
          </a:p>
        </p:txBody>
      </p:sp>
      <p:cxnSp>
        <p:nvCxnSpPr>
          <p:cNvPr id="89" name="Straight Arrow Connector 88"/>
          <p:cNvCxnSpPr/>
          <p:nvPr/>
        </p:nvCxnSpPr>
        <p:spPr>
          <a:xfrm flipV="1">
            <a:off x="3171468" y="3051999"/>
            <a:ext cx="0" cy="422024"/>
          </a:xfrm>
          <a:prstGeom prst="straightConnector1">
            <a:avLst/>
          </a:prstGeom>
          <a:ln w="12700">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92" name="Straight Arrow Connector 91"/>
          <p:cNvCxnSpPr/>
          <p:nvPr/>
        </p:nvCxnSpPr>
        <p:spPr>
          <a:xfrm flipV="1">
            <a:off x="4021098" y="3069736"/>
            <a:ext cx="0" cy="422024"/>
          </a:xfrm>
          <a:prstGeom prst="straightConnector1">
            <a:avLst/>
          </a:prstGeom>
          <a:ln w="12700">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93" name="Straight Arrow Connector 92"/>
          <p:cNvCxnSpPr/>
          <p:nvPr/>
        </p:nvCxnSpPr>
        <p:spPr>
          <a:xfrm flipV="1">
            <a:off x="4798338" y="3820382"/>
            <a:ext cx="0" cy="498565"/>
          </a:xfrm>
          <a:prstGeom prst="straightConnector1">
            <a:avLst/>
          </a:prstGeom>
          <a:ln w="12700">
            <a:solidFill>
              <a:schemeClr val="tx1">
                <a:lumMod val="50000"/>
                <a:lumOff val="50000"/>
              </a:schemeClr>
            </a:solidFill>
            <a:headEnd type="arrow"/>
            <a:tailEnd type="none"/>
          </a:ln>
        </p:spPr>
        <p:style>
          <a:lnRef idx="2">
            <a:schemeClr val="accent1"/>
          </a:lnRef>
          <a:fillRef idx="0">
            <a:schemeClr val="accent1"/>
          </a:fillRef>
          <a:effectRef idx="1">
            <a:schemeClr val="accent1"/>
          </a:effectRef>
          <a:fontRef idx="minor">
            <a:schemeClr val="tx1"/>
          </a:fontRef>
        </p:style>
      </p:cxnSp>
      <p:cxnSp>
        <p:nvCxnSpPr>
          <p:cNvPr id="98" name="Straight Arrow Connector 97"/>
          <p:cNvCxnSpPr>
            <a:endCxn id="52" idx="1"/>
          </p:cNvCxnSpPr>
          <p:nvPr/>
        </p:nvCxnSpPr>
        <p:spPr>
          <a:xfrm>
            <a:off x="9556057" y="2541885"/>
            <a:ext cx="891669" cy="0"/>
          </a:xfrm>
          <a:prstGeom prst="straightConnector1">
            <a:avLst/>
          </a:prstGeom>
          <a:ln w="12700">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99" name="Straight Arrow Connector 98"/>
          <p:cNvCxnSpPr>
            <a:stCxn id="56" idx="3"/>
            <a:endCxn id="53" idx="1"/>
          </p:cNvCxnSpPr>
          <p:nvPr/>
        </p:nvCxnSpPr>
        <p:spPr>
          <a:xfrm>
            <a:off x="9592815" y="5027835"/>
            <a:ext cx="827043" cy="0"/>
          </a:xfrm>
          <a:prstGeom prst="straightConnector1">
            <a:avLst/>
          </a:prstGeom>
          <a:ln w="12700">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pic>
        <p:nvPicPr>
          <p:cNvPr id="40" name="Graphic 39">
            <a:extLst>
              <a:ext uri="{FF2B5EF4-FFF2-40B4-BE49-F238E27FC236}">
                <a16:creationId xmlns:a16="http://schemas.microsoft.com/office/drawing/2014/main" id="{6FA71975-EA2D-784E-8A28-738A17320E91}"/>
              </a:ext>
            </a:extLst>
          </p:cNvPr>
          <p:cNvPicPr>
            <a:picLocks noChangeAspect="1"/>
          </p:cNvPicPr>
          <p:nvPr/>
        </p:nvPicPr>
        <p:blipFill>
          <a:blip r:embed="rId4"/>
          <a:stretch>
            <a:fillRect/>
          </a:stretch>
        </p:blipFill>
        <p:spPr>
          <a:xfrm>
            <a:off x="401690" y="3286785"/>
            <a:ext cx="685800" cy="685800"/>
          </a:xfrm>
          <a:prstGeom prst="rect">
            <a:avLst/>
          </a:prstGeom>
        </p:spPr>
      </p:pic>
      <p:pic>
        <p:nvPicPr>
          <p:cNvPr id="41" name="Graphic 24">
            <a:extLst>
              <a:ext uri="{FF2B5EF4-FFF2-40B4-BE49-F238E27FC236}">
                <a16:creationId xmlns:a16="http://schemas.microsoft.com/office/drawing/2014/main" id="{DD01F647-5021-2945-A1F9-4FD26EC69AC6}"/>
              </a:ext>
            </a:extLst>
          </p:cNvPr>
          <p:cNvPicPr>
            <a:picLocks noChangeAspect="1"/>
          </p:cNvPicPr>
          <p:nvPr/>
        </p:nvPicPr>
        <p:blipFill>
          <a:blip r:embed="rId5"/>
          <a:stretch>
            <a:fillRect/>
          </a:stretch>
        </p:blipFill>
        <p:spPr>
          <a:xfrm>
            <a:off x="1897264" y="3340621"/>
            <a:ext cx="685800" cy="685800"/>
          </a:xfrm>
          <a:prstGeom prst="rect">
            <a:avLst/>
          </a:prstGeom>
        </p:spPr>
      </p:pic>
      <p:sp>
        <p:nvSpPr>
          <p:cNvPr id="42" name="Rectangle 41">
            <a:extLst>
              <a:ext uri="{FF2B5EF4-FFF2-40B4-BE49-F238E27FC236}">
                <a16:creationId xmlns:a16="http://schemas.microsoft.com/office/drawing/2014/main" id="{CE7F7081-419C-2E4F-A999-2923C4338FC0}"/>
              </a:ext>
            </a:extLst>
          </p:cNvPr>
          <p:cNvSpPr/>
          <p:nvPr/>
        </p:nvSpPr>
        <p:spPr>
          <a:xfrm>
            <a:off x="1409290" y="1439934"/>
            <a:ext cx="10269397" cy="488076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AWS Cloud</a:t>
            </a:r>
          </a:p>
        </p:txBody>
      </p:sp>
      <p:pic>
        <p:nvPicPr>
          <p:cNvPr id="43" name="Graphic 11">
            <a:extLst>
              <a:ext uri="{FF2B5EF4-FFF2-40B4-BE49-F238E27FC236}">
                <a16:creationId xmlns:a16="http://schemas.microsoft.com/office/drawing/2014/main" id="{CE52C9D7-11B0-9E41-AB16-2C9849C3ECBE}"/>
              </a:ext>
            </a:extLst>
          </p:cNvPr>
          <p:cNvPicPr>
            <a:picLocks noChangeAspect="1"/>
          </p:cNvPicPr>
          <p:nvPr/>
        </p:nvPicPr>
        <p:blipFill>
          <a:blip r:embed="rId6"/>
          <a:stretch>
            <a:fillRect/>
          </a:stretch>
        </p:blipFill>
        <p:spPr>
          <a:xfrm>
            <a:off x="1409291" y="1439935"/>
            <a:ext cx="330200" cy="330200"/>
          </a:xfrm>
          <a:prstGeom prst="rect">
            <a:avLst/>
          </a:prstGeom>
        </p:spPr>
      </p:pic>
      <p:sp>
        <p:nvSpPr>
          <p:cNvPr id="48" name="TextBox 47"/>
          <p:cNvSpPr txBox="1"/>
          <p:nvPr/>
        </p:nvSpPr>
        <p:spPr>
          <a:xfrm>
            <a:off x="5600916" y="4055806"/>
            <a:ext cx="1404595" cy="738664"/>
          </a:xfrm>
          <a:prstGeom prst="rect">
            <a:avLst/>
          </a:prstGeom>
          <a:noFill/>
        </p:spPr>
        <p:txBody>
          <a:bodyPr wrap="square" lIns="0" tIns="0" rIns="0" bIns="0" rtlCol="0">
            <a:spAutoFit/>
          </a:bodyPr>
          <a:lstStyle/>
          <a:p>
            <a:pPr algn="ctr"/>
            <a:r>
              <a:rPr lang="en-US" sz="1600" dirty="0">
                <a:latin typeface="Amazon Ember Light" charset="0"/>
                <a:ea typeface="Amazon Ember Light" charset="0"/>
                <a:cs typeface="Amazon Ember Light" charset="0"/>
              </a:rPr>
              <a:t>SNS topic</a:t>
            </a:r>
            <a:br>
              <a:rPr lang="en-US" sz="1600" dirty="0">
                <a:latin typeface="Amazon Ember Light" charset="0"/>
                <a:ea typeface="Amazon Ember Light" charset="0"/>
                <a:cs typeface="Amazon Ember Light" charset="0"/>
              </a:rPr>
            </a:br>
            <a:r>
              <a:rPr lang="en-US" sz="1600" dirty="0">
                <a:latin typeface="Amazon Ember Light" charset="0"/>
                <a:ea typeface="Amazon Ember Light" charset="0"/>
                <a:cs typeface="Amazon Ember Light" charset="0"/>
              </a:rPr>
              <a:t>Shopping Events</a:t>
            </a:r>
          </a:p>
        </p:txBody>
      </p:sp>
      <p:pic>
        <p:nvPicPr>
          <p:cNvPr id="49" name="Graphic 31">
            <a:extLst>
              <a:ext uri="{FF2B5EF4-FFF2-40B4-BE49-F238E27FC236}">
                <a16:creationId xmlns:a16="http://schemas.microsoft.com/office/drawing/2014/main" id="{075C7C7E-0733-F14B-BBD3-48FCFF6D5EA5}"/>
              </a:ext>
            </a:extLst>
          </p:cNvPr>
          <p:cNvPicPr>
            <a:picLocks noChangeAspect="1"/>
          </p:cNvPicPr>
          <p:nvPr/>
        </p:nvPicPr>
        <p:blipFill>
          <a:blip r:embed="rId7"/>
          <a:stretch>
            <a:fillRect/>
          </a:stretch>
        </p:blipFill>
        <p:spPr>
          <a:xfrm>
            <a:off x="5960313" y="3340621"/>
            <a:ext cx="685800" cy="685800"/>
          </a:xfrm>
          <a:prstGeom prst="rect">
            <a:avLst/>
          </a:prstGeom>
        </p:spPr>
      </p:pic>
      <p:pic>
        <p:nvPicPr>
          <p:cNvPr id="50" name="Graphic 39">
            <a:extLst>
              <a:ext uri="{FF2B5EF4-FFF2-40B4-BE49-F238E27FC236}">
                <a16:creationId xmlns:a16="http://schemas.microsoft.com/office/drawing/2014/main" id="{2ACAD885-5F52-504F-842D-3D87E199BD5D}"/>
              </a:ext>
            </a:extLst>
          </p:cNvPr>
          <p:cNvPicPr>
            <a:picLocks noChangeAspect="1"/>
          </p:cNvPicPr>
          <p:nvPr/>
        </p:nvPicPr>
        <p:blipFill>
          <a:blip r:embed="rId8"/>
          <a:stretch>
            <a:fillRect/>
          </a:stretch>
        </p:blipFill>
        <p:spPr>
          <a:xfrm>
            <a:off x="8641657" y="1916241"/>
            <a:ext cx="914400" cy="914400"/>
          </a:xfrm>
          <a:prstGeom prst="rect">
            <a:avLst/>
          </a:prstGeom>
        </p:spPr>
      </p:pic>
      <p:pic>
        <p:nvPicPr>
          <p:cNvPr id="52" name="Graphic 24">
            <a:extLst>
              <a:ext uri="{FF2B5EF4-FFF2-40B4-BE49-F238E27FC236}">
                <a16:creationId xmlns:a16="http://schemas.microsoft.com/office/drawing/2014/main" id="{DD01F647-5021-2945-A1F9-4FD26EC69AC6}"/>
              </a:ext>
            </a:extLst>
          </p:cNvPr>
          <p:cNvPicPr>
            <a:picLocks noChangeAspect="1"/>
          </p:cNvPicPr>
          <p:nvPr/>
        </p:nvPicPr>
        <p:blipFill>
          <a:blip r:embed="rId5"/>
          <a:stretch>
            <a:fillRect/>
          </a:stretch>
        </p:blipFill>
        <p:spPr>
          <a:xfrm>
            <a:off x="10447726" y="2198985"/>
            <a:ext cx="685800" cy="685800"/>
          </a:xfrm>
          <a:prstGeom prst="rect">
            <a:avLst/>
          </a:prstGeom>
        </p:spPr>
      </p:pic>
      <p:pic>
        <p:nvPicPr>
          <p:cNvPr id="53" name="Graphic 24">
            <a:extLst>
              <a:ext uri="{FF2B5EF4-FFF2-40B4-BE49-F238E27FC236}">
                <a16:creationId xmlns:a16="http://schemas.microsoft.com/office/drawing/2014/main" id="{DD01F647-5021-2945-A1F9-4FD26EC69AC6}"/>
              </a:ext>
            </a:extLst>
          </p:cNvPr>
          <p:cNvPicPr>
            <a:picLocks noChangeAspect="1"/>
          </p:cNvPicPr>
          <p:nvPr/>
        </p:nvPicPr>
        <p:blipFill>
          <a:blip r:embed="rId5"/>
          <a:stretch>
            <a:fillRect/>
          </a:stretch>
        </p:blipFill>
        <p:spPr>
          <a:xfrm>
            <a:off x="10419858" y="4684935"/>
            <a:ext cx="685800" cy="685800"/>
          </a:xfrm>
          <a:prstGeom prst="rect">
            <a:avLst/>
          </a:prstGeom>
        </p:spPr>
      </p:pic>
      <p:pic>
        <p:nvPicPr>
          <p:cNvPr id="56" name="Graphic 42">
            <a:extLst>
              <a:ext uri="{FF2B5EF4-FFF2-40B4-BE49-F238E27FC236}">
                <a16:creationId xmlns:a16="http://schemas.microsoft.com/office/drawing/2014/main" id="{4130D902-988A-C441-B94E-F5D6D001FFBA}"/>
              </a:ext>
            </a:extLst>
          </p:cNvPr>
          <p:cNvPicPr>
            <a:picLocks noChangeAspect="1"/>
          </p:cNvPicPr>
          <p:nvPr/>
        </p:nvPicPr>
        <p:blipFill>
          <a:blip r:embed="rId9"/>
          <a:stretch>
            <a:fillRect/>
          </a:stretch>
        </p:blipFill>
        <p:spPr>
          <a:xfrm>
            <a:off x="8678415" y="4570635"/>
            <a:ext cx="914400" cy="914400"/>
          </a:xfrm>
          <a:prstGeom prst="rect">
            <a:avLst/>
          </a:prstGeom>
        </p:spPr>
      </p:pic>
      <p:cxnSp>
        <p:nvCxnSpPr>
          <p:cNvPr id="57" name="Elbow Connector 56"/>
          <p:cNvCxnSpPr>
            <a:stCxn id="48" idx="2"/>
            <a:endCxn id="56" idx="1"/>
          </p:cNvCxnSpPr>
          <p:nvPr/>
        </p:nvCxnSpPr>
        <p:spPr>
          <a:xfrm rot="16200000" flipH="1">
            <a:off x="7374132" y="3723551"/>
            <a:ext cx="233365" cy="2375201"/>
          </a:xfrm>
          <a:prstGeom prst="bentConnector2">
            <a:avLst/>
          </a:prstGeom>
          <a:ln>
            <a:tailEnd type="arrow" w="med" len="sm"/>
          </a:ln>
        </p:spPr>
        <p:style>
          <a:lnRef idx="1">
            <a:schemeClr val="accent1"/>
          </a:lnRef>
          <a:fillRef idx="0">
            <a:schemeClr val="accent1"/>
          </a:fillRef>
          <a:effectRef idx="0">
            <a:schemeClr val="accent1"/>
          </a:effectRef>
          <a:fontRef idx="minor">
            <a:schemeClr val="tx1"/>
          </a:fontRef>
        </p:style>
      </p:cxnSp>
      <p:sp>
        <p:nvSpPr>
          <p:cNvPr id="97" name="Rectangle 96"/>
          <p:cNvSpPr/>
          <p:nvPr/>
        </p:nvSpPr>
        <p:spPr>
          <a:xfrm>
            <a:off x="7164369" y="4877558"/>
            <a:ext cx="535156" cy="3099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Elbow Connector 10"/>
          <p:cNvCxnSpPr>
            <a:stCxn id="49" idx="0"/>
          </p:cNvCxnSpPr>
          <p:nvPr/>
        </p:nvCxnSpPr>
        <p:spPr>
          <a:xfrm rot="5400000" flipH="1" flipV="1">
            <a:off x="7073067" y="1772031"/>
            <a:ext cx="798736" cy="2338444"/>
          </a:xfrm>
          <a:prstGeom prst="bentConnector2">
            <a:avLst/>
          </a:prstGeom>
          <a:ln>
            <a:tailEnd type="arrow" w="med" len="sm"/>
          </a:ln>
        </p:spPr>
        <p:style>
          <a:lnRef idx="1">
            <a:schemeClr val="accent1"/>
          </a:lnRef>
          <a:fillRef idx="0">
            <a:schemeClr val="accent1"/>
          </a:fillRef>
          <a:effectRef idx="0">
            <a:schemeClr val="accent1"/>
          </a:effectRef>
          <a:fontRef idx="minor">
            <a:schemeClr val="tx1"/>
          </a:fontRef>
        </p:style>
      </p:cxnSp>
      <p:sp>
        <p:nvSpPr>
          <p:cNvPr id="95" name="Rectangle 94"/>
          <p:cNvSpPr/>
          <p:nvPr/>
        </p:nvSpPr>
        <p:spPr>
          <a:xfrm>
            <a:off x="6029420" y="2702481"/>
            <a:ext cx="535156" cy="30994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p:cNvSpPr/>
          <p:nvPr/>
        </p:nvSpPr>
        <p:spPr>
          <a:xfrm>
            <a:off x="7078551" y="2386910"/>
            <a:ext cx="535156" cy="30994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03607691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 </a:t>
            </a:r>
            <a:r>
              <a:rPr lang="en-US" dirty="0" smtClean="0">
                <a:solidFill>
                  <a:srgbClr val="FFFFFF"/>
                </a:solidFill>
              </a:rPr>
              <a:t>E-commerce</a:t>
            </a:r>
            <a:r>
              <a:rPr lang="en-US" dirty="0" smtClean="0"/>
              <a:t> </a:t>
            </a:r>
            <a:r>
              <a:rPr lang="en-US" dirty="0">
                <a:solidFill>
                  <a:srgbClr val="FFFFFF"/>
                </a:solidFill>
              </a:rPr>
              <a:t>website</a:t>
            </a:r>
            <a:endParaRPr lang="en-US" dirty="0">
              <a:solidFill>
                <a:srgbClr val="FFFFFF"/>
              </a:solidFill>
              <a:latin typeface="Amazon Ember Light" panose="020B0403020204020204"/>
            </a:endParaRPr>
          </a:p>
        </p:txBody>
      </p:sp>
      <p:sp>
        <p:nvSpPr>
          <p:cNvPr id="4" name="Slide Number Placeholder 3"/>
          <p:cNvSpPr>
            <a:spLocks noGrp="1"/>
          </p:cNvSpPr>
          <p:nvPr>
            <p:ph type="sldNum" sz="quarter" idx="12"/>
          </p:nvPr>
        </p:nvSpPr>
        <p:spPr/>
        <p:txBody>
          <a:bodyPr/>
          <a:lstStyle/>
          <a:p>
            <a:fld id="{9FC43BFD-8FF7-A343-A8A6-E2338FCE8046}" type="slidenum">
              <a:rPr lang="en-US" smtClean="0"/>
              <a:pPr/>
              <a:t>34</a:t>
            </a:fld>
            <a:endParaRPr lang="en-US" dirty="0"/>
          </a:p>
        </p:txBody>
      </p:sp>
      <p:sp>
        <p:nvSpPr>
          <p:cNvPr id="11" name="Footer Placeholder 10"/>
          <p:cNvSpPr>
            <a:spLocks noGrp="1"/>
          </p:cNvSpPr>
          <p:nvPr>
            <p:ph type="ftr" sz="quarter" idx="3"/>
          </p:nvPr>
        </p:nvSpPr>
        <p:spPr/>
        <p:txBody>
          <a:bodyPr/>
          <a:lstStyle/>
          <a:p>
            <a:r>
              <a:rPr lang="en-US"/>
              <a:t>© 2020 Amazon Web Services, Inc. or its Affiliates. All rights reserved.</a:t>
            </a:r>
            <a:endParaRPr lang="en-US" dirty="0"/>
          </a:p>
        </p:txBody>
      </p:sp>
      <p:sp>
        <p:nvSpPr>
          <p:cNvPr id="5" name="TextBox 4"/>
          <p:cNvSpPr txBox="1"/>
          <p:nvPr/>
        </p:nvSpPr>
        <p:spPr>
          <a:xfrm>
            <a:off x="389224" y="1521106"/>
            <a:ext cx="11440826" cy="954300"/>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US" dirty="0">
                <a:solidFill>
                  <a:schemeClr val="tx1"/>
                </a:solidFill>
                <a:latin typeface="Lucida Console" panose="020B0609040504020204" pitchFamily="49" charset="0"/>
                <a:cs typeface="Courier New" panose="02070309020205020404" pitchFamily="49" charset="0"/>
              </a:rPr>
              <a:t>topic_arn = sns.create_topic(</a:t>
            </a:r>
          </a:p>
          <a:p>
            <a:r>
              <a:rPr lang="en-US" dirty="0">
                <a:solidFill>
                  <a:schemeClr val="tx1"/>
                </a:solidFill>
                <a:latin typeface="Lucida Console" panose="020B0609040504020204" pitchFamily="49" charset="0"/>
                <a:cs typeface="Courier New" panose="02070309020205020404" pitchFamily="49" charset="0"/>
              </a:rPr>
              <a:t>	Name=‘</a:t>
            </a:r>
            <a:r>
              <a:rPr lang="en-US" b="1" dirty="0">
                <a:solidFill>
                  <a:schemeClr val="tx1"/>
                </a:solidFill>
                <a:latin typeface="Lucida Console" panose="020B0609040504020204" pitchFamily="49" charset="0"/>
                <a:cs typeface="Courier New" panose="02070309020205020404" pitchFamily="49" charset="0"/>
              </a:rPr>
              <a:t>ShoppingEvents</a:t>
            </a:r>
            <a:r>
              <a:rPr lang="en-US" dirty="0">
                <a:solidFill>
                  <a:schemeClr val="tx1"/>
                </a:solidFill>
                <a:latin typeface="Lucida Console" panose="020B0609040504020204" pitchFamily="49" charset="0"/>
                <a:cs typeface="Courier New" panose="02070309020205020404" pitchFamily="49" charset="0"/>
              </a:rPr>
              <a:t>’</a:t>
            </a:r>
          </a:p>
          <a:p>
            <a:r>
              <a:rPr lang="en-US" dirty="0">
                <a:solidFill>
                  <a:schemeClr val="tx1"/>
                </a:solidFill>
                <a:latin typeface="Lucida Console" panose="020B0609040504020204" pitchFamily="49" charset="0"/>
                <a:cs typeface="Courier New" panose="02070309020205020404" pitchFamily="49" charset="0"/>
              </a:rPr>
              <a:t>)[‘TopicArn’}</a:t>
            </a:r>
          </a:p>
        </p:txBody>
      </p:sp>
      <p:sp>
        <p:nvSpPr>
          <p:cNvPr id="7" name="TextBox 6"/>
          <p:cNvSpPr txBox="1"/>
          <p:nvPr/>
        </p:nvSpPr>
        <p:spPr>
          <a:xfrm>
            <a:off x="389224" y="2935244"/>
            <a:ext cx="11449050" cy="3139321"/>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US" dirty="0">
                <a:solidFill>
                  <a:schemeClr val="tx1"/>
                </a:solidFill>
                <a:latin typeface="Lucida Console" panose="020B0609040504020204" pitchFamily="49" charset="0"/>
                <a:cs typeface="Courier New" panose="02070309020205020404" pitchFamily="49" charset="0"/>
              </a:rPr>
              <a:t>search_engine_subscription_arn = sns.subscribe(</a:t>
            </a:r>
          </a:p>
          <a:p>
            <a:r>
              <a:rPr lang="en-US" dirty="0">
                <a:solidFill>
                  <a:schemeClr val="tx1"/>
                </a:solidFill>
                <a:latin typeface="Lucida Console" panose="020B0609040504020204" pitchFamily="49" charset="0"/>
                <a:cs typeface="Courier New" panose="02070309020205020404" pitchFamily="49" charset="0"/>
              </a:rPr>
              <a:t>	TopicArn = topic_arn,</a:t>
            </a:r>
          </a:p>
          <a:p>
            <a:r>
              <a:rPr lang="en-US" dirty="0">
                <a:solidFill>
                  <a:schemeClr val="tx1"/>
                </a:solidFill>
                <a:latin typeface="Lucida Console" panose="020B0609040504020204" pitchFamily="49" charset="0"/>
                <a:cs typeface="Courier New" panose="02070309020205020404" pitchFamily="49" charset="0"/>
              </a:rPr>
              <a:t>	Protocol = ‘</a:t>
            </a:r>
            <a:r>
              <a:rPr lang="en-US" b="1" dirty="0">
                <a:solidFill>
                  <a:srgbClr val="000000"/>
                </a:solidFill>
                <a:latin typeface="Lucida Console" panose="020B0609040504020204" pitchFamily="49" charset="0"/>
                <a:cs typeface="Courier New" panose="02070309020205020404" pitchFamily="49" charset="0"/>
              </a:rPr>
              <a:t>lambda</a:t>
            </a:r>
            <a:r>
              <a:rPr lang="en-US" dirty="0">
                <a:solidFill>
                  <a:schemeClr val="tx1"/>
                </a:solidFill>
                <a:latin typeface="Lucida Console" panose="020B0609040504020204" pitchFamily="49" charset="0"/>
                <a:cs typeface="Courier New" panose="02070309020205020404" pitchFamily="49" charset="0"/>
              </a:rPr>
              <a:t>’,</a:t>
            </a:r>
          </a:p>
          <a:p>
            <a:r>
              <a:rPr lang="en-US" dirty="0">
                <a:solidFill>
                  <a:schemeClr val="tx1"/>
                </a:solidFill>
                <a:latin typeface="Lucida Console" panose="020B0609040504020204" pitchFamily="49" charset="0"/>
                <a:cs typeface="Courier New" panose="02070309020205020404" pitchFamily="49" charset="0"/>
              </a:rPr>
              <a:t>	Endpoint = ‘</a:t>
            </a:r>
            <a:r>
              <a:rPr lang="en-US" b="1" dirty="0">
                <a:solidFill>
                  <a:schemeClr val="tx1"/>
                </a:solidFill>
                <a:latin typeface="Lucida Console" panose="020B0609040504020204" pitchFamily="49" charset="0"/>
                <a:cs typeface="Courier New" panose="02070309020205020404" pitchFamily="49" charset="0"/>
              </a:rPr>
              <a:t>arn:aws:lambda:us-east-1:123456789012:function:SearchIndex’</a:t>
            </a:r>
          </a:p>
          <a:p>
            <a:r>
              <a:rPr lang="en-US" dirty="0">
                <a:solidFill>
                  <a:schemeClr val="tx1"/>
                </a:solidFill>
                <a:latin typeface="Lucida Console" panose="020B0609040504020204" pitchFamily="49" charset="0"/>
                <a:cs typeface="Courier New" panose="02070309020205020404" pitchFamily="49" charset="0"/>
              </a:rPr>
              <a:t>)[‘</a:t>
            </a:r>
            <a:r>
              <a:rPr lang="en-US" b="1" dirty="0">
                <a:solidFill>
                  <a:schemeClr val="tx1"/>
                </a:solidFill>
                <a:latin typeface="Lucida Console" panose="020B0609040504020204" pitchFamily="49" charset="0"/>
                <a:cs typeface="Courier New" panose="02070309020205020404" pitchFamily="49" charset="0"/>
              </a:rPr>
              <a:t>SubscriptionArn</a:t>
            </a:r>
            <a:r>
              <a:rPr lang="en-US" dirty="0">
                <a:solidFill>
                  <a:schemeClr val="tx1"/>
                </a:solidFill>
                <a:latin typeface="Lucida Console" panose="020B0609040504020204" pitchFamily="49" charset="0"/>
                <a:cs typeface="Courier New" panose="02070309020205020404" pitchFamily="49" charset="0"/>
              </a:rPr>
              <a:t>’]</a:t>
            </a:r>
          </a:p>
          <a:p>
            <a:endParaRPr lang="en-US" dirty="0">
              <a:solidFill>
                <a:schemeClr val="tx1"/>
              </a:solidFill>
              <a:latin typeface="Lucida Console" panose="020B0609040504020204" pitchFamily="49" charset="0"/>
              <a:cs typeface="Courier New" panose="02070309020205020404" pitchFamily="49" charset="0"/>
            </a:endParaRPr>
          </a:p>
          <a:p>
            <a:r>
              <a:rPr lang="en-US" dirty="0">
                <a:solidFill>
                  <a:schemeClr val="tx1"/>
                </a:solidFill>
                <a:latin typeface="Lucida Console" panose="020B0609040504020204" pitchFamily="49" charset="0"/>
                <a:cs typeface="Courier New" panose="02070309020205020404" pitchFamily="49" charset="0"/>
              </a:rPr>
              <a:t>sns.set_subscription_attributes(</a:t>
            </a:r>
          </a:p>
          <a:p>
            <a:r>
              <a:rPr lang="en-US" dirty="0">
                <a:solidFill>
                  <a:schemeClr val="tx1"/>
                </a:solidFill>
                <a:latin typeface="Lucida Console" panose="020B0609040504020204" pitchFamily="49" charset="0"/>
                <a:cs typeface="Courier New" panose="02070309020205020404" pitchFamily="49" charset="0"/>
              </a:rPr>
              <a:t>	SubscriptionArn = search_engine_subscription_arn,</a:t>
            </a:r>
          </a:p>
          <a:p>
            <a:r>
              <a:rPr lang="en-US" dirty="0">
                <a:solidFill>
                  <a:schemeClr val="tx1"/>
                </a:solidFill>
                <a:latin typeface="Lucida Console" panose="020B0609040504020204" pitchFamily="49" charset="0"/>
                <a:cs typeface="Courier New" panose="02070309020205020404" pitchFamily="49" charset="0"/>
              </a:rPr>
              <a:t>	AttributeName = </a:t>
            </a:r>
            <a:r>
              <a:rPr lang="en-US" b="1" dirty="0">
                <a:solidFill>
                  <a:schemeClr val="tx1"/>
                </a:solidFill>
                <a:latin typeface="Lucida Console" panose="020B0609040504020204" pitchFamily="49" charset="0"/>
                <a:cs typeface="Courier New" panose="02070309020205020404" pitchFamily="49" charset="0"/>
              </a:rPr>
              <a:t>‘FilterPolicy’</a:t>
            </a:r>
          </a:p>
          <a:p>
            <a:r>
              <a:rPr lang="en-US" dirty="0">
                <a:solidFill>
                  <a:schemeClr val="tx1"/>
                </a:solidFill>
                <a:latin typeface="Lucida Console" panose="020B0609040504020204" pitchFamily="49" charset="0"/>
                <a:cs typeface="Courier New" panose="02070309020205020404" pitchFamily="49" charset="0"/>
              </a:rPr>
              <a:t>	AttributeValue = </a:t>
            </a:r>
            <a:r>
              <a:rPr lang="en-US" b="1" dirty="0">
                <a:solidFill>
                  <a:schemeClr val="tx1"/>
                </a:solidFill>
                <a:latin typeface="Lucida Console" panose="020B0609040504020204" pitchFamily="49" charset="0"/>
                <a:cs typeface="Courier New" panose="02070309020205020404" pitchFamily="49" charset="0"/>
              </a:rPr>
              <a:t>‘{event_type”: [“product_page_visited”]}’</a:t>
            </a:r>
          </a:p>
          <a:p>
            <a:r>
              <a:rPr lang="en-US" dirty="0">
                <a:solidFill>
                  <a:schemeClr val="tx1"/>
                </a:solidFill>
                <a:latin typeface="Lucida Console" panose="020B0609040504020204" pitchFamily="49" charset="0"/>
                <a:cs typeface="Courier New" panose="02070309020205020404" pitchFamily="49" charset="0"/>
              </a:rPr>
              <a:t>)</a:t>
            </a:r>
          </a:p>
        </p:txBody>
      </p:sp>
      <p:sp>
        <p:nvSpPr>
          <p:cNvPr id="3" name="Rectangle 2"/>
          <p:cNvSpPr/>
          <p:nvPr/>
        </p:nvSpPr>
        <p:spPr>
          <a:xfrm>
            <a:off x="10104120" y="1694130"/>
            <a:ext cx="1508760" cy="5029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p:nvSpPr>
        <p:spPr>
          <a:xfrm>
            <a:off x="10083281" y="1730557"/>
            <a:ext cx="1433406" cy="369332"/>
          </a:xfrm>
          <a:prstGeom prst="rect">
            <a:avLst/>
          </a:prstGeom>
        </p:spPr>
        <p:txBody>
          <a:bodyPr wrap="none">
            <a:spAutoFit/>
          </a:bodyPr>
          <a:lstStyle/>
          <a:p>
            <a:pPr algn="ctr"/>
            <a:r>
              <a:rPr lang="en-US" dirty="0">
                <a:latin typeface="Amazon Ember" panose="02000000000000000000" pitchFamily="2" charset="0"/>
                <a:ea typeface="Amazon Ember" panose="02000000000000000000" pitchFamily="2" charset="0"/>
                <a:cs typeface="Amazon Ember Light" charset="0"/>
              </a:rPr>
              <a:t>CreateTopic</a:t>
            </a:r>
          </a:p>
        </p:txBody>
      </p:sp>
      <p:sp>
        <p:nvSpPr>
          <p:cNvPr id="8" name="Rectangle 7"/>
          <p:cNvSpPr/>
          <p:nvPr/>
        </p:nvSpPr>
        <p:spPr>
          <a:xfrm>
            <a:off x="10112344" y="4265095"/>
            <a:ext cx="1508760" cy="5029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10210929" y="4301522"/>
            <a:ext cx="1194559" cy="369332"/>
          </a:xfrm>
          <a:prstGeom prst="rect">
            <a:avLst/>
          </a:prstGeom>
        </p:spPr>
        <p:txBody>
          <a:bodyPr wrap="none">
            <a:spAutoFit/>
          </a:bodyPr>
          <a:lstStyle/>
          <a:p>
            <a:pPr algn="ctr"/>
            <a:r>
              <a:rPr lang="en-US" dirty="0">
                <a:latin typeface="Amazon Ember" panose="02000000000000000000" pitchFamily="2" charset="0"/>
                <a:ea typeface="Amazon Ember" panose="02000000000000000000" pitchFamily="2" charset="0"/>
                <a:cs typeface="Amazon Ember Light" charset="0"/>
              </a:rPr>
              <a:t>Subscribe</a:t>
            </a:r>
          </a:p>
        </p:txBody>
      </p:sp>
    </p:spTree>
    <p:custDataLst>
      <p:tags r:id="rId1"/>
    </p:custDataLst>
    <p:extLst>
      <p:ext uri="{BB962C8B-B14F-4D97-AF65-F5344CB8AC3E}">
        <p14:creationId xmlns:p14="http://schemas.microsoft.com/office/powerpoint/2010/main" val="193180241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 </a:t>
            </a:r>
            <a:r>
              <a:rPr lang="en-US" dirty="0" smtClean="0">
                <a:solidFill>
                  <a:srgbClr val="FFFFFF"/>
                </a:solidFill>
              </a:rPr>
              <a:t>E-commerce</a:t>
            </a:r>
            <a:r>
              <a:rPr lang="en-US" dirty="0" smtClean="0"/>
              <a:t> </a:t>
            </a:r>
            <a:r>
              <a:rPr lang="en-US" dirty="0">
                <a:solidFill>
                  <a:srgbClr val="FFFFFF"/>
                </a:solidFill>
              </a:rPr>
              <a:t>website</a:t>
            </a:r>
            <a:endParaRPr lang="en-US" dirty="0">
              <a:solidFill>
                <a:srgbClr val="FFFFFF"/>
              </a:solidFill>
              <a:latin typeface="Amazon Ember Light" panose="020B0403020204020204"/>
            </a:endParaRPr>
          </a:p>
        </p:txBody>
      </p:sp>
      <p:sp>
        <p:nvSpPr>
          <p:cNvPr id="4" name="Content Placeholder 3"/>
          <p:cNvSpPr>
            <a:spLocks noGrp="1"/>
          </p:cNvSpPr>
          <p:nvPr>
            <p:ph idx="1"/>
          </p:nvPr>
        </p:nvSpPr>
        <p:spPr>
          <a:xfrm>
            <a:off x="419100" y="1528174"/>
            <a:ext cx="11353800" cy="4828175"/>
          </a:xfrm>
          <a:ln>
            <a:noFill/>
          </a:ln>
        </p:spPr>
        <p:txBody>
          <a:bodyPr/>
          <a:lstStyle/>
          <a:p>
            <a:r>
              <a:rPr lang="en-US" sz="1600" dirty="0">
                <a:solidFill>
                  <a:srgbClr val="000000"/>
                </a:solidFill>
                <a:cs typeface="Courier New" panose="02070309020205020404" pitchFamily="49" charset="0"/>
              </a:rPr>
              <a:t>message</a:t>
            </a:r>
            <a:r>
              <a:rPr lang="en-US" sz="1600" dirty="0">
                <a:cs typeface="Courier New" panose="02070309020205020404" pitchFamily="49" charset="0"/>
              </a:rPr>
              <a:t> = </a:t>
            </a:r>
            <a:r>
              <a:rPr lang="en-US" sz="1600" b="1" dirty="0">
                <a:cs typeface="Courier New" panose="02070309020205020404" pitchFamily="49" charset="0"/>
              </a:rPr>
              <a:t>‘{“product”: {“id”: 1251, “status”: “</a:t>
            </a:r>
            <a:r>
              <a:rPr lang="en-US" sz="1600" b="1" dirty="0" err="1">
                <a:cs typeface="Courier New" panose="02070309020205020404" pitchFamily="49" charset="0"/>
              </a:rPr>
              <a:t>in_stock</a:t>
            </a:r>
            <a:r>
              <a:rPr lang="en-US" sz="1600" b="1" dirty="0">
                <a:cs typeface="Courier New" panose="02070309020205020404" pitchFamily="49" charset="0"/>
              </a:rPr>
              <a:t>”},’\</a:t>
            </a:r>
          </a:p>
          <a:p>
            <a:r>
              <a:rPr lang="en-US" sz="1600" b="1" dirty="0">
                <a:cs typeface="Courier New" panose="02070309020205020404" pitchFamily="49" charset="0"/>
              </a:rPr>
              <a:t>	   ‘ “buyer”: {“id”:4454}}’</a:t>
            </a:r>
          </a:p>
          <a:p>
            <a:endParaRPr lang="en-US" sz="1600" dirty="0">
              <a:cs typeface="Courier New" panose="02070309020205020404" pitchFamily="49" charset="0"/>
            </a:endParaRPr>
          </a:p>
          <a:p>
            <a:r>
              <a:rPr lang="en-US" sz="1600" dirty="0" err="1">
                <a:cs typeface="Courier New" panose="02070309020205020404" pitchFamily="49" charset="0"/>
              </a:rPr>
              <a:t>sns.publish</a:t>
            </a:r>
            <a:r>
              <a:rPr lang="en-US" sz="1600" dirty="0">
                <a:cs typeface="Courier New" panose="02070309020205020404" pitchFamily="49" charset="0"/>
              </a:rPr>
              <a:t>(</a:t>
            </a:r>
          </a:p>
          <a:p>
            <a:r>
              <a:rPr lang="en-US" sz="1600" dirty="0">
                <a:cs typeface="Courier New" panose="02070309020205020404" pitchFamily="49" charset="0"/>
              </a:rPr>
              <a:t>	</a:t>
            </a:r>
            <a:r>
              <a:rPr lang="en-US" sz="1600" dirty="0" err="1">
                <a:cs typeface="Courier New" panose="02070309020205020404" pitchFamily="49" charset="0"/>
              </a:rPr>
              <a:t>TopicArn</a:t>
            </a:r>
            <a:r>
              <a:rPr lang="en-US" sz="1600" dirty="0">
                <a:cs typeface="Courier New" panose="02070309020205020404" pitchFamily="49" charset="0"/>
              </a:rPr>
              <a:t> = </a:t>
            </a:r>
            <a:r>
              <a:rPr lang="en-US" sz="1600" dirty="0" err="1">
                <a:cs typeface="Courier New" panose="02070309020205020404" pitchFamily="49" charset="0"/>
              </a:rPr>
              <a:t>topic_arn</a:t>
            </a:r>
            <a:r>
              <a:rPr lang="en-US" sz="1600" dirty="0">
                <a:cs typeface="Courier New" panose="02070309020205020404" pitchFamily="49" charset="0"/>
              </a:rPr>
              <a:t>,</a:t>
            </a:r>
          </a:p>
          <a:p>
            <a:r>
              <a:rPr lang="en-US" sz="1600" dirty="0">
                <a:cs typeface="Courier New" panose="02070309020205020404" pitchFamily="49" charset="0"/>
              </a:rPr>
              <a:t>	Subject = “Product Visited #1251’,</a:t>
            </a:r>
          </a:p>
          <a:p>
            <a:r>
              <a:rPr lang="en-US" sz="1600" dirty="0">
                <a:cs typeface="Courier New" panose="02070309020205020404" pitchFamily="49" charset="0"/>
              </a:rPr>
              <a:t>	Message = message,</a:t>
            </a:r>
          </a:p>
          <a:p>
            <a:r>
              <a:rPr lang="en-US" sz="1600" dirty="0">
                <a:cs typeface="Courier New" panose="02070309020205020404" pitchFamily="49" charset="0"/>
              </a:rPr>
              <a:t>	</a:t>
            </a:r>
            <a:r>
              <a:rPr lang="en-US" sz="1600" dirty="0" err="1">
                <a:cs typeface="Courier New" panose="02070309020205020404" pitchFamily="49" charset="0"/>
              </a:rPr>
              <a:t>MessageAttributes</a:t>
            </a:r>
            <a:r>
              <a:rPr lang="en-US" sz="1600" dirty="0">
                <a:cs typeface="Courier New" panose="02070309020205020404" pitchFamily="49" charset="0"/>
              </a:rPr>
              <a:t> = {</a:t>
            </a:r>
          </a:p>
          <a:p>
            <a:r>
              <a:rPr lang="en-US" sz="1600" dirty="0">
                <a:cs typeface="Courier New" panose="02070309020205020404" pitchFamily="49" charset="0"/>
              </a:rPr>
              <a:t>		</a:t>
            </a:r>
            <a:r>
              <a:rPr lang="en-US" sz="1600" b="1" dirty="0">
                <a:cs typeface="Courier New" panose="02070309020205020404" pitchFamily="49" charset="0"/>
              </a:rPr>
              <a:t>‘</a:t>
            </a:r>
            <a:r>
              <a:rPr lang="en-US" sz="1600" b="1" dirty="0" err="1">
                <a:cs typeface="Courier New" panose="02070309020205020404" pitchFamily="49" charset="0"/>
              </a:rPr>
              <a:t>event_type</a:t>
            </a:r>
            <a:r>
              <a:rPr lang="en-US" sz="1600" b="1" dirty="0">
                <a:cs typeface="Courier New" panose="02070309020205020404" pitchFamily="49" charset="0"/>
              </a:rPr>
              <a:t>’: {</a:t>
            </a:r>
          </a:p>
          <a:p>
            <a:r>
              <a:rPr lang="en-US" sz="1600" b="1" dirty="0">
                <a:cs typeface="Courier New" panose="02070309020205020404" pitchFamily="49" charset="0"/>
              </a:rPr>
              <a:t>			‘</a:t>
            </a:r>
            <a:r>
              <a:rPr lang="en-US" sz="1600" b="1" dirty="0" err="1" smtClean="0">
                <a:cs typeface="Courier New" panose="02070309020205020404" pitchFamily="49" charset="0"/>
              </a:rPr>
              <a:t>DataType</a:t>
            </a:r>
            <a:r>
              <a:rPr lang="en-US" sz="1600" b="1" dirty="0">
                <a:cs typeface="Courier New" panose="02070309020205020404" pitchFamily="49" charset="0"/>
              </a:rPr>
              <a:t>’: ‘String’,</a:t>
            </a:r>
          </a:p>
          <a:p>
            <a:r>
              <a:rPr lang="en-US" sz="1600" b="1" dirty="0">
                <a:cs typeface="Courier New" panose="02070309020205020404" pitchFamily="49" charset="0"/>
              </a:rPr>
              <a:t>			‘</a:t>
            </a:r>
            <a:r>
              <a:rPr lang="en-US" sz="1600" b="1" dirty="0" err="1">
                <a:cs typeface="Courier New" panose="02070309020205020404" pitchFamily="49" charset="0"/>
              </a:rPr>
              <a:t>StringValue</a:t>
            </a:r>
            <a:r>
              <a:rPr lang="en-US" sz="1600" b="1" dirty="0">
                <a:cs typeface="Courier New" panose="02070309020205020404" pitchFamily="49" charset="0"/>
              </a:rPr>
              <a:t>’: ‘</a:t>
            </a:r>
            <a:r>
              <a:rPr lang="en-US" sz="1600" b="1" dirty="0" err="1">
                <a:cs typeface="Courier New" panose="02070309020205020404" pitchFamily="49" charset="0"/>
              </a:rPr>
              <a:t>product_page_visited</a:t>
            </a:r>
            <a:r>
              <a:rPr lang="en-US" sz="1600" b="1" dirty="0">
                <a:cs typeface="Courier New" panose="02070309020205020404" pitchFamily="49" charset="0"/>
              </a:rPr>
              <a:t>’</a:t>
            </a:r>
          </a:p>
          <a:p>
            <a:r>
              <a:rPr lang="en-US" sz="1600" dirty="0">
                <a:cs typeface="Courier New" panose="02070309020205020404" pitchFamily="49" charset="0"/>
              </a:rPr>
              <a:t>		}</a:t>
            </a:r>
          </a:p>
          <a:p>
            <a:r>
              <a:rPr lang="en-US" sz="1600" dirty="0">
                <a:cs typeface="Courier New" panose="02070309020205020404" pitchFamily="49" charset="0"/>
              </a:rPr>
              <a:t>	}</a:t>
            </a:r>
          </a:p>
          <a:p>
            <a:r>
              <a:rPr lang="en-US" sz="1600" dirty="0">
                <a:cs typeface="Courier New" panose="02070309020205020404" pitchFamily="49" charset="0"/>
              </a:rPr>
              <a:t>}</a:t>
            </a:r>
          </a:p>
          <a:p>
            <a:endParaRPr lang="en-US" dirty="0"/>
          </a:p>
        </p:txBody>
      </p:sp>
      <p:sp>
        <p:nvSpPr>
          <p:cNvPr id="3" name="Slide Number Placeholder 2"/>
          <p:cNvSpPr>
            <a:spLocks noGrp="1"/>
          </p:cNvSpPr>
          <p:nvPr>
            <p:ph type="sldNum" sz="quarter" idx="12"/>
          </p:nvPr>
        </p:nvSpPr>
        <p:spPr/>
        <p:txBody>
          <a:bodyPr/>
          <a:lstStyle/>
          <a:p>
            <a:fld id="{9FC43BFD-8FF7-A343-A8A6-E2338FCE8046}" type="slidenum">
              <a:rPr lang="en-US" smtClean="0"/>
              <a:pPr/>
              <a:t>35</a:t>
            </a:fld>
            <a:endParaRPr lang="en-US" dirty="0"/>
          </a:p>
        </p:txBody>
      </p:sp>
      <p:sp>
        <p:nvSpPr>
          <p:cNvPr id="8" name="Rectangle 7"/>
          <p:cNvSpPr/>
          <p:nvPr/>
        </p:nvSpPr>
        <p:spPr>
          <a:xfrm>
            <a:off x="10148920" y="3003223"/>
            <a:ext cx="1508760" cy="5029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10368534" y="3039650"/>
            <a:ext cx="952505" cy="369332"/>
          </a:xfrm>
          <a:prstGeom prst="rect">
            <a:avLst/>
          </a:prstGeom>
        </p:spPr>
        <p:txBody>
          <a:bodyPr wrap="none">
            <a:spAutoFit/>
          </a:bodyPr>
          <a:lstStyle/>
          <a:p>
            <a:pPr algn="ctr"/>
            <a:r>
              <a:rPr lang="en-US" dirty="0">
                <a:latin typeface="Amazon Ember" panose="02000000000000000000" pitchFamily="2" charset="0"/>
                <a:ea typeface="Amazon Ember" panose="02000000000000000000" pitchFamily="2" charset="0"/>
                <a:cs typeface="Amazon Ember Light" charset="0"/>
              </a:rPr>
              <a:t>Publish</a:t>
            </a:r>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55312719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Amazon SNS</a:t>
            </a:r>
          </a:p>
        </p:txBody>
      </p:sp>
      <p:sp>
        <p:nvSpPr>
          <p:cNvPr id="3" name="Content Placeholder 2"/>
          <p:cNvSpPr>
            <a:spLocks noGrp="1"/>
          </p:cNvSpPr>
          <p:nvPr>
            <p:ph idx="1"/>
          </p:nvPr>
        </p:nvSpPr>
        <p:spPr/>
        <p:txBody>
          <a:bodyPr>
            <a:normAutofit/>
          </a:bodyPr>
          <a:lstStyle/>
          <a:p>
            <a:r>
              <a:rPr lang="en-US" dirty="0"/>
              <a:t>Each notification message contains a single published message.</a:t>
            </a:r>
          </a:p>
          <a:p>
            <a:r>
              <a:rPr lang="en-US" dirty="0" smtClean="0"/>
              <a:t>The </a:t>
            </a:r>
            <a:r>
              <a:rPr lang="en-US" dirty="0"/>
              <a:t>m</a:t>
            </a:r>
            <a:r>
              <a:rPr lang="en-US" dirty="0" smtClean="0"/>
              <a:t>essage </a:t>
            </a:r>
            <a:r>
              <a:rPr lang="en-US" dirty="0"/>
              <a:t>order is not </a:t>
            </a:r>
            <a:r>
              <a:rPr lang="en-US" dirty="0">
                <a:solidFill>
                  <a:srgbClr val="000000"/>
                </a:solidFill>
              </a:rPr>
              <a:t>guaranteed</a:t>
            </a:r>
            <a:r>
              <a:rPr lang="en-US" dirty="0"/>
              <a:t>.</a:t>
            </a:r>
          </a:p>
          <a:p>
            <a:r>
              <a:rPr lang="en-US" dirty="0"/>
              <a:t>A message cannot be deleted after it has been published. </a:t>
            </a:r>
          </a:p>
          <a:p>
            <a:r>
              <a:rPr lang="en-US" dirty="0"/>
              <a:t>Amazon SNS </a:t>
            </a:r>
            <a:r>
              <a:rPr lang="en-US" dirty="0">
                <a:solidFill>
                  <a:srgbClr val="000000"/>
                </a:solidFill>
              </a:rPr>
              <a:t>d</a:t>
            </a:r>
            <a:r>
              <a:rPr lang="en-US" dirty="0" smtClean="0">
                <a:solidFill>
                  <a:srgbClr val="000000"/>
                </a:solidFill>
              </a:rPr>
              <a:t>elivery</a:t>
            </a:r>
            <a:r>
              <a:rPr lang="en-US" dirty="0" smtClean="0"/>
              <a:t> </a:t>
            </a:r>
            <a:r>
              <a:rPr lang="en-US" dirty="0">
                <a:solidFill>
                  <a:srgbClr val="000000"/>
                </a:solidFill>
              </a:rPr>
              <a:t>p</a:t>
            </a:r>
            <a:r>
              <a:rPr lang="en-US" dirty="0" smtClean="0">
                <a:solidFill>
                  <a:srgbClr val="000000"/>
                </a:solidFill>
              </a:rPr>
              <a:t>olicy</a:t>
            </a:r>
            <a:r>
              <a:rPr lang="en-US" dirty="0" smtClean="0"/>
              <a:t> </a:t>
            </a:r>
            <a:r>
              <a:rPr lang="en-US" dirty="0"/>
              <a:t>can be used to control retries </a:t>
            </a:r>
            <a:r>
              <a:rPr lang="en-US" dirty="0">
                <a:solidFill>
                  <a:srgbClr val="000000"/>
                </a:solidFill>
              </a:rPr>
              <a:t>in case of</a:t>
            </a:r>
            <a:r>
              <a:rPr lang="en-US" dirty="0"/>
              <a:t> </a:t>
            </a:r>
            <a:r>
              <a:rPr lang="en-US" dirty="0">
                <a:solidFill>
                  <a:srgbClr val="000000"/>
                </a:solidFill>
              </a:rPr>
              <a:t>message delivery failure</a:t>
            </a:r>
            <a:r>
              <a:rPr lang="en-US" dirty="0"/>
              <a:t>.</a:t>
            </a:r>
          </a:p>
          <a:p>
            <a:r>
              <a:rPr lang="en-US" dirty="0"/>
              <a:t>Messages can contain up to 256 KB of </a:t>
            </a:r>
            <a:r>
              <a:rPr lang="en-US" dirty="0" smtClean="0"/>
              <a:t>data</a:t>
            </a:r>
            <a:r>
              <a:rPr lang="en-US" dirty="0"/>
              <a:t>, including XML, </a:t>
            </a:r>
            <a:r>
              <a:rPr lang="en-US" dirty="0">
                <a:solidFill>
                  <a:srgbClr val="000000"/>
                </a:solidFill>
              </a:rPr>
              <a:t>JSON, and</a:t>
            </a:r>
            <a:r>
              <a:rPr lang="en-US" dirty="0"/>
              <a:t> unformatted text. </a:t>
            </a:r>
          </a:p>
        </p:txBody>
      </p:sp>
      <p:sp>
        <p:nvSpPr>
          <p:cNvPr id="4" name="Slide Number Placeholder 3"/>
          <p:cNvSpPr>
            <a:spLocks noGrp="1"/>
          </p:cNvSpPr>
          <p:nvPr>
            <p:ph type="sldNum" sz="quarter" idx="12"/>
          </p:nvPr>
        </p:nvSpPr>
        <p:spPr/>
        <p:txBody>
          <a:bodyPr/>
          <a:lstStyle/>
          <a:p>
            <a:fld id="{9FC43BFD-8FF7-A343-A8A6-E2338FCE8046}" type="slidenum">
              <a:rPr lang="en-US" smtClean="0"/>
              <a:pPr/>
              <a:t>36</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41875075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Managing access to Amazon SNS</a:t>
            </a:r>
          </a:p>
        </p:txBody>
      </p:sp>
      <p:sp>
        <p:nvSpPr>
          <p:cNvPr id="3" name="Content Placeholder 2"/>
          <p:cNvSpPr>
            <a:spLocks noGrp="1"/>
          </p:cNvSpPr>
          <p:nvPr>
            <p:ph idx="1"/>
          </p:nvPr>
        </p:nvSpPr>
        <p:spPr/>
        <p:txBody>
          <a:bodyPr/>
          <a:lstStyle/>
          <a:p>
            <a:r>
              <a:rPr lang="en-US" dirty="0" smtClean="0"/>
              <a:t>Detailed control over endpoint access:</a:t>
            </a:r>
          </a:p>
          <a:p>
            <a:pPr lvl="1"/>
            <a:r>
              <a:rPr lang="en-US" dirty="0" smtClean="0"/>
              <a:t>Email</a:t>
            </a:r>
            <a:r>
              <a:rPr lang="en-US" dirty="0"/>
              <a:t>, </a:t>
            </a:r>
            <a:r>
              <a:rPr lang="en-US" dirty="0">
                <a:solidFill>
                  <a:srgbClr val="000000"/>
                </a:solidFill>
              </a:rPr>
              <a:t>HTTP(S)</a:t>
            </a:r>
            <a:r>
              <a:rPr lang="en-US" dirty="0"/>
              <a:t>, </a:t>
            </a:r>
            <a:r>
              <a:rPr lang="en-US" dirty="0">
                <a:solidFill>
                  <a:srgbClr val="000000"/>
                </a:solidFill>
              </a:rPr>
              <a:t>SMS</a:t>
            </a:r>
            <a:r>
              <a:rPr lang="en-US" dirty="0"/>
              <a:t>, Amazon SQS, or </a:t>
            </a:r>
            <a:r>
              <a:rPr lang="en-US" dirty="0" smtClean="0"/>
              <a:t>AWS Lambda mobile</a:t>
            </a:r>
            <a:r>
              <a:rPr lang="en-US" dirty="0"/>
              <a:t>.</a:t>
            </a:r>
          </a:p>
          <a:p>
            <a:pPr lvl="1"/>
            <a:r>
              <a:rPr lang="en-US" dirty="0"/>
              <a:t>Example: Only </a:t>
            </a:r>
            <a:r>
              <a:rPr lang="en-US" dirty="0">
                <a:solidFill>
                  <a:srgbClr val="000000"/>
                </a:solidFill>
              </a:rPr>
              <a:t>allow</a:t>
            </a:r>
            <a:r>
              <a:rPr lang="en-US" dirty="0"/>
              <a:t> </a:t>
            </a:r>
            <a:r>
              <a:rPr lang="en-US" dirty="0">
                <a:solidFill>
                  <a:srgbClr val="000000"/>
                </a:solidFill>
              </a:rPr>
              <a:t>Amazon SQS subscription</a:t>
            </a:r>
            <a:endParaRPr lang="en-US" dirty="0">
              <a:solidFill>
                <a:srgbClr val="000000"/>
              </a:solidFill>
              <a:latin typeface="Amazon Ember Light" panose="020B0403020204020204"/>
            </a:endParaRPr>
          </a:p>
          <a:p>
            <a:pPr lvl="1"/>
            <a:endParaRPr lang="en-US" dirty="0"/>
          </a:p>
          <a:p>
            <a:r>
              <a:rPr lang="en-US" dirty="0"/>
              <a:t>Who can publish notifications</a:t>
            </a:r>
            <a:r>
              <a:rPr lang="en-US" dirty="0" smtClean="0"/>
              <a:t>.</a:t>
            </a:r>
          </a:p>
          <a:p>
            <a:pPr lvl="1"/>
            <a:r>
              <a:rPr lang="en-US" dirty="0" smtClean="0"/>
              <a:t>Grant access to users via IAM policies</a:t>
            </a:r>
            <a:endParaRPr lang="en-US" dirty="0"/>
          </a:p>
          <a:p>
            <a:endParaRPr lang="en-US" dirty="0"/>
          </a:p>
          <a:p>
            <a:r>
              <a:rPr lang="en-US" dirty="0"/>
              <a:t>Who can subscribe to </a:t>
            </a:r>
            <a:r>
              <a:rPr lang="en-US" dirty="0" smtClean="0"/>
              <a:t>notifications.</a:t>
            </a:r>
          </a:p>
          <a:p>
            <a:pPr lvl="1"/>
            <a:r>
              <a:rPr lang="en-US" dirty="0" smtClean="0"/>
              <a:t>Grant access to another AWS Account</a:t>
            </a:r>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9FC43BFD-8FF7-A343-A8A6-E2338FCE8046}" type="slidenum">
              <a:rPr lang="en-US" smtClean="0"/>
              <a:pPr/>
              <a:t>37</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12311649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Amazon SQS and Amazon SNS</a:t>
            </a: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98520285"/>
              </p:ext>
            </p:extLst>
          </p:nvPr>
        </p:nvGraphicFramePr>
        <p:xfrm>
          <a:off x="419100" y="1528763"/>
          <a:ext cx="11354770" cy="3680960"/>
        </p:xfrm>
        <a:graphic>
          <a:graphicData uri="http://schemas.openxmlformats.org/drawingml/2006/table">
            <a:tbl>
              <a:tblPr firstRow="1" bandRow="1">
                <a:tableStyleId>{F5AB1C69-6EDB-4FF4-983F-18BD219EF322}</a:tableStyleId>
              </a:tblPr>
              <a:tblGrid>
                <a:gridCol w="3116599">
                  <a:extLst>
                    <a:ext uri="{9D8B030D-6E8A-4147-A177-3AD203B41FA5}">
                      <a16:colId xmlns:a16="http://schemas.microsoft.com/office/drawing/2014/main" val="2164255686"/>
                    </a:ext>
                  </a:extLst>
                </a:gridCol>
                <a:gridCol w="4404919">
                  <a:extLst>
                    <a:ext uri="{9D8B030D-6E8A-4147-A177-3AD203B41FA5}">
                      <a16:colId xmlns:a16="http://schemas.microsoft.com/office/drawing/2014/main" val="1764601007"/>
                    </a:ext>
                  </a:extLst>
                </a:gridCol>
                <a:gridCol w="3833252">
                  <a:extLst>
                    <a:ext uri="{9D8B030D-6E8A-4147-A177-3AD203B41FA5}">
                      <a16:colId xmlns:a16="http://schemas.microsoft.com/office/drawing/2014/main" val="3256020432"/>
                    </a:ext>
                  </a:extLst>
                </a:gridCol>
              </a:tblGrid>
              <a:tr h="499855">
                <a:tc>
                  <a:txBody>
                    <a:bodyPr/>
                    <a:lstStyle/>
                    <a:p>
                      <a:endParaRPr lang="en-US" baseline="0" dirty="0">
                        <a:ln>
                          <a:solidFill>
                            <a:schemeClr val="accent5">
                              <a:lumMod val="20000"/>
                              <a:lumOff val="80000"/>
                            </a:schemeClr>
                          </a:solidFill>
                        </a:ln>
                        <a:solidFill>
                          <a:schemeClr val="accent1"/>
                        </a:solidFill>
                        <a:effectLst/>
                        <a:latin typeface="Amazon Ember" panose="02000000000000000000" pitchFamily="2" charset="0"/>
                        <a:ea typeface="Amazon Ember" panose="02000000000000000000" pitchFamily="2" charset="0"/>
                      </a:endParaRPr>
                    </a:p>
                  </a:txBody>
                  <a:tcPr marL="97696" marR="97696"/>
                </a:tc>
                <a:tc>
                  <a:txBody>
                    <a:bodyPr/>
                    <a:lstStyle/>
                    <a:p>
                      <a:pPr algn="ctr"/>
                      <a:r>
                        <a:rPr lang="en-US" sz="3200" b="0" dirty="0">
                          <a:solidFill>
                            <a:schemeClr val="accent1"/>
                          </a:solidFill>
                          <a:latin typeface="Amazon Ember" panose="02000000000000000000" pitchFamily="2" charset="0"/>
                          <a:ea typeface="Amazon Ember" panose="02000000000000000000" pitchFamily="2" charset="0"/>
                        </a:rPr>
                        <a:t>Amazon</a:t>
                      </a:r>
                      <a:r>
                        <a:rPr lang="en-US" sz="3200" b="0" baseline="0" dirty="0">
                          <a:solidFill>
                            <a:schemeClr val="accent1"/>
                          </a:solidFill>
                          <a:latin typeface="Amazon Ember" panose="02000000000000000000" pitchFamily="2" charset="0"/>
                          <a:ea typeface="Amazon Ember" panose="02000000000000000000" pitchFamily="2" charset="0"/>
                        </a:rPr>
                        <a:t> SQS</a:t>
                      </a:r>
                      <a:endParaRPr lang="en-US" sz="3200" b="0" baseline="0" dirty="0">
                        <a:ln>
                          <a:solidFill>
                            <a:schemeClr val="accent5">
                              <a:lumMod val="20000"/>
                              <a:lumOff val="80000"/>
                            </a:schemeClr>
                          </a:solidFill>
                        </a:ln>
                        <a:solidFill>
                          <a:schemeClr val="accent1"/>
                        </a:solidFill>
                        <a:effectLst/>
                        <a:latin typeface="Amazon Ember" panose="02000000000000000000" pitchFamily="2" charset="0"/>
                        <a:ea typeface="Amazon Ember" panose="02000000000000000000" pitchFamily="2" charset="0"/>
                      </a:endParaRPr>
                    </a:p>
                  </a:txBody>
                  <a:tcPr marL="97696" marR="97696"/>
                </a:tc>
                <a:tc>
                  <a:txBody>
                    <a:bodyPr/>
                    <a:lstStyle/>
                    <a:p>
                      <a:pPr algn="ctr"/>
                      <a:r>
                        <a:rPr lang="en-US" sz="3200" b="0" baseline="0" dirty="0">
                          <a:ln>
                            <a:noFill/>
                          </a:ln>
                          <a:solidFill>
                            <a:schemeClr val="accent1"/>
                          </a:solidFill>
                          <a:effectLst/>
                          <a:latin typeface="Amazon Ember" panose="02000000000000000000" pitchFamily="2" charset="0"/>
                          <a:ea typeface="Amazon Ember" panose="02000000000000000000" pitchFamily="2" charset="0"/>
                        </a:rPr>
                        <a:t>Amazon SNS</a:t>
                      </a:r>
                      <a:endParaRPr lang="en-US" sz="3200" b="0" baseline="0" dirty="0">
                        <a:ln>
                          <a:solidFill>
                            <a:schemeClr val="accent5">
                              <a:lumMod val="20000"/>
                              <a:lumOff val="80000"/>
                            </a:schemeClr>
                          </a:solidFill>
                        </a:ln>
                        <a:solidFill>
                          <a:schemeClr val="accent1"/>
                        </a:solidFill>
                        <a:effectLst/>
                        <a:latin typeface="Amazon Ember" panose="02000000000000000000" pitchFamily="2" charset="0"/>
                        <a:ea typeface="Amazon Ember" panose="02000000000000000000" pitchFamily="2" charset="0"/>
                      </a:endParaRPr>
                    </a:p>
                  </a:txBody>
                  <a:tcPr marL="97696" marR="97696"/>
                </a:tc>
                <a:extLst>
                  <a:ext uri="{0D108BD9-81ED-4DB2-BD59-A6C34878D82A}">
                    <a16:rowId xmlns:a16="http://schemas.microsoft.com/office/drawing/2014/main" val="3986889979"/>
                  </a:ext>
                </a:extLst>
              </a:tr>
              <a:tr h="499855">
                <a:tc>
                  <a:txBody>
                    <a:bodyPr/>
                    <a:lstStyle/>
                    <a:p>
                      <a:r>
                        <a:rPr lang="en-US" sz="2000" dirty="0"/>
                        <a:t>Message persistence</a:t>
                      </a:r>
                      <a:endParaRPr lang="en-US" sz="20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7696" marR="97696"/>
                </a:tc>
                <a:tc>
                  <a:txBody>
                    <a:bodyPr/>
                    <a:lstStyle/>
                    <a:p>
                      <a:pPr algn="ctr"/>
                      <a:r>
                        <a:rPr lang="en-US" sz="2000" dirty="0"/>
                        <a:t>Persisted</a:t>
                      </a:r>
                      <a:endParaRPr lang="en-US" sz="20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7696" marR="97696"/>
                </a:tc>
                <a:tc>
                  <a:txBody>
                    <a:bodyPr/>
                    <a:lstStyle/>
                    <a:p>
                      <a:pPr algn="ctr"/>
                      <a:r>
                        <a:rPr lang="en-US" sz="2000" dirty="0"/>
                        <a:t>Not persisted</a:t>
                      </a:r>
                      <a:endParaRPr lang="en-US" sz="20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7696" marR="97696"/>
                </a:tc>
                <a:extLst>
                  <a:ext uri="{0D108BD9-81ED-4DB2-BD59-A6C34878D82A}">
                    <a16:rowId xmlns:a16="http://schemas.microsoft.com/office/drawing/2014/main" val="2480000357"/>
                  </a:ext>
                </a:extLst>
              </a:tr>
              <a:tr h="499855">
                <a:tc>
                  <a:txBody>
                    <a:bodyPr/>
                    <a:lstStyle/>
                    <a:p>
                      <a:r>
                        <a:rPr lang="en-US" sz="2000" dirty="0"/>
                        <a:t>Delivery mechanism</a:t>
                      </a:r>
                      <a:endParaRPr lang="en-US" sz="20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7696" marR="97696"/>
                </a:tc>
                <a:tc>
                  <a:txBody>
                    <a:bodyPr/>
                    <a:lstStyle/>
                    <a:p>
                      <a:pPr algn="ctr"/>
                      <a:r>
                        <a:rPr lang="en-US" sz="2000" dirty="0"/>
                        <a:t>Poll (Active)</a:t>
                      </a:r>
                      <a:endParaRPr lang="en-US" sz="20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7696" marR="97696"/>
                </a:tc>
                <a:tc>
                  <a:txBody>
                    <a:bodyPr/>
                    <a:lstStyle/>
                    <a:p>
                      <a:pPr algn="ctr"/>
                      <a:r>
                        <a:rPr lang="en-US" sz="2000" dirty="0"/>
                        <a:t>Push </a:t>
                      </a:r>
                      <a:r>
                        <a:rPr lang="en-US" sz="2000"/>
                        <a:t>(Passive</a:t>
                      </a:r>
                      <a:r>
                        <a:rPr lang="en-US" sz="2000" u="none"/>
                        <a:t>)</a:t>
                      </a:r>
                      <a:endParaRPr lang="en-US" sz="200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97696" marR="97696"/>
                </a:tc>
                <a:extLst>
                  <a:ext uri="{0D108BD9-81ED-4DB2-BD59-A6C34878D82A}">
                    <a16:rowId xmlns:a16="http://schemas.microsoft.com/office/drawing/2014/main" val="2344979294"/>
                  </a:ext>
                </a:extLst>
              </a:tr>
              <a:tr h="499855">
                <a:tc>
                  <a:txBody>
                    <a:bodyPr/>
                    <a:lstStyle/>
                    <a:p>
                      <a:r>
                        <a:rPr lang="en-US" sz="2000" dirty="0"/>
                        <a:t>Producer</a:t>
                      </a:r>
                      <a:r>
                        <a:rPr lang="en-US" sz="2000" baseline="0" dirty="0"/>
                        <a:t>/Consumer</a:t>
                      </a:r>
                      <a:endParaRPr lang="en-US" sz="20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7696" marR="9769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Send/receive (1 to 1)</a:t>
                      </a:r>
                      <a:endParaRPr lang="en-US" sz="2000" b="0" i="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7696" marR="9769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Publish/subscribe (1 to N)</a:t>
                      </a:r>
                      <a:endParaRPr lang="en-US" sz="2000" b="0" i="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7696" marR="97696"/>
                </a:tc>
                <a:extLst>
                  <a:ext uri="{0D108BD9-81ED-4DB2-BD59-A6C34878D82A}">
                    <a16:rowId xmlns:a16="http://schemas.microsoft.com/office/drawing/2014/main" val="2728293366"/>
                  </a:ext>
                </a:extLst>
              </a:tr>
              <a:tr h="1602275">
                <a:tc>
                  <a:txBody>
                    <a:bodyPr/>
                    <a:lstStyle/>
                    <a:p>
                      <a:r>
                        <a:rPr lang="en-US" sz="2000" dirty="0"/>
                        <a:t>Availability</a:t>
                      </a:r>
                      <a:endParaRPr lang="en-US" sz="20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7696" marR="9769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Send and receive messages without requiring each component to be concurrently available.</a:t>
                      </a:r>
                      <a:endParaRPr lang="en-US" sz="20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7696" marR="9769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7696" marR="97696"/>
                </a:tc>
                <a:extLst>
                  <a:ext uri="{0D108BD9-81ED-4DB2-BD59-A6C34878D82A}">
                    <a16:rowId xmlns:a16="http://schemas.microsoft.com/office/drawing/2014/main" val="1858460445"/>
                  </a:ext>
                </a:extLst>
              </a:tr>
            </a:tbl>
          </a:graphicData>
        </a:graphic>
      </p:graphicFrame>
      <p:sp>
        <p:nvSpPr>
          <p:cNvPr id="4" name="Slide Number Placeholder 3"/>
          <p:cNvSpPr>
            <a:spLocks noGrp="1"/>
          </p:cNvSpPr>
          <p:nvPr>
            <p:ph type="sldNum" sz="quarter" idx="12"/>
          </p:nvPr>
        </p:nvSpPr>
        <p:spPr/>
        <p:txBody>
          <a:bodyPr/>
          <a:lstStyle/>
          <a:p>
            <a:fld id="{9FC43BFD-8FF7-A343-A8A6-E2338FCE8046}" type="slidenum">
              <a:rPr lang="en-US" smtClean="0"/>
              <a:pPr/>
              <a:t>38</a:t>
            </a:fld>
            <a:endParaRPr lang="en-US" dirty="0"/>
          </a:p>
        </p:txBody>
      </p:sp>
      <p:sp>
        <p:nvSpPr>
          <p:cNvPr id="2" name="Footer Placeholder 1"/>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96136395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Developing with </a:t>
            </a:r>
            <a:r>
              <a:rPr lang="en-US" dirty="0">
                <a:solidFill>
                  <a:srgbClr val="FFFFFF"/>
                </a:solidFill>
              </a:rPr>
              <a:t>Amazon MQ</a:t>
            </a:r>
            <a:endParaRPr lang="en-US" dirty="0">
              <a:solidFill>
                <a:srgbClr val="FFFFFF"/>
              </a:solidFill>
              <a:latin typeface="Amazon Ember Light" panose="020B0403020204020204"/>
            </a:endParaRPr>
          </a:p>
        </p:txBody>
      </p:sp>
      <p:sp>
        <p:nvSpPr>
          <p:cNvPr id="3" name="Slide Number Placeholder 2"/>
          <p:cNvSpPr>
            <a:spLocks noGrp="1"/>
          </p:cNvSpPr>
          <p:nvPr>
            <p:ph type="sldNum" sz="quarter" idx="4294967295"/>
          </p:nvPr>
        </p:nvSpPr>
        <p:spPr>
          <a:xfrm>
            <a:off x="9448800" y="6356350"/>
            <a:ext cx="2743200" cy="365125"/>
          </a:xfrm>
        </p:spPr>
        <p:txBody>
          <a:bodyPr/>
          <a:lstStyle/>
          <a:p>
            <a:fld id="{9FC43BFD-8FF7-A343-A8A6-E2338FCE8046}" type="slidenum">
              <a:rPr lang="en-US" smtClean="0"/>
              <a:pPr/>
              <a:t>39</a:t>
            </a:fld>
            <a:endParaRPr lang="en-US" dirty="0"/>
          </a:p>
        </p:txBody>
      </p:sp>
      <p:sp>
        <p:nvSpPr>
          <p:cNvPr id="7" name="Footer Placeholder 6"/>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47425707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MQ</a:t>
            </a:r>
          </a:p>
        </p:txBody>
      </p:sp>
      <p:sp>
        <p:nvSpPr>
          <p:cNvPr id="3" name="Content Placeholder 2"/>
          <p:cNvSpPr>
            <a:spLocks noGrp="1"/>
          </p:cNvSpPr>
          <p:nvPr>
            <p:ph idx="1"/>
          </p:nvPr>
        </p:nvSpPr>
        <p:spPr/>
        <p:txBody>
          <a:bodyPr/>
          <a:lstStyle/>
          <a:p>
            <a:pPr marL="0" indent="0">
              <a:buNone/>
            </a:pPr>
            <a:r>
              <a:rPr lang="en-US" dirty="0"/>
              <a:t>A managed message broker service for Apache </a:t>
            </a:r>
            <a:r>
              <a:rPr lang="en-US" dirty="0" smtClean="0">
                <a:solidFill>
                  <a:srgbClr val="000000"/>
                </a:solidFill>
              </a:rPr>
              <a:t>MQ</a:t>
            </a:r>
            <a:br>
              <a:rPr lang="en-US" dirty="0" smtClean="0">
                <a:solidFill>
                  <a:srgbClr val="000000"/>
                </a:solidFill>
              </a:rPr>
            </a:br>
            <a:endParaRPr lang="en-US" dirty="0"/>
          </a:p>
          <a:p>
            <a:r>
              <a:rPr lang="en-US" dirty="0"/>
              <a:t>Makes it </a:t>
            </a:r>
            <a:r>
              <a:rPr lang="en-US" dirty="0">
                <a:solidFill>
                  <a:srgbClr val="000000"/>
                </a:solidFill>
              </a:rPr>
              <a:t>easy</a:t>
            </a:r>
            <a:r>
              <a:rPr lang="en-US" dirty="0"/>
              <a:t> to set up and operate message brokers in the </a:t>
            </a:r>
            <a:r>
              <a:rPr lang="en-US" dirty="0" smtClean="0"/>
              <a:t>cloud</a:t>
            </a:r>
            <a:r>
              <a:rPr lang="en-US" dirty="0"/>
              <a:t/>
            </a:r>
            <a:br>
              <a:rPr lang="en-US" dirty="0"/>
            </a:br>
            <a:endParaRPr lang="en-US" dirty="0"/>
          </a:p>
          <a:p>
            <a:r>
              <a:rPr lang="en-US" dirty="0"/>
              <a:t>Direct access to the Apache </a:t>
            </a:r>
            <a:r>
              <a:rPr lang="en-US" dirty="0" err="1"/>
              <a:t>ActiveMQ</a:t>
            </a:r>
            <a:r>
              <a:rPr lang="en-US" dirty="0" smtClean="0"/>
              <a:t> console</a:t>
            </a:r>
            <a:r>
              <a:rPr lang="en-US" dirty="0"/>
              <a:t/>
            </a:r>
            <a:br>
              <a:rPr lang="en-US" dirty="0"/>
            </a:br>
            <a:endParaRPr lang="en-US" dirty="0"/>
          </a:p>
          <a:p>
            <a:r>
              <a:rPr lang="en-US" dirty="0"/>
              <a:t>Compatible with </a:t>
            </a:r>
            <a:r>
              <a:rPr lang="en-US" dirty="0">
                <a:solidFill>
                  <a:srgbClr val="000000"/>
                </a:solidFill>
              </a:rPr>
              <a:t>open standard</a:t>
            </a:r>
            <a:r>
              <a:rPr lang="en-US" dirty="0"/>
              <a:t> </a:t>
            </a:r>
            <a:r>
              <a:rPr lang="en-US" dirty="0">
                <a:solidFill>
                  <a:srgbClr val="000000"/>
                </a:solidFill>
              </a:rPr>
              <a:t>APIs</a:t>
            </a:r>
            <a:r>
              <a:rPr lang="en-US" dirty="0"/>
              <a:t> and protocols.</a:t>
            </a:r>
          </a:p>
          <a:p>
            <a:pPr lvl="1"/>
            <a:r>
              <a:rPr lang="en-US" dirty="0"/>
              <a:t>Including Java Messaging Service </a:t>
            </a:r>
            <a:r>
              <a:rPr lang="en-US" dirty="0" smtClean="0"/>
              <a:t>(JMS</a:t>
            </a:r>
            <a:r>
              <a:rPr lang="en-US" dirty="0"/>
              <a:t>), NMS(</a:t>
            </a:r>
            <a:r>
              <a:rPr lang="en-US" dirty="0" err="1"/>
              <a:t>.Net</a:t>
            </a:r>
            <a:r>
              <a:rPr lang="en-US" dirty="0"/>
              <a:t> Message </a:t>
            </a:r>
            <a:r>
              <a:rPr lang="en-US" dirty="0" smtClean="0"/>
              <a:t>Service</a:t>
            </a:r>
            <a:r>
              <a:rPr lang="en-US" dirty="0"/>
              <a:t>), Advanced Message Queuing Protocol </a:t>
            </a:r>
            <a:r>
              <a:rPr lang="en-US" dirty="0" smtClean="0"/>
              <a:t>(AMQP</a:t>
            </a:r>
            <a:r>
              <a:rPr lang="en-US" dirty="0"/>
              <a:t>), Simple (or Streaming) Text Orientated Messaging </a:t>
            </a:r>
            <a:r>
              <a:rPr lang="en-US" dirty="0" smtClean="0"/>
              <a:t>Protocol (STOMP)</a:t>
            </a:r>
            <a:r>
              <a:rPr lang="en-US" dirty="0"/>
              <a:t>, Message Queuing Telemetry </a:t>
            </a:r>
            <a:r>
              <a:rPr lang="en-US" dirty="0" smtClean="0"/>
              <a:t>Transport (MQTT), </a:t>
            </a:r>
            <a:r>
              <a:rPr lang="en-US" dirty="0"/>
              <a:t>and </a:t>
            </a:r>
            <a:r>
              <a:rPr lang="en-US" dirty="0" err="1" smtClean="0"/>
              <a:t>WebSocket</a:t>
            </a: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9FC43BFD-8FF7-A343-A8A6-E2338FCE8046}" type="slidenum">
              <a:rPr lang="en-US" smtClean="0"/>
              <a:pPr/>
              <a:t>40</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08115483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FF"/>
                </a:solidFill>
              </a:rPr>
              <a:t>High availability</a:t>
            </a:r>
            <a:r>
              <a:rPr lang="en-US" dirty="0"/>
              <a:t> and durability</a:t>
            </a:r>
          </a:p>
        </p:txBody>
      </p:sp>
      <p:sp>
        <p:nvSpPr>
          <p:cNvPr id="4" name="Slide Number Placeholder 3"/>
          <p:cNvSpPr>
            <a:spLocks noGrp="1"/>
          </p:cNvSpPr>
          <p:nvPr>
            <p:ph type="sldNum" sz="quarter" idx="12"/>
          </p:nvPr>
        </p:nvSpPr>
        <p:spPr/>
        <p:txBody>
          <a:bodyPr/>
          <a:lstStyle/>
          <a:p>
            <a:fld id="{9FC43BFD-8FF7-A343-A8A6-E2338FCE8046}" type="slidenum">
              <a:rPr lang="en-US" smtClean="0"/>
              <a:pPr/>
              <a:t>41</a:t>
            </a:fld>
            <a:endParaRPr lang="en-US" dirty="0"/>
          </a:p>
        </p:txBody>
      </p:sp>
      <p:sp>
        <p:nvSpPr>
          <p:cNvPr id="10" name="TextBox 9"/>
          <p:cNvSpPr txBox="1"/>
          <p:nvPr/>
        </p:nvSpPr>
        <p:spPr>
          <a:xfrm>
            <a:off x="3933999" y="5406828"/>
            <a:ext cx="3841631" cy="420564"/>
          </a:xfrm>
          <a:prstGeom prst="rect">
            <a:avLst/>
          </a:prstGeom>
          <a:noFill/>
        </p:spPr>
        <p:txBody>
          <a:bodyPr wrap="square" rtlCol="0">
            <a:spAutoFit/>
          </a:bodyPr>
          <a:lstStyle/>
          <a:p>
            <a:pPr algn="ctr"/>
            <a:r>
              <a:rPr lang="en-US" sz="2133" dirty="0">
                <a:solidFill>
                  <a:schemeClr val="bg1"/>
                </a:solidFill>
              </a:rPr>
              <a:t>Replicated Message Store</a:t>
            </a:r>
          </a:p>
        </p:txBody>
      </p:sp>
      <p:sp>
        <p:nvSpPr>
          <p:cNvPr id="11" name="TextBox 10"/>
          <p:cNvSpPr txBox="1"/>
          <p:nvPr/>
        </p:nvSpPr>
        <p:spPr>
          <a:xfrm>
            <a:off x="2517804" y="4153215"/>
            <a:ext cx="1579763" cy="748795"/>
          </a:xfrm>
          <a:prstGeom prst="rect">
            <a:avLst/>
          </a:prstGeom>
          <a:noFill/>
        </p:spPr>
        <p:txBody>
          <a:bodyPr wrap="square" rtlCol="0">
            <a:spAutoFit/>
          </a:bodyPr>
          <a:lstStyle/>
          <a:p>
            <a:pPr algn="ctr"/>
            <a:r>
              <a:rPr lang="en-US" sz="2133" dirty="0"/>
              <a:t>Active Broker</a:t>
            </a:r>
          </a:p>
        </p:txBody>
      </p:sp>
      <p:sp>
        <p:nvSpPr>
          <p:cNvPr id="12" name="TextBox 11"/>
          <p:cNvSpPr txBox="1"/>
          <p:nvPr/>
        </p:nvSpPr>
        <p:spPr>
          <a:xfrm>
            <a:off x="7819623" y="4153214"/>
            <a:ext cx="1690131" cy="748795"/>
          </a:xfrm>
          <a:prstGeom prst="rect">
            <a:avLst/>
          </a:prstGeom>
          <a:noFill/>
        </p:spPr>
        <p:txBody>
          <a:bodyPr wrap="square" rtlCol="0">
            <a:spAutoFit/>
          </a:bodyPr>
          <a:lstStyle/>
          <a:p>
            <a:pPr algn="ctr"/>
            <a:r>
              <a:rPr lang="en-US" sz="2133" dirty="0"/>
              <a:t>Standby Broker</a:t>
            </a:r>
          </a:p>
        </p:txBody>
      </p:sp>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sp>
        <p:nvSpPr>
          <p:cNvPr id="17" name="Rectangle 16">
            <a:extLst>
              <a:ext uri="{FF2B5EF4-FFF2-40B4-BE49-F238E27FC236}">
                <a16:creationId xmlns:a16="http://schemas.microsoft.com/office/drawing/2014/main" id="{CE7F7081-419C-2E4F-A999-2923C4338FC0}"/>
              </a:ext>
            </a:extLst>
          </p:cNvPr>
          <p:cNvSpPr/>
          <p:nvPr/>
        </p:nvSpPr>
        <p:spPr>
          <a:xfrm>
            <a:off x="419100" y="1368202"/>
            <a:ext cx="11239500" cy="488076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AWS Cloud</a:t>
            </a:r>
          </a:p>
        </p:txBody>
      </p:sp>
      <p:pic>
        <p:nvPicPr>
          <p:cNvPr id="18" name="Graphic 11">
            <a:extLst>
              <a:ext uri="{FF2B5EF4-FFF2-40B4-BE49-F238E27FC236}">
                <a16:creationId xmlns:a16="http://schemas.microsoft.com/office/drawing/2014/main" id="{CE52C9D7-11B0-9E41-AB16-2C9849C3ECBE}"/>
              </a:ext>
            </a:extLst>
          </p:cNvPr>
          <p:cNvPicPr>
            <a:picLocks noChangeAspect="1"/>
          </p:cNvPicPr>
          <p:nvPr/>
        </p:nvPicPr>
        <p:blipFill>
          <a:blip r:embed="rId4"/>
          <a:stretch>
            <a:fillRect/>
          </a:stretch>
        </p:blipFill>
        <p:spPr>
          <a:xfrm>
            <a:off x="419101" y="1368203"/>
            <a:ext cx="330200" cy="330200"/>
          </a:xfrm>
          <a:prstGeom prst="rect">
            <a:avLst/>
          </a:prstGeom>
        </p:spPr>
      </p:pic>
      <p:sp>
        <p:nvSpPr>
          <p:cNvPr id="19" name="Rectangle 18">
            <a:extLst>
              <a:ext uri="{FF2B5EF4-FFF2-40B4-BE49-F238E27FC236}">
                <a16:creationId xmlns:a16="http://schemas.microsoft.com/office/drawing/2014/main" id="{305B98DC-5AF5-3342-A4B1-F62852BC80FE}"/>
              </a:ext>
            </a:extLst>
          </p:cNvPr>
          <p:cNvSpPr/>
          <p:nvPr/>
        </p:nvSpPr>
        <p:spPr>
          <a:xfrm>
            <a:off x="840212" y="1941749"/>
            <a:ext cx="4934946" cy="3043504"/>
          </a:xfrm>
          <a:prstGeom prst="rect">
            <a:avLst/>
          </a:prstGeom>
          <a:noFill/>
          <a:ln w="12700">
            <a:solidFill>
              <a:srgbClr val="147EBA"/>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rgbClr val="147EBA"/>
                </a:solidFill>
              </a:rPr>
              <a:t>Availability Zone 1</a:t>
            </a:r>
          </a:p>
        </p:txBody>
      </p:sp>
      <p:sp>
        <p:nvSpPr>
          <p:cNvPr id="20" name="Rectangle 19">
            <a:extLst>
              <a:ext uri="{FF2B5EF4-FFF2-40B4-BE49-F238E27FC236}">
                <a16:creationId xmlns:a16="http://schemas.microsoft.com/office/drawing/2014/main" id="{305B98DC-5AF5-3342-A4B1-F62852BC80FE}"/>
              </a:ext>
            </a:extLst>
          </p:cNvPr>
          <p:cNvSpPr/>
          <p:nvPr/>
        </p:nvSpPr>
        <p:spPr>
          <a:xfrm>
            <a:off x="6038849" y="1941750"/>
            <a:ext cx="5251679" cy="3043504"/>
          </a:xfrm>
          <a:prstGeom prst="rect">
            <a:avLst/>
          </a:prstGeom>
          <a:noFill/>
          <a:ln w="12700">
            <a:solidFill>
              <a:srgbClr val="147EBA"/>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rgbClr val="147EBA"/>
                </a:solidFill>
              </a:rPr>
              <a:t>Availability Zone 2</a:t>
            </a:r>
          </a:p>
        </p:txBody>
      </p:sp>
      <p:grpSp>
        <p:nvGrpSpPr>
          <p:cNvPr id="27" name="Group 26"/>
          <p:cNvGrpSpPr/>
          <p:nvPr/>
        </p:nvGrpSpPr>
        <p:grpSpPr>
          <a:xfrm>
            <a:off x="2198750" y="2806463"/>
            <a:ext cx="2217871" cy="1346752"/>
            <a:chOff x="2070190" y="3131319"/>
            <a:chExt cx="2217871" cy="1346752"/>
          </a:xfrm>
        </p:grpSpPr>
        <p:sp>
          <p:nvSpPr>
            <p:cNvPr id="22" name="TextBox 21">
              <a:extLst>
                <a:ext uri="{FF2B5EF4-FFF2-40B4-BE49-F238E27FC236}">
                  <a16:creationId xmlns:a16="http://schemas.microsoft.com/office/drawing/2014/main" id="{D7F29047-6C71-4348-9449-DA85546F0055}"/>
                </a:ext>
              </a:extLst>
            </p:cNvPr>
            <p:cNvSpPr txBox="1"/>
            <p:nvPr/>
          </p:nvSpPr>
          <p:spPr>
            <a:xfrm>
              <a:off x="2070190" y="4077961"/>
              <a:ext cx="2217871" cy="400110"/>
            </a:xfrm>
            <a:prstGeom prst="rect">
              <a:avLst/>
            </a:prstGeom>
            <a:noFill/>
          </p:spPr>
          <p:txBody>
            <a:bodyPr wrap="square" rtlCol="0">
              <a:spAutoFit/>
            </a:bodyPr>
            <a:lstStyle/>
            <a:p>
              <a:pPr algn="ctr"/>
              <a:r>
                <a:rPr lang="en-US" sz="2000" dirty="0">
                  <a:latin typeface="+mj-lt"/>
                  <a:ea typeface="Amazon Ember" panose="020B0603020204020204" pitchFamily="34" charset="0"/>
                  <a:cs typeface="Amazon Ember" panose="020B0603020204020204" pitchFamily="34" charset="0"/>
                </a:rPr>
                <a:t>Amazon MQ</a:t>
              </a:r>
            </a:p>
          </p:txBody>
        </p:sp>
        <p:pic>
          <p:nvPicPr>
            <p:cNvPr id="23" name="Graphic 21">
              <a:extLst>
                <a:ext uri="{FF2B5EF4-FFF2-40B4-BE49-F238E27FC236}">
                  <a16:creationId xmlns:a16="http://schemas.microsoft.com/office/drawing/2014/main" id="{9B1E7272-4A4E-5340-B66C-C8DFDA263849}"/>
                </a:ext>
              </a:extLst>
            </p:cNvPr>
            <p:cNvPicPr>
              <a:picLocks noChangeAspect="1"/>
            </p:cNvPicPr>
            <p:nvPr/>
          </p:nvPicPr>
          <p:blipFill>
            <a:blip r:embed="rId5"/>
            <a:stretch>
              <a:fillRect/>
            </a:stretch>
          </p:blipFill>
          <p:spPr>
            <a:xfrm>
              <a:off x="2721925" y="3131319"/>
              <a:ext cx="914400" cy="914400"/>
            </a:xfrm>
            <a:prstGeom prst="rect">
              <a:avLst/>
            </a:prstGeom>
          </p:spPr>
        </p:pic>
      </p:grpSp>
      <p:grpSp>
        <p:nvGrpSpPr>
          <p:cNvPr id="26" name="Group 25"/>
          <p:cNvGrpSpPr/>
          <p:nvPr/>
        </p:nvGrpSpPr>
        <p:grpSpPr>
          <a:xfrm>
            <a:off x="7555753" y="2806463"/>
            <a:ext cx="2217871" cy="1346752"/>
            <a:chOff x="7682803" y="3233751"/>
            <a:chExt cx="2217871" cy="1346752"/>
          </a:xfrm>
        </p:grpSpPr>
        <p:sp>
          <p:nvSpPr>
            <p:cNvPr id="24" name="TextBox 23">
              <a:extLst>
                <a:ext uri="{FF2B5EF4-FFF2-40B4-BE49-F238E27FC236}">
                  <a16:creationId xmlns:a16="http://schemas.microsoft.com/office/drawing/2014/main" id="{D7F29047-6C71-4348-9449-DA85546F0055}"/>
                </a:ext>
              </a:extLst>
            </p:cNvPr>
            <p:cNvSpPr txBox="1"/>
            <p:nvPr/>
          </p:nvSpPr>
          <p:spPr>
            <a:xfrm>
              <a:off x="7682803" y="4180393"/>
              <a:ext cx="2217871" cy="400110"/>
            </a:xfrm>
            <a:prstGeom prst="rect">
              <a:avLst/>
            </a:prstGeom>
            <a:noFill/>
          </p:spPr>
          <p:txBody>
            <a:bodyPr wrap="square" rtlCol="0">
              <a:spAutoFit/>
            </a:bodyPr>
            <a:lstStyle/>
            <a:p>
              <a:pPr algn="ctr"/>
              <a:r>
                <a:rPr lang="en-US" sz="2000" dirty="0">
                  <a:latin typeface="+mj-lt"/>
                  <a:ea typeface="Amazon Ember" panose="020B0603020204020204" pitchFamily="34" charset="0"/>
                  <a:cs typeface="Amazon Ember" panose="020B0603020204020204" pitchFamily="34" charset="0"/>
                </a:rPr>
                <a:t>Amazon MQ</a:t>
              </a:r>
            </a:p>
          </p:txBody>
        </p:sp>
        <p:pic>
          <p:nvPicPr>
            <p:cNvPr id="25" name="Graphic 21">
              <a:extLst>
                <a:ext uri="{FF2B5EF4-FFF2-40B4-BE49-F238E27FC236}">
                  <a16:creationId xmlns:a16="http://schemas.microsoft.com/office/drawing/2014/main" id="{9B1E7272-4A4E-5340-B66C-C8DFDA263849}"/>
                </a:ext>
              </a:extLst>
            </p:cNvPr>
            <p:cNvPicPr>
              <a:picLocks noChangeAspect="1"/>
            </p:cNvPicPr>
            <p:nvPr/>
          </p:nvPicPr>
          <p:blipFill>
            <a:blip r:embed="rId5"/>
            <a:stretch>
              <a:fillRect/>
            </a:stretch>
          </p:blipFill>
          <p:spPr>
            <a:xfrm>
              <a:off x="8334538" y="3233751"/>
              <a:ext cx="914400" cy="914400"/>
            </a:xfrm>
            <a:prstGeom prst="rect">
              <a:avLst/>
            </a:prstGeom>
          </p:spPr>
        </p:pic>
      </p:grpSp>
      <p:sp>
        <p:nvSpPr>
          <p:cNvPr id="28" name="TextBox 27">
            <a:extLst>
              <a:ext uri="{FF2B5EF4-FFF2-40B4-BE49-F238E27FC236}">
                <a16:creationId xmlns:a16="http://schemas.microsoft.com/office/drawing/2014/main" id="{3922ADD8-7BD1-054C-8986-69EA7DD83EAC}"/>
              </a:ext>
            </a:extLst>
          </p:cNvPr>
          <p:cNvSpPr txBox="1"/>
          <p:nvPr/>
        </p:nvSpPr>
        <p:spPr>
          <a:xfrm>
            <a:off x="4763626" y="5527346"/>
            <a:ext cx="2301904" cy="646331"/>
          </a:xfrm>
          <a:prstGeom prst="rect">
            <a:avLst/>
          </a:prstGeom>
          <a:noFill/>
        </p:spPr>
        <p:txBody>
          <a:bodyPr wrap="square" rtlCol="0">
            <a:spAutoFit/>
          </a:bodyPr>
          <a:lstStyle/>
          <a:p>
            <a:pPr algn="ctr"/>
            <a:r>
              <a:rPr lang="en-US" dirty="0"/>
              <a:t>Amazon Elastic File System</a:t>
            </a:r>
          </a:p>
        </p:txBody>
      </p:sp>
      <p:pic>
        <p:nvPicPr>
          <p:cNvPr id="29" name="Graphic 26">
            <a:extLst>
              <a:ext uri="{FF2B5EF4-FFF2-40B4-BE49-F238E27FC236}">
                <a16:creationId xmlns:a16="http://schemas.microsoft.com/office/drawing/2014/main" id="{B3E12A7E-0C87-7A40-AE1B-71E6968B9EBF}"/>
              </a:ext>
            </a:extLst>
          </p:cNvPr>
          <p:cNvPicPr>
            <a:picLocks noChangeAspect="1"/>
          </p:cNvPicPr>
          <p:nvPr/>
        </p:nvPicPr>
        <p:blipFill>
          <a:blip r:embed="rId6"/>
          <a:stretch>
            <a:fillRect/>
          </a:stretch>
        </p:blipFill>
        <p:spPr>
          <a:xfrm>
            <a:off x="5558978" y="4785745"/>
            <a:ext cx="711200" cy="711200"/>
          </a:xfrm>
          <a:prstGeom prst="rect">
            <a:avLst/>
          </a:prstGeom>
        </p:spPr>
      </p:pic>
      <p:cxnSp>
        <p:nvCxnSpPr>
          <p:cNvPr id="31" name="Elbow Connector 30"/>
          <p:cNvCxnSpPr>
            <a:stCxn id="23" idx="3"/>
            <a:endCxn id="29" idx="1"/>
          </p:cNvCxnSpPr>
          <p:nvPr/>
        </p:nvCxnSpPr>
        <p:spPr>
          <a:xfrm>
            <a:off x="3764885" y="3263663"/>
            <a:ext cx="1794093" cy="1877682"/>
          </a:xfrm>
          <a:prstGeom prst="bentConnector3">
            <a:avLst/>
          </a:prstGeom>
          <a:ln>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3" name="Elbow Connector 32"/>
          <p:cNvCxnSpPr>
            <a:stCxn id="25" idx="1"/>
            <a:endCxn id="29" idx="3"/>
          </p:cNvCxnSpPr>
          <p:nvPr/>
        </p:nvCxnSpPr>
        <p:spPr>
          <a:xfrm rot="10800000" flipV="1">
            <a:off x="6270178" y="3263663"/>
            <a:ext cx="1937310" cy="1877682"/>
          </a:xfrm>
          <a:prstGeom prst="bentConnector3">
            <a:avLst>
              <a:gd name="adj1" fmla="val 50000"/>
            </a:avLst>
          </a:prstGeom>
          <a:ln>
            <a:headEnd type="arrow" w="med" len="sm"/>
            <a:tailEnd type="arrow" w="med" len="sm"/>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11098176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Use case: Hybrid integration</a:t>
            </a:r>
          </a:p>
        </p:txBody>
      </p:sp>
      <p:sp>
        <p:nvSpPr>
          <p:cNvPr id="3" name="Slide Number Placeholder 2"/>
          <p:cNvSpPr>
            <a:spLocks noGrp="1"/>
          </p:cNvSpPr>
          <p:nvPr>
            <p:ph type="sldNum" sz="quarter" idx="12"/>
          </p:nvPr>
        </p:nvSpPr>
        <p:spPr/>
        <p:txBody>
          <a:bodyPr/>
          <a:lstStyle/>
          <a:p>
            <a:fld id="{9FC43BFD-8FF7-A343-A8A6-E2338FCE8046}" type="slidenum">
              <a:rPr lang="en-US" smtClean="0"/>
              <a:pPr/>
              <a:t>42</a:t>
            </a:fld>
            <a:endParaRPr lang="en-US" dirty="0"/>
          </a:p>
        </p:txBody>
      </p:sp>
      <p:sp>
        <p:nvSpPr>
          <p:cNvPr id="4" name="Footer Placeholder 3"/>
          <p:cNvSpPr>
            <a:spLocks noGrp="1"/>
          </p:cNvSpPr>
          <p:nvPr>
            <p:ph type="ftr" sz="quarter" idx="3"/>
          </p:nvPr>
        </p:nvSpPr>
        <p:spPr/>
        <p:txBody>
          <a:bodyPr/>
          <a:lstStyle/>
          <a:p>
            <a:r>
              <a:rPr lang="en-US"/>
              <a:t>© 2020 Amazon Web Services, Inc. or its Affiliates. All rights reserved.</a:t>
            </a:r>
            <a:endParaRPr lang="en-US" dirty="0"/>
          </a:p>
        </p:txBody>
      </p:sp>
      <p:sp>
        <p:nvSpPr>
          <p:cNvPr id="7" name="Rectangle 6">
            <a:extLst>
              <a:ext uri="{FF2B5EF4-FFF2-40B4-BE49-F238E27FC236}">
                <a16:creationId xmlns:a16="http://schemas.microsoft.com/office/drawing/2014/main" id="{CE7F7081-419C-2E4F-A999-2923C4338FC0}"/>
              </a:ext>
            </a:extLst>
          </p:cNvPr>
          <p:cNvSpPr/>
          <p:nvPr/>
        </p:nvSpPr>
        <p:spPr>
          <a:xfrm>
            <a:off x="6158163" y="2210414"/>
            <a:ext cx="4846320" cy="315567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AWS Cloud</a:t>
            </a:r>
          </a:p>
        </p:txBody>
      </p:sp>
      <p:pic>
        <p:nvPicPr>
          <p:cNvPr id="8" name="Graphic 11">
            <a:extLst>
              <a:ext uri="{FF2B5EF4-FFF2-40B4-BE49-F238E27FC236}">
                <a16:creationId xmlns:a16="http://schemas.microsoft.com/office/drawing/2014/main" id="{CE52C9D7-11B0-9E41-AB16-2C9849C3ECBE}"/>
              </a:ext>
            </a:extLst>
          </p:cNvPr>
          <p:cNvPicPr>
            <a:picLocks noChangeAspect="1"/>
          </p:cNvPicPr>
          <p:nvPr/>
        </p:nvPicPr>
        <p:blipFill>
          <a:blip r:embed="rId4"/>
          <a:stretch>
            <a:fillRect/>
          </a:stretch>
        </p:blipFill>
        <p:spPr>
          <a:xfrm>
            <a:off x="6158164" y="2210414"/>
            <a:ext cx="330200" cy="330200"/>
          </a:xfrm>
          <a:prstGeom prst="rect">
            <a:avLst/>
          </a:prstGeom>
        </p:spPr>
      </p:pic>
      <p:sp>
        <p:nvSpPr>
          <p:cNvPr id="10" name="TextBox 9">
            <a:extLst>
              <a:ext uri="{FF2B5EF4-FFF2-40B4-BE49-F238E27FC236}">
                <a16:creationId xmlns:a16="http://schemas.microsoft.com/office/drawing/2014/main" id="{D7F29047-6C71-4348-9449-DA85546F0055}"/>
              </a:ext>
            </a:extLst>
          </p:cNvPr>
          <p:cNvSpPr txBox="1"/>
          <p:nvPr/>
        </p:nvSpPr>
        <p:spPr>
          <a:xfrm>
            <a:off x="6158164" y="4253170"/>
            <a:ext cx="2217871" cy="400110"/>
          </a:xfrm>
          <a:prstGeom prst="rect">
            <a:avLst/>
          </a:prstGeom>
          <a:noFill/>
        </p:spPr>
        <p:txBody>
          <a:bodyPr wrap="square" rtlCol="0">
            <a:spAutoFit/>
          </a:bodyPr>
          <a:lstStyle/>
          <a:p>
            <a:pPr algn="ctr"/>
            <a:r>
              <a:rPr lang="en-US" sz="2000" dirty="0">
                <a:latin typeface="+mj-lt"/>
                <a:ea typeface="Amazon Ember" panose="020B0603020204020204" pitchFamily="34" charset="0"/>
                <a:cs typeface="Amazon Ember" panose="020B0603020204020204" pitchFamily="34" charset="0"/>
              </a:rPr>
              <a:t>Amazon MQ</a:t>
            </a:r>
          </a:p>
        </p:txBody>
      </p:sp>
      <p:pic>
        <p:nvPicPr>
          <p:cNvPr id="11" name="Graphic 21">
            <a:extLst>
              <a:ext uri="{FF2B5EF4-FFF2-40B4-BE49-F238E27FC236}">
                <a16:creationId xmlns:a16="http://schemas.microsoft.com/office/drawing/2014/main" id="{9B1E7272-4A4E-5340-B66C-C8DFDA263849}"/>
              </a:ext>
            </a:extLst>
          </p:cNvPr>
          <p:cNvPicPr>
            <a:picLocks noChangeAspect="1"/>
          </p:cNvPicPr>
          <p:nvPr/>
        </p:nvPicPr>
        <p:blipFill>
          <a:blip r:embed="rId5"/>
          <a:stretch>
            <a:fillRect/>
          </a:stretch>
        </p:blipFill>
        <p:spPr>
          <a:xfrm>
            <a:off x="6809899" y="3331424"/>
            <a:ext cx="914400" cy="914400"/>
          </a:xfrm>
          <a:prstGeom prst="rect">
            <a:avLst/>
          </a:prstGeom>
        </p:spPr>
      </p:pic>
      <p:sp>
        <p:nvSpPr>
          <p:cNvPr id="12" name="Rectangle 11">
            <a:extLst>
              <a:ext uri="{FF2B5EF4-FFF2-40B4-BE49-F238E27FC236}">
                <a16:creationId xmlns:a16="http://schemas.microsoft.com/office/drawing/2014/main" id="{D22D8ED1-FB5A-2B46-B9E9-FF763E575F13}"/>
              </a:ext>
            </a:extLst>
          </p:cNvPr>
          <p:cNvSpPr/>
          <p:nvPr/>
        </p:nvSpPr>
        <p:spPr>
          <a:xfrm>
            <a:off x="710237" y="2210414"/>
            <a:ext cx="4846320" cy="3155672"/>
          </a:xfrm>
          <a:prstGeom prst="rect">
            <a:avLst/>
          </a:prstGeom>
          <a:noFill/>
          <a:ln w="12700">
            <a:solidFill>
              <a:srgbClr val="5A6B8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rgbClr val="5A6B86"/>
                </a:solidFill>
              </a:rPr>
              <a:t>Corporate data center</a:t>
            </a:r>
          </a:p>
        </p:txBody>
      </p:sp>
      <p:pic>
        <p:nvPicPr>
          <p:cNvPr id="13" name="Graphic 19">
            <a:extLst>
              <a:ext uri="{FF2B5EF4-FFF2-40B4-BE49-F238E27FC236}">
                <a16:creationId xmlns:a16="http://schemas.microsoft.com/office/drawing/2014/main" id="{558849B9-512D-6049-AB40-637404334CB9}"/>
              </a:ext>
            </a:extLst>
          </p:cNvPr>
          <p:cNvPicPr>
            <a:picLocks noChangeAspect="1"/>
          </p:cNvPicPr>
          <p:nvPr/>
        </p:nvPicPr>
        <p:blipFill>
          <a:blip r:embed="rId6"/>
          <a:stretch>
            <a:fillRect/>
          </a:stretch>
        </p:blipFill>
        <p:spPr>
          <a:xfrm>
            <a:off x="710238" y="2210414"/>
            <a:ext cx="330200" cy="330200"/>
          </a:xfrm>
          <a:prstGeom prst="rect">
            <a:avLst/>
          </a:prstGeom>
        </p:spPr>
      </p:pic>
      <p:pic>
        <p:nvPicPr>
          <p:cNvPr id="14" name="Graphic 37">
            <a:extLst>
              <a:ext uri="{FF2B5EF4-FFF2-40B4-BE49-F238E27FC236}">
                <a16:creationId xmlns:a16="http://schemas.microsoft.com/office/drawing/2014/main" id="{AC408681-9425-934F-A27E-5D5DAE6D38A6}"/>
              </a:ext>
            </a:extLst>
          </p:cNvPr>
          <p:cNvPicPr>
            <a:picLocks noChangeAspect="1"/>
          </p:cNvPicPr>
          <p:nvPr/>
        </p:nvPicPr>
        <p:blipFill>
          <a:blip r:embed="rId7"/>
          <a:stretch>
            <a:fillRect/>
          </a:stretch>
        </p:blipFill>
        <p:spPr>
          <a:xfrm>
            <a:off x="1372427" y="3331424"/>
            <a:ext cx="914400" cy="914400"/>
          </a:xfrm>
          <a:prstGeom prst="rect">
            <a:avLst/>
          </a:prstGeom>
        </p:spPr>
      </p:pic>
      <p:sp>
        <p:nvSpPr>
          <p:cNvPr id="15" name="TextBox 14"/>
          <p:cNvSpPr txBox="1"/>
          <p:nvPr/>
        </p:nvSpPr>
        <p:spPr>
          <a:xfrm>
            <a:off x="809156" y="4253170"/>
            <a:ext cx="2040943" cy="646331"/>
          </a:xfrm>
          <a:prstGeom prst="rect">
            <a:avLst/>
          </a:prstGeom>
          <a:noFill/>
        </p:spPr>
        <p:txBody>
          <a:bodyPr wrap="non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On-premises</a:t>
            </a:r>
            <a:br>
              <a:rPr lang="en-US"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dirty="0">
                <a:latin typeface="Amazon Ember Light" panose="020B0403020204020204" pitchFamily="34" charset="0"/>
                <a:ea typeface="Amazon Ember Light" panose="020B0403020204020204" pitchFamily="34" charset="0"/>
                <a:cs typeface="Amazon Ember Light" panose="020B0403020204020204" pitchFamily="34" charset="0"/>
              </a:rPr>
              <a:t>message producer</a:t>
            </a:r>
          </a:p>
        </p:txBody>
      </p:sp>
      <p:pic>
        <p:nvPicPr>
          <p:cNvPr id="16" name="Graphic 37">
            <a:extLst>
              <a:ext uri="{FF2B5EF4-FFF2-40B4-BE49-F238E27FC236}">
                <a16:creationId xmlns:a16="http://schemas.microsoft.com/office/drawing/2014/main" id="{AC408681-9425-934F-A27E-5D5DAE6D38A6}"/>
              </a:ext>
            </a:extLst>
          </p:cNvPr>
          <p:cNvPicPr>
            <a:picLocks noChangeAspect="1"/>
          </p:cNvPicPr>
          <p:nvPr/>
        </p:nvPicPr>
        <p:blipFill>
          <a:blip r:embed="rId7"/>
          <a:stretch>
            <a:fillRect/>
          </a:stretch>
        </p:blipFill>
        <p:spPr>
          <a:xfrm>
            <a:off x="3852320" y="3331424"/>
            <a:ext cx="914400" cy="914400"/>
          </a:xfrm>
          <a:prstGeom prst="rect">
            <a:avLst/>
          </a:prstGeom>
        </p:spPr>
      </p:pic>
      <p:sp>
        <p:nvSpPr>
          <p:cNvPr id="17" name="TextBox 16"/>
          <p:cNvSpPr txBox="1"/>
          <p:nvPr/>
        </p:nvSpPr>
        <p:spPr>
          <a:xfrm>
            <a:off x="3367596" y="4253170"/>
            <a:ext cx="1883849" cy="646331"/>
          </a:xfrm>
          <a:prstGeom prst="rect">
            <a:avLst/>
          </a:prstGeom>
          <a:noFill/>
        </p:spPr>
        <p:txBody>
          <a:bodyPr wrap="non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On-premises</a:t>
            </a:r>
            <a:br>
              <a:rPr lang="en-US"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dirty="0" err="1">
                <a:latin typeface="Amazon Ember Light" panose="020B0403020204020204" pitchFamily="34" charset="0"/>
                <a:ea typeface="Amazon Ember Light" panose="020B0403020204020204" pitchFamily="34" charset="0"/>
                <a:cs typeface="Amazon Ember Light" panose="020B0403020204020204" pitchFamily="34" charset="0"/>
              </a:rPr>
              <a:t>ActiveMQ</a:t>
            </a:r>
            <a:r>
              <a:rPr lang="en-US" dirty="0">
                <a:latin typeface="Amazon Ember Light" panose="020B0403020204020204" pitchFamily="34" charset="0"/>
                <a:ea typeface="Amazon Ember Light" panose="020B0403020204020204" pitchFamily="34" charset="0"/>
                <a:cs typeface="Amazon Ember Light" panose="020B0403020204020204" pitchFamily="34" charset="0"/>
              </a:rPr>
              <a:t> broker</a:t>
            </a:r>
          </a:p>
        </p:txBody>
      </p:sp>
      <p:sp>
        <p:nvSpPr>
          <p:cNvPr id="18" name="TextBox 17"/>
          <p:cNvSpPr txBox="1"/>
          <p:nvPr/>
        </p:nvSpPr>
        <p:spPr>
          <a:xfrm>
            <a:off x="8751469" y="4245824"/>
            <a:ext cx="2174410" cy="646331"/>
          </a:xfrm>
          <a:prstGeom prst="rect">
            <a:avLst/>
          </a:prstGeom>
          <a:noFill/>
        </p:spPr>
        <p:txBody>
          <a:bodyPr wrap="square" rtlCol="0">
            <a:spAutoFit/>
          </a:bodyPr>
          <a:lstStyle/>
          <a:p>
            <a:pPr algn="ctr"/>
            <a:r>
              <a:rPr lang="en-US" dirty="0">
                <a:latin typeface="Amazon Ember Light" charset="0"/>
                <a:ea typeface="Amazon Ember Light" charset="0"/>
                <a:cs typeface="Amazon Ember Light" charset="0"/>
              </a:rPr>
              <a:t>Cloud based message consumer</a:t>
            </a:r>
          </a:p>
        </p:txBody>
      </p:sp>
      <p:pic>
        <p:nvPicPr>
          <p:cNvPr id="19" name="Graphic 24">
            <a:extLst>
              <a:ext uri="{FF2B5EF4-FFF2-40B4-BE49-F238E27FC236}">
                <a16:creationId xmlns:a16="http://schemas.microsoft.com/office/drawing/2014/main" id="{DD01F647-5021-2945-A1F9-4FD26EC69AC6}"/>
              </a:ext>
            </a:extLst>
          </p:cNvPr>
          <p:cNvPicPr>
            <a:picLocks noChangeAspect="1"/>
          </p:cNvPicPr>
          <p:nvPr/>
        </p:nvPicPr>
        <p:blipFill>
          <a:blip r:embed="rId8"/>
          <a:stretch>
            <a:fillRect/>
          </a:stretch>
        </p:blipFill>
        <p:spPr>
          <a:xfrm>
            <a:off x="9495774" y="3445724"/>
            <a:ext cx="685800" cy="685800"/>
          </a:xfrm>
          <a:prstGeom prst="rect">
            <a:avLst/>
          </a:prstGeom>
        </p:spPr>
      </p:pic>
      <p:cxnSp>
        <p:nvCxnSpPr>
          <p:cNvPr id="21" name="Straight Arrow Connector 20"/>
          <p:cNvCxnSpPr/>
          <p:nvPr/>
        </p:nvCxnSpPr>
        <p:spPr>
          <a:xfrm flipV="1">
            <a:off x="2153133" y="3788250"/>
            <a:ext cx="1877446" cy="374"/>
          </a:xfrm>
          <a:prstGeom prst="straightConnector1">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endCxn id="11" idx="1"/>
          </p:cNvCxnSpPr>
          <p:nvPr/>
        </p:nvCxnSpPr>
        <p:spPr>
          <a:xfrm>
            <a:off x="4547937" y="3788250"/>
            <a:ext cx="2261962" cy="374"/>
          </a:xfrm>
          <a:prstGeom prst="straightConnector1">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1" idx="3"/>
            <a:endCxn id="19" idx="1"/>
          </p:cNvCxnSpPr>
          <p:nvPr/>
        </p:nvCxnSpPr>
        <p:spPr>
          <a:xfrm>
            <a:off x="7724299" y="3788624"/>
            <a:ext cx="1771475" cy="0"/>
          </a:xfrm>
          <a:prstGeom prst="straightConnector1">
            <a:avLst/>
          </a:prstGeom>
          <a:ln w="12700">
            <a:tailEnd type="arrow" w="med" len="sm"/>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88438201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Comparing Amazon MQ, Amazon SQS, and Amazon SNS</a:t>
            </a:r>
            <a:endParaRPr lang="en-US" dirty="0">
              <a:solidFill>
                <a:srgbClr val="FFFFFF"/>
              </a:solidFill>
              <a:latin typeface="Amazon Ember Light" panose="020B0403020204020204"/>
            </a:endParaRP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370286843"/>
              </p:ext>
            </p:extLst>
          </p:nvPr>
        </p:nvGraphicFramePr>
        <p:xfrm>
          <a:off x="419100" y="1528763"/>
          <a:ext cx="11353802" cy="4186163"/>
        </p:xfrm>
        <a:graphic>
          <a:graphicData uri="http://schemas.openxmlformats.org/drawingml/2006/table">
            <a:tbl>
              <a:tblPr firstRow="1" bandRow="1">
                <a:tableStyleId>{F5AB1C69-6EDB-4FF4-983F-18BD219EF322}</a:tableStyleId>
              </a:tblPr>
              <a:tblGrid>
                <a:gridCol w="5585460">
                  <a:extLst>
                    <a:ext uri="{9D8B030D-6E8A-4147-A177-3AD203B41FA5}">
                      <a16:colId xmlns:a16="http://schemas.microsoft.com/office/drawing/2014/main" val="1764601007"/>
                    </a:ext>
                  </a:extLst>
                </a:gridCol>
                <a:gridCol w="5768342">
                  <a:extLst>
                    <a:ext uri="{9D8B030D-6E8A-4147-A177-3AD203B41FA5}">
                      <a16:colId xmlns:a16="http://schemas.microsoft.com/office/drawing/2014/main" val="3256020432"/>
                    </a:ext>
                  </a:extLst>
                </a:gridCol>
              </a:tblGrid>
              <a:tr h="519225">
                <a:tc>
                  <a:txBody>
                    <a:bodyPr/>
                    <a:lstStyle/>
                    <a:p>
                      <a:pPr algn="ctr"/>
                      <a:r>
                        <a:rPr lang="en-US" sz="3000" b="0" dirty="0">
                          <a:solidFill>
                            <a:schemeClr val="accent1"/>
                          </a:solidFill>
                          <a:latin typeface="Amazon Ember" panose="02000000000000000000" pitchFamily="2" charset="0"/>
                          <a:ea typeface="Amazon Ember" panose="02000000000000000000" pitchFamily="2" charset="0"/>
                        </a:rPr>
                        <a:t>Amazon MQ</a:t>
                      </a:r>
                    </a:p>
                  </a:txBody>
                  <a:tcPr marL="103216" marR="103216"/>
                </a:tc>
                <a:tc>
                  <a:txBody>
                    <a:bodyPr/>
                    <a:lstStyle/>
                    <a:p>
                      <a:pPr algn="ctr"/>
                      <a:r>
                        <a:rPr lang="en-US" sz="3000" b="0" dirty="0">
                          <a:solidFill>
                            <a:schemeClr val="accent1"/>
                          </a:solidFill>
                          <a:latin typeface="Amazon Ember" panose="02000000000000000000" pitchFamily="2" charset="0"/>
                          <a:ea typeface="Amazon Ember" panose="02000000000000000000" pitchFamily="2" charset="0"/>
                        </a:rPr>
                        <a:t>Amazon SQS </a:t>
                      </a:r>
                      <a:r>
                        <a:rPr lang="en-US" sz="3000" b="0" u="none" dirty="0">
                          <a:solidFill>
                            <a:schemeClr val="accent1"/>
                          </a:solidFill>
                          <a:latin typeface="Amazon Ember" panose="02000000000000000000" pitchFamily="2" charset="0"/>
                          <a:ea typeface="Amazon Ember" panose="02000000000000000000" pitchFamily="2" charset="0"/>
                        </a:rPr>
                        <a:t>&amp;</a:t>
                      </a:r>
                      <a:r>
                        <a:rPr lang="en-US" sz="3000" b="0" dirty="0">
                          <a:solidFill>
                            <a:schemeClr val="accent1"/>
                          </a:solidFill>
                          <a:latin typeface="Amazon Ember" panose="02000000000000000000" pitchFamily="2" charset="0"/>
                          <a:ea typeface="Amazon Ember" panose="02000000000000000000" pitchFamily="2" charset="0"/>
                        </a:rPr>
                        <a:t> </a:t>
                      </a:r>
                      <a:r>
                        <a:rPr lang="en-US" sz="3000" b="0" u="none" dirty="0">
                          <a:solidFill>
                            <a:schemeClr val="accent1"/>
                          </a:solidFill>
                          <a:latin typeface="Amazon Ember" panose="02000000000000000000" pitchFamily="2" charset="0"/>
                          <a:ea typeface="Amazon Ember" panose="02000000000000000000" pitchFamily="2" charset="0"/>
                        </a:rPr>
                        <a:t>SNS</a:t>
                      </a:r>
                    </a:p>
                  </a:txBody>
                  <a:tcPr marL="103216" marR="103216"/>
                </a:tc>
                <a:extLst>
                  <a:ext uri="{0D108BD9-81ED-4DB2-BD59-A6C34878D82A}">
                    <a16:rowId xmlns:a16="http://schemas.microsoft.com/office/drawing/2014/main" val="3986889979"/>
                  </a:ext>
                </a:extLst>
              </a:tr>
              <a:tr h="432688">
                <a:tc>
                  <a:txBody>
                    <a:bodyPr/>
                    <a:lstStyle/>
                    <a:p>
                      <a:pPr algn="ctr"/>
                      <a:r>
                        <a:rPr lang="en-US" sz="2400" dirty="0"/>
                        <a:t>For </a:t>
                      </a:r>
                      <a:r>
                        <a:rPr lang="en-US" sz="2400" u="none" dirty="0">
                          <a:solidFill>
                            <a:schemeClr val="accent6"/>
                          </a:solidFill>
                        </a:rPr>
                        <a:t>application migration</a:t>
                      </a:r>
                      <a:endParaRPr lang="en-US" sz="2400" b="0" u="none" dirty="0">
                        <a:solidFill>
                          <a:schemeClr val="accent6"/>
                        </a:solidFill>
                        <a:latin typeface="Amazon Ember" panose="02000000000000000000"/>
                        <a:ea typeface="Amazon Ember" panose="02000000000000000000" pitchFamily="2" charset="0"/>
                        <a:cs typeface="Amazon Ember Light" panose="020B0403020204020204" pitchFamily="34" charset="0"/>
                      </a:endParaRPr>
                    </a:p>
                  </a:txBody>
                  <a:tcPr marL="103216" marR="103216"/>
                </a:tc>
                <a:tc>
                  <a:txBody>
                    <a:bodyPr/>
                    <a:lstStyle/>
                    <a:p>
                      <a:pPr algn="ctr"/>
                      <a:r>
                        <a:rPr lang="en-US" sz="2400" dirty="0"/>
                        <a:t>For </a:t>
                      </a:r>
                      <a:r>
                        <a:rPr lang="en-US" sz="2400" dirty="0">
                          <a:solidFill>
                            <a:schemeClr val="accent6"/>
                          </a:solidFill>
                        </a:rPr>
                        <a:t>born-in-the-cloud </a:t>
                      </a:r>
                      <a:r>
                        <a:rPr lang="en-US" sz="2400" u="none" dirty="0" smtClean="0">
                          <a:solidFill>
                            <a:schemeClr val="accent6"/>
                          </a:solidFill>
                        </a:rPr>
                        <a:t>applications</a:t>
                      </a:r>
                      <a:endParaRPr lang="en-US" sz="2400" b="0" u="none" dirty="0">
                        <a:solidFill>
                          <a:schemeClr val="accent6"/>
                        </a:solidFill>
                        <a:latin typeface="Amazon Ember" panose="02000000000000000000"/>
                        <a:ea typeface="Amazon Ember" panose="02000000000000000000" pitchFamily="2" charset="0"/>
                        <a:cs typeface="Amazon Ember Light" panose="020B0403020204020204" pitchFamily="34" charset="0"/>
                      </a:endParaRPr>
                    </a:p>
                  </a:txBody>
                  <a:tcPr marL="103216" marR="103216"/>
                </a:tc>
                <a:extLst>
                  <a:ext uri="{0D108BD9-81ED-4DB2-BD59-A6C34878D82A}">
                    <a16:rowId xmlns:a16="http://schemas.microsoft.com/office/drawing/2014/main" val="2480000357"/>
                  </a:ext>
                </a:extLst>
              </a:tr>
              <a:tr h="778838">
                <a:tc>
                  <a:txBody>
                    <a:bodyPr/>
                    <a:lstStyle/>
                    <a:p>
                      <a:pPr algn="ctr"/>
                      <a:r>
                        <a:rPr lang="en-US" sz="2400" dirty="0"/>
                        <a:t>Protocols: JMS, NMS, AMQP, STOMP, MQTT, and WebSocket</a:t>
                      </a:r>
                      <a:endParaRPr lang="en-US" sz="24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03216" marR="103216"/>
                </a:tc>
                <a:tc>
                  <a:txBody>
                    <a:bodyPr/>
                    <a:lstStyle/>
                    <a:p>
                      <a:pPr algn="ctr"/>
                      <a:r>
                        <a:rPr lang="en-US" sz="2400" dirty="0"/>
                        <a:t>Protocol: HTTPS</a:t>
                      </a:r>
                      <a:endParaRPr lang="en-US" sz="240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03216" marR="103216"/>
                </a:tc>
                <a:extLst>
                  <a:ext uri="{0D108BD9-81ED-4DB2-BD59-A6C34878D82A}">
                    <a16:rowId xmlns:a16="http://schemas.microsoft.com/office/drawing/2014/main" val="2344979294"/>
                  </a:ext>
                </a:extLst>
              </a:tr>
              <a:tr h="4326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Feature </a:t>
                      </a:r>
                      <a:r>
                        <a:rPr lang="en-US" sz="2400" u="none"/>
                        <a:t>rich</a:t>
                      </a:r>
                      <a:endParaRPr lang="en-US" sz="2400" b="0" i="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03216" marR="10321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u="none"/>
                        <a:t>Unlimited</a:t>
                      </a:r>
                      <a:r>
                        <a:rPr lang="en-US" sz="2400"/>
                        <a:t> </a:t>
                      </a:r>
                      <a:r>
                        <a:rPr lang="en-US" sz="2400" dirty="0"/>
                        <a:t>throughput</a:t>
                      </a:r>
                      <a:endParaRPr lang="en-US" sz="2400" b="0" i="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03216" marR="103216"/>
                </a:tc>
                <a:extLst>
                  <a:ext uri="{0D108BD9-81ED-4DB2-BD59-A6C34878D82A}">
                    <a16:rowId xmlns:a16="http://schemas.microsoft.com/office/drawing/2014/main" val="2728293366"/>
                  </a:ext>
                </a:extLst>
              </a:tr>
              <a:tr h="7788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Pay per-hour and pay </a:t>
                      </a:r>
                      <a:r>
                        <a:rPr lang="en-US" sz="2400" u="none" dirty="0"/>
                        <a:t>per-GB</a:t>
                      </a:r>
                      <a:endParaRPr lang="en-US" sz="240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03216" marR="10321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Pay</a:t>
                      </a:r>
                      <a:r>
                        <a:rPr lang="en-US" sz="2400" baseline="0"/>
                        <a:t> </a:t>
                      </a:r>
                      <a:r>
                        <a:rPr lang="en-US" sz="2400" u="none" baseline="0"/>
                        <a:t>per-request</a:t>
                      </a:r>
                      <a:endParaRPr lang="en-US" sz="2400" u="none" baseline="0"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baseline="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03216" marR="103216"/>
                </a:tc>
                <a:extLst>
                  <a:ext uri="{0D108BD9-81ED-4DB2-BD59-A6C34878D82A}">
                    <a16:rowId xmlns:a16="http://schemas.microsoft.com/office/drawing/2014/main" val="1858460445"/>
                  </a:ext>
                </a:extLst>
              </a:tr>
              <a:tr h="10772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u="none" dirty="0" smtClean="0"/>
                        <a:t>Pub/Sub supported</a:t>
                      </a:r>
                      <a:endParaRPr lang="en-US" sz="240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03216" marR="10321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smtClean="0"/>
                        <a:t>Pub/Sub supported - Amazon SNS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smtClean="0"/>
                        <a:t>Pub/Sub not supported - Amazon SQS</a:t>
                      </a:r>
                      <a:endParaRPr lang="en-US" sz="2400" u="none"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03216" marR="103216"/>
                </a:tc>
                <a:extLst>
                  <a:ext uri="{0D108BD9-81ED-4DB2-BD59-A6C34878D82A}">
                    <a16:rowId xmlns:a16="http://schemas.microsoft.com/office/drawing/2014/main" val="1271480044"/>
                  </a:ext>
                </a:extLst>
              </a:tr>
            </a:tbl>
          </a:graphicData>
        </a:graphic>
      </p:graphicFrame>
      <p:sp>
        <p:nvSpPr>
          <p:cNvPr id="4" name="Slide Number Placeholder 3"/>
          <p:cNvSpPr>
            <a:spLocks noGrp="1"/>
          </p:cNvSpPr>
          <p:nvPr>
            <p:ph type="sldNum" sz="quarter" idx="12"/>
          </p:nvPr>
        </p:nvSpPr>
        <p:spPr/>
        <p:txBody>
          <a:bodyPr/>
          <a:lstStyle/>
          <a:p>
            <a:fld id="{9FC43BFD-8FF7-A343-A8A6-E2338FCE8046}" type="slidenum">
              <a:rPr lang="en-US" smtClean="0"/>
              <a:pPr/>
              <a:t>43</a:t>
            </a:fld>
            <a:endParaRPr lang="en-US" dirty="0"/>
          </a:p>
        </p:txBody>
      </p:sp>
      <p:sp>
        <p:nvSpPr>
          <p:cNvPr id="2" name="Footer Placeholder 1"/>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98138348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Wrap-up</a:t>
            </a:r>
          </a:p>
        </p:txBody>
      </p:sp>
      <p:sp>
        <p:nvSpPr>
          <p:cNvPr id="3" name="Slide Number Placeholder 2"/>
          <p:cNvSpPr>
            <a:spLocks noGrp="1"/>
          </p:cNvSpPr>
          <p:nvPr>
            <p:ph type="sldNum" sz="quarter" idx="4294967295"/>
          </p:nvPr>
        </p:nvSpPr>
        <p:spPr>
          <a:xfrm>
            <a:off x="9448800" y="6356350"/>
            <a:ext cx="2743200" cy="365125"/>
          </a:xfrm>
        </p:spPr>
        <p:txBody>
          <a:bodyPr/>
          <a:lstStyle/>
          <a:p>
            <a:fld id="{9FC43BFD-8FF7-A343-A8A6-E2338FCE8046}" type="slidenum">
              <a:rPr lang="en-US" smtClean="0"/>
              <a:pPr/>
              <a:t>44</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62620231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Knowledge check</a:t>
            </a:r>
          </a:p>
        </p:txBody>
      </p:sp>
      <p:sp>
        <p:nvSpPr>
          <p:cNvPr id="2" name="Slide Number Placeholder 1"/>
          <p:cNvSpPr>
            <a:spLocks noGrp="1"/>
          </p:cNvSpPr>
          <p:nvPr>
            <p:ph type="sldNum" sz="quarter" idx="12"/>
          </p:nvPr>
        </p:nvSpPr>
        <p:spPr/>
        <p:txBody>
          <a:bodyPr/>
          <a:lstStyle/>
          <a:p>
            <a:fld id="{9FC43BFD-8FF7-A343-A8A6-E2338FCE8046}" type="slidenum">
              <a:rPr lang="en-US" smtClean="0"/>
              <a:pPr/>
              <a:t>45</a:t>
            </a:fld>
            <a:endParaRPr lang="en-US" dirty="0"/>
          </a:p>
        </p:txBody>
      </p:sp>
      <p:sp>
        <p:nvSpPr>
          <p:cNvPr id="6" name="Freeform 5"/>
          <p:cNvSpPr/>
          <p:nvPr/>
        </p:nvSpPr>
        <p:spPr>
          <a:xfrm>
            <a:off x="334477" y="1835643"/>
            <a:ext cx="3199853" cy="1919912"/>
          </a:xfrm>
          <a:custGeom>
            <a:avLst/>
            <a:gdLst>
              <a:gd name="connsiteX0" fmla="*/ 0 w 2399890"/>
              <a:gd name="connsiteY0" fmla="*/ 0 h 1439934"/>
              <a:gd name="connsiteX1" fmla="*/ 2399890 w 2399890"/>
              <a:gd name="connsiteY1" fmla="*/ 0 h 1439934"/>
              <a:gd name="connsiteX2" fmla="*/ 2399890 w 2399890"/>
              <a:gd name="connsiteY2" fmla="*/ 1439934 h 1439934"/>
              <a:gd name="connsiteX3" fmla="*/ 0 w 2399890"/>
              <a:gd name="connsiteY3" fmla="*/ 1439934 h 1439934"/>
              <a:gd name="connsiteX4" fmla="*/ 0 w 2399890"/>
              <a:gd name="connsiteY4" fmla="*/ 0 h 1439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9890" h="1439934">
                <a:moveTo>
                  <a:pt x="0" y="0"/>
                </a:moveTo>
                <a:lnTo>
                  <a:pt x="2399890" y="0"/>
                </a:lnTo>
                <a:lnTo>
                  <a:pt x="2399890" y="1439934"/>
                </a:lnTo>
                <a:lnTo>
                  <a:pt x="0" y="1439934"/>
                </a:lnTo>
                <a:lnTo>
                  <a:pt x="0" y="0"/>
                </a:lnTo>
                <a:close/>
              </a:path>
            </a:pathLst>
          </a:custGeom>
          <a:ln>
            <a:solidFill>
              <a:schemeClr val="accent1"/>
            </a:solidFill>
            <a:prstDash val="solid"/>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6040" tIns="457200" rIns="66040" bIns="66040" numCol="1" spcCol="1270" anchor="t" anchorCtr="0">
            <a:noAutofit/>
          </a:bodyPr>
          <a:lstStyle/>
          <a:p>
            <a:pPr defTabSz="770447">
              <a:lnSpc>
                <a:spcPts val="2667"/>
              </a:lnSpc>
              <a:spcBef>
                <a:spcPct val="0"/>
              </a:spcBef>
              <a:spcAft>
                <a:spcPct val="35000"/>
              </a:spcAft>
            </a:pPr>
            <a:r>
              <a:rPr lang="en-US" sz="1600" dirty="0" smtClean="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SQS</a:t>
            </a:r>
            <a:r>
              <a:rPr lang="en-US" sz="1600" dirty="0" smtClean="0">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gives you access to a message queue that can be used to store messages while waiting for a consumer to process them.</a:t>
            </a:r>
            <a:endParaRPr lang="en-US" sz="1600" dirty="0">
              <a:solidFill>
                <a:srgbClr val="FF0000"/>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 name="Freeform 6"/>
          <p:cNvSpPr/>
          <p:nvPr/>
        </p:nvSpPr>
        <p:spPr>
          <a:xfrm>
            <a:off x="3854317" y="1835643"/>
            <a:ext cx="3199853" cy="1919912"/>
          </a:xfrm>
          <a:custGeom>
            <a:avLst/>
            <a:gdLst>
              <a:gd name="connsiteX0" fmla="*/ 0 w 2399890"/>
              <a:gd name="connsiteY0" fmla="*/ 0 h 1439934"/>
              <a:gd name="connsiteX1" fmla="*/ 2399890 w 2399890"/>
              <a:gd name="connsiteY1" fmla="*/ 0 h 1439934"/>
              <a:gd name="connsiteX2" fmla="*/ 2399890 w 2399890"/>
              <a:gd name="connsiteY2" fmla="*/ 1439934 h 1439934"/>
              <a:gd name="connsiteX3" fmla="*/ 0 w 2399890"/>
              <a:gd name="connsiteY3" fmla="*/ 1439934 h 1439934"/>
              <a:gd name="connsiteX4" fmla="*/ 0 w 2399890"/>
              <a:gd name="connsiteY4" fmla="*/ 0 h 1439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9890" h="1439934">
                <a:moveTo>
                  <a:pt x="0" y="0"/>
                </a:moveTo>
                <a:lnTo>
                  <a:pt x="2399890" y="0"/>
                </a:lnTo>
                <a:lnTo>
                  <a:pt x="2399890" y="1439934"/>
                </a:lnTo>
                <a:lnTo>
                  <a:pt x="0" y="1439934"/>
                </a:lnTo>
                <a:lnTo>
                  <a:pt x="0" y="0"/>
                </a:lnTo>
                <a:close/>
              </a:path>
            </a:pathLst>
          </a:custGeom>
          <a:ln>
            <a:solidFill>
              <a:schemeClr val="accent1"/>
            </a:solidFill>
            <a:prstDash val="solid"/>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6040" tIns="457200" rIns="66040" bIns="66040" numCol="1" spcCol="1270" anchor="t" anchorCtr="0">
            <a:noAutofit/>
          </a:bodyPr>
          <a:lstStyle/>
          <a:p>
            <a:pPr defTabSz="770447">
              <a:lnSpc>
                <a:spcPts val="2667"/>
              </a:lnSpc>
              <a:spcBef>
                <a:spcPct val="0"/>
              </a:spcBef>
              <a:spcAft>
                <a:spcPct val="35000"/>
              </a:spcAft>
            </a:pP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With </a:t>
            </a:r>
            <a:r>
              <a:rPr lang="en-US" sz="1600">
                <a:latin typeface="Amazon Ember Light" panose="020B0403020204020204" pitchFamily="34" charset="0"/>
                <a:ea typeface="Amazon Ember Light" panose="020B0403020204020204" pitchFamily="34" charset="0"/>
                <a:cs typeface="Amazon Ember Light" panose="020B0403020204020204" pitchFamily="34" charset="0"/>
              </a:rPr>
              <a:t>an </a:t>
            </a:r>
            <a:r>
              <a:rPr lang="en-US" sz="160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SQS</a:t>
            </a:r>
            <a:r>
              <a:rPr lang="en-US" sz="1600">
                <a:latin typeface="Amazon Ember Light" panose="020B0403020204020204" pitchFamily="34" charset="0"/>
                <a:ea typeface="Amazon Ember Light" panose="020B0403020204020204" pitchFamily="34" charset="0"/>
                <a:cs typeface="Amazon Ember Light" panose="020B0403020204020204" pitchFamily="34" charset="0"/>
              </a:rPr>
              <a:t> Standard </a:t>
            </a:r>
            <a:r>
              <a:rPr lang="en-US" sz="160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Queue</a:t>
            </a:r>
            <a:r>
              <a:rPr lang="en-US" sz="1600">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message ordering is </a:t>
            </a:r>
            <a:r>
              <a:rPr lang="en-US" sz="16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guaranteed</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9" name="Freeform 8"/>
          <p:cNvSpPr/>
          <p:nvPr/>
        </p:nvSpPr>
        <p:spPr>
          <a:xfrm>
            <a:off x="7374157" y="1835643"/>
            <a:ext cx="3199853" cy="1919912"/>
          </a:xfrm>
          <a:custGeom>
            <a:avLst/>
            <a:gdLst>
              <a:gd name="connsiteX0" fmla="*/ 0 w 2399890"/>
              <a:gd name="connsiteY0" fmla="*/ 0 h 1439934"/>
              <a:gd name="connsiteX1" fmla="*/ 2399890 w 2399890"/>
              <a:gd name="connsiteY1" fmla="*/ 0 h 1439934"/>
              <a:gd name="connsiteX2" fmla="*/ 2399890 w 2399890"/>
              <a:gd name="connsiteY2" fmla="*/ 1439934 h 1439934"/>
              <a:gd name="connsiteX3" fmla="*/ 0 w 2399890"/>
              <a:gd name="connsiteY3" fmla="*/ 1439934 h 1439934"/>
              <a:gd name="connsiteX4" fmla="*/ 0 w 2399890"/>
              <a:gd name="connsiteY4" fmla="*/ 0 h 1439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9890" h="1439934">
                <a:moveTo>
                  <a:pt x="0" y="0"/>
                </a:moveTo>
                <a:lnTo>
                  <a:pt x="2399890" y="0"/>
                </a:lnTo>
                <a:lnTo>
                  <a:pt x="2399890" y="1439934"/>
                </a:lnTo>
                <a:lnTo>
                  <a:pt x="0" y="1439934"/>
                </a:lnTo>
                <a:lnTo>
                  <a:pt x="0" y="0"/>
                </a:lnTo>
                <a:close/>
              </a:path>
            </a:pathLst>
          </a:custGeom>
          <a:ln>
            <a:solidFill>
              <a:schemeClr val="accent1"/>
            </a:solidFill>
            <a:prstDash val="solid"/>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6040" tIns="457200" rIns="66040" bIns="66040" numCol="1" spcCol="1270" anchor="t" anchorCtr="0">
            <a:noAutofit/>
          </a:bodyPr>
          <a:lstStyle/>
          <a:p>
            <a:pPr defTabSz="770447">
              <a:lnSpc>
                <a:spcPts val="2667"/>
              </a:lnSpc>
              <a:spcBef>
                <a:spcPct val="0"/>
              </a:spcBef>
              <a:spcAft>
                <a:spcPct val="35000"/>
              </a:spcAft>
            </a:pPr>
            <a:r>
              <a:rPr lang="en-US" sz="1600" dirty="0" smtClean="0">
                <a:latin typeface="Amazon Ember Light" panose="020B0403020204020204" pitchFamily="34" charset="0"/>
                <a:ea typeface="Amazon Ember Light" panose="020B0403020204020204" pitchFamily="34" charset="0"/>
                <a:cs typeface="Amazon Ember Light" panose="020B0403020204020204" pitchFamily="34" charset="0"/>
              </a:rPr>
              <a:t>You </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can't filter messages when subscribing to an SNS topic, you </a:t>
            </a:r>
            <a:r>
              <a:rPr lang="en-US" sz="1600"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always</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receive all messages published.</a:t>
            </a:r>
          </a:p>
        </p:txBody>
      </p:sp>
      <p:sp>
        <p:nvSpPr>
          <p:cNvPr id="10" name="Freeform 9"/>
          <p:cNvSpPr/>
          <p:nvPr/>
        </p:nvSpPr>
        <p:spPr>
          <a:xfrm>
            <a:off x="352438" y="4075542"/>
            <a:ext cx="3199853" cy="1919912"/>
          </a:xfrm>
          <a:custGeom>
            <a:avLst/>
            <a:gdLst>
              <a:gd name="connsiteX0" fmla="*/ 0 w 2399890"/>
              <a:gd name="connsiteY0" fmla="*/ 0 h 1439934"/>
              <a:gd name="connsiteX1" fmla="*/ 2399890 w 2399890"/>
              <a:gd name="connsiteY1" fmla="*/ 0 h 1439934"/>
              <a:gd name="connsiteX2" fmla="*/ 2399890 w 2399890"/>
              <a:gd name="connsiteY2" fmla="*/ 1439934 h 1439934"/>
              <a:gd name="connsiteX3" fmla="*/ 0 w 2399890"/>
              <a:gd name="connsiteY3" fmla="*/ 1439934 h 1439934"/>
              <a:gd name="connsiteX4" fmla="*/ 0 w 2399890"/>
              <a:gd name="connsiteY4" fmla="*/ 0 h 1439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9890" h="1439934">
                <a:moveTo>
                  <a:pt x="0" y="0"/>
                </a:moveTo>
                <a:lnTo>
                  <a:pt x="2399890" y="0"/>
                </a:lnTo>
                <a:lnTo>
                  <a:pt x="2399890" y="1439934"/>
                </a:lnTo>
                <a:lnTo>
                  <a:pt x="0" y="1439934"/>
                </a:lnTo>
                <a:lnTo>
                  <a:pt x="0" y="0"/>
                </a:lnTo>
                <a:close/>
              </a:path>
            </a:pathLst>
          </a:custGeom>
          <a:ln>
            <a:solidFill>
              <a:schemeClr val="accent1"/>
            </a:solidFill>
            <a:prstDash val="solid"/>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6040" tIns="457200" rIns="66040" bIns="66040" numCol="1" spcCol="1270" anchor="t" anchorCtr="0">
            <a:noAutofit/>
          </a:bodyPr>
          <a:lstStyle/>
          <a:p>
            <a:pPr defTabSz="770447">
              <a:lnSpc>
                <a:spcPts val="2667"/>
              </a:lnSpc>
              <a:spcBef>
                <a:spcPct val="0"/>
              </a:spcBef>
              <a:spcAft>
                <a:spcPct val="35000"/>
              </a:spcAft>
            </a:pPr>
            <a:r>
              <a:rPr lang="en-US" sz="1600" dirty="0" smtClean="0">
                <a:latin typeface="Amazon Ember Light" panose="020B0403020204020204" pitchFamily="34" charset="0"/>
                <a:ea typeface="Amazon Ember Light" panose="020B0403020204020204" pitchFamily="34" charset="0"/>
                <a:cs typeface="Amazon Ember Light" panose="020B0403020204020204" pitchFamily="34" charset="0"/>
              </a:rPr>
              <a:t>When </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Amazon SNS sends a message to Amazon SQS, it encodes the message as a JSON document.</a:t>
            </a:r>
          </a:p>
        </p:txBody>
      </p:sp>
      <p:sp>
        <p:nvSpPr>
          <p:cNvPr id="11" name="Freeform 10"/>
          <p:cNvSpPr/>
          <p:nvPr/>
        </p:nvSpPr>
        <p:spPr>
          <a:xfrm>
            <a:off x="3872278" y="4075542"/>
            <a:ext cx="3199853" cy="1919912"/>
          </a:xfrm>
          <a:custGeom>
            <a:avLst/>
            <a:gdLst>
              <a:gd name="connsiteX0" fmla="*/ 0 w 2399890"/>
              <a:gd name="connsiteY0" fmla="*/ 0 h 1439934"/>
              <a:gd name="connsiteX1" fmla="*/ 2399890 w 2399890"/>
              <a:gd name="connsiteY1" fmla="*/ 0 h 1439934"/>
              <a:gd name="connsiteX2" fmla="*/ 2399890 w 2399890"/>
              <a:gd name="connsiteY2" fmla="*/ 1439934 h 1439934"/>
              <a:gd name="connsiteX3" fmla="*/ 0 w 2399890"/>
              <a:gd name="connsiteY3" fmla="*/ 1439934 h 1439934"/>
              <a:gd name="connsiteX4" fmla="*/ 0 w 2399890"/>
              <a:gd name="connsiteY4" fmla="*/ 0 h 1439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9890" h="1439934">
                <a:moveTo>
                  <a:pt x="0" y="0"/>
                </a:moveTo>
                <a:lnTo>
                  <a:pt x="2399890" y="0"/>
                </a:lnTo>
                <a:lnTo>
                  <a:pt x="2399890" y="1439934"/>
                </a:lnTo>
                <a:lnTo>
                  <a:pt x="0" y="1439934"/>
                </a:lnTo>
                <a:lnTo>
                  <a:pt x="0" y="0"/>
                </a:lnTo>
                <a:close/>
              </a:path>
            </a:pathLst>
          </a:custGeom>
          <a:ln>
            <a:solidFill>
              <a:schemeClr val="accent1"/>
            </a:solidFill>
            <a:prstDash val="solid"/>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6040" tIns="457200" rIns="66040" bIns="66040" numCol="1" spcCol="1270" anchor="t" anchorCtr="0">
            <a:noAutofit/>
          </a:bodyPr>
          <a:lstStyle/>
          <a:p>
            <a:pPr defTabSz="770447">
              <a:lnSpc>
                <a:spcPts val="2667"/>
              </a:lnSpc>
              <a:spcBef>
                <a:spcPct val="0"/>
              </a:spcBef>
              <a:spcAft>
                <a:spcPct val="35000"/>
              </a:spcAft>
            </a:pP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Amazon MQ supports JMS, NMS, AMQP, STOMP, MQTT, and WebSocket protocols.</a:t>
            </a:r>
          </a:p>
        </p:txBody>
      </p:sp>
      <p:sp>
        <p:nvSpPr>
          <p:cNvPr id="13" name="TextBox 12"/>
          <p:cNvSpPr txBox="1"/>
          <p:nvPr/>
        </p:nvSpPr>
        <p:spPr>
          <a:xfrm>
            <a:off x="3016124" y="4009497"/>
            <a:ext cx="611065" cy="666786"/>
          </a:xfrm>
          <a:prstGeom prst="rect">
            <a:avLst/>
          </a:prstGeom>
          <a:noFill/>
        </p:spPr>
        <p:txBody>
          <a:bodyPr wrap="none" rtlCol="0">
            <a:spAutoFit/>
          </a:bodyPr>
          <a:lstStyle/>
          <a:p>
            <a:r>
              <a:rPr lang="en-US" sz="3733" dirty="0">
                <a:solidFill>
                  <a:srgbClr val="0C9B2E"/>
                </a:solidFill>
                <a:latin typeface="Amazon Ember Light" charset="0"/>
                <a:ea typeface="Amazon Ember Light" charset="0"/>
                <a:cs typeface="Amazon Ember Light" charset="0"/>
                <a:sym typeface="Wingdings"/>
              </a:rPr>
              <a:t></a:t>
            </a:r>
            <a:endParaRPr lang="en-US" sz="3733" dirty="0">
              <a:latin typeface="Amazon Ember Light" charset="0"/>
              <a:ea typeface="Amazon Ember Light" charset="0"/>
              <a:cs typeface="Amazon Ember Light" charset="0"/>
            </a:endParaRPr>
          </a:p>
        </p:txBody>
      </p:sp>
      <p:sp>
        <p:nvSpPr>
          <p:cNvPr id="14" name="TextBox 13"/>
          <p:cNvSpPr txBox="1"/>
          <p:nvPr/>
        </p:nvSpPr>
        <p:spPr>
          <a:xfrm>
            <a:off x="6528200" y="1763285"/>
            <a:ext cx="611065" cy="666786"/>
          </a:xfrm>
          <a:prstGeom prst="rect">
            <a:avLst/>
          </a:prstGeom>
          <a:noFill/>
        </p:spPr>
        <p:txBody>
          <a:bodyPr wrap="none" rtlCol="0">
            <a:spAutoFit/>
          </a:bodyPr>
          <a:lstStyle/>
          <a:p>
            <a:r>
              <a:rPr lang="en-US" sz="3733" dirty="0">
                <a:solidFill>
                  <a:srgbClr val="FF0000"/>
                </a:solidFill>
                <a:latin typeface="Amazon Ember Light" charset="0"/>
                <a:ea typeface="Amazon Ember Light" charset="0"/>
                <a:cs typeface="Amazon Ember Light" charset="0"/>
                <a:sym typeface="Wingdings"/>
              </a:rPr>
              <a:t></a:t>
            </a:r>
            <a:endParaRPr lang="en-US" sz="3733" dirty="0">
              <a:latin typeface="Amazon Ember Light" charset="0"/>
              <a:ea typeface="Amazon Ember Light" charset="0"/>
              <a:cs typeface="Amazon Ember Light" charset="0"/>
            </a:endParaRPr>
          </a:p>
        </p:txBody>
      </p:sp>
      <p:sp>
        <p:nvSpPr>
          <p:cNvPr id="17" name="TextBox 16"/>
          <p:cNvSpPr txBox="1"/>
          <p:nvPr/>
        </p:nvSpPr>
        <p:spPr>
          <a:xfrm>
            <a:off x="10037843" y="1749144"/>
            <a:ext cx="611065" cy="666786"/>
          </a:xfrm>
          <a:prstGeom prst="rect">
            <a:avLst/>
          </a:prstGeom>
          <a:noFill/>
        </p:spPr>
        <p:txBody>
          <a:bodyPr wrap="none" rtlCol="0">
            <a:spAutoFit/>
          </a:bodyPr>
          <a:lstStyle/>
          <a:p>
            <a:r>
              <a:rPr lang="en-US" sz="3733" dirty="0">
                <a:solidFill>
                  <a:srgbClr val="FF0000"/>
                </a:solidFill>
                <a:latin typeface="Amazon Ember Light" charset="0"/>
                <a:ea typeface="Amazon Ember Light" charset="0"/>
                <a:cs typeface="Amazon Ember Light" charset="0"/>
                <a:sym typeface="Wingdings"/>
              </a:rPr>
              <a:t></a:t>
            </a:r>
            <a:endParaRPr lang="en-US" sz="3733" dirty="0">
              <a:latin typeface="Amazon Ember Light" charset="0"/>
              <a:ea typeface="Amazon Ember Light" charset="0"/>
              <a:cs typeface="Amazon Ember Light" charset="0"/>
            </a:endParaRPr>
          </a:p>
        </p:txBody>
      </p:sp>
      <p:sp>
        <p:nvSpPr>
          <p:cNvPr id="19" name="TextBox 18"/>
          <p:cNvSpPr txBox="1"/>
          <p:nvPr/>
        </p:nvSpPr>
        <p:spPr>
          <a:xfrm>
            <a:off x="10672625" y="1753082"/>
            <a:ext cx="1387569" cy="830997"/>
          </a:xfrm>
          <a:prstGeom prst="rect">
            <a:avLst/>
          </a:prstGeom>
          <a:noFill/>
        </p:spPr>
        <p:txBody>
          <a:bodyPr wrap="square" rtlCol="0">
            <a:spAutoFit/>
          </a:bodyPr>
          <a:lstStyle/>
          <a:p>
            <a:pPr marL="380990" indent="-380990">
              <a:buFont typeface="Wingdings" panose="05000000000000000000" pitchFamily="2" charset="2"/>
              <a:buChar char="q"/>
            </a:pPr>
            <a:r>
              <a:rPr lang="en-US" sz="2400" dirty="0">
                <a:latin typeface="Amazon Ember Light" charset="0"/>
                <a:ea typeface="Amazon Ember Light" charset="0"/>
                <a:cs typeface="Amazon Ember Light" charset="0"/>
              </a:rPr>
              <a:t>True</a:t>
            </a:r>
          </a:p>
          <a:p>
            <a:pPr marL="380990" indent="-380990">
              <a:buFont typeface="Wingdings" panose="05000000000000000000" pitchFamily="2" charset="2"/>
              <a:buChar char="q"/>
            </a:pPr>
            <a:r>
              <a:rPr lang="en-US" sz="2400" dirty="0">
                <a:latin typeface="Amazon Ember Light" charset="0"/>
                <a:ea typeface="Amazon Ember Light" charset="0"/>
                <a:cs typeface="Amazon Ember Light" charset="0"/>
              </a:rPr>
              <a:t>False</a:t>
            </a:r>
          </a:p>
        </p:txBody>
      </p:sp>
      <p:sp>
        <p:nvSpPr>
          <p:cNvPr id="18" name="TextBox 17"/>
          <p:cNvSpPr txBox="1"/>
          <p:nvPr/>
        </p:nvSpPr>
        <p:spPr>
          <a:xfrm>
            <a:off x="2980509" y="1753082"/>
            <a:ext cx="611065" cy="666786"/>
          </a:xfrm>
          <a:prstGeom prst="rect">
            <a:avLst/>
          </a:prstGeom>
          <a:noFill/>
        </p:spPr>
        <p:txBody>
          <a:bodyPr wrap="none" rtlCol="0">
            <a:spAutoFit/>
          </a:bodyPr>
          <a:lstStyle/>
          <a:p>
            <a:r>
              <a:rPr lang="en-US" sz="3733" dirty="0">
                <a:solidFill>
                  <a:srgbClr val="0C9B2E"/>
                </a:solidFill>
                <a:latin typeface="Amazon Ember Light" charset="0"/>
                <a:ea typeface="Amazon Ember Light" charset="0"/>
                <a:cs typeface="Amazon Ember Light" charset="0"/>
                <a:sym typeface="Wingdings"/>
              </a:rPr>
              <a:t></a:t>
            </a:r>
            <a:endParaRPr lang="en-US" sz="3733" dirty="0">
              <a:latin typeface="Amazon Ember Light" charset="0"/>
              <a:ea typeface="Amazon Ember Light" charset="0"/>
              <a:cs typeface="Amazon Ember Light" charset="0"/>
            </a:endParaRPr>
          </a:p>
        </p:txBody>
      </p:sp>
      <p:sp>
        <p:nvSpPr>
          <p:cNvPr id="20" name="TextBox 19"/>
          <p:cNvSpPr txBox="1"/>
          <p:nvPr/>
        </p:nvSpPr>
        <p:spPr>
          <a:xfrm>
            <a:off x="6510373" y="4009497"/>
            <a:ext cx="611065" cy="666786"/>
          </a:xfrm>
          <a:prstGeom prst="rect">
            <a:avLst/>
          </a:prstGeom>
          <a:noFill/>
        </p:spPr>
        <p:txBody>
          <a:bodyPr wrap="none" rtlCol="0">
            <a:spAutoFit/>
          </a:bodyPr>
          <a:lstStyle/>
          <a:p>
            <a:r>
              <a:rPr lang="en-US" sz="3733" dirty="0">
                <a:solidFill>
                  <a:srgbClr val="0C9B2E"/>
                </a:solidFill>
                <a:latin typeface="Amazon Ember Light" charset="0"/>
                <a:ea typeface="Amazon Ember Light" charset="0"/>
                <a:cs typeface="Amazon Ember Light" charset="0"/>
                <a:sym typeface="Wingdings"/>
              </a:rPr>
              <a:t></a:t>
            </a:r>
            <a:endParaRPr lang="en-US" sz="3733" dirty="0">
              <a:latin typeface="Amazon Ember Light" charset="0"/>
              <a:ea typeface="Amazon Ember Light" charset="0"/>
              <a:cs typeface="Amazon Ember Light" charset="0"/>
            </a:endParaRPr>
          </a:p>
        </p:txBody>
      </p:sp>
      <p:sp>
        <p:nvSpPr>
          <p:cNvPr id="3" name="Footer Placeholder 2"/>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122393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7" grpId="0"/>
      <p:bldP spid="18" grpId="0"/>
      <p:bldP spid="2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Lab 5: Developing </a:t>
            </a:r>
            <a:r>
              <a:rPr lang="en-US" dirty="0" smtClean="0"/>
              <a:t>messaging </a:t>
            </a:r>
            <a:r>
              <a:rPr lang="en-US" dirty="0">
                <a:solidFill>
                  <a:srgbClr val="FFFFFF"/>
                </a:solidFill>
              </a:rPr>
              <a:t>s</a:t>
            </a:r>
            <a:r>
              <a:rPr lang="en-US" dirty="0" smtClean="0">
                <a:solidFill>
                  <a:srgbClr val="FFFFFF"/>
                </a:solidFill>
              </a:rPr>
              <a:t>olutions</a:t>
            </a:r>
            <a:r>
              <a:rPr lang="en-US" dirty="0" smtClean="0"/>
              <a:t> </a:t>
            </a:r>
            <a:r>
              <a:rPr lang="en-US" dirty="0"/>
              <a:t>with </a:t>
            </a:r>
            <a:r>
              <a:rPr lang="en-US" dirty="0">
                <a:solidFill>
                  <a:srgbClr val="FFFFFF"/>
                </a:solidFill>
              </a:rPr>
              <a:t>SQS</a:t>
            </a:r>
            <a:r>
              <a:rPr lang="en-US" dirty="0"/>
              <a:t> and </a:t>
            </a:r>
            <a:r>
              <a:rPr lang="en-US" dirty="0">
                <a:solidFill>
                  <a:srgbClr val="FFFFFF"/>
                </a:solidFill>
              </a:rPr>
              <a:t>SNS</a:t>
            </a:r>
            <a:endParaRPr lang="en-US" dirty="0">
              <a:solidFill>
                <a:srgbClr val="FFFFFF"/>
              </a:solidFill>
              <a:latin typeface="Amazon Ember Light" panose="020B0403020204020204"/>
            </a:endParaRPr>
          </a:p>
        </p:txBody>
      </p:sp>
      <p:sp>
        <p:nvSpPr>
          <p:cNvPr id="3" name="Slide Number Placeholder 2"/>
          <p:cNvSpPr>
            <a:spLocks noGrp="1"/>
          </p:cNvSpPr>
          <p:nvPr>
            <p:ph type="sldNum" sz="quarter" idx="4294967295"/>
          </p:nvPr>
        </p:nvSpPr>
        <p:spPr>
          <a:xfrm>
            <a:off x="9448800" y="6356350"/>
            <a:ext cx="2743200" cy="365125"/>
          </a:xfrm>
        </p:spPr>
        <p:txBody>
          <a:bodyPr/>
          <a:lstStyle/>
          <a:p>
            <a:fld id="{9FC43BFD-8FF7-A343-A8A6-E2338FCE8046}" type="slidenum">
              <a:rPr lang="en-US" smtClean="0"/>
              <a:pPr/>
              <a:t>46</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91552704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itle 4"/>
          <p:cNvSpPr>
            <a:spLocks noGrp="1"/>
          </p:cNvSpPr>
          <p:nvPr>
            <p:ph type="title"/>
          </p:nvPr>
        </p:nvSpPr>
        <p:spPr/>
        <p:txBody>
          <a:bodyPr/>
          <a:lstStyle/>
          <a:p>
            <a:r>
              <a:rPr lang="en-US" dirty="0"/>
              <a:t>Lab overview</a:t>
            </a:r>
          </a:p>
        </p:txBody>
      </p:sp>
      <p:sp>
        <p:nvSpPr>
          <p:cNvPr id="2" name="Slide Number Placeholder 1"/>
          <p:cNvSpPr>
            <a:spLocks noGrp="1"/>
          </p:cNvSpPr>
          <p:nvPr>
            <p:ph type="sldNum" sz="quarter" idx="12"/>
          </p:nvPr>
        </p:nvSpPr>
        <p:spPr/>
        <p:txBody>
          <a:bodyPr/>
          <a:lstStyle/>
          <a:p>
            <a:fld id="{9FC43BFD-8FF7-A343-A8A6-E2338FCE8046}" type="slidenum">
              <a:rPr lang="en-US" smtClean="0"/>
              <a:pPr/>
              <a:t>47</a:t>
            </a:fld>
            <a:endParaRPr lang="en-US" dirty="0"/>
          </a:p>
        </p:txBody>
      </p:sp>
      <p:sp>
        <p:nvSpPr>
          <p:cNvPr id="5" name="TextBox 4"/>
          <p:cNvSpPr txBox="1"/>
          <p:nvPr/>
        </p:nvSpPr>
        <p:spPr>
          <a:xfrm>
            <a:off x="8980773" y="5405622"/>
            <a:ext cx="1848895" cy="553998"/>
          </a:xfrm>
          <a:prstGeom prst="rect">
            <a:avLst/>
          </a:prstGeom>
          <a:noFill/>
        </p:spPr>
        <p:txBody>
          <a:bodyPr wrap="square" lIns="0" tIns="0" rIns="0" bIns="0"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Duration</a:t>
            </a:r>
          </a:p>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45 mins.</a:t>
            </a: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26803" y="5187014"/>
            <a:ext cx="1138113" cy="1132693"/>
          </a:xfrm>
          <a:prstGeom prst="rect">
            <a:avLst/>
          </a:prstGeom>
        </p:spPr>
      </p:pic>
      <p:sp>
        <p:nvSpPr>
          <p:cNvPr id="4" name="Footer Placeholder 3"/>
          <p:cNvSpPr>
            <a:spLocks noGrp="1"/>
          </p:cNvSpPr>
          <p:nvPr>
            <p:ph type="ftr" sz="quarter" idx="3"/>
          </p:nvPr>
        </p:nvSpPr>
        <p:spPr/>
        <p:txBody>
          <a:bodyPr/>
          <a:lstStyle/>
          <a:p>
            <a:r>
              <a:rPr lang="en-US"/>
              <a:t>© 2020 Amazon Web Services, Inc. or its Affiliates. All rights reserved.</a:t>
            </a:r>
            <a:endParaRPr lang="en-US" dirty="0"/>
          </a:p>
        </p:txBody>
      </p:sp>
      <p:sp>
        <p:nvSpPr>
          <p:cNvPr id="8" name="Rectangle 7">
            <a:extLst>
              <a:ext uri="{FF2B5EF4-FFF2-40B4-BE49-F238E27FC236}">
                <a16:creationId xmlns:a16="http://schemas.microsoft.com/office/drawing/2014/main" id="{CE7F7081-419C-2E4F-A999-2923C4338FC0}"/>
              </a:ext>
            </a:extLst>
          </p:cNvPr>
          <p:cNvSpPr/>
          <p:nvPr/>
        </p:nvSpPr>
        <p:spPr>
          <a:xfrm>
            <a:off x="419100" y="1368202"/>
            <a:ext cx="10172385" cy="488076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AWS Cloud</a:t>
            </a:r>
          </a:p>
        </p:txBody>
      </p:sp>
      <p:pic>
        <p:nvPicPr>
          <p:cNvPr id="9" name="Graphic 11">
            <a:extLst>
              <a:ext uri="{FF2B5EF4-FFF2-40B4-BE49-F238E27FC236}">
                <a16:creationId xmlns:a16="http://schemas.microsoft.com/office/drawing/2014/main" id="{CE52C9D7-11B0-9E41-AB16-2C9849C3ECBE}"/>
              </a:ext>
            </a:extLst>
          </p:cNvPr>
          <p:cNvPicPr>
            <a:picLocks noChangeAspect="1"/>
          </p:cNvPicPr>
          <p:nvPr/>
        </p:nvPicPr>
        <p:blipFill>
          <a:blip r:embed="rId5"/>
          <a:stretch>
            <a:fillRect/>
          </a:stretch>
        </p:blipFill>
        <p:spPr>
          <a:xfrm>
            <a:off x="419101" y="1368203"/>
            <a:ext cx="330200" cy="330200"/>
          </a:xfrm>
          <a:prstGeom prst="rect">
            <a:avLst/>
          </a:prstGeom>
        </p:spPr>
      </p:pic>
      <p:pic>
        <p:nvPicPr>
          <p:cNvPr id="10" name="Graphic 24">
            <a:extLst>
              <a:ext uri="{FF2B5EF4-FFF2-40B4-BE49-F238E27FC236}">
                <a16:creationId xmlns:a16="http://schemas.microsoft.com/office/drawing/2014/main" id="{DD01F647-5021-2945-A1F9-4FD26EC69AC6}"/>
              </a:ext>
            </a:extLst>
          </p:cNvPr>
          <p:cNvPicPr>
            <a:picLocks noChangeAspect="1"/>
          </p:cNvPicPr>
          <p:nvPr/>
        </p:nvPicPr>
        <p:blipFill>
          <a:blip r:embed="rId6"/>
          <a:stretch>
            <a:fillRect/>
          </a:stretch>
        </p:blipFill>
        <p:spPr>
          <a:xfrm>
            <a:off x="9219421" y="3331424"/>
            <a:ext cx="685800" cy="685800"/>
          </a:xfrm>
          <a:prstGeom prst="rect">
            <a:avLst/>
          </a:prstGeom>
        </p:spPr>
      </p:pic>
      <p:pic>
        <p:nvPicPr>
          <p:cNvPr id="11" name="Graphic 24">
            <a:extLst>
              <a:ext uri="{FF2B5EF4-FFF2-40B4-BE49-F238E27FC236}">
                <a16:creationId xmlns:a16="http://schemas.microsoft.com/office/drawing/2014/main" id="{DD01F647-5021-2945-A1F9-4FD26EC69AC6}"/>
              </a:ext>
            </a:extLst>
          </p:cNvPr>
          <p:cNvPicPr>
            <a:picLocks noChangeAspect="1"/>
          </p:cNvPicPr>
          <p:nvPr/>
        </p:nvPicPr>
        <p:blipFill>
          <a:blip r:embed="rId6"/>
          <a:stretch>
            <a:fillRect/>
          </a:stretch>
        </p:blipFill>
        <p:spPr>
          <a:xfrm>
            <a:off x="961429" y="3076298"/>
            <a:ext cx="685800" cy="685800"/>
          </a:xfrm>
          <a:prstGeom prst="rect">
            <a:avLst/>
          </a:prstGeom>
        </p:spPr>
      </p:pic>
      <p:sp>
        <p:nvSpPr>
          <p:cNvPr id="12" name="TextBox 11"/>
          <p:cNvSpPr txBox="1"/>
          <p:nvPr/>
        </p:nvSpPr>
        <p:spPr>
          <a:xfrm>
            <a:off x="5462610" y="3990294"/>
            <a:ext cx="1905120" cy="369332"/>
          </a:xfrm>
          <a:prstGeom prst="rect">
            <a:avLst/>
          </a:prstGeom>
          <a:noFill/>
        </p:spPr>
        <p:txBody>
          <a:bodyPr wrap="square" rtlCol="0">
            <a:spAutoFit/>
          </a:bodyPr>
          <a:lstStyle/>
          <a:p>
            <a:pPr algn="ctr"/>
            <a:r>
              <a:rPr lang="en-US" dirty="0" err="1">
                <a:solidFill>
                  <a:srgbClr val="000000"/>
                </a:solidFill>
                <a:latin typeface="Amazon Ember Light" charset="0"/>
                <a:ea typeface="Amazon Ember Light" charset="0"/>
                <a:cs typeface="Amazon Ember Light" charset="0"/>
              </a:rPr>
              <a:t>mySQSQueue_A</a:t>
            </a:r>
            <a:endParaRPr lang="en-US" dirty="0">
              <a:solidFill>
                <a:srgbClr val="000000"/>
              </a:solidFill>
              <a:latin typeface="Amazon Ember Light" panose="020B0403020204020204"/>
              <a:ea typeface="Amazon Ember Light" charset="0"/>
              <a:cs typeface="Amazon Ember Light" charset="0"/>
            </a:endParaRPr>
          </a:p>
        </p:txBody>
      </p:sp>
      <p:pic>
        <p:nvPicPr>
          <p:cNvPr id="13" name="Graphic 39">
            <a:extLst>
              <a:ext uri="{FF2B5EF4-FFF2-40B4-BE49-F238E27FC236}">
                <a16:creationId xmlns:a16="http://schemas.microsoft.com/office/drawing/2014/main" id="{2ACAD885-5F52-504F-842D-3D87E199BD5D}"/>
              </a:ext>
            </a:extLst>
          </p:cNvPr>
          <p:cNvPicPr>
            <a:picLocks noChangeAspect="1"/>
          </p:cNvPicPr>
          <p:nvPr/>
        </p:nvPicPr>
        <p:blipFill>
          <a:blip r:embed="rId7"/>
          <a:stretch>
            <a:fillRect/>
          </a:stretch>
        </p:blipFill>
        <p:spPr>
          <a:xfrm>
            <a:off x="5957970" y="3217124"/>
            <a:ext cx="914400" cy="914400"/>
          </a:xfrm>
          <a:prstGeom prst="rect">
            <a:avLst/>
          </a:prstGeom>
        </p:spPr>
      </p:pic>
      <p:pic>
        <p:nvPicPr>
          <p:cNvPr id="15" name="Graphic 39">
            <a:extLst>
              <a:ext uri="{FF2B5EF4-FFF2-40B4-BE49-F238E27FC236}">
                <a16:creationId xmlns:a16="http://schemas.microsoft.com/office/drawing/2014/main" id="{2ACAD885-5F52-504F-842D-3D87E199BD5D}"/>
              </a:ext>
            </a:extLst>
          </p:cNvPr>
          <p:cNvPicPr>
            <a:picLocks noChangeAspect="1"/>
          </p:cNvPicPr>
          <p:nvPr/>
        </p:nvPicPr>
        <p:blipFill>
          <a:blip r:embed="rId7"/>
          <a:stretch>
            <a:fillRect/>
          </a:stretch>
        </p:blipFill>
        <p:spPr>
          <a:xfrm>
            <a:off x="5957970" y="4853676"/>
            <a:ext cx="914400" cy="914400"/>
          </a:xfrm>
          <a:prstGeom prst="rect">
            <a:avLst/>
          </a:prstGeom>
        </p:spPr>
      </p:pic>
      <p:sp>
        <p:nvSpPr>
          <p:cNvPr id="16" name="TextBox 15"/>
          <p:cNvSpPr txBox="1"/>
          <p:nvPr/>
        </p:nvSpPr>
        <p:spPr>
          <a:xfrm>
            <a:off x="3313080" y="2665834"/>
            <a:ext cx="1404595" cy="553998"/>
          </a:xfrm>
          <a:prstGeom prst="rect">
            <a:avLst/>
          </a:prstGeom>
          <a:noFill/>
        </p:spPr>
        <p:txBody>
          <a:bodyPr wrap="square" lIns="0" tIns="0" rIns="0" bIns="0" rtlCol="0">
            <a:spAutoFit/>
          </a:bodyPr>
          <a:lstStyle/>
          <a:p>
            <a:pPr algn="ctr"/>
            <a:r>
              <a:rPr lang="en-US" dirty="0">
                <a:latin typeface="Amazon Ember Light" charset="0"/>
                <a:ea typeface="Amazon Ember Light" charset="0"/>
                <a:cs typeface="Amazon Ember Light" charset="0"/>
              </a:rPr>
              <a:t>SNS topic</a:t>
            </a:r>
            <a:br>
              <a:rPr lang="en-US" dirty="0">
                <a:latin typeface="Amazon Ember Light" charset="0"/>
                <a:ea typeface="Amazon Ember Light" charset="0"/>
                <a:cs typeface="Amazon Ember Light" charset="0"/>
              </a:rPr>
            </a:br>
            <a:r>
              <a:rPr lang="en-US" dirty="0">
                <a:latin typeface="Amazon Ember Light" charset="0"/>
                <a:ea typeface="Amazon Ember Light" charset="0"/>
                <a:cs typeface="Amazon Ember Light" charset="0"/>
              </a:rPr>
              <a:t>Email</a:t>
            </a:r>
          </a:p>
        </p:txBody>
      </p:sp>
      <p:pic>
        <p:nvPicPr>
          <p:cNvPr id="17" name="Graphic 31">
            <a:extLst>
              <a:ext uri="{FF2B5EF4-FFF2-40B4-BE49-F238E27FC236}">
                <a16:creationId xmlns:a16="http://schemas.microsoft.com/office/drawing/2014/main" id="{075C7C7E-0733-F14B-BBD3-48FCFF6D5EA5}"/>
              </a:ext>
            </a:extLst>
          </p:cNvPr>
          <p:cNvPicPr>
            <a:picLocks noChangeAspect="1"/>
          </p:cNvPicPr>
          <p:nvPr/>
        </p:nvPicPr>
        <p:blipFill>
          <a:blip r:embed="rId8"/>
          <a:stretch>
            <a:fillRect/>
          </a:stretch>
        </p:blipFill>
        <p:spPr>
          <a:xfrm>
            <a:off x="3672477" y="1905231"/>
            <a:ext cx="685800" cy="685800"/>
          </a:xfrm>
          <a:prstGeom prst="rect">
            <a:avLst/>
          </a:prstGeom>
        </p:spPr>
      </p:pic>
      <p:sp>
        <p:nvSpPr>
          <p:cNvPr id="18" name="TextBox 17"/>
          <p:cNvSpPr txBox="1"/>
          <p:nvPr/>
        </p:nvSpPr>
        <p:spPr>
          <a:xfrm>
            <a:off x="3313080" y="4946938"/>
            <a:ext cx="1404595" cy="553998"/>
          </a:xfrm>
          <a:prstGeom prst="rect">
            <a:avLst/>
          </a:prstGeom>
          <a:noFill/>
        </p:spPr>
        <p:txBody>
          <a:bodyPr wrap="square" lIns="0" tIns="0" rIns="0" bIns="0" rtlCol="0">
            <a:spAutoFit/>
          </a:bodyPr>
          <a:lstStyle/>
          <a:p>
            <a:pPr algn="ctr"/>
            <a:r>
              <a:rPr lang="en-US" dirty="0">
                <a:latin typeface="Amazon Ember Light" charset="0"/>
                <a:ea typeface="Amazon Ember Light" charset="0"/>
                <a:cs typeface="Amazon Ember Light" charset="0"/>
              </a:rPr>
              <a:t>SNS topic</a:t>
            </a:r>
            <a:br>
              <a:rPr lang="en-US" dirty="0">
                <a:latin typeface="Amazon Ember Light" charset="0"/>
                <a:ea typeface="Amazon Ember Light" charset="0"/>
                <a:cs typeface="Amazon Ember Light" charset="0"/>
              </a:rPr>
            </a:br>
            <a:r>
              <a:rPr lang="en-US" dirty="0">
                <a:latin typeface="Amazon Ember Light" charset="0"/>
                <a:ea typeface="Amazon Ember Light" charset="0"/>
                <a:cs typeface="Amazon Ember Light" charset="0"/>
              </a:rPr>
              <a:t>Order</a:t>
            </a:r>
          </a:p>
        </p:txBody>
      </p:sp>
      <p:pic>
        <p:nvPicPr>
          <p:cNvPr id="19" name="Graphic 31">
            <a:extLst>
              <a:ext uri="{FF2B5EF4-FFF2-40B4-BE49-F238E27FC236}">
                <a16:creationId xmlns:a16="http://schemas.microsoft.com/office/drawing/2014/main" id="{075C7C7E-0733-F14B-BBD3-48FCFF6D5EA5}"/>
              </a:ext>
            </a:extLst>
          </p:cNvPr>
          <p:cNvPicPr>
            <a:picLocks noChangeAspect="1"/>
          </p:cNvPicPr>
          <p:nvPr/>
        </p:nvPicPr>
        <p:blipFill>
          <a:blip r:embed="rId8"/>
          <a:stretch>
            <a:fillRect/>
          </a:stretch>
        </p:blipFill>
        <p:spPr>
          <a:xfrm>
            <a:off x="3672477" y="4231753"/>
            <a:ext cx="685800" cy="685800"/>
          </a:xfrm>
          <a:prstGeom prst="rect">
            <a:avLst/>
          </a:prstGeom>
        </p:spPr>
      </p:pic>
      <p:pic>
        <p:nvPicPr>
          <p:cNvPr id="20" name="Graphic 23">
            <a:extLst>
              <a:ext uri="{FF2B5EF4-FFF2-40B4-BE49-F238E27FC236}">
                <a16:creationId xmlns:a16="http://schemas.microsoft.com/office/drawing/2014/main" id="{9846BD00-2EEA-0542-A599-CBD195982C88}"/>
              </a:ext>
            </a:extLst>
          </p:cNvPr>
          <p:cNvPicPr>
            <a:picLocks noChangeAspect="1"/>
          </p:cNvPicPr>
          <p:nvPr/>
        </p:nvPicPr>
        <p:blipFill>
          <a:blip r:embed="rId9"/>
          <a:stretch>
            <a:fillRect/>
          </a:stretch>
        </p:blipFill>
        <p:spPr>
          <a:xfrm>
            <a:off x="9349689" y="2013181"/>
            <a:ext cx="469900" cy="469900"/>
          </a:xfrm>
          <a:prstGeom prst="rect">
            <a:avLst/>
          </a:prstGeom>
        </p:spPr>
      </p:pic>
      <p:sp>
        <p:nvSpPr>
          <p:cNvPr id="22" name="TextBox 21"/>
          <p:cNvSpPr txBox="1"/>
          <p:nvPr/>
        </p:nvSpPr>
        <p:spPr>
          <a:xfrm>
            <a:off x="602032" y="3867082"/>
            <a:ext cx="1404595" cy="553998"/>
          </a:xfrm>
          <a:prstGeom prst="rect">
            <a:avLst/>
          </a:prstGeom>
          <a:noFill/>
        </p:spPr>
        <p:txBody>
          <a:bodyPr wrap="square" lIns="0" tIns="0" rIns="0" bIns="0" rtlCol="0">
            <a:spAutoFit/>
          </a:bodyPr>
          <a:lstStyle/>
          <a:p>
            <a:pPr algn="ctr"/>
            <a:r>
              <a:rPr lang="en-US" dirty="0" smtClean="0">
                <a:latin typeface="Amazon Ember Light" charset="0"/>
                <a:ea typeface="Amazon Ember Light" charset="0"/>
                <a:cs typeface="Amazon Ember Light" charset="0"/>
              </a:rPr>
              <a:t>Amazon SNS </a:t>
            </a:r>
            <a:r>
              <a:rPr lang="en-US" dirty="0">
                <a:latin typeface="Amazon Ember Light" charset="0"/>
                <a:ea typeface="Amazon Ember Light" charset="0"/>
                <a:cs typeface="Amazon Ember Light" charset="0"/>
              </a:rPr>
              <a:t>Publisher</a:t>
            </a:r>
          </a:p>
        </p:txBody>
      </p:sp>
      <p:sp>
        <p:nvSpPr>
          <p:cNvPr id="23" name="TextBox 22"/>
          <p:cNvSpPr txBox="1"/>
          <p:nvPr/>
        </p:nvSpPr>
        <p:spPr>
          <a:xfrm>
            <a:off x="5462610" y="5662178"/>
            <a:ext cx="1905120" cy="369332"/>
          </a:xfrm>
          <a:prstGeom prst="rect">
            <a:avLst/>
          </a:prstGeom>
          <a:noFill/>
        </p:spPr>
        <p:txBody>
          <a:bodyPr wrap="square" rtlCol="0">
            <a:spAutoFit/>
          </a:bodyPr>
          <a:lstStyle/>
          <a:p>
            <a:pPr algn="ctr"/>
            <a:r>
              <a:rPr lang="en-US" dirty="0" err="1">
                <a:solidFill>
                  <a:srgbClr val="000000"/>
                </a:solidFill>
                <a:latin typeface="Amazon Ember Light" charset="0"/>
                <a:ea typeface="Amazon Ember Light" charset="0"/>
                <a:cs typeface="Amazon Ember Light" charset="0"/>
              </a:rPr>
              <a:t>mySQSQueue_B</a:t>
            </a:r>
            <a:endParaRPr lang="en-US" dirty="0">
              <a:solidFill>
                <a:srgbClr val="000000"/>
              </a:solidFill>
              <a:latin typeface="Amazon Ember Light" panose="020B0403020204020204"/>
              <a:ea typeface="Amazon Ember Light" charset="0"/>
              <a:cs typeface="Amazon Ember Light" charset="0"/>
            </a:endParaRPr>
          </a:p>
        </p:txBody>
      </p:sp>
      <p:sp>
        <p:nvSpPr>
          <p:cNvPr id="24" name="TextBox 23"/>
          <p:cNvSpPr txBox="1"/>
          <p:nvPr/>
        </p:nvSpPr>
        <p:spPr>
          <a:xfrm>
            <a:off x="8860023" y="4065655"/>
            <a:ext cx="1404595" cy="553998"/>
          </a:xfrm>
          <a:prstGeom prst="rect">
            <a:avLst/>
          </a:prstGeom>
          <a:noFill/>
        </p:spPr>
        <p:txBody>
          <a:bodyPr wrap="square" lIns="0" tIns="0" rIns="0" bIns="0" rtlCol="0">
            <a:spAutoFit/>
          </a:bodyPr>
          <a:lstStyle/>
          <a:p>
            <a:pPr algn="ctr"/>
            <a:r>
              <a:rPr lang="en-US" dirty="0" smtClean="0">
                <a:latin typeface="Amazon Ember Light" charset="0"/>
                <a:ea typeface="Amazon Ember Light" charset="0"/>
                <a:cs typeface="Amazon Ember Light" charset="0"/>
              </a:rPr>
              <a:t>Amazon SQS </a:t>
            </a:r>
            <a:r>
              <a:rPr lang="en-US" dirty="0">
                <a:latin typeface="Amazon Ember Light" charset="0"/>
                <a:ea typeface="Amazon Ember Light" charset="0"/>
                <a:cs typeface="Amazon Ember Light" charset="0"/>
              </a:rPr>
              <a:t>Consumer</a:t>
            </a:r>
          </a:p>
        </p:txBody>
      </p:sp>
      <p:sp>
        <p:nvSpPr>
          <p:cNvPr id="25" name="TextBox 24"/>
          <p:cNvSpPr txBox="1"/>
          <p:nvPr/>
        </p:nvSpPr>
        <p:spPr>
          <a:xfrm>
            <a:off x="8909830" y="2513338"/>
            <a:ext cx="1404595" cy="276999"/>
          </a:xfrm>
          <a:prstGeom prst="rect">
            <a:avLst/>
          </a:prstGeom>
          <a:noFill/>
        </p:spPr>
        <p:txBody>
          <a:bodyPr wrap="square" lIns="0" tIns="0" rIns="0" bIns="0" rtlCol="0">
            <a:spAutoFit/>
          </a:bodyPr>
          <a:lstStyle/>
          <a:p>
            <a:pPr algn="ctr"/>
            <a:r>
              <a:rPr lang="en-US" dirty="0">
                <a:latin typeface="Amazon Ember Light" charset="0"/>
                <a:ea typeface="Amazon Ember Light" charset="0"/>
                <a:cs typeface="Amazon Ember Light" charset="0"/>
              </a:rPr>
              <a:t>Email account</a:t>
            </a:r>
          </a:p>
        </p:txBody>
      </p:sp>
      <p:cxnSp>
        <p:nvCxnSpPr>
          <p:cNvPr id="26" name="Elbow Connector 25"/>
          <p:cNvCxnSpPr>
            <a:stCxn id="11" idx="3"/>
            <a:endCxn id="19" idx="1"/>
          </p:cNvCxnSpPr>
          <p:nvPr/>
        </p:nvCxnSpPr>
        <p:spPr>
          <a:xfrm>
            <a:off x="1647229" y="3419198"/>
            <a:ext cx="2025248" cy="1155455"/>
          </a:xfrm>
          <a:prstGeom prst="bentConnector3">
            <a:avLst>
              <a:gd name="adj1" fmla="val 26237"/>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29" name="Elbow Connector 28"/>
          <p:cNvCxnSpPr>
            <a:stCxn id="11" idx="3"/>
            <a:endCxn id="17" idx="1"/>
          </p:cNvCxnSpPr>
          <p:nvPr/>
        </p:nvCxnSpPr>
        <p:spPr>
          <a:xfrm flipV="1">
            <a:off x="1647229" y="2248131"/>
            <a:ext cx="2025248" cy="1171067"/>
          </a:xfrm>
          <a:prstGeom prst="bentConnector3">
            <a:avLst>
              <a:gd name="adj1" fmla="val 26237"/>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32" name="Elbow Connector 31"/>
          <p:cNvCxnSpPr>
            <a:stCxn id="19" idx="3"/>
            <a:endCxn id="13" idx="1"/>
          </p:cNvCxnSpPr>
          <p:nvPr/>
        </p:nvCxnSpPr>
        <p:spPr>
          <a:xfrm flipV="1">
            <a:off x="4358277" y="3674324"/>
            <a:ext cx="1599693" cy="900329"/>
          </a:xfrm>
          <a:prstGeom prst="bentConnector3">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35" name="Elbow Connector 34"/>
          <p:cNvCxnSpPr>
            <a:stCxn id="19" idx="3"/>
            <a:endCxn id="15" idx="1"/>
          </p:cNvCxnSpPr>
          <p:nvPr/>
        </p:nvCxnSpPr>
        <p:spPr>
          <a:xfrm>
            <a:off x="4358277" y="4574653"/>
            <a:ext cx="1599693" cy="736223"/>
          </a:xfrm>
          <a:prstGeom prst="bentConnector3">
            <a:avLst/>
          </a:prstGeom>
          <a:ln w="12700">
            <a:tailEnd type="arrow" w="med" len="sm"/>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7" idx="3"/>
            <a:endCxn id="20" idx="1"/>
          </p:cNvCxnSpPr>
          <p:nvPr/>
        </p:nvCxnSpPr>
        <p:spPr>
          <a:xfrm>
            <a:off x="4358277" y="2248131"/>
            <a:ext cx="4991412" cy="0"/>
          </a:xfrm>
          <a:prstGeom prst="straightConnector1">
            <a:avLst/>
          </a:prstGeom>
          <a:ln w="9525">
            <a:tailEnd type="arrow" w="med" len="sm"/>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3" idx="3"/>
            <a:endCxn id="10" idx="1"/>
          </p:cNvCxnSpPr>
          <p:nvPr/>
        </p:nvCxnSpPr>
        <p:spPr>
          <a:xfrm>
            <a:off x="6872370" y="3674324"/>
            <a:ext cx="2347051" cy="0"/>
          </a:xfrm>
          <a:prstGeom prst="straightConnector1">
            <a:avLst/>
          </a:prstGeom>
          <a:ln w="9525">
            <a:headEnd type="arrow"/>
            <a:tailEnd type="none" w="med" len="sm"/>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7036783" y="3365138"/>
            <a:ext cx="1704007" cy="276999"/>
          </a:xfrm>
          <a:prstGeom prst="rect">
            <a:avLst/>
          </a:prstGeom>
          <a:noFill/>
        </p:spPr>
        <p:txBody>
          <a:bodyPr wrap="square" lIns="0" tIns="0" rIns="0" bIns="0" rtlCol="0">
            <a:spAutoFit/>
          </a:bodyPr>
          <a:lstStyle/>
          <a:p>
            <a:pPr algn="ctr"/>
            <a:r>
              <a:rPr lang="en-US" dirty="0">
                <a:latin typeface="Amazon Ember Light" charset="0"/>
                <a:ea typeface="Amazon Ember Light" charset="0"/>
                <a:cs typeface="Amazon Ember Light" charset="0"/>
              </a:rPr>
              <a:t>Poll for orders</a:t>
            </a:r>
          </a:p>
        </p:txBody>
      </p:sp>
      <p:sp>
        <p:nvSpPr>
          <p:cNvPr id="44" name="TextBox 43"/>
          <p:cNvSpPr txBox="1"/>
          <p:nvPr/>
        </p:nvSpPr>
        <p:spPr>
          <a:xfrm>
            <a:off x="2286828" y="4231753"/>
            <a:ext cx="883160" cy="276999"/>
          </a:xfrm>
          <a:prstGeom prst="rect">
            <a:avLst/>
          </a:prstGeom>
          <a:noFill/>
        </p:spPr>
        <p:txBody>
          <a:bodyPr wrap="square" lIns="0" tIns="0" rIns="0" bIns="0" rtlCol="0">
            <a:spAutoFit/>
          </a:bodyPr>
          <a:lstStyle/>
          <a:p>
            <a:pPr algn="ctr"/>
            <a:r>
              <a:rPr lang="en-US" dirty="0">
                <a:latin typeface="Amazon Ember Light" charset="0"/>
                <a:ea typeface="Amazon Ember Light" charset="0"/>
                <a:cs typeface="Amazon Ember Light" charset="0"/>
              </a:rPr>
              <a:t>Orders</a:t>
            </a:r>
          </a:p>
        </p:txBody>
      </p:sp>
      <p:sp>
        <p:nvSpPr>
          <p:cNvPr id="47" name="TextBox 46"/>
          <p:cNvSpPr txBox="1"/>
          <p:nvPr/>
        </p:nvSpPr>
        <p:spPr>
          <a:xfrm>
            <a:off x="2272036" y="2287925"/>
            <a:ext cx="883160" cy="276999"/>
          </a:xfrm>
          <a:prstGeom prst="rect">
            <a:avLst/>
          </a:prstGeom>
          <a:noFill/>
        </p:spPr>
        <p:txBody>
          <a:bodyPr wrap="square" lIns="0" tIns="0" rIns="0" bIns="0" rtlCol="0">
            <a:spAutoFit/>
          </a:bodyPr>
          <a:lstStyle/>
          <a:p>
            <a:pPr algn="ctr"/>
            <a:r>
              <a:rPr lang="en-US" dirty="0">
                <a:latin typeface="Amazon Ember Light" charset="0"/>
                <a:ea typeface="Amazon Ember Light" charset="0"/>
                <a:cs typeface="Amazon Ember Light" charset="0"/>
              </a:rPr>
              <a:t>Emails</a:t>
            </a:r>
          </a:p>
        </p:txBody>
      </p:sp>
    </p:spTree>
    <p:custDataLst>
      <p:tags r:id="rId1"/>
    </p:custDataLst>
    <p:extLst>
      <p:ext uri="{BB962C8B-B14F-4D97-AF65-F5344CB8AC3E}">
        <p14:creationId xmlns:p14="http://schemas.microsoft.com/office/powerpoint/2010/main" val="161953501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B093E-1CBA-484F-9539-2DD13929A851}"/>
              </a:ext>
            </a:extLst>
          </p:cNvPr>
          <p:cNvSpPr>
            <a:spLocks noGrp="1"/>
          </p:cNvSpPr>
          <p:nvPr>
            <p:ph type="title"/>
          </p:nvPr>
        </p:nvSpPr>
        <p:spPr/>
        <p:txBody>
          <a:bodyPr/>
          <a:lstStyle/>
          <a:p>
            <a:r>
              <a:rPr lang="en-CA" dirty="0"/>
              <a:t>Lab follow-up</a:t>
            </a:r>
          </a:p>
        </p:txBody>
      </p:sp>
      <p:sp>
        <p:nvSpPr>
          <p:cNvPr id="3" name="Content Placeholder 2">
            <a:extLst>
              <a:ext uri="{FF2B5EF4-FFF2-40B4-BE49-F238E27FC236}">
                <a16:creationId xmlns:a16="http://schemas.microsoft.com/office/drawing/2014/main" id="{8A8F53EC-0B4D-4815-81D6-F50F88C4FA24}"/>
              </a:ext>
            </a:extLst>
          </p:cNvPr>
          <p:cNvSpPr>
            <a:spLocks noGrp="1"/>
          </p:cNvSpPr>
          <p:nvPr>
            <p:ph idx="1"/>
          </p:nvPr>
        </p:nvSpPr>
        <p:spPr/>
        <p:txBody>
          <a:bodyPr/>
          <a:lstStyle/>
          <a:p>
            <a:r>
              <a:rPr lang="en-CA" dirty="0"/>
              <a:t>What did you do?</a:t>
            </a:r>
          </a:p>
        </p:txBody>
      </p:sp>
      <p:sp>
        <p:nvSpPr>
          <p:cNvPr id="4" name="Slide Number Placeholder 3">
            <a:extLst>
              <a:ext uri="{FF2B5EF4-FFF2-40B4-BE49-F238E27FC236}">
                <a16:creationId xmlns:a16="http://schemas.microsoft.com/office/drawing/2014/main" id="{17C247BD-CBD3-4DE9-9A47-83B684044820}"/>
              </a:ext>
            </a:extLst>
          </p:cNvPr>
          <p:cNvSpPr>
            <a:spLocks noGrp="1"/>
          </p:cNvSpPr>
          <p:nvPr>
            <p:ph type="sldNum" sz="quarter" idx="12"/>
          </p:nvPr>
        </p:nvSpPr>
        <p:spPr/>
        <p:txBody>
          <a:bodyPr/>
          <a:lstStyle/>
          <a:p>
            <a:fld id="{9FC43BFD-8FF7-A343-A8A6-E2338FCE8046}" type="slidenum">
              <a:rPr lang="en-US" smtClean="0"/>
              <a:pPr/>
              <a:t>48</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62721783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Amazon Ember Light" charset="0"/>
                <a:ea typeface="Amazon Ember Light" charset="0"/>
                <a:cs typeface="Amazon Ember Light" charset="0"/>
              </a:rPr>
              <a:t>Thank you</a:t>
            </a:r>
          </a:p>
        </p:txBody>
      </p:sp>
    </p:spTree>
    <p:custDataLst>
      <p:tags r:id="rId1"/>
    </p:custDataLst>
    <p:extLst>
      <p:ext uri="{BB962C8B-B14F-4D97-AF65-F5344CB8AC3E}">
        <p14:creationId xmlns:p14="http://schemas.microsoft.com/office/powerpoint/2010/main" val="125489140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SDK exploration</a:t>
            </a:r>
          </a:p>
        </p:txBody>
      </p:sp>
      <p:sp>
        <p:nvSpPr>
          <p:cNvPr id="4" name="Text Placeholder 3"/>
          <p:cNvSpPr>
            <a:spLocks noGrp="1"/>
          </p:cNvSpPr>
          <p:nvPr>
            <p:ph type="body" sz="quarter" idx="10"/>
          </p:nvPr>
        </p:nvSpPr>
        <p:spPr/>
        <p:txBody>
          <a:bodyPr/>
          <a:lstStyle/>
          <a:p>
            <a:endParaRPr lang="en-US"/>
          </a:p>
        </p:txBody>
      </p:sp>
      <p:sp>
        <p:nvSpPr>
          <p:cNvPr id="3" name="Slide Number Placeholder 2"/>
          <p:cNvSpPr>
            <a:spLocks noGrp="1"/>
          </p:cNvSpPr>
          <p:nvPr>
            <p:ph type="sldNum" sz="quarter" idx="4294967295"/>
          </p:nvPr>
        </p:nvSpPr>
        <p:spPr>
          <a:xfrm>
            <a:off x="9448800" y="6356350"/>
            <a:ext cx="2743200" cy="365125"/>
          </a:xfrm>
        </p:spPr>
        <p:txBody>
          <a:bodyPr/>
          <a:lstStyle/>
          <a:p>
            <a:fld id="{9FC43BFD-8FF7-A343-A8A6-E2338FCE8046}" type="slidenum">
              <a:rPr lang="en-US" smtClean="0"/>
              <a:pPr/>
              <a:t>50</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10728756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Explore AWS </a:t>
            </a:r>
            <a:r>
              <a:rPr lang="en-US" dirty="0">
                <a:solidFill>
                  <a:srgbClr val="FFFFFF"/>
                </a:solidFill>
              </a:rPr>
              <a:t>SDK</a:t>
            </a:r>
            <a:endParaRPr lang="en-US" dirty="0">
              <a:solidFill>
                <a:srgbClr val="FFFFFF"/>
              </a:solidFill>
              <a:latin typeface="Amazon Ember Light" panose="020B0403020204020204"/>
            </a:endParaRPr>
          </a:p>
        </p:txBody>
      </p:sp>
      <p:sp>
        <p:nvSpPr>
          <p:cNvPr id="3" name="Content Placeholder 2"/>
          <p:cNvSpPr>
            <a:spLocks noGrp="1"/>
          </p:cNvSpPr>
          <p:nvPr>
            <p:ph idx="1"/>
          </p:nvPr>
        </p:nvSpPr>
        <p:spPr/>
        <p:txBody>
          <a:bodyPr/>
          <a:lstStyle/>
          <a:p>
            <a:pPr marL="0" indent="0">
              <a:buNone/>
            </a:pPr>
            <a:r>
              <a:rPr lang="en-US" sz="3200" dirty="0"/>
              <a:t>Open AWS SDK documentation in a web browser.</a:t>
            </a:r>
          </a:p>
          <a:p>
            <a:pPr marL="0" indent="0">
              <a:buNone/>
            </a:pPr>
            <a:endParaRPr lang="en-US" dirty="0"/>
          </a:p>
          <a:p>
            <a:pPr lvl="1"/>
            <a:r>
              <a:rPr lang="en-US" sz="2800" dirty="0"/>
              <a:t>Locate the Amazon SNS client for your language.</a:t>
            </a:r>
          </a:p>
          <a:p>
            <a:pPr lvl="1"/>
            <a:endParaRPr lang="en-US" sz="2800" dirty="0"/>
          </a:p>
          <a:p>
            <a:pPr lvl="1"/>
            <a:r>
              <a:rPr lang="en-US" sz="2800" dirty="0"/>
              <a:t>Locate the Amazon SQS client for your language.</a:t>
            </a:r>
          </a:p>
          <a:p>
            <a:pPr lvl="1"/>
            <a:endParaRPr lang="en-US" sz="2800" dirty="0"/>
          </a:p>
          <a:p>
            <a:pPr lvl="1"/>
            <a:r>
              <a:rPr lang="en-US" sz="2800" dirty="0"/>
              <a:t>Locate the Amazon MQ client for your language.</a:t>
            </a:r>
          </a:p>
        </p:txBody>
      </p:sp>
      <p:sp>
        <p:nvSpPr>
          <p:cNvPr id="4" name="Slide Number Placeholder 3"/>
          <p:cNvSpPr>
            <a:spLocks noGrp="1"/>
          </p:cNvSpPr>
          <p:nvPr>
            <p:ph type="sldNum" sz="quarter" idx="12"/>
          </p:nvPr>
        </p:nvSpPr>
        <p:spPr/>
        <p:txBody>
          <a:bodyPr/>
          <a:lstStyle/>
          <a:p>
            <a:fld id="{9FC43BFD-8FF7-A343-A8A6-E2338FCE8046}" type="slidenum">
              <a:rPr lang="en-US" smtClean="0"/>
              <a:pPr/>
              <a:t>51</a:t>
            </a:fld>
            <a:endParaRPr lang="en-US" dirty="0"/>
          </a:p>
        </p:txBody>
      </p:sp>
      <p:sp>
        <p:nvSpPr>
          <p:cNvPr id="5" name="Footer Placeholder 4"/>
          <p:cNvSpPr>
            <a:spLocks noGrp="1"/>
          </p:cNvSpPr>
          <p:nvPr>
            <p:ph type="ftr" sz="quarter" idx="3"/>
          </p:nvPr>
        </p:nvSpPr>
        <p:spPr/>
        <p:txBody>
          <a:bodyPr/>
          <a:lstStyle/>
          <a:p>
            <a:r>
              <a:rPr lang="en-US"/>
              <a:t>© 2020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206287768"/>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SLIDE_COUNT" val="4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aloma 2019 v1">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T&amp;C_PowerPoint_Deck_Template_2020_Copyright_All_Slides</Template>
  <TotalTime>9486</TotalTime>
  <Words>10134</Words>
  <Application>Microsoft Office PowerPoint</Application>
  <PresentationFormat>Widescreen</PresentationFormat>
  <Paragraphs>857</Paragraphs>
  <Slides>51</Slides>
  <Notes>51</Notes>
  <HiddenSlides>2</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51</vt:i4>
      </vt:variant>
    </vt:vector>
  </HeadingPairs>
  <TitlesOfParts>
    <vt:vector size="62" baseType="lpstr">
      <vt:lpstr>&lt;acro1227</vt:lpstr>
      <vt:lpstr>Amazon Ember</vt:lpstr>
      <vt:lpstr>Amazon Ember Light</vt:lpstr>
      <vt:lpstr>Arial</vt:lpstr>
      <vt:lpstr>Calibri</vt:lpstr>
      <vt:lpstr>Courier New</vt:lpstr>
      <vt:lpstr>Helvetica Neue LT Std 65 Medium</vt:lpstr>
      <vt:lpstr>Lucida Console</vt:lpstr>
      <vt:lpstr>Wingdings</vt:lpstr>
      <vt:lpstr>Paloma 2019 v1</vt:lpstr>
      <vt:lpstr>Image</vt:lpstr>
      <vt:lpstr>Module 9: Developing solutions with Amazon SQS and Amazon SNS</vt:lpstr>
      <vt:lpstr>Module overview</vt:lpstr>
      <vt:lpstr>Why use a queueing service?</vt:lpstr>
      <vt:lpstr>Synchronous process</vt:lpstr>
      <vt:lpstr>Synchronous process</vt:lpstr>
      <vt:lpstr>Synchronous process disadvantage</vt:lpstr>
      <vt:lpstr>Synchronous process disadvantage</vt:lpstr>
      <vt:lpstr>Asynchronous process</vt:lpstr>
      <vt:lpstr>Developing with Amazon Simple Queue Service</vt:lpstr>
      <vt:lpstr>Amazon SQS queue types</vt:lpstr>
      <vt:lpstr>Solving tightly linked systems</vt:lpstr>
      <vt:lpstr>Amazon SQS: Message lifecycle</vt:lpstr>
      <vt:lpstr>Message lifecycle: Send message</vt:lpstr>
      <vt:lpstr>Amazon SQS: Message lifecycle</vt:lpstr>
      <vt:lpstr>Message lifecycle: Receive message</vt:lpstr>
      <vt:lpstr>Amazon SQS: Message lifecycle</vt:lpstr>
      <vt:lpstr>Message lifecycle: Delete message</vt:lpstr>
      <vt:lpstr>Queue and message identifiers</vt:lpstr>
      <vt:lpstr>Basic queue operations</vt:lpstr>
      <vt:lpstr>Receiving messages: Short polling</vt:lpstr>
      <vt:lpstr>Receiving messages: Long polling</vt:lpstr>
      <vt:lpstr>Dead-letter queues</vt:lpstr>
      <vt:lpstr>Resource-based permissions: Sharing a queue</vt:lpstr>
      <vt:lpstr>Server-side encryption</vt:lpstr>
      <vt:lpstr>Amazon SQS use cases</vt:lpstr>
      <vt:lpstr>Amazon Simple Queue Service</vt:lpstr>
      <vt:lpstr>Developing with Amazon Simple Notification Service</vt:lpstr>
      <vt:lpstr>Amazon SNS</vt:lpstr>
      <vt:lpstr>Use case: Fan-out</vt:lpstr>
      <vt:lpstr>Amazon SNS message sent to Amazon SQS</vt:lpstr>
      <vt:lpstr>Scenario: Image processing</vt:lpstr>
      <vt:lpstr>Amazon SNS operations</vt:lpstr>
      <vt:lpstr>Scenario: E-commerce website</vt:lpstr>
      <vt:lpstr>Scenario: E-commerce website</vt:lpstr>
      <vt:lpstr>Scenario: E-commerce website</vt:lpstr>
      <vt:lpstr>Characteristics of Amazon SNS</vt:lpstr>
      <vt:lpstr>Managing access to Amazon SNS</vt:lpstr>
      <vt:lpstr>Amazon SQS and Amazon SNS</vt:lpstr>
      <vt:lpstr>Developing with Amazon MQ</vt:lpstr>
      <vt:lpstr>Amazon MQ</vt:lpstr>
      <vt:lpstr>High availability and durability</vt:lpstr>
      <vt:lpstr>Use case: Hybrid integration</vt:lpstr>
      <vt:lpstr>Comparing Amazon MQ, Amazon SQS, and Amazon SNS</vt:lpstr>
      <vt:lpstr>Wrap-up</vt:lpstr>
      <vt:lpstr>Knowledge check</vt:lpstr>
      <vt:lpstr>Lab 5: Developing messaging solutions with SQS and SNS</vt:lpstr>
      <vt:lpstr>Lab overview</vt:lpstr>
      <vt:lpstr>Lab follow-up</vt:lpstr>
      <vt:lpstr>Thank you</vt:lpstr>
      <vt:lpstr>AWS SDK exploration</vt:lpstr>
      <vt:lpstr>Explore AWS SDK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cp:keywords/>
  <dc:description/>
  <cp:lastModifiedBy>Barrera, Roland</cp:lastModifiedBy>
  <cp:revision>449</cp:revision>
  <cp:lastPrinted>2017-08-03T20:30:13Z</cp:lastPrinted>
  <dcterms:created xsi:type="dcterms:W3CDTF">2017-05-11T23:06:57Z</dcterms:created>
  <dcterms:modified xsi:type="dcterms:W3CDTF">2020-05-21T19:50:39Z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0203C18B-4A8D-4C51-8119-35ED85481EC0</vt:lpwstr>
  </property>
  <property fmtid="{D5CDD505-2E9C-101B-9397-08002B2CF9AE}" pid="3" name="ArticulatePath">
    <vt:lpwstr>07_DevelopingWithSQS_SNS</vt:lpwstr>
  </property>
</Properties>
</file>